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315" r:id="rId2"/>
    <p:sldId id="31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317"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6-11-25T05:09:50.549"/>
    </inkml:context>
    <inkml:brush xml:id="br0">
      <inkml:brushProperty name="width" value="0.05292" units="cm"/>
      <inkml:brushProperty name="height" value="0.05292" units="cm"/>
      <inkml:brushProperty name="color" value="#FF0000"/>
    </inkml:brush>
  </inkml:definitions>
  <inkml:trace contextRef="#ctx0" brushRef="#br0">1439 1042,'0'0,"0"25,-25 24,0-49,25 25,0-25,-25 25,25 0,0-25,0 24,0-24,-25 50,25-50,0 25,-24-25,24 0,0 25,0-1,0-24,0 25,-25-25,25 50,0-25,-25-1,25 1,0-25,0 25,0 0,0 0,0-25,0 24,0 1,0 0,0-25,0 25,0 0,0-25,0 25,0-25,0 24,0 1,0 0,0-25,0 25,0 0,25-1,-25 1,0 0,25-25,-25 25,24 0,-24-1,25 1,-25 0,25 0,0-25,-25 0,25 0,-1 25,1-25,0 24,-25-24,50 0,-26 25,26-25,-25 25,49-25,-24 25,-25 0,49-1,-49-24,0 0,0 0,-25 0,24 25,1-25,0 0,-25 25,25-25,0 0,24 0,1 25,24 0,1-1,98 26,-49-25,75 0,-75-1,0-24,-50 0,1 25,-51-25,26 25,-25-25,-25 0,49 0,-49 0,50 0,0 0,24 0,-49-25,24 25,-24 0,25 0,-25 0,0 0,-25-25,24 25,-24-24,25 24,0 0,0-25,-25 25,49-25,-49 0,50 25,-50-25,25 25,-25-24,0 24,25-25,-1 0,-24 0,0 0,0 25,0-49,25 49,-25-25,0-25,0 26,0-1,0 0,0 25,0-25,0 0,0 1,0 24,0-25,0 0,0 0,0 25,0-25,-25 1,25 24,0-25,0 25,0-25,-49 0,49 25,-25 0,0-25,25 1,0-1,-25 0,25 0,-49 25,49-25,-25 0,25 1,-25-1,0 0,1 25,-1-50,25 50,-50-24,25-1,-24 0,49 0,-50 0,50 1,-25 24,0-25,1 25,24 0,-50-25,50 0,-25 25,0 0,1 0,-1-25,-25 1,-24 24,24 0,-24-25,24 0,-24 0,-1 25,26-25,-1 1,1-1,-1 25,0 0,1-25,24 0,-50 25,75 0,-49 0,24 0,-25-25,26 25,-1 0,-25 0,50-24,-25 24,1 0,-26 0,25 0,25 0,-25 0,1 0,24 24,-50 1,50-25,-25 25,0-25,1 25,-1-25,25 25,-25-25,0 0,25 24,-25-24,25 25,-24-25,-1 0,0 0,25 25,-25-25,0 0,25 0,-24 25,24-25,0 0,-25 0,25 25,-25-1,0-24,25 25,0-25,-25 25,0 0,25-25,-24 25,-1-1,25 1,-25-25,25 25,0 0,-25-25,25 25,0-25,0 24,-25 1,1-25,24 25,0-25,0 25,0-25,0 49,0-49,-25 25,25-25,0 50,0-50,0 25,0 0,0-1,0-24,0 25,0-25,0 25,0 0,0-25,0 0,0 0,25 0,24 0,-24 0,0 0,0 0,24 0,1 0,0 0,-1-25,1 0,-25 25,-1 0,1-25,-25 25,25-24,0 24,-25-25,25 25,-25 0,0 0,24 0,-24-25,25 25,0-25,-25 0,50 0,-50 25,49 0,-49 0,25-24,0 24,49 0,1-25,-26 25,26-25,-26 25,75-25,-99 25,0 0,0 0,-25 0,49 0,1 0,49 0,0 0,-24 0,24 0,-25 0,1 0,-26 0,1 0,-50 0,25 0,0 0,24 0,50 0,-24 25,99-25,-75 0,-50 25,26-25,-26 0,-49 0,0 25,0-25,0 24,0 1,0-25,0 25,0 0,0 0,0 0,0-25,-24 0,24 24,-25 1,25-25,0 0,0 25,-25-25,25 25,0-25,0 0,-50 49,50-49,0 25,0 0,-24-25,24 25,0-25,-25 0,25 25,0-1,-25-24,25 0,-25 0,25 0,-25 0,25 0,-24 0,-26 0,0-24,26-1,-26 25,-49-50,-50 1,74 24,1 0,24 25,26 0,-1-25,25 0,-25 25,-25 0,26 0,-26 0,50 0,-25 0,25 0,0-24,-25 24,-24-25,24 25,-49-25,24 0,-24 0,49 0,-25 25,50-24,-25 24,25 0,-25 0,1 0,24-25,-25 25,0-25,-25 0,26 0,-26 1,0-1,50 25,-49-25,49 0,-25 25,25 0,0-25,-50 1,50-1,0 25,0-25,-24 25,24-25,0 0,0 25,-25-24,25 24,0-25,0 0,-25 25,25-25,0 25,-25-25,25 25,0-24,0-1,-25 25,1 0,-26 0,25 0,0 0,1 25,-1-25,-25 24,25 1,-24 0,24 0,0-25,-24 25,49-25,0 24,-25-24,25 25,0-25,0 0,25 50,-1-25,26 24,0-49,-1 25,-24 25,25-50,-50 0,24 24,-24-24,0 0,25 0,-25 0,0 25,25 0,0-25,-25 0,25 25,-25-25,24 25,1-1,-25 1,25-25,0 50,-25-50,0 25,25 0,-25-1,24 1,-24 0,25-25,-25 50,0-50,25 24,-25-24,0 25,0-25,25 25,-25 0,25-25,-25 25,0-1,24-24,-24 0,0 25,0 0,25-25,0 0,-25 25,0-25,25 25,-25-25,0 0,0 24,0 1,25-25,-1 25,1-25,-25 50,0-50,25 24,-25-24,25 0,-25 25,0 0,0-25,25 0,-25 25,0-25,0 0,24 0,1 25,-25-1,0-24,25 0,-25 25,0-25,0 0,50 25,-50-25,0 0,0 25,25-25,-25 0,0 0,24-25,1-25,25 1,-25-1,-1 1,51-1,-26-24,-24 24,50 0,-75 1,49 24,-24-25,0 1,0 49,-25-50,24 50,-24 0,0-25,25 25,-25-24,0-1,25 0,-25 25,0-25,0 0,0 25,25-25,0 25,-25-49,0 49,24-25,-24 0,0 25,25-25,-25 1,25-1,0 0,-25 25,25-25,-25 0,24 25,-24 0,0 0,0 0,0 0,0 25,0-25,0 25,0 25,0-26,0 1,-24 25,24-1,0-24,0 25,0-25,-25 0,25-1,0 1,-25 0,25 0,0 0,0 24,0-24,0 25,-25-1,25-24,0 25,-25-1,25-49,0 25,0 25,0-26,0 1,0 0,0 0,0 0,25-25,-25 24,0 1,0 0,0-25,0 25,25 0,-25-25,0 24,0-24,25 0,-25 0,0 25,25 0,-25-25,0 25,24-25,-24 0,0 0,0 0,0 0,25 0,-25-25,25 25,0-25,24 0,-24-24,0 49,0 0,25-25,-26-25,1 50,0-24,0 24,-25 0,25-25,-1 0,1 0,-25 0,25 25,-25-24,25 24,-25-50,25 0,-25 50,0-24,24-1,-24 0,0 25,0-25,0 25,25-25,-25-24,0 49,0-25,0 0,0 25,25 0,-25-25,0 1,0-1,0 25,0-25,0 25,0-25,0 25,0 0,-50 50,1-50,-1 25,-24-1,49-24,0 0,-24 25,-1-25,50 25,-25-25,-25 0,50 0,0 25,-49 0,49-25,0 0,-25 0,25 24,-50 1,50-25,0 0,-49 25,24-25,25 0,-25 25,0 0,25-25,-24 0,24 0,0 24,-25-24,25 25,-25 0,25-25,-25 0,25 25,0-25,0 25,-25-25,25 24,-24-24,24 25,0-25,0 0,0 25,-25-25,25 0,0 25,0 0,-25-25,25 24,0-24,-50 25,50 0,0-25,-24 0,24 25</inkml:trace>
  <inkml:trace contextRef="#ctx0" brushRef="#br0" timeOffset="4165.2">3001 2456,'0'0,"0"0,0 0,0-50,0 25,0 0,0-24,0 24,0-25,-24 26,24-26,0-49,-25 24,25 51,-25-26,25 0,-25 1,25 24,0 0,-25 0,25 1,0-1,0 25,-24-25,24-25,-25 25,25-24,0 49,-25-50,25 50,0-49,0 24,0 0,0 0,-25 25,25-25,-25 25,25-24,0-1,0 0,0 25,-24-25,24 0,0-24,-25 24,25 0,0 0,-25 25,25-24,0 24,0-25,-25 25,-25 25,26-25,-26 24,50 1,-50 0,26 0,-1 0,0-25,-25 24,50-24,-24 25,24-25,-25 0,0 25,25 0,-25 0,0-25,25 49,-49-49,49 25,0 0,-25-25,25 25,0-25,-25 24,0 1,25 0,0-25,0 25,-24 0,24-25,0 24,0-24,0 50,0-50,-25 25,25 0,-25 0,25-1,0-24,0 25,0 0,0-25</inkml:trace>
  <inkml:trace contextRef="#ctx0" brushRef="#br0" timeOffset="6006.01">1960 1836,'0'24,"24"-24,-24 25,0 0,0 0,0 0,0-1,0 1,0-25,0 50,0-25,0-1,0 1,0-25,0 50,0-25,25-1,-25 26,0-50,0 25</inkml:trace>
  <inkml:trace contextRef="#ctx0" brushRef="#br0" timeOffset="10982.41">1935 2257,'0'0,"0"-25,0 1,0-1,0 0,-25-25,25 26,0-1,-25-25,25 1,-25 49,25-50,0 50,0-25,-24 0,24 1,0 24,0-25,-25 25,25-25,0 0,-25 25,25-25,0 25,0-24,0-1,-25 25,25 0,0-25,0 25,0-25,0 25,-25-25,25 0,0 1,-24 24,24-25,0 0,0 25,-25-50,25 50,0-24,0 24,-25 0,25-25,-25 25,25-25</inkml:trace>
  <inkml:trace contextRef="#ctx0" brushRef="#br0" timeOffset="24039.64">1364 1960,'0'0,"25"0,-25 0,0 0,50 0,-50 0,24-25,1 25,25-25,-25 25,-1-25,1 25,25 0,-25-25,0 25,-25-24,24 24,-24 0,25 0,25 0,-1 0,26 0,-1 0,1 0,-1 0,0 0,-24 0,-50 24,25-24,0 0,-1 0,1 0,0 0,25 0,-26 0,1 0,-25 0,25 0,0 0,0 0,24 0,1 0,-50 0,25 0,-25 0,49 0,-49 0,25-24,0 24,0 0,0-25,-1 0,-24 25,25 0,-25-25,0 0,0 1,0 24,25 0,-25-25,25 25,-25-25,0 25,-25 0,25 0,-50 0,50 0,-49 0,49 25,-25-25,0 0,25 25,-25-25,-24 0,49 0,0 0,-25 0,0 0,0 0,0 0,25 0,-49 0,-1 0,50 24,-25-24,1 0,24 0,0 25,-25-25,0 25,0-25,25 0,-25 0,25 0,-49 25,49-25,-25 0,0 25,0-25,25 24,-24-24,24 0,0 25,-25-25,0 0,25 25,0-25,0 50,-50-50,50 49,0-49,0 50,0-50,0 25,0-25,0 24,0-24,0 25,0 0,0-25,0 25,0 0,0-1,0 1,0 0,0 0,0-25,0 25,0-25,0 24,0 1,0-25,0-25,25-24,25 24,-25-25,24 26,-24-26,25 50,-50-25,0 25,24-25,-24 25,0-24,25 24,0 0,-25 0,25 0,-25-25,0 25,49 0,1 0,-50 0,50-25,-1 25,26 0,-75-25,49 25,-24 0,50 0,-75 0,24 0,-24 0,25 0,0 0,-25 0,25 0,-25 0,0 0,25 0,-25 0,0 25,0 0,0 0,0-25,0 24,0 1,0 0,0-25,0 25,0 0,0-25,0 24,24-24,-24 0,0 25,0-25,25 25,-25 0,0-25,0 0,0 25,0-1,25-24,-25 25,0-25,25 25,0-25,-25 0,0 25,0-25,0 0,24 0,-24 0,50 25,-50-25,25 0,0 0,-25 24,24-24,-24 0,25 0,25 0,-50 0,25 0,24 0,1 0,-25 0,-1 0,-24 0,0 0,0 0,25 0,-25-24,0-1,25 25,-25 0,0 0,0-25,0 25,0-25,0 0,25 25,-25-24,0 24,25-25,-25 0,24 0,-24 25,0-25,0 25,0-24,0-1,0-25,0 25,-49-24,-1-1,50 25,-25 1,-24-1,24-25,25 25,-74 1,74-1,-50-25,25 25,0-24,1 24,-1 25,25-25,0 0,-25 25,0-25,25 1,-25 24,1 0,24-25,-25 0,25 25,-25-25,0 25,0-25,25 1,-24 24,24 0,-25-25,25 25,0-25,-25 25,0-25,0 25,25-25,-24 25,-1-49,0 49,25 0,-25-25,0 25,25 0,-24-25,24 0,-50 25,50 0,0-24,-25-1,0 25,-24-25,24 0,0 0,0 25,25-24,-25 24,1-25,-1 25,-25 0,25 0,25 0,-24 0,-1-25,0 25,0 0,0 0,25 0,-49 0,24 0,25 25,-50 0,26-25,-1 0,25 0,-25 24,0-24,25 0,-25 25,25 0,0-25,-24 25,24-25,0 0,-50 25,50-1,0-24,0 0,-25 25,0 0,25 0,0-25,-24 25,24-25,0 49,0-49,-25 25,25 0,0 0,0-25,0 24,0-24,0 25,0-25,0 25,0-25,0 0,0 25,25 0,-25-1,0-24,0 0,0 25,0-25,0 25,0-25,0 25,0 0,0-25,0 25,-25-25,25 24,0-24,0 25,0-25,-50 25,50-25,-25 0,25 25,-24 0,24-25,0 0,-25 24,25 1,0 0,0-25,0 25,0-25,-25 0,25 0,0 0,0 0,0-25,0 0,-25-24,25-1,0 25,-25-24,25 24,-25 0,25 0,0 25,0-50,0 50,0-24,-24-1,24 25,0 0,-25 25,0 24,25-49,0 25,0 0,-25 0,25-25,0 25,0-1,-25 1,25 0,-24 0,24 0,0-1,0 1,0-25,0 25,0 0,0-25,0 25,0-25,0 24,0 1,0 0,0 0,0 0,0-1,0-24,0 0,0 25,0 0,0-25,0 25,0-25,0 49,0-49,24 25,1-25,-25 0,0 25,25-25,25 0,-1 0,26 0,-26 0,1 0,0 0,-50 0,24 0,-24 0,50-25,-25 0,0 25,-25 0,24-24,-24 24,0-25,25 0,0 25,-25-25,25 25,-25-25,0 25,0 0,25 0,-1-49,-24 24,25 0,0 0,-25 1,0 24,25 0,-25-25,0 25,25-25,-25 25,0-25,24 0,1 25,-25-24,25-1,0 25,0-25,49 0,-74 0,50 1,-1-1,50 0,-49 25,0 0,-25-25,74 25,-74-25,-25 25,49 0,-24 0,0 0,-25 0,25 0,-1 0,1 0,-25 0,0 0,0 0,25 0,-25 25,0 0,0 0,25 0,0 24,-25-24,24 25,-24-26,0 26,0-25,0 0,0-1,25 1,-25 25,0-25,0-1,0 1,0-25,0 25,0 0,0-25,0 25,0-1,25-24,-25 25,0 0,25 0,-25 0,0-25,25 24,-25 1,24 0,-24 0,25 0,-25-25,0 24,0-24,25 0,0 0,-25 0,25 0,-1 0,1 0,50 25,-51-25,1 25,0-25,-25 0,25-25,-25 0,0 25,25-24,-25 24,0-50,0 50,0 0,24 0,-24-50,0 50,0-24,0 24,0-25,0 25,25-50,0 50,-25-49,0 49,0-25,25 0,-25 0,0 25,0-25,0 25,0-24,0 24,0-25,0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6-11-25T05:17:30.828"/>
    </inkml:context>
    <inkml:brush xml:id="br0">
      <inkml:brushProperty name="width" value="0.05292" units="cm"/>
      <inkml:brushProperty name="height" value="0.05292" units="cm"/>
      <inkml:brushProperty name="color" value="#FF0000"/>
    </inkml:brush>
  </inkml:definitions>
  <inkml:trace contextRef="#ctx0" brushRef="#br0">1265 1587,'25'0,"0"0,24 0,-49 0,50-24,-50 24,25 0,-25 0,24 0,-24-25,25 25,0 0,25 0,-26 0,1 0,25 0,0 0,-1 0,1 0,-25 0,49 0,-74-25,25 25,-25 0,25 0,-1 0,-24 0,25 0,-25 0,25 0,0 0,0 0,24 0,-49 0,50 0,-1 0,-49 0,25 0,-25 0,25 0,0 0,-25 0,25 0,24 0,-24 0,25 0,-26 0,-24 0,25 0,0 0,-25 0,25 0,-25 0,25 0,-1 0,1 0,0 0,0-25,-25 25,0 0,25 0,-25 25,25 25,-1-26,1 26,0-25,-25 25,25-1,0-24,-25 0,24 0,-24-1,25 1,0-25,-25 25,0 0,0-25,25 25,-25-1,0 1,25 0,-1-25,-24 25,0 0,25-25,-25 0,25 0,0 24,24 1,-24-25,0 0,0 25,-25-25,25 0,-1 0,-24 0,25 0,-25 0,25 0,-25 0,25 0,0 0,-25 0,24 0,26 25,24-25,-24 0,0 25,-1-25,-24 24,0-24,0 0,0 0,-25 0,0 0,24 25,-24-25,25 0,0 0,-25 0,25 0,-25 0,25 0,-25 0,0 0,49 0,-24 0,0-25,0 1,-25 24,24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75AC4-1D56-4A62-A345-527A5DAB433B}" type="datetimeFigureOut">
              <a:rPr lang="en-US" smtClean="0"/>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E190E-4671-4DA5-8681-8975AF53CF3C}" type="slidenum">
              <a:rPr lang="en-US" smtClean="0"/>
              <a:t>‹#›</a:t>
            </a:fld>
            <a:endParaRPr lang="en-US"/>
          </a:p>
        </p:txBody>
      </p:sp>
    </p:spTree>
    <p:extLst>
      <p:ext uri="{BB962C8B-B14F-4D97-AF65-F5344CB8AC3E}">
        <p14:creationId xmlns:p14="http://schemas.microsoft.com/office/powerpoint/2010/main" val="3906504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EE190E-4671-4DA5-8681-8975AF53CF3C}" type="slidenum">
              <a:rPr lang="en-US" smtClean="0"/>
              <a:t>41</a:t>
            </a:fld>
            <a:endParaRPr lang="en-US"/>
          </a:p>
        </p:txBody>
      </p:sp>
    </p:spTree>
    <p:extLst>
      <p:ext uri="{BB962C8B-B14F-4D97-AF65-F5344CB8AC3E}">
        <p14:creationId xmlns:p14="http://schemas.microsoft.com/office/powerpoint/2010/main" val="1819037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EE190E-4671-4DA5-8681-8975AF53CF3C}" type="slidenum">
              <a:rPr lang="en-US" smtClean="0"/>
              <a:t>58</a:t>
            </a:fld>
            <a:endParaRPr lang="en-US"/>
          </a:p>
        </p:txBody>
      </p:sp>
    </p:spTree>
    <p:extLst>
      <p:ext uri="{BB962C8B-B14F-4D97-AF65-F5344CB8AC3E}">
        <p14:creationId xmlns:p14="http://schemas.microsoft.com/office/powerpoint/2010/main" val="1498439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BEBC985-B6A8-4856-A335-6966DF1E249E}" type="datetime1">
              <a:rPr lang="en-US" smtClean="0"/>
              <a:t>11/25/2025</a:t>
            </a:fld>
            <a:endParaRPr lang="en-US"/>
          </a:p>
        </p:txBody>
      </p:sp>
      <p:sp>
        <p:nvSpPr>
          <p:cNvPr id="5" name="Footer Placeholder 4"/>
          <p:cNvSpPr>
            <a:spLocks noGrp="1"/>
          </p:cNvSpPr>
          <p:nvPr>
            <p:ph type="ftr" sz="quarter" idx="11"/>
          </p:nvPr>
        </p:nvSpPr>
        <p:spPr/>
        <p:txBody>
          <a:bodyPr/>
          <a:lstStyle/>
          <a:p>
            <a:r>
              <a:rPr lang="en-US"/>
              <a:t>Prepared by : Eng. Ngilangwa, J.L</a:t>
            </a:r>
          </a:p>
        </p:txBody>
      </p:sp>
      <p:sp>
        <p:nvSpPr>
          <p:cNvPr id="6" name="Slide Number Placeholder 5"/>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4001372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8A7579-7BE8-41B0-B6B5-158B8C23D3AA}" type="datetime1">
              <a:rPr lang="en-US" smtClean="0"/>
              <a:t>11/25/2025</a:t>
            </a:fld>
            <a:endParaRPr lang="en-US"/>
          </a:p>
        </p:txBody>
      </p:sp>
      <p:sp>
        <p:nvSpPr>
          <p:cNvPr id="5" name="Footer Placeholder 4"/>
          <p:cNvSpPr>
            <a:spLocks noGrp="1"/>
          </p:cNvSpPr>
          <p:nvPr>
            <p:ph type="ftr" sz="quarter" idx="11"/>
          </p:nvPr>
        </p:nvSpPr>
        <p:spPr/>
        <p:txBody>
          <a:bodyPr/>
          <a:lstStyle/>
          <a:p>
            <a:r>
              <a:rPr lang="en-US"/>
              <a:t>Prepared by : Eng. Ngilangwa, J.L</a:t>
            </a:r>
          </a:p>
        </p:txBody>
      </p:sp>
      <p:sp>
        <p:nvSpPr>
          <p:cNvPr id="6" name="Slide Number Placeholder 5"/>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3128944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2225D8-9EE3-47B3-881C-6DBE942737FC}" type="datetime1">
              <a:rPr lang="en-US" smtClean="0"/>
              <a:t>11/25/2025</a:t>
            </a:fld>
            <a:endParaRPr lang="en-US"/>
          </a:p>
        </p:txBody>
      </p:sp>
      <p:sp>
        <p:nvSpPr>
          <p:cNvPr id="5" name="Footer Placeholder 4"/>
          <p:cNvSpPr>
            <a:spLocks noGrp="1"/>
          </p:cNvSpPr>
          <p:nvPr>
            <p:ph type="ftr" sz="quarter" idx="11"/>
          </p:nvPr>
        </p:nvSpPr>
        <p:spPr/>
        <p:txBody>
          <a:bodyPr/>
          <a:lstStyle/>
          <a:p>
            <a:r>
              <a:rPr lang="en-US"/>
              <a:t>Prepared by : Eng. Ngilangwa, J.L</a:t>
            </a:r>
          </a:p>
        </p:txBody>
      </p:sp>
      <p:sp>
        <p:nvSpPr>
          <p:cNvPr id="6" name="Slide Number Placeholder 5"/>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1618097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C45B06-16D3-47F4-A2F6-843E950C8205}" type="datetime1">
              <a:rPr lang="en-US" smtClean="0"/>
              <a:t>11/25/2025</a:t>
            </a:fld>
            <a:endParaRPr lang="en-US"/>
          </a:p>
        </p:txBody>
      </p:sp>
      <p:sp>
        <p:nvSpPr>
          <p:cNvPr id="6" name="Footer Placeholder 5"/>
          <p:cNvSpPr>
            <a:spLocks noGrp="1"/>
          </p:cNvSpPr>
          <p:nvPr>
            <p:ph type="ftr" sz="quarter" idx="11"/>
          </p:nvPr>
        </p:nvSpPr>
        <p:spPr/>
        <p:txBody>
          <a:bodyPr/>
          <a:lstStyle/>
          <a:p>
            <a:r>
              <a:rPr lang="en-US"/>
              <a:t>Prepared by : Eng. Ngilangwa, J.L</a:t>
            </a:r>
          </a:p>
        </p:txBody>
      </p:sp>
      <p:sp>
        <p:nvSpPr>
          <p:cNvPr id="7" name="Slide Number Placeholder 6"/>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2410343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6BD1BE-EB2C-4D62-89BC-5FE856F35655}" type="datetime1">
              <a:rPr lang="en-US" smtClean="0"/>
              <a:t>11/25/2025</a:t>
            </a:fld>
            <a:endParaRPr lang="en-US"/>
          </a:p>
        </p:txBody>
      </p:sp>
      <p:sp>
        <p:nvSpPr>
          <p:cNvPr id="8" name="Footer Placeholder 7"/>
          <p:cNvSpPr>
            <a:spLocks noGrp="1"/>
          </p:cNvSpPr>
          <p:nvPr>
            <p:ph type="ftr" sz="quarter" idx="11"/>
          </p:nvPr>
        </p:nvSpPr>
        <p:spPr/>
        <p:txBody>
          <a:bodyPr/>
          <a:lstStyle/>
          <a:p>
            <a:r>
              <a:rPr lang="en-US"/>
              <a:t>Prepared by : Eng. Ngilangwa, J.L</a:t>
            </a:r>
          </a:p>
        </p:txBody>
      </p:sp>
      <p:sp>
        <p:nvSpPr>
          <p:cNvPr id="9" name="Slide Number Placeholder 8"/>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842385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E1C6C7-A265-4257-ADCF-C061508C9192}" type="datetime1">
              <a:rPr lang="en-US" smtClean="0"/>
              <a:t>11/25/2025</a:t>
            </a:fld>
            <a:endParaRPr lang="en-US"/>
          </a:p>
        </p:txBody>
      </p:sp>
      <p:sp>
        <p:nvSpPr>
          <p:cNvPr id="4" name="Footer Placeholder 3"/>
          <p:cNvSpPr>
            <a:spLocks noGrp="1"/>
          </p:cNvSpPr>
          <p:nvPr>
            <p:ph type="ftr" sz="quarter" idx="11"/>
          </p:nvPr>
        </p:nvSpPr>
        <p:spPr/>
        <p:txBody>
          <a:bodyPr/>
          <a:lstStyle/>
          <a:p>
            <a:r>
              <a:rPr lang="en-US"/>
              <a:t>Prepared by : Eng. Ngilangwa, J.L</a:t>
            </a:r>
          </a:p>
        </p:txBody>
      </p:sp>
      <p:sp>
        <p:nvSpPr>
          <p:cNvPr id="5" name="Slide Number Placeholder 4"/>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1505381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17199D-A65B-4144-B338-3A65F7B98590}" type="datetime1">
              <a:rPr lang="en-US" smtClean="0"/>
              <a:t>11/25/2025</a:t>
            </a:fld>
            <a:endParaRPr lang="en-US"/>
          </a:p>
        </p:txBody>
      </p:sp>
      <p:sp>
        <p:nvSpPr>
          <p:cNvPr id="3" name="Footer Placeholder 2"/>
          <p:cNvSpPr>
            <a:spLocks noGrp="1"/>
          </p:cNvSpPr>
          <p:nvPr>
            <p:ph type="ftr" sz="quarter" idx="11"/>
          </p:nvPr>
        </p:nvSpPr>
        <p:spPr/>
        <p:txBody>
          <a:bodyPr/>
          <a:lstStyle/>
          <a:p>
            <a:r>
              <a:rPr lang="en-US"/>
              <a:t>Prepared by : Eng. Ngilangwa, J.L</a:t>
            </a:r>
          </a:p>
        </p:txBody>
      </p:sp>
      <p:sp>
        <p:nvSpPr>
          <p:cNvPr id="4" name="Slide Number Placeholder 3"/>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406378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5F6499-1FE5-4E3E-A4FE-FF60735ABFEE}" type="datetime1">
              <a:rPr lang="en-US" smtClean="0"/>
              <a:t>11/25/2025</a:t>
            </a:fld>
            <a:endParaRPr lang="en-US"/>
          </a:p>
        </p:txBody>
      </p:sp>
      <p:sp>
        <p:nvSpPr>
          <p:cNvPr id="6" name="Footer Placeholder 5"/>
          <p:cNvSpPr>
            <a:spLocks noGrp="1"/>
          </p:cNvSpPr>
          <p:nvPr>
            <p:ph type="ftr" sz="quarter" idx="11"/>
          </p:nvPr>
        </p:nvSpPr>
        <p:spPr/>
        <p:txBody>
          <a:bodyPr/>
          <a:lstStyle/>
          <a:p>
            <a:r>
              <a:rPr lang="en-US"/>
              <a:t>Prepared by : Eng. Ngilangwa, J.L</a:t>
            </a:r>
          </a:p>
        </p:txBody>
      </p:sp>
      <p:sp>
        <p:nvSpPr>
          <p:cNvPr id="7" name="Slide Number Placeholder 6"/>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170376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2676C4-2EAC-48E6-8916-8E023CFC42A6}" type="datetime1">
              <a:rPr lang="en-US" smtClean="0"/>
              <a:t>11/25/2025</a:t>
            </a:fld>
            <a:endParaRPr lang="en-US"/>
          </a:p>
        </p:txBody>
      </p:sp>
      <p:sp>
        <p:nvSpPr>
          <p:cNvPr id="6" name="Footer Placeholder 5"/>
          <p:cNvSpPr>
            <a:spLocks noGrp="1"/>
          </p:cNvSpPr>
          <p:nvPr>
            <p:ph type="ftr" sz="quarter" idx="11"/>
          </p:nvPr>
        </p:nvSpPr>
        <p:spPr/>
        <p:txBody>
          <a:bodyPr/>
          <a:lstStyle/>
          <a:p>
            <a:r>
              <a:rPr lang="en-US"/>
              <a:t>Prepared by : Eng. Ngilangwa, J.L</a:t>
            </a:r>
          </a:p>
        </p:txBody>
      </p:sp>
      <p:sp>
        <p:nvSpPr>
          <p:cNvPr id="7" name="Slide Number Placeholder 6"/>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283110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673741-7305-4D79-92CA-7EE8B9B90598}" type="datetime1">
              <a:rPr lang="en-US" smtClean="0"/>
              <a:t>11/25/2025</a:t>
            </a:fld>
            <a:endParaRPr lang="en-US"/>
          </a:p>
        </p:txBody>
      </p:sp>
      <p:sp>
        <p:nvSpPr>
          <p:cNvPr id="5" name="Footer Placeholder 4"/>
          <p:cNvSpPr>
            <a:spLocks noGrp="1"/>
          </p:cNvSpPr>
          <p:nvPr>
            <p:ph type="ftr" sz="quarter" idx="11"/>
          </p:nvPr>
        </p:nvSpPr>
        <p:spPr/>
        <p:txBody>
          <a:bodyPr/>
          <a:lstStyle/>
          <a:p>
            <a:r>
              <a:rPr lang="en-US"/>
              <a:t>Prepared by : Eng. Ngilangwa, J.L</a:t>
            </a:r>
          </a:p>
        </p:txBody>
      </p:sp>
      <p:sp>
        <p:nvSpPr>
          <p:cNvPr id="6" name="Slide Number Placeholder 5"/>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1009169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8C67F-5BE5-44E5-A5ED-09BBC6373478}" type="datetime1">
              <a:rPr lang="en-US" smtClean="0"/>
              <a:t>11/25/2025</a:t>
            </a:fld>
            <a:endParaRPr lang="en-US"/>
          </a:p>
        </p:txBody>
      </p:sp>
      <p:sp>
        <p:nvSpPr>
          <p:cNvPr id="5" name="Footer Placeholder 4"/>
          <p:cNvSpPr>
            <a:spLocks noGrp="1"/>
          </p:cNvSpPr>
          <p:nvPr>
            <p:ph type="ftr" sz="quarter" idx="11"/>
          </p:nvPr>
        </p:nvSpPr>
        <p:spPr/>
        <p:txBody>
          <a:bodyPr/>
          <a:lstStyle/>
          <a:p>
            <a:r>
              <a:rPr lang="en-US"/>
              <a:t>Prepared by : Eng. Ngilangwa, J.L</a:t>
            </a:r>
          </a:p>
        </p:txBody>
      </p:sp>
      <p:sp>
        <p:nvSpPr>
          <p:cNvPr id="6" name="Slide Number Placeholder 5"/>
          <p:cNvSpPr>
            <a:spLocks noGrp="1"/>
          </p:cNvSpPr>
          <p:nvPr>
            <p:ph type="sldNum" sz="quarter" idx="12"/>
          </p:nvPr>
        </p:nvSpPr>
        <p:spPr/>
        <p:txBody>
          <a:bodyPr/>
          <a:lstStyle/>
          <a:p>
            <a:fld id="{FE26519D-5832-4C74-968F-A812C8CD0CD7}" type="slidenum">
              <a:rPr lang="en-US" smtClean="0"/>
              <a:t>‹#›</a:t>
            </a:fld>
            <a:endParaRPr lang="en-US"/>
          </a:p>
        </p:txBody>
      </p:sp>
    </p:spTree>
    <p:extLst>
      <p:ext uri="{BB962C8B-B14F-4D97-AF65-F5344CB8AC3E}">
        <p14:creationId xmlns:p14="http://schemas.microsoft.com/office/powerpoint/2010/main" val="4192571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80348D-642A-439F-B36F-A64FEC186676}" type="datetime1">
              <a:rPr lang="en-US" smtClean="0"/>
              <a:t>11/25/2025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 Eng. Ngilangwa, J.L</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26519D-5832-4C74-968F-A812C8CD0CD7}" type="slidenum">
              <a:rPr lang="en-US" smtClean="0"/>
              <a:t>‹#›</a:t>
            </a:fld>
            <a:endParaRPr lang="en-US"/>
          </a:p>
        </p:txBody>
      </p:sp>
    </p:spTree>
    <p:extLst>
      <p:ext uri="{BB962C8B-B14F-4D97-AF65-F5344CB8AC3E}">
        <p14:creationId xmlns:p14="http://schemas.microsoft.com/office/powerpoint/2010/main" val="41091496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3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 Id="rId4" Type="http://schemas.openxmlformats.org/officeDocument/2006/relationships/image" Target="../media/image49.emf"/></Relationships>
</file>

<file path=ppt/slides/_rels/slide47.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0.emf"/><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customXml" Target="../ink/ink2.xml"/><Relationship Id="rId4" Type="http://schemas.openxmlformats.org/officeDocument/2006/relationships/image" Target="../media/image610.emf"/></Relationships>
</file>

<file path=ppt/slides/_rels/slide57.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E26519D-5832-4C74-968F-A812C8CD0CD7}" type="slidenum">
              <a:rPr lang="en-US" smtClean="0"/>
              <a:t>1</a:t>
            </a:fld>
            <a:endParaRPr lang="en-US"/>
          </a:p>
        </p:txBody>
      </p:sp>
      <p:pic>
        <p:nvPicPr>
          <p:cNvPr id="5" name="Picture 4">
            <a:extLst>
              <a:ext uri="{FF2B5EF4-FFF2-40B4-BE49-F238E27FC236}">
                <a16:creationId xmlns:a16="http://schemas.microsoft.com/office/drawing/2014/main" id="{A56E19C2-D366-5D09-6EF4-A71424147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9096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06063" y="180304"/>
            <a:ext cx="11668258" cy="6400800"/>
          </a:xfrm>
        </p:spPr>
        <p:txBody>
          <a:bodyPr>
            <a:normAutofit/>
          </a:bodyPr>
          <a:lstStyle/>
          <a:p>
            <a:pPr algn="l"/>
            <a:r>
              <a:rPr lang="en-US" sz="4200" b="1" dirty="0">
                <a:solidFill>
                  <a:srgbClr val="005AAB"/>
                </a:solidFill>
                <a:latin typeface="AvantGarde-Demi"/>
              </a:rPr>
              <a:t>1</a:t>
            </a:r>
            <a:r>
              <a:rPr lang="en-US" sz="4200" b="1" i="0" u="none" strike="noStrike" baseline="0" dirty="0">
                <a:solidFill>
                  <a:srgbClr val="005AAB"/>
                </a:solidFill>
                <a:latin typeface="AvantGarde-Demi"/>
              </a:rPr>
              <a:t>.1 Introduction</a:t>
            </a:r>
          </a:p>
          <a:p>
            <a:pPr algn="l"/>
            <a:r>
              <a:rPr lang="en-US" sz="2600" b="0" i="0" u="none" strike="noStrike" baseline="0" dirty="0">
                <a:solidFill>
                  <a:srgbClr val="231F20"/>
                </a:solidFill>
                <a:latin typeface="Times New Roman" panose="02020603050405020304" pitchFamily="18" charset="0"/>
              </a:rPr>
              <a:t>In engineering practice, the machine parts are</a:t>
            </a:r>
            <a:r>
              <a:rPr lang="en-US" sz="2600" b="0" i="0" u="none" strike="noStrike" dirty="0">
                <a:solidFill>
                  <a:srgbClr val="231F20"/>
                </a:solidFill>
                <a:latin typeface="Times New Roman" panose="02020603050405020304" pitchFamily="18" charset="0"/>
              </a:rPr>
              <a:t> </a:t>
            </a:r>
            <a:r>
              <a:rPr lang="en-US" sz="2600" b="0" i="0" u="none" strike="noStrike" baseline="0" dirty="0">
                <a:solidFill>
                  <a:srgbClr val="231F20"/>
                </a:solidFill>
                <a:latin typeface="Times New Roman" panose="02020603050405020304" pitchFamily="18" charset="0"/>
              </a:rPr>
              <a:t>subjected to various forces which may be due to either one</a:t>
            </a:r>
            <a:r>
              <a:rPr lang="en-US" sz="2600" b="0" i="0" u="none" strike="noStrike" dirty="0">
                <a:solidFill>
                  <a:srgbClr val="231F20"/>
                </a:solidFill>
                <a:latin typeface="Times New Roman" panose="02020603050405020304" pitchFamily="18" charset="0"/>
              </a:rPr>
              <a:t> </a:t>
            </a:r>
            <a:r>
              <a:rPr lang="en-US" sz="2600" b="0" i="0" u="none" strike="noStrike" baseline="0" dirty="0">
                <a:solidFill>
                  <a:srgbClr val="231F20"/>
                </a:solidFill>
                <a:latin typeface="Times New Roman" panose="02020603050405020304" pitchFamily="18" charset="0"/>
              </a:rPr>
              <a:t>or more of the following:</a:t>
            </a:r>
          </a:p>
          <a:p>
            <a:pPr lvl="1" algn="l"/>
            <a:r>
              <a:rPr lang="en-US" sz="2600" b="1" i="0" u="none" strike="noStrike" baseline="0" dirty="0">
                <a:solidFill>
                  <a:srgbClr val="ED008D"/>
                </a:solidFill>
                <a:latin typeface="Times New Roman" panose="02020603050405020304" pitchFamily="18" charset="0"/>
              </a:rPr>
              <a:t>1. </a:t>
            </a:r>
            <a:r>
              <a:rPr lang="en-US" sz="2600" b="0" i="0" u="none" strike="noStrike" baseline="0" dirty="0">
                <a:solidFill>
                  <a:srgbClr val="231F20"/>
                </a:solidFill>
                <a:latin typeface="Times New Roman" panose="02020603050405020304" pitchFamily="18" charset="0"/>
              </a:rPr>
              <a:t>Energy transmitted,</a:t>
            </a:r>
          </a:p>
          <a:p>
            <a:pPr lvl="1" algn="l"/>
            <a:r>
              <a:rPr lang="en-US" sz="2600" b="1" i="0" u="none" strike="noStrike" baseline="0" dirty="0">
                <a:solidFill>
                  <a:srgbClr val="ED008D"/>
                </a:solidFill>
                <a:latin typeface="Times New Roman" panose="02020603050405020304" pitchFamily="18" charset="0"/>
              </a:rPr>
              <a:t>2. </a:t>
            </a:r>
            <a:r>
              <a:rPr lang="en-US" sz="2600" b="0" i="0" u="none" strike="noStrike" baseline="0" dirty="0">
                <a:solidFill>
                  <a:srgbClr val="231F20"/>
                </a:solidFill>
                <a:latin typeface="Times New Roman" panose="02020603050405020304" pitchFamily="18" charset="0"/>
              </a:rPr>
              <a:t>Weight of machine,</a:t>
            </a:r>
          </a:p>
          <a:p>
            <a:pPr lvl="1" algn="l"/>
            <a:r>
              <a:rPr lang="en-US" sz="2600" b="1" i="0" u="none" strike="noStrike" baseline="0" dirty="0">
                <a:solidFill>
                  <a:srgbClr val="ED008D"/>
                </a:solidFill>
                <a:latin typeface="Times New Roman" panose="02020603050405020304" pitchFamily="18" charset="0"/>
              </a:rPr>
              <a:t>3. </a:t>
            </a:r>
            <a:r>
              <a:rPr lang="en-US" sz="2600" b="0" i="0" u="none" strike="noStrike" baseline="0" dirty="0">
                <a:solidFill>
                  <a:srgbClr val="231F20"/>
                </a:solidFill>
                <a:latin typeface="Times New Roman" panose="02020603050405020304" pitchFamily="18" charset="0"/>
              </a:rPr>
              <a:t>Frictional resistances,</a:t>
            </a:r>
          </a:p>
          <a:p>
            <a:pPr lvl="1" algn="l"/>
            <a:r>
              <a:rPr lang="en-US" sz="2600" b="1" i="0" u="none" strike="noStrike" baseline="0" dirty="0">
                <a:solidFill>
                  <a:srgbClr val="ED008D"/>
                </a:solidFill>
                <a:latin typeface="Times New Roman" panose="02020603050405020304" pitchFamily="18" charset="0"/>
              </a:rPr>
              <a:t>4. </a:t>
            </a:r>
            <a:r>
              <a:rPr lang="en-US" sz="2600" b="0" i="0" u="none" strike="noStrike" baseline="0" dirty="0">
                <a:solidFill>
                  <a:srgbClr val="231F20"/>
                </a:solidFill>
                <a:latin typeface="Times New Roman" panose="02020603050405020304" pitchFamily="18" charset="0"/>
              </a:rPr>
              <a:t>Inertia of reciprocating parts,</a:t>
            </a:r>
          </a:p>
          <a:p>
            <a:pPr lvl="1" algn="l"/>
            <a:r>
              <a:rPr lang="en-US" sz="2600" b="1" i="0" u="none" strike="noStrike" baseline="0" dirty="0">
                <a:solidFill>
                  <a:srgbClr val="ED008D"/>
                </a:solidFill>
                <a:latin typeface="Times New Roman" panose="02020603050405020304" pitchFamily="18" charset="0"/>
              </a:rPr>
              <a:t>5. </a:t>
            </a:r>
            <a:r>
              <a:rPr lang="en-US" sz="2600" b="0" i="0" u="none" strike="noStrike" baseline="0" dirty="0">
                <a:solidFill>
                  <a:srgbClr val="231F20"/>
                </a:solidFill>
                <a:latin typeface="Times New Roman" panose="02020603050405020304" pitchFamily="18" charset="0"/>
              </a:rPr>
              <a:t>Change of temperature, and</a:t>
            </a:r>
          </a:p>
          <a:p>
            <a:pPr lvl="1" algn="l"/>
            <a:r>
              <a:rPr lang="en-US" sz="2600" b="1" i="0" u="none" strike="noStrike" baseline="0" dirty="0">
                <a:solidFill>
                  <a:srgbClr val="ED008D"/>
                </a:solidFill>
                <a:latin typeface="Times New Roman" panose="02020603050405020304" pitchFamily="18" charset="0"/>
              </a:rPr>
              <a:t>6. </a:t>
            </a:r>
            <a:r>
              <a:rPr lang="en-US" sz="2600" b="0" i="0" u="none" strike="noStrike" baseline="0" dirty="0">
                <a:solidFill>
                  <a:srgbClr val="231F20"/>
                </a:solidFill>
                <a:latin typeface="Times New Roman" panose="02020603050405020304" pitchFamily="18" charset="0"/>
              </a:rPr>
              <a:t>Lack of balance of moving parts.</a:t>
            </a:r>
          </a:p>
          <a:p>
            <a:pPr algn="l"/>
            <a:r>
              <a:rPr lang="en-US" sz="2600" b="0" i="0" u="none" strike="noStrike" baseline="0" dirty="0">
                <a:solidFill>
                  <a:srgbClr val="231F20"/>
                </a:solidFill>
                <a:latin typeface="Times New Roman" panose="02020603050405020304" pitchFamily="18" charset="0"/>
              </a:rPr>
              <a:t>The different forces acting on a machine part produces</a:t>
            </a:r>
            <a:r>
              <a:rPr lang="en-US" sz="2600" b="0" i="0" u="none" strike="noStrike" dirty="0">
                <a:solidFill>
                  <a:srgbClr val="231F20"/>
                </a:solidFill>
                <a:latin typeface="Times New Roman" panose="02020603050405020304" pitchFamily="18" charset="0"/>
              </a:rPr>
              <a:t> </a:t>
            </a:r>
            <a:r>
              <a:rPr lang="en-US" sz="2600" b="0" i="0" u="none" strike="noStrike" baseline="0" dirty="0">
                <a:solidFill>
                  <a:srgbClr val="231F20"/>
                </a:solidFill>
                <a:latin typeface="Times New Roman" panose="02020603050405020304" pitchFamily="18" charset="0"/>
              </a:rPr>
              <a:t>various types of stresses, which will be discussed in this</a:t>
            </a:r>
          </a:p>
          <a:p>
            <a:pPr algn="l"/>
            <a:r>
              <a:rPr lang="en-US" sz="2600" dirty="0">
                <a:solidFill>
                  <a:srgbClr val="231F20"/>
                </a:solidFill>
                <a:latin typeface="Times New Roman" panose="02020603050405020304" pitchFamily="18" charset="0"/>
              </a:rPr>
              <a:t>topic</a:t>
            </a:r>
            <a:r>
              <a:rPr lang="en-US" sz="2600" b="0" i="0" u="none" strike="noStrike" baseline="0" dirty="0">
                <a:solidFill>
                  <a:srgbClr val="231F20"/>
                </a:solidFill>
                <a:latin typeface="Times New Roman" panose="02020603050405020304" pitchFamily="18" charset="0"/>
              </a:rPr>
              <a:t>.</a:t>
            </a:r>
          </a:p>
        </p:txBody>
      </p:sp>
      <p:sp>
        <p:nvSpPr>
          <p:cNvPr id="2" name="Slide Number Placeholder 1"/>
          <p:cNvSpPr>
            <a:spLocks noGrp="1"/>
          </p:cNvSpPr>
          <p:nvPr>
            <p:ph type="sldNum" sz="quarter" idx="12"/>
          </p:nvPr>
        </p:nvSpPr>
        <p:spPr/>
        <p:txBody>
          <a:bodyPr/>
          <a:lstStyle/>
          <a:p>
            <a:fld id="{FE26519D-5832-4C74-968F-A812C8CD0CD7}" type="slidenum">
              <a:rPr lang="en-US" smtClean="0"/>
              <a:t>2</a:t>
            </a:fld>
            <a:endParaRPr lang="en-US"/>
          </a:p>
        </p:txBody>
      </p:sp>
    </p:spTree>
    <p:extLst>
      <p:ext uri="{BB962C8B-B14F-4D97-AF65-F5344CB8AC3E}">
        <p14:creationId xmlns:p14="http://schemas.microsoft.com/office/powerpoint/2010/main" val="3780400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5927" y="2083939"/>
            <a:ext cx="7562446" cy="2828303"/>
          </a:xfrm>
        </p:spPr>
        <p:txBody>
          <a:bodyPr>
            <a:normAutofit/>
          </a:bodyPr>
          <a:lstStyle/>
          <a:p>
            <a:pPr marL="0" indent="0">
              <a:buNone/>
            </a:pPr>
            <a:r>
              <a:rPr lang="en-US" b="1" i="0" u="none" strike="noStrike" baseline="0" dirty="0">
                <a:solidFill>
                  <a:srgbClr val="ED008D"/>
                </a:solidFill>
                <a:latin typeface="Times New Roman" panose="02020603050405020304" pitchFamily="18" charset="0"/>
              </a:rPr>
              <a:t>1. </a:t>
            </a:r>
            <a:r>
              <a:rPr lang="en-US" b="1" i="1" u="none" strike="noStrike" baseline="0" dirty="0">
                <a:solidFill>
                  <a:srgbClr val="ED008D"/>
                </a:solidFill>
                <a:latin typeface="Times New Roman" panose="02020603050405020304" pitchFamily="18" charset="0"/>
              </a:rPr>
              <a:t>Dead or steady load</a:t>
            </a:r>
            <a:r>
              <a:rPr lang="en-SE" b="1" i="0" u="none" strike="noStrike" baseline="0" dirty="0">
                <a:solidFill>
                  <a:srgbClr val="ED008D"/>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does not change in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magnitude or direction.</a:t>
            </a:r>
          </a:p>
          <a:p>
            <a:pPr marL="0" indent="0">
              <a:buNone/>
            </a:pPr>
            <a:r>
              <a:rPr lang="en-US" b="1" i="0" u="none" strike="noStrike" baseline="0" dirty="0">
                <a:solidFill>
                  <a:srgbClr val="ED008D"/>
                </a:solidFill>
                <a:latin typeface="Times New Roman" panose="02020603050405020304" pitchFamily="18" charset="0"/>
              </a:rPr>
              <a:t>2. </a:t>
            </a:r>
            <a:r>
              <a:rPr lang="en-US" b="1" i="1" u="none" strike="noStrike" baseline="0" dirty="0">
                <a:solidFill>
                  <a:srgbClr val="ED008D"/>
                </a:solidFill>
                <a:latin typeface="Times New Roman" panose="02020603050405020304" pitchFamily="18" charset="0"/>
              </a:rPr>
              <a:t>Live or variable load. A</a:t>
            </a:r>
            <a:r>
              <a:rPr lang="en-US" b="0" i="0" u="none" strike="noStrike" baseline="0" dirty="0">
                <a:solidFill>
                  <a:srgbClr val="231F20"/>
                </a:solidFill>
                <a:latin typeface="Times New Roman" panose="02020603050405020304" pitchFamily="18" charset="0"/>
              </a:rPr>
              <a:t> </a:t>
            </a:r>
            <a:r>
              <a:rPr lang="en-SE" b="0" i="0" u="none" strike="noStrike" baseline="0"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changes continually.</a:t>
            </a:r>
          </a:p>
          <a:p>
            <a:pPr marL="0" indent="0">
              <a:buNone/>
            </a:pPr>
            <a:r>
              <a:rPr lang="en-US" b="1" i="0" u="none" strike="noStrike" baseline="0" dirty="0">
                <a:solidFill>
                  <a:srgbClr val="ED008D"/>
                </a:solidFill>
                <a:latin typeface="Times New Roman" panose="02020603050405020304" pitchFamily="18" charset="0"/>
              </a:rPr>
              <a:t>3. </a:t>
            </a:r>
            <a:r>
              <a:rPr lang="en-US" b="1" i="1" u="none" strike="noStrike" baseline="0" dirty="0">
                <a:solidFill>
                  <a:srgbClr val="ED008D"/>
                </a:solidFill>
                <a:latin typeface="Times New Roman" panose="02020603050405020304" pitchFamily="18" charset="0"/>
              </a:rPr>
              <a:t>Suddenly applied or shock loads</a:t>
            </a:r>
            <a:r>
              <a:rPr lang="en-SE" dirty="0">
                <a:solidFill>
                  <a:srgbClr val="ED008D"/>
                </a:solidFill>
                <a:latin typeface="Times New Roman" panose="02020603050405020304" pitchFamily="18" charset="0"/>
              </a:rPr>
              <a:t> </a:t>
            </a:r>
            <a:r>
              <a:rPr lang="en-SE" b="0" i="0" u="none" strike="noStrike" baseline="0" dirty="0">
                <a:solidFill>
                  <a:srgbClr val="231F20"/>
                </a:solidFill>
                <a:latin typeface="Times New Roman" panose="02020603050405020304" pitchFamily="18" charset="0"/>
              </a:rPr>
              <a:t>-</a:t>
            </a:r>
            <a:r>
              <a:rPr lang="en-US" b="0" i="0" u="none" strike="noStrike" baseline="0" dirty="0">
                <a:solidFill>
                  <a:srgbClr val="231F20"/>
                </a:solidFill>
                <a:latin typeface="Times New Roman" panose="02020603050405020304" pitchFamily="18" charset="0"/>
              </a:rPr>
              <a:t>suddenly applied or removed.</a:t>
            </a:r>
          </a:p>
          <a:p>
            <a:pPr marL="0" indent="0">
              <a:buNone/>
            </a:pPr>
            <a:r>
              <a:rPr lang="en-US" b="1" i="0" u="none" strike="noStrike" baseline="0" dirty="0">
                <a:solidFill>
                  <a:srgbClr val="ED008D"/>
                </a:solidFill>
                <a:latin typeface="Times New Roman" panose="02020603050405020304" pitchFamily="18" charset="0"/>
              </a:rPr>
              <a:t>4. </a:t>
            </a:r>
            <a:r>
              <a:rPr lang="en-US" b="1" i="1" u="none" strike="noStrike" baseline="0" dirty="0">
                <a:solidFill>
                  <a:srgbClr val="ED008D"/>
                </a:solidFill>
                <a:latin typeface="Times New Roman" panose="02020603050405020304" pitchFamily="18" charset="0"/>
              </a:rPr>
              <a:t>Impact load</a:t>
            </a:r>
            <a:r>
              <a:rPr lang="en-SE" b="1" i="1" u="none" strike="noStrike" baseline="0" dirty="0">
                <a:solidFill>
                  <a:srgbClr val="ED008D"/>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applied with some initial velocity.</a:t>
            </a:r>
          </a:p>
        </p:txBody>
      </p:sp>
      <p:sp>
        <p:nvSpPr>
          <p:cNvPr id="5" name="Slide Number Placeholder 4"/>
          <p:cNvSpPr>
            <a:spLocks noGrp="1"/>
          </p:cNvSpPr>
          <p:nvPr>
            <p:ph type="sldNum" sz="quarter" idx="12"/>
          </p:nvPr>
        </p:nvSpPr>
        <p:spPr/>
        <p:txBody>
          <a:bodyPr/>
          <a:lstStyle/>
          <a:p>
            <a:fld id="{FE26519D-5832-4C74-968F-A812C8CD0CD7}" type="slidenum">
              <a:rPr lang="en-US" smtClean="0"/>
              <a:t>3</a:t>
            </a:fld>
            <a:endParaRPr lang="en-US"/>
          </a:p>
        </p:txBody>
      </p:sp>
      <p:pic>
        <p:nvPicPr>
          <p:cNvPr id="4" name="Picture 3">
            <a:extLst>
              <a:ext uri="{FF2B5EF4-FFF2-40B4-BE49-F238E27FC236}">
                <a16:creationId xmlns:a16="http://schemas.microsoft.com/office/drawing/2014/main" id="{5E8600B5-2C5E-A557-8D43-458E70E2B8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8315" y="2025164"/>
            <a:ext cx="3585601" cy="2939697"/>
          </a:xfrm>
          <a:prstGeom prst="rect">
            <a:avLst/>
          </a:prstGeom>
        </p:spPr>
      </p:pic>
      <p:sp>
        <p:nvSpPr>
          <p:cNvPr id="8" name="TextBox 7">
            <a:extLst>
              <a:ext uri="{FF2B5EF4-FFF2-40B4-BE49-F238E27FC236}">
                <a16:creationId xmlns:a16="http://schemas.microsoft.com/office/drawing/2014/main" id="{0596026E-F495-BA14-D0D0-A6841AFBE391}"/>
              </a:ext>
            </a:extLst>
          </p:cNvPr>
          <p:cNvSpPr txBox="1"/>
          <p:nvPr/>
        </p:nvSpPr>
        <p:spPr>
          <a:xfrm>
            <a:off x="1020725" y="5473005"/>
            <a:ext cx="10877107" cy="1384995"/>
          </a:xfrm>
          <a:prstGeom prst="rect">
            <a:avLst/>
          </a:prstGeom>
          <a:noFill/>
        </p:spPr>
        <p:txBody>
          <a:bodyPr wrap="square" rtlCol="0">
            <a:spAutoFit/>
          </a:bodyPr>
          <a:lstStyle/>
          <a:p>
            <a:r>
              <a:rPr lang="en-US" sz="2800" b="1" dirty="0">
                <a:solidFill>
                  <a:srgbClr val="ED008D"/>
                </a:solidFill>
                <a:latin typeface="Times New Roman" panose="02020603050405020304" pitchFamily="18" charset="0"/>
              </a:rPr>
              <a:t>Note: </a:t>
            </a:r>
            <a:r>
              <a:rPr lang="en-US" sz="2800" dirty="0">
                <a:solidFill>
                  <a:srgbClr val="231F20"/>
                </a:solidFill>
                <a:latin typeface="Times New Roman" panose="02020603050405020304" pitchFamily="18" charset="0"/>
              </a:rPr>
              <a:t>A machine part resists a dead load more easily than a live load and a live load more easily than a shock load.</a:t>
            </a:r>
            <a:endParaRPr lang="en-US" sz="2800" dirty="0"/>
          </a:p>
          <a:p>
            <a:endParaRPr lang="en-GB" sz="2800" dirty="0"/>
          </a:p>
        </p:txBody>
      </p:sp>
      <p:sp>
        <p:nvSpPr>
          <p:cNvPr id="10" name="TextBox 9">
            <a:extLst>
              <a:ext uri="{FF2B5EF4-FFF2-40B4-BE49-F238E27FC236}">
                <a16:creationId xmlns:a16="http://schemas.microsoft.com/office/drawing/2014/main" id="{70A6D3F7-6758-2485-5155-8735B996B2FF}"/>
              </a:ext>
            </a:extLst>
          </p:cNvPr>
          <p:cNvSpPr txBox="1"/>
          <p:nvPr/>
        </p:nvSpPr>
        <p:spPr>
          <a:xfrm>
            <a:off x="645927" y="201372"/>
            <a:ext cx="11251905" cy="1522468"/>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200" b="1" i="0" u="none" strike="noStrike" kern="1200" cap="none" spc="0" normalizeH="0" baseline="0" noProof="0" dirty="0">
                <a:ln>
                  <a:noFill/>
                </a:ln>
                <a:solidFill>
                  <a:srgbClr val="005AAB"/>
                </a:solidFill>
                <a:effectLst/>
                <a:uLnTx/>
                <a:uFillTx/>
                <a:latin typeface="AvantGarde-Demi"/>
                <a:ea typeface="+mn-ea"/>
                <a:cs typeface="+mn-cs"/>
              </a:rPr>
              <a:t>1.2 Load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mn-cs"/>
              </a:rPr>
              <a:t>It is defined as </a:t>
            </a:r>
            <a:r>
              <a:rPr kumimoji="0" lang="en-US" sz="2600" b="1" i="0" u="none" strike="noStrike" kern="1200" cap="none" spc="0" normalizeH="0" baseline="0" noProof="0" dirty="0">
                <a:ln>
                  <a:noFill/>
                </a:ln>
                <a:solidFill>
                  <a:srgbClr val="231F20"/>
                </a:solidFill>
                <a:effectLst/>
                <a:uLnTx/>
                <a:uFillTx/>
                <a:latin typeface="Times New Roman" panose="02020603050405020304" pitchFamily="18" charset="0"/>
                <a:ea typeface="+mn-ea"/>
                <a:cs typeface="+mn-cs"/>
              </a:rPr>
              <a:t>any external force acting upon a machine part. </a:t>
            </a:r>
            <a:r>
              <a:rPr kumimoji="0" lang="en-US" sz="26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mn-cs"/>
              </a:rPr>
              <a:t>The following four types of the load are important from the subject point of view:</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726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425" y="115910"/>
            <a:ext cx="11848563" cy="6742090"/>
          </a:xfrm>
        </p:spPr>
        <p:txBody>
          <a:bodyPr/>
          <a:lstStyle/>
          <a:p>
            <a:pPr marL="0" indent="0">
              <a:buNone/>
            </a:pPr>
            <a:r>
              <a:rPr lang="en-US" sz="3600" b="1" dirty="0">
                <a:solidFill>
                  <a:srgbClr val="005AAB"/>
                </a:solidFill>
                <a:latin typeface="AvantGarde-Demi"/>
              </a:rPr>
              <a:t> 1</a:t>
            </a:r>
            <a:r>
              <a:rPr lang="en-US" sz="3600" b="1" i="0" u="none" strike="noStrike" baseline="0" dirty="0">
                <a:solidFill>
                  <a:srgbClr val="005AAB"/>
                </a:solidFill>
                <a:latin typeface="AvantGarde-Demi"/>
              </a:rPr>
              <a:t>.3 Stress</a:t>
            </a:r>
          </a:p>
          <a:p>
            <a:pPr algn="just"/>
            <a:r>
              <a:rPr lang="en-US" b="0" i="0" u="none" strike="noStrike" baseline="0" dirty="0">
                <a:solidFill>
                  <a:srgbClr val="231F20"/>
                </a:solidFill>
                <a:latin typeface="Times New Roman" panose="02020603050405020304" pitchFamily="18" charset="0"/>
              </a:rPr>
              <a:t>When some external system of forces or loads act on a body, the internal forces (equal and</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opposite) are set up at various sections of the body, which resist the external forces. This internal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force per unit area at any section of the body is known as </a:t>
            </a:r>
            <a:r>
              <a:rPr lang="en-US" b="1" i="1" u="none" strike="noStrike" baseline="0" dirty="0">
                <a:solidFill>
                  <a:srgbClr val="231F20"/>
                </a:solidFill>
                <a:latin typeface="Times New Roman" panose="02020603050405020304" pitchFamily="18" charset="0"/>
              </a:rPr>
              <a:t>unit stress </a:t>
            </a:r>
            <a:r>
              <a:rPr lang="en-US" b="0" i="0" u="none" strike="noStrike" baseline="0" dirty="0">
                <a:solidFill>
                  <a:srgbClr val="231F20"/>
                </a:solidFill>
                <a:latin typeface="Times New Roman" panose="02020603050405020304" pitchFamily="18" charset="0"/>
              </a:rPr>
              <a:t>or simply a </a:t>
            </a:r>
            <a:r>
              <a:rPr lang="en-US" b="1" i="1" u="none" strike="noStrike" baseline="0" dirty="0">
                <a:solidFill>
                  <a:srgbClr val="231F20"/>
                </a:solidFill>
                <a:latin typeface="Times New Roman" panose="02020603050405020304" pitchFamily="18" charset="0"/>
              </a:rPr>
              <a:t>stress</a:t>
            </a:r>
            <a:r>
              <a:rPr lang="en-US" b="1" i="0" u="none" strike="noStrike" baseline="0"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It is denoted</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by a Greek letter sigma    . Mathematically,</a:t>
            </a:r>
            <a:endParaRPr lang="en-US" dirty="0"/>
          </a:p>
        </p:txBody>
      </p:sp>
      <p:pic>
        <p:nvPicPr>
          <p:cNvPr id="4" name="Picture 3"/>
          <p:cNvPicPr>
            <a:picLocks noChangeAspect="1"/>
          </p:cNvPicPr>
          <p:nvPr/>
        </p:nvPicPr>
        <p:blipFill>
          <a:blip r:embed="rId2"/>
          <a:stretch>
            <a:fillRect/>
          </a:stretch>
        </p:blipFill>
        <p:spPr>
          <a:xfrm>
            <a:off x="11533350" y="2014081"/>
            <a:ext cx="355678" cy="254063"/>
          </a:xfrm>
          <a:prstGeom prst="rect">
            <a:avLst/>
          </a:prstGeom>
        </p:spPr>
      </p:pic>
      <p:pic>
        <p:nvPicPr>
          <p:cNvPr id="5" name="Picture 4"/>
          <p:cNvPicPr>
            <a:picLocks noChangeAspect="1"/>
          </p:cNvPicPr>
          <p:nvPr/>
        </p:nvPicPr>
        <p:blipFill>
          <a:blip r:embed="rId3"/>
          <a:stretch>
            <a:fillRect/>
          </a:stretch>
        </p:blipFill>
        <p:spPr>
          <a:xfrm>
            <a:off x="425003" y="2756079"/>
            <a:ext cx="11108347" cy="3709115"/>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4</a:t>
            </a:fld>
            <a:endParaRPr lang="en-US"/>
          </a:p>
        </p:txBody>
      </p:sp>
    </p:spTree>
    <p:extLst>
      <p:ext uri="{BB962C8B-B14F-4D97-AF65-F5344CB8AC3E}">
        <p14:creationId xmlns:p14="http://schemas.microsoft.com/office/powerpoint/2010/main" val="2323617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52" y="103031"/>
            <a:ext cx="11887200" cy="6086811"/>
          </a:xfrm>
        </p:spPr>
        <p:txBody>
          <a:bodyPr/>
          <a:lstStyle/>
          <a:p>
            <a:pPr marL="0" indent="0">
              <a:buNone/>
            </a:pPr>
            <a:r>
              <a:rPr lang="en-US" sz="3600" b="1" dirty="0">
                <a:solidFill>
                  <a:srgbClr val="005AAB"/>
                </a:solidFill>
                <a:latin typeface="AvantGarde-Demi"/>
              </a:rPr>
              <a:t>1</a:t>
            </a:r>
            <a:r>
              <a:rPr lang="en-US" sz="3600" b="1" i="0" u="none" strike="noStrike" baseline="0" dirty="0">
                <a:solidFill>
                  <a:srgbClr val="005AAB"/>
                </a:solidFill>
                <a:latin typeface="AvantGarde-Demi"/>
              </a:rPr>
              <a:t>.4 Strain</a:t>
            </a:r>
          </a:p>
          <a:p>
            <a:r>
              <a:rPr lang="en-US" b="0" i="0" u="none" strike="noStrike" baseline="0" dirty="0">
                <a:solidFill>
                  <a:srgbClr val="231F20"/>
                </a:solidFill>
                <a:latin typeface="Times New Roman" panose="02020603050405020304" pitchFamily="18" charset="0"/>
              </a:rPr>
              <a:t>When a system of forces or loads act on a body, it undergoes some deformation. This deformation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per unit length is known as </a:t>
            </a:r>
            <a:r>
              <a:rPr lang="en-US" b="1" i="1" u="none" strike="noStrike" baseline="0" dirty="0">
                <a:solidFill>
                  <a:srgbClr val="231F20"/>
                </a:solidFill>
                <a:latin typeface="Times New Roman" panose="02020603050405020304" pitchFamily="18" charset="0"/>
              </a:rPr>
              <a:t>unit strain </a:t>
            </a:r>
            <a:r>
              <a:rPr lang="en-US" b="0" i="0" u="none" strike="noStrike" baseline="0" dirty="0">
                <a:solidFill>
                  <a:srgbClr val="231F20"/>
                </a:solidFill>
                <a:latin typeface="Times New Roman" panose="02020603050405020304" pitchFamily="18" charset="0"/>
              </a:rPr>
              <a:t>or simply a </a:t>
            </a:r>
            <a:r>
              <a:rPr lang="en-US" b="1" i="1" u="none" strike="noStrike" baseline="0" dirty="0">
                <a:solidFill>
                  <a:srgbClr val="231F20"/>
                </a:solidFill>
                <a:latin typeface="Times New Roman" panose="02020603050405020304" pitchFamily="18" charset="0"/>
              </a:rPr>
              <a:t>strain. </a:t>
            </a:r>
            <a:r>
              <a:rPr lang="en-US" b="0" i="0" u="none" strike="noStrike" baseline="0" dirty="0">
                <a:solidFill>
                  <a:srgbClr val="231F20"/>
                </a:solidFill>
                <a:latin typeface="Times New Roman" panose="02020603050405020304" pitchFamily="18" charset="0"/>
              </a:rPr>
              <a:t>It is denoted by a Greek letter epsilon </a:t>
            </a:r>
          </a:p>
          <a:p>
            <a:r>
              <a:rPr lang="en-US" b="0" i="0" u="none" strike="noStrike" baseline="0" dirty="0">
                <a:solidFill>
                  <a:srgbClr val="231F20"/>
                </a:solidFill>
                <a:latin typeface="Times New Roman" panose="02020603050405020304" pitchFamily="18" charset="0"/>
              </a:rPr>
              <a:t>Mathematically,</a:t>
            </a:r>
            <a:endParaRPr lang="en-US" dirty="0"/>
          </a:p>
        </p:txBody>
      </p:sp>
      <p:pic>
        <p:nvPicPr>
          <p:cNvPr id="4" name="Picture 3"/>
          <p:cNvPicPr>
            <a:picLocks noChangeAspect="1"/>
          </p:cNvPicPr>
          <p:nvPr/>
        </p:nvPicPr>
        <p:blipFill>
          <a:blip r:embed="rId2"/>
          <a:stretch>
            <a:fillRect/>
          </a:stretch>
        </p:blipFill>
        <p:spPr>
          <a:xfrm>
            <a:off x="5273866" y="1563145"/>
            <a:ext cx="367081" cy="275318"/>
          </a:xfrm>
          <a:prstGeom prst="rect">
            <a:avLst/>
          </a:prstGeom>
        </p:spPr>
      </p:pic>
      <p:pic>
        <p:nvPicPr>
          <p:cNvPr id="5" name="Picture 4"/>
          <p:cNvPicPr>
            <a:picLocks noChangeAspect="1"/>
          </p:cNvPicPr>
          <p:nvPr/>
        </p:nvPicPr>
        <p:blipFill>
          <a:blip r:embed="rId3"/>
          <a:stretch>
            <a:fillRect/>
          </a:stretch>
        </p:blipFill>
        <p:spPr>
          <a:xfrm>
            <a:off x="3354946" y="1962894"/>
            <a:ext cx="6996713" cy="1712890"/>
          </a:xfrm>
          <a:prstGeom prst="rect">
            <a:avLst/>
          </a:prstGeom>
        </p:spPr>
      </p:pic>
      <p:sp>
        <p:nvSpPr>
          <p:cNvPr id="6" name="Rectangle 5"/>
          <p:cNvSpPr/>
          <p:nvPr/>
        </p:nvSpPr>
        <p:spPr>
          <a:xfrm>
            <a:off x="111909" y="3582432"/>
            <a:ext cx="6529589" cy="584775"/>
          </a:xfrm>
          <a:prstGeom prst="rect">
            <a:avLst/>
          </a:prstGeom>
        </p:spPr>
        <p:txBody>
          <a:bodyPr wrap="square">
            <a:spAutoFit/>
          </a:bodyPr>
          <a:lstStyle/>
          <a:p>
            <a:r>
              <a:rPr lang="en-US" sz="3200" b="1" i="0" u="none" strike="noStrike" baseline="0" dirty="0">
                <a:solidFill>
                  <a:srgbClr val="005AAB"/>
                </a:solidFill>
                <a:latin typeface="AvantGarde-Demi"/>
              </a:rPr>
              <a:t>1.5 Tensile Stress and Strain</a:t>
            </a:r>
            <a:endParaRPr lang="en-US" sz="3200" dirty="0"/>
          </a:p>
        </p:txBody>
      </p:sp>
      <p:pic>
        <p:nvPicPr>
          <p:cNvPr id="7" name="Picture 6"/>
          <p:cNvPicPr>
            <a:picLocks noChangeAspect="1"/>
          </p:cNvPicPr>
          <p:nvPr/>
        </p:nvPicPr>
        <p:blipFill>
          <a:blip r:embed="rId4"/>
          <a:stretch>
            <a:fillRect/>
          </a:stretch>
        </p:blipFill>
        <p:spPr>
          <a:xfrm>
            <a:off x="1649475" y="4057740"/>
            <a:ext cx="6961125" cy="1828203"/>
          </a:xfrm>
          <a:prstGeom prst="rect">
            <a:avLst/>
          </a:prstGeom>
        </p:spPr>
      </p:pic>
      <p:sp>
        <p:nvSpPr>
          <p:cNvPr id="10" name="Slide Number Placeholder 9"/>
          <p:cNvSpPr>
            <a:spLocks noGrp="1"/>
          </p:cNvSpPr>
          <p:nvPr>
            <p:ph type="sldNum" sz="quarter" idx="12"/>
          </p:nvPr>
        </p:nvSpPr>
        <p:spPr/>
        <p:txBody>
          <a:bodyPr/>
          <a:lstStyle/>
          <a:p>
            <a:fld id="{FE26519D-5832-4C74-968F-A812C8CD0CD7}" type="slidenum">
              <a:rPr lang="en-US" smtClean="0"/>
              <a:t>5</a:t>
            </a:fld>
            <a:endParaRPr lang="en-US"/>
          </a:p>
        </p:txBody>
      </p:sp>
      <p:sp>
        <p:nvSpPr>
          <p:cNvPr id="11" name="Rectangle 10"/>
          <p:cNvSpPr/>
          <p:nvPr/>
        </p:nvSpPr>
        <p:spPr>
          <a:xfrm>
            <a:off x="2898778" y="5749876"/>
            <a:ext cx="4989058" cy="523220"/>
          </a:xfrm>
          <a:prstGeom prst="rect">
            <a:avLst/>
          </a:prstGeom>
        </p:spPr>
        <p:txBody>
          <a:bodyPr wrap="none">
            <a:spAutoFit/>
          </a:bodyPr>
          <a:lstStyle/>
          <a:p>
            <a:r>
              <a:rPr lang="en-US" sz="2800" b="1" i="1" dirty="0">
                <a:solidFill>
                  <a:srgbClr val="0071BD"/>
                </a:solidFill>
                <a:latin typeface="Times New Roman" panose="02020603050405020304" pitchFamily="18" charset="0"/>
              </a:rPr>
              <a:t>Fig. 1.1. </a:t>
            </a:r>
            <a:r>
              <a:rPr lang="en-US" sz="2800" i="1" dirty="0">
                <a:solidFill>
                  <a:srgbClr val="231F20"/>
                </a:solidFill>
                <a:latin typeface="Times New Roman" panose="02020603050405020304" pitchFamily="18" charset="0"/>
              </a:rPr>
              <a:t>Tensile stress and strain</a:t>
            </a:r>
            <a:r>
              <a:rPr lang="en-US" sz="900" dirty="0">
                <a:solidFill>
                  <a:srgbClr val="231F20"/>
                </a:solidFill>
                <a:latin typeface="Times New Roman" panose="02020603050405020304" pitchFamily="18" charset="0"/>
              </a:rPr>
              <a:t>.</a:t>
            </a:r>
            <a:endParaRPr lang="en-US" dirty="0"/>
          </a:p>
        </p:txBody>
      </p:sp>
    </p:spTree>
    <p:extLst>
      <p:ext uri="{BB962C8B-B14F-4D97-AF65-F5344CB8AC3E}">
        <p14:creationId xmlns:p14="http://schemas.microsoft.com/office/powerpoint/2010/main" val="3696767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425" y="128789"/>
            <a:ext cx="11822805" cy="6581104"/>
          </a:xfrm>
        </p:spPr>
        <p:txBody>
          <a:bodyPr/>
          <a:lstStyle/>
          <a:p>
            <a:pPr algn="just"/>
            <a:r>
              <a:rPr lang="en-US" b="0" i="0" u="none" strike="noStrike" baseline="0" dirty="0">
                <a:solidFill>
                  <a:srgbClr val="231F20"/>
                </a:solidFill>
                <a:latin typeface="Times New Roman" panose="02020603050405020304" pitchFamily="18" charset="0"/>
              </a:rPr>
              <a:t>When a body is subjected to two equal and opposite axial pulls </a:t>
            </a:r>
            <a:r>
              <a:rPr lang="en-US" b="0" i="1" u="none" strike="noStrike" baseline="0" dirty="0">
                <a:solidFill>
                  <a:srgbClr val="231F20"/>
                </a:solidFill>
                <a:latin typeface="Times New Roman" panose="02020603050405020304" pitchFamily="18" charset="0"/>
              </a:rPr>
              <a:t>P </a:t>
            </a:r>
            <a:r>
              <a:rPr lang="en-US" b="0" i="0" u="none" strike="noStrike" baseline="0" dirty="0">
                <a:solidFill>
                  <a:srgbClr val="231F20"/>
                </a:solidFill>
                <a:latin typeface="Times New Roman" panose="02020603050405020304" pitchFamily="18" charset="0"/>
              </a:rPr>
              <a:t>(also called tensile load) as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shown in Fig. 1.1 (</a:t>
            </a:r>
            <a:r>
              <a:rPr lang="en-US" b="0" i="1" u="none" strike="noStrike" baseline="0" dirty="0">
                <a:solidFill>
                  <a:srgbClr val="231F20"/>
                </a:solidFill>
                <a:latin typeface="Times New Roman" panose="02020603050405020304" pitchFamily="18" charset="0"/>
              </a:rPr>
              <a:t>a</a:t>
            </a:r>
            <a:r>
              <a:rPr lang="en-US" b="0" i="0" u="none" strike="noStrike" baseline="0" dirty="0">
                <a:solidFill>
                  <a:srgbClr val="231F20"/>
                </a:solidFill>
                <a:latin typeface="Times New Roman" panose="02020603050405020304" pitchFamily="18" charset="0"/>
              </a:rPr>
              <a:t>), then the stress induced at any section of the body is known as </a:t>
            </a:r>
            <a:r>
              <a:rPr lang="en-US" b="1" i="1" u="none" strike="noStrike" baseline="0" dirty="0">
                <a:solidFill>
                  <a:srgbClr val="231F20"/>
                </a:solidFill>
                <a:latin typeface="Times New Roman" panose="02020603050405020304" pitchFamily="18" charset="0"/>
              </a:rPr>
              <a:t>tensile stress </a:t>
            </a:r>
            <a:r>
              <a:rPr lang="en-US" b="0" i="0" u="none" strike="noStrike" baseline="0" dirty="0">
                <a:solidFill>
                  <a:srgbClr val="231F20"/>
                </a:solidFill>
                <a:latin typeface="Times New Roman" panose="02020603050405020304" pitchFamily="18" charset="0"/>
              </a:rPr>
              <a:t>as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shown in Fig. 1.1 (</a:t>
            </a:r>
            <a:r>
              <a:rPr lang="en-US" b="0" i="1" u="none" strike="noStrike" baseline="0" dirty="0">
                <a:solidFill>
                  <a:srgbClr val="231F20"/>
                </a:solidFill>
                <a:latin typeface="Times New Roman" panose="02020603050405020304" pitchFamily="18" charset="0"/>
              </a:rPr>
              <a:t>b</a:t>
            </a:r>
            <a:r>
              <a:rPr lang="en-US" b="0" i="0" u="none" strike="noStrike" baseline="0" dirty="0">
                <a:solidFill>
                  <a:srgbClr val="231F20"/>
                </a:solidFill>
                <a:latin typeface="Times New Roman" panose="02020603050405020304" pitchFamily="18" charset="0"/>
              </a:rPr>
              <a:t>). A little consideration will show that due to the tensile load, there will be a</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decrease in cross-sectional area and an increase in length of the body. The ratio of the increase in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length to the original length is known as </a:t>
            </a:r>
            <a:r>
              <a:rPr lang="en-US" b="1" i="1" u="none" strike="noStrike" baseline="0" dirty="0">
                <a:solidFill>
                  <a:srgbClr val="231F20"/>
                </a:solidFill>
                <a:latin typeface="Times New Roman" panose="02020603050405020304" pitchFamily="18" charset="0"/>
              </a:rPr>
              <a:t>tensile strain</a:t>
            </a:r>
            <a:r>
              <a:rPr lang="en-US" b="1" i="0" u="none" strike="noStrike" baseline="0" dirty="0">
                <a:solidFill>
                  <a:srgbClr val="231F20"/>
                </a:solidFill>
                <a:latin typeface="Times New Roman" panose="02020603050405020304" pitchFamily="18" charset="0"/>
              </a:rPr>
              <a:t>.</a:t>
            </a:r>
            <a:endParaRPr lang="en-US" dirty="0"/>
          </a:p>
        </p:txBody>
      </p:sp>
      <p:pic>
        <p:nvPicPr>
          <p:cNvPr id="4" name="Picture 3"/>
          <p:cNvPicPr>
            <a:picLocks noChangeAspect="1"/>
          </p:cNvPicPr>
          <p:nvPr/>
        </p:nvPicPr>
        <p:blipFill>
          <a:blip r:embed="rId2"/>
          <a:stretch>
            <a:fillRect/>
          </a:stretch>
        </p:blipFill>
        <p:spPr>
          <a:xfrm>
            <a:off x="983894" y="2537138"/>
            <a:ext cx="6833582" cy="1983347"/>
          </a:xfrm>
          <a:prstGeom prst="rect">
            <a:avLst/>
          </a:prstGeom>
        </p:spPr>
      </p:pic>
      <p:pic>
        <p:nvPicPr>
          <p:cNvPr id="5" name="Picture 4"/>
          <p:cNvPicPr>
            <a:picLocks noChangeAspect="1"/>
          </p:cNvPicPr>
          <p:nvPr/>
        </p:nvPicPr>
        <p:blipFill>
          <a:blip r:embed="rId3"/>
          <a:stretch>
            <a:fillRect/>
          </a:stretch>
        </p:blipFill>
        <p:spPr>
          <a:xfrm>
            <a:off x="2125014" y="4520485"/>
            <a:ext cx="4997003" cy="1227791"/>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6</a:t>
            </a:fld>
            <a:endParaRPr lang="en-US"/>
          </a:p>
        </p:txBody>
      </p:sp>
    </p:spTree>
    <p:extLst>
      <p:ext uri="{BB962C8B-B14F-4D97-AF65-F5344CB8AC3E}">
        <p14:creationId xmlns:p14="http://schemas.microsoft.com/office/powerpoint/2010/main" val="876165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183" y="115910"/>
            <a:ext cx="11745531" cy="6061053"/>
          </a:xfrm>
        </p:spPr>
        <p:txBody>
          <a:bodyPr>
            <a:normAutofit lnSpcReduction="10000"/>
          </a:bodyPr>
          <a:lstStyle/>
          <a:p>
            <a:pPr marL="0" indent="0">
              <a:buNone/>
            </a:pPr>
            <a:r>
              <a:rPr lang="en-US" sz="3600" b="1" dirty="0">
                <a:solidFill>
                  <a:srgbClr val="005AAB"/>
                </a:solidFill>
                <a:latin typeface="AvantGarde-Demi"/>
              </a:rPr>
              <a:t>1</a:t>
            </a:r>
            <a:r>
              <a:rPr lang="en-US" sz="3600" b="1" i="0" u="none" strike="noStrike" baseline="0" dirty="0">
                <a:solidFill>
                  <a:srgbClr val="005AAB"/>
                </a:solidFill>
                <a:latin typeface="AvantGarde-Demi"/>
              </a:rPr>
              <a:t>.6 Compressive Stress and</a:t>
            </a:r>
            <a:r>
              <a:rPr lang="en-US" sz="3600" b="1" i="0" u="none" strike="noStrike" dirty="0">
                <a:solidFill>
                  <a:srgbClr val="005AAB"/>
                </a:solidFill>
                <a:latin typeface="AvantGarde-Demi"/>
              </a:rPr>
              <a:t> </a:t>
            </a:r>
            <a:r>
              <a:rPr lang="en-US" sz="3600" b="1" i="0" u="none" strike="noStrike" baseline="0" dirty="0">
                <a:solidFill>
                  <a:srgbClr val="005AAB"/>
                </a:solidFill>
                <a:latin typeface="AvantGarde-Demi"/>
              </a:rPr>
              <a:t>Strain</a:t>
            </a:r>
          </a:p>
          <a:p>
            <a:pPr algn="just"/>
            <a:r>
              <a:rPr lang="en-US" b="0" i="0" u="none" strike="noStrike" baseline="0" dirty="0">
                <a:solidFill>
                  <a:srgbClr val="231F20"/>
                </a:solidFill>
                <a:latin typeface="Times New Roman" panose="02020603050405020304" pitchFamily="18" charset="0"/>
              </a:rPr>
              <a:t>When a body is subjected to two</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equal and opposite axial pushes </a:t>
            </a:r>
            <a:r>
              <a:rPr lang="en-US" b="0" i="1" u="none" strike="noStrike" baseline="0" dirty="0">
                <a:solidFill>
                  <a:srgbClr val="231F20"/>
                </a:solidFill>
                <a:latin typeface="Times New Roman" panose="02020603050405020304" pitchFamily="18" charset="0"/>
              </a:rPr>
              <a:t>P </a:t>
            </a:r>
            <a:r>
              <a:rPr lang="en-US" b="0" i="0" u="none" strike="noStrike" baseline="0" dirty="0">
                <a:solidFill>
                  <a:srgbClr val="231F20"/>
                </a:solidFill>
                <a:latin typeface="Times New Roman" panose="02020603050405020304" pitchFamily="18" charset="0"/>
              </a:rPr>
              <a:t>(also</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called compressive load) as shown in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Fig. 1.2 (</a:t>
            </a:r>
            <a:r>
              <a:rPr lang="en-US" b="0" i="1" u="none" strike="noStrike" baseline="0" dirty="0">
                <a:solidFill>
                  <a:srgbClr val="231F20"/>
                </a:solidFill>
                <a:latin typeface="Times New Roman" panose="02020603050405020304" pitchFamily="18" charset="0"/>
              </a:rPr>
              <a:t>a</a:t>
            </a:r>
            <a:r>
              <a:rPr lang="en-US" b="0" i="0" u="none" strike="noStrike" baseline="0" dirty="0">
                <a:solidFill>
                  <a:srgbClr val="231F20"/>
                </a:solidFill>
                <a:latin typeface="Times New Roman" panose="02020603050405020304" pitchFamily="18" charset="0"/>
              </a:rPr>
              <a:t>), then the stress induced at any</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section of the body is known as</a:t>
            </a:r>
            <a:r>
              <a:rPr lang="en-US" b="0" i="0" u="none" strike="noStrike" dirty="0">
                <a:solidFill>
                  <a:srgbClr val="231F20"/>
                </a:solidFill>
                <a:latin typeface="Times New Roman" panose="02020603050405020304" pitchFamily="18" charset="0"/>
              </a:rPr>
              <a:t> </a:t>
            </a:r>
            <a:r>
              <a:rPr lang="en-US" b="1" i="1" u="none" strike="noStrike" baseline="0" dirty="0">
                <a:solidFill>
                  <a:srgbClr val="231F20"/>
                </a:solidFill>
                <a:latin typeface="Times New Roman" panose="02020603050405020304" pitchFamily="18" charset="0"/>
              </a:rPr>
              <a:t>compressive stress </a:t>
            </a:r>
            <a:r>
              <a:rPr lang="en-US" b="0" i="0" u="none" strike="noStrike" baseline="0" dirty="0">
                <a:solidFill>
                  <a:srgbClr val="231F20"/>
                </a:solidFill>
                <a:latin typeface="Times New Roman" panose="02020603050405020304" pitchFamily="18" charset="0"/>
              </a:rPr>
              <a:t>as shown in Fig. 1.2</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t>
            </a:r>
            <a:r>
              <a:rPr lang="en-US" b="0" i="1" u="none" strike="noStrike" baseline="0" dirty="0">
                <a:solidFill>
                  <a:srgbClr val="231F20"/>
                </a:solidFill>
                <a:latin typeface="Times New Roman" panose="02020603050405020304" pitchFamily="18" charset="0"/>
              </a:rPr>
              <a:t>b</a:t>
            </a:r>
            <a:r>
              <a:rPr lang="en-US" b="0" i="0" u="none" strike="noStrike" baseline="0" dirty="0">
                <a:solidFill>
                  <a:srgbClr val="231F20"/>
                </a:solidFill>
                <a:latin typeface="Times New Roman" panose="02020603050405020304" pitchFamily="18" charset="0"/>
              </a:rPr>
              <a:t>). A little consideration will show that</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due to the compressive load, there will be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an increase in cross-sectional area and a</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decrease in length of the body. The ratio</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of the decrease in length to the original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length is known as </a:t>
            </a:r>
            <a:r>
              <a:rPr lang="en-US" b="1" i="1" u="none" strike="noStrike" baseline="0" dirty="0">
                <a:solidFill>
                  <a:srgbClr val="231F20"/>
                </a:solidFill>
                <a:latin typeface="Times New Roman" panose="02020603050405020304" pitchFamily="18" charset="0"/>
              </a:rPr>
              <a:t>compressive strain.</a:t>
            </a:r>
          </a:p>
          <a:p>
            <a:pPr algn="just"/>
            <a:endParaRPr lang="en-US" b="1" i="1" dirty="0">
              <a:solidFill>
                <a:srgbClr val="231F20"/>
              </a:solidFill>
              <a:latin typeface="Times New Roman" panose="02020603050405020304" pitchFamily="18" charset="0"/>
            </a:endParaRPr>
          </a:p>
          <a:p>
            <a:pPr algn="just"/>
            <a:endParaRPr lang="en-US" b="1" i="1" dirty="0">
              <a:solidFill>
                <a:srgbClr val="231F20"/>
              </a:solidFill>
              <a:latin typeface="Times New Roman" panose="02020603050405020304" pitchFamily="18" charset="0"/>
            </a:endParaRPr>
          </a:p>
          <a:p>
            <a:pPr algn="just"/>
            <a:endParaRPr lang="en-US" b="1" i="1" dirty="0">
              <a:solidFill>
                <a:srgbClr val="231F20"/>
              </a:solidFill>
              <a:latin typeface="Times New Roman" panose="02020603050405020304" pitchFamily="18" charset="0"/>
            </a:endParaRPr>
          </a:p>
          <a:p>
            <a:pPr algn="just"/>
            <a:endParaRPr lang="en-US" b="1" i="1" dirty="0">
              <a:solidFill>
                <a:srgbClr val="231F20"/>
              </a:solidFill>
              <a:latin typeface="Times New Roman" panose="02020603050405020304" pitchFamily="18" charset="0"/>
            </a:endParaRPr>
          </a:p>
          <a:p>
            <a:pPr algn="just"/>
            <a:endParaRPr lang="en-US" b="1" i="1" dirty="0">
              <a:solidFill>
                <a:srgbClr val="231F20"/>
              </a:solidFill>
              <a:latin typeface="Times New Roman" panose="02020603050405020304" pitchFamily="18" charset="0"/>
            </a:endParaRPr>
          </a:p>
          <a:p>
            <a:pPr algn="just"/>
            <a:endParaRPr lang="en-US" b="1" i="1" dirty="0">
              <a:solidFill>
                <a:srgbClr val="231F20"/>
              </a:solidFill>
              <a:latin typeface="Times New Roman" panose="02020603050405020304" pitchFamily="18" charset="0"/>
            </a:endParaRPr>
          </a:p>
          <a:p>
            <a:pPr marL="0" indent="0" algn="just">
              <a:buNone/>
            </a:pPr>
            <a:r>
              <a:rPr lang="en-US" b="1" i="1" dirty="0">
                <a:solidFill>
                  <a:srgbClr val="231F20"/>
                </a:solidFill>
                <a:latin typeface="Times New Roman" panose="02020603050405020304" pitchFamily="18" charset="0"/>
              </a:rPr>
              <a:t>		Fig. 1.2 : Compressive stress and strain</a:t>
            </a:r>
            <a:endParaRPr lang="en-US" dirty="0"/>
          </a:p>
        </p:txBody>
      </p:sp>
      <p:pic>
        <p:nvPicPr>
          <p:cNvPr id="4" name="Picture 3"/>
          <p:cNvPicPr>
            <a:picLocks noChangeAspect="1"/>
          </p:cNvPicPr>
          <p:nvPr/>
        </p:nvPicPr>
        <p:blipFill>
          <a:blip r:embed="rId2"/>
          <a:stretch>
            <a:fillRect/>
          </a:stretch>
        </p:blipFill>
        <p:spPr>
          <a:xfrm>
            <a:off x="1136480" y="3146436"/>
            <a:ext cx="7265992" cy="2019797"/>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7</a:t>
            </a:fld>
            <a:endParaRPr lang="en-US"/>
          </a:p>
        </p:txBody>
      </p:sp>
    </p:spTree>
    <p:extLst>
      <p:ext uri="{BB962C8B-B14F-4D97-AF65-F5344CB8AC3E}">
        <p14:creationId xmlns:p14="http://schemas.microsoft.com/office/powerpoint/2010/main" val="215500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7730" y="180305"/>
            <a:ext cx="11537285" cy="3232596"/>
          </a:xfrm>
          <a:prstGeom prst="rect">
            <a:avLst/>
          </a:prstGeom>
        </p:spPr>
      </p:pic>
      <p:pic>
        <p:nvPicPr>
          <p:cNvPr id="5" name="Picture 4"/>
          <p:cNvPicPr>
            <a:picLocks noChangeAspect="1"/>
          </p:cNvPicPr>
          <p:nvPr/>
        </p:nvPicPr>
        <p:blipFill>
          <a:blip r:embed="rId3"/>
          <a:stretch>
            <a:fillRect/>
          </a:stretch>
        </p:blipFill>
        <p:spPr>
          <a:xfrm>
            <a:off x="3978700" y="5261536"/>
            <a:ext cx="4019952" cy="1464480"/>
          </a:xfrm>
          <a:prstGeom prst="rect">
            <a:avLst/>
          </a:prstGeom>
        </p:spPr>
      </p:pic>
      <p:sp>
        <p:nvSpPr>
          <p:cNvPr id="6" name="Rectangle 5"/>
          <p:cNvSpPr/>
          <p:nvPr/>
        </p:nvSpPr>
        <p:spPr>
          <a:xfrm>
            <a:off x="347730" y="3644721"/>
            <a:ext cx="11281893" cy="3108543"/>
          </a:xfrm>
          <a:prstGeom prst="rect">
            <a:avLst/>
          </a:prstGeom>
        </p:spPr>
        <p:txBody>
          <a:bodyPr wrap="square">
            <a:spAutoFit/>
          </a:bodyPr>
          <a:lstStyle/>
          <a:p>
            <a:r>
              <a:rPr lang="en-US" sz="2800" b="1" dirty="0">
                <a:solidFill>
                  <a:srgbClr val="005AAB"/>
                </a:solidFill>
                <a:latin typeface="AvantGarde-Demi"/>
              </a:rPr>
              <a:t>1</a:t>
            </a:r>
            <a:r>
              <a:rPr lang="en-US" sz="2800" b="1" i="0" u="none" strike="noStrike" baseline="0" dirty="0">
                <a:solidFill>
                  <a:srgbClr val="005AAB"/>
                </a:solidFill>
                <a:latin typeface="AvantGarde-Demi"/>
              </a:rPr>
              <a:t>.7 Young's Modulus or Modulus of Elasticity</a:t>
            </a:r>
          </a:p>
          <a:p>
            <a:r>
              <a:rPr lang="en-US" sz="2800" b="1" i="0" u="none" strike="noStrike" baseline="0" dirty="0">
                <a:solidFill>
                  <a:srgbClr val="231F20"/>
                </a:solidFill>
                <a:latin typeface="Times New Roman" panose="02020603050405020304" pitchFamily="18" charset="0"/>
              </a:rPr>
              <a:t>Hooke's law</a:t>
            </a:r>
            <a:r>
              <a:rPr lang="en-US" sz="2800" b="0" i="0" u="none" strike="noStrike" baseline="0" dirty="0">
                <a:solidFill>
                  <a:srgbClr val="EE1C24"/>
                </a:solidFill>
                <a:latin typeface="Times New Roman" panose="02020603050405020304" pitchFamily="18" charset="0"/>
              </a:rPr>
              <a:t>* </a:t>
            </a:r>
            <a:r>
              <a:rPr lang="en-US" sz="2800" b="0" i="0" u="none" strike="noStrike" baseline="0" dirty="0">
                <a:solidFill>
                  <a:srgbClr val="231F20"/>
                </a:solidFill>
                <a:latin typeface="Times New Roman" panose="02020603050405020304" pitchFamily="18" charset="0"/>
              </a:rPr>
              <a:t>states that when a material is loaded within elastic limit, the stress is directly</a:t>
            </a:r>
            <a:r>
              <a:rPr lang="en-US" sz="2800" b="0" i="0" u="none" strike="noStrike" dirty="0">
                <a:solidFill>
                  <a:srgbClr val="231F20"/>
                </a:solidFill>
                <a:latin typeface="Times New Roman" panose="02020603050405020304" pitchFamily="18" charset="0"/>
              </a:rPr>
              <a:t> </a:t>
            </a:r>
            <a:r>
              <a:rPr lang="en-US" sz="2800" b="0" i="0" u="none" strike="noStrike" baseline="0" dirty="0">
                <a:solidFill>
                  <a:srgbClr val="231F20"/>
                </a:solidFill>
                <a:latin typeface="Times New Roman" panose="02020603050405020304" pitchFamily="18" charset="0"/>
              </a:rPr>
              <a:t>proportional to strain, </a:t>
            </a:r>
            <a:r>
              <a:rPr lang="en-US" sz="2800" b="0" i="1" u="none" strike="noStrike" baseline="0" dirty="0">
                <a:solidFill>
                  <a:srgbClr val="231F20"/>
                </a:solidFill>
                <a:latin typeface="Times New Roman" panose="02020603050405020304" pitchFamily="18" charset="0"/>
              </a:rPr>
              <a:t>i.e.</a:t>
            </a:r>
          </a:p>
          <a:p>
            <a:endParaRPr lang="en-US" sz="2800" i="1" dirty="0">
              <a:solidFill>
                <a:srgbClr val="231F20"/>
              </a:solidFill>
              <a:latin typeface="Times New Roman" panose="02020603050405020304" pitchFamily="18" charset="0"/>
            </a:endParaRPr>
          </a:p>
          <a:p>
            <a:endParaRPr lang="en-US" sz="2800" i="1" dirty="0">
              <a:solidFill>
                <a:srgbClr val="231F20"/>
              </a:solidFill>
              <a:latin typeface="Times New Roman" panose="02020603050405020304" pitchFamily="18" charset="0"/>
            </a:endParaRPr>
          </a:p>
          <a:p>
            <a:endParaRPr lang="en-US" sz="2800" i="1" dirty="0">
              <a:solidFill>
                <a:srgbClr val="231F20"/>
              </a:solidFill>
              <a:latin typeface="Times New Roman" panose="02020603050405020304" pitchFamily="18" charset="0"/>
            </a:endParaRPr>
          </a:p>
          <a:p>
            <a:r>
              <a:rPr lang="en-US" sz="2800" i="1" dirty="0">
                <a:solidFill>
                  <a:srgbClr val="0070C0"/>
                </a:solidFill>
                <a:latin typeface="Times New Roman" panose="02020603050405020304" pitchFamily="18" charset="0"/>
              </a:rPr>
              <a:t>There fore</a:t>
            </a:r>
            <a:endParaRPr lang="en-US" sz="2800" dirty="0">
              <a:solidFill>
                <a:srgbClr val="0070C0"/>
              </a:solidFill>
            </a:endParaRPr>
          </a:p>
        </p:txBody>
      </p:sp>
      <p:sp>
        <p:nvSpPr>
          <p:cNvPr id="7" name="Slide Number Placeholder 6"/>
          <p:cNvSpPr>
            <a:spLocks noGrp="1"/>
          </p:cNvSpPr>
          <p:nvPr>
            <p:ph type="sldNum" sz="quarter" idx="12"/>
          </p:nvPr>
        </p:nvSpPr>
        <p:spPr/>
        <p:txBody>
          <a:bodyPr/>
          <a:lstStyle/>
          <a:p>
            <a:fld id="{FE26519D-5832-4C74-968F-A812C8CD0CD7}" type="slidenum">
              <a:rPr lang="en-US" smtClean="0"/>
              <a:t>8</a:t>
            </a:fld>
            <a:endParaRPr lang="en-US"/>
          </a:p>
        </p:txBody>
      </p:sp>
    </p:spTree>
    <p:extLst>
      <p:ext uri="{BB962C8B-B14F-4D97-AF65-F5344CB8AC3E}">
        <p14:creationId xmlns:p14="http://schemas.microsoft.com/office/powerpoint/2010/main" val="358916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70456" y="128789"/>
            <a:ext cx="11372045" cy="2543081"/>
          </a:xfrm>
          <a:prstGeom prst="rect">
            <a:avLst/>
          </a:prstGeom>
        </p:spPr>
      </p:pic>
      <p:sp>
        <p:nvSpPr>
          <p:cNvPr id="5" name="Rectangle 4"/>
          <p:cNvSpPr/>
          <p:nvPr/>
        </p:nvSpPr>
        <p:spPr>
          <a:xfrm>
            <a:off x="605307" y="2809621"/>
            <a:ext cx="10792496" cy="461665"/>
          </a:xfrm>
          <a:prstGeom prst="rect">
            <a:avLst/>
          </a:prstGeom>
        </p:spPr>
        <p:txBody>
          <a:bodyPr wrap="square">
            <a:spAutoFit/>
          </a:bodyPr>
          <a:lstStyle/>
          <a:p>
            <a:r>
              <a:rPr lang="en-US" sz="2400" b="1" i="0" u="none" strike="noStrike" baseline="0" dirty="0">
                <a:solidFill>
                  <a:srgbClr val="EE1C24"/>
                </a:solidFill>
                <a:latin typeface="AvantGarde-Demi"/>
              </a:rPr>
              <a:t>Table 1.1. Values of E for the commonly used engineering materials.</a:t>
            </a:r>
            <a:endParaRPr lang="en-US" sz="2400" dirty="0"/>
          </a:p>
        </p:txBody>
      </p:sp>
      <p:pic>
        <p:nvPicPr>
          <p:cNvPr id="6" name="Picture 5"/>
          <p:cNvPicPr>
            <a:picLocks noChangeAspect="1"/>
          </p:cNvPicPr>
          <p:nvPr/>
        </p:nvPicPr>
        <p:blipFill>
          <a:blip r:embed="rId3"/>
          <a:stretch>
            <a:fillRect/>
          </a:stretch>
        </p:blipFill>
        <p:spPr>
          <a:xfrm>
            <a:off x="270457" y="3409037"/>
            <a:ext cx="11127346" cy="3300856"/>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9</a:t>
            </a:fld>
            <a:endParaRPr lang="en-US"/>
          </a:p>
        </p:txBody>
      </p:sp>
    </p:spTree>
    <p:extLst>
      <p:ext uri="{BB962C8B-B14F-4D97-AF65-F5344CB8AC3E}">
        <p14:creationId xmlns:p14="http://schemas.microsoft.com/office/powerpoint/2010/main" val="278049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183" y="115910"/>
            <a:ext cx="11822805" cy="6619741"/>
          </a:xfrm>
        </p:spPr>
        <p:txBody>
          <a:bodyPr/>
          <a:lstStyle/>
          <a:p>
            <a:pPr marL="0" indent="0">
              <a:buNone/>
            </a:pPr>
            <a:r>
              <a:rPr lang="en-US" b="1" i="0" u="none" strike="noStrike" baseline="0" dirty="0">
                <a:solidFill>
                  <a:srgbClr val="ED008D"/>
                </a:solidFill>
                <a:latin typeface="Times New Roman" panose="02020603050405020304" pitchFamily="18" charset="0"/>
              </a:rPr>
              <a:t>Example 1.1. </a:t>
            </a:r>
            <a:r>
              <a:rPr lang="en-US" b="0" i="1" u="none" strike="noStrike" baseline="0" dirty="0">
                <a:solidFill>
                  <a:srgbClr val="231F20"/>
                </a:solidFill>
                <a:latin typeface="Times New Roman" panose="02020603050405020304" pitchFamily="18" charset="0"/>
              </a:rPr>
              <a:t>A hydraulic press exerts a total load of 3.5 MN. This load is carried by two steel</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rods, supporting the upper head of the press. If the safe stress is 85 </a:t>
            </a:r>
            <a:r>
              <a:rPr lang="en-US" b="0" i="1" u="none" strike="noStrike" baseline="0" dirty="0" err="1">
                <a:solidFill>
                  <a:srgbClr val="231F20"/>
                </a:solidFill>
                <a:latin typeface="Times New Roman" panose="02020603050405020304" pitchFamily="18" charset="0"/>
              </a:rPr>
              <a:t>MPa</a:t>
            </a:r>
            <a:r>
              <a:rPr lang="en-US" b="0" i="1" u="none" strike="noStrike" baseline="0" dirty="0">
                <a:solidFill>
                  <a:srgbClr val="231F20"/>
                </a:solidFill>
                <a:latin typeface="Times New Roman" panose="02020603050405020304" pitchFamily="18" charset="0"/>
              </a:rPr>
              <a:t> and E = 210 </a:t>
            </a:r>
            <a:r>
              <a:rPr lang="en-US" b="0" i="1" u="none" strike="noStrike" baseline="0" dirty="0" err="1">
                <a:solidFill>
                  <a:srgbClr val="231F20"/>
                </a:solidFill>
                <a:latin typeface="Times New Roman" panose="02020603050405020304" pitchFamily="18" charset="0"/>
              </a:rPr>
              <a:t>kN</a:t>
            </a:r>
            <a:r>
              <a:rPr lang="en-US" b="0" i="1" u="none" strike="noStrike" baseline="0" dirty="0">
                <a:solidFill>
                  <a:srgbClr val="231F20"/>
                </a:solidFill>
                <a:latin typeface="Times New Roman" panose="02020603050405020304" pitchFamily="18" charset="0"/>
              </a:rPr>
              <a:t>/mm</a:t>
            </a:r>
            <a:r>
              <a:rPr lang="en-US" sz="2400" b="0" i="1" u="none" strike="noStrike" baseline="30000" dirty="0">
                <a:solidFill>
                  <a:srgbClr val="231F20"/>
                </a:solidFill>
                <a:latin typeface="Times New Roman" panose="02020603050405020304" pitchFamily="18" charset="0"/>
              </a:rPr>
              <a:t>2</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find : 1. diameter of the rods, and 2. extension in each rod in a length of 2.5 m.</a:t>
            </a:r>
            <a:endParaRPr lang="en-US" dirty="0"/>
          </a:p>
        </p:txBody>
      </p:sp>
      <p:pic>
        <p:nvPicPr>
          <p:cNvPr id="4" name="Picture 3"/>
          <p:cNvPicPr>
            <a:picLocks noChangeAspect="1"/>
          </p:cNvPicPr>
          <p:nvPr/>
        </p:nvPicPr>
        <p:blipFill>
          <a:blip r:embed="rId2"/>
          <a:stretch>
            <a:fillRect/>
          </a:stretch>
        </p:blipFill>
        <p:spPr>
          <a:xfrm>
            <a:off x="504633" y="1738648"/>
            <a:ext cx="10676969" cy="4997003"/>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10</a:t>
            </a:fld>
            <a:endParaRPr lang="en-US"/>
          </a:p>
        </p:txBody>
      </p:sp>
    </p:spTree>
    <p:extLst>
      <p:ext uri="{BB962C8B-B14F-4D97-AF65-F5344CB8AC3E}">
        <p14:creationId xmlns:p14="http://schemas.microsoft.com/office/powerpoint/2010/main" val="2411334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83630" y="206063"/>
            <a:ext cx="9236133" cy="5079478"/>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11</a:t>
            </a:fld>
            <a:endParaRPr lang="en-US"/>
          </a:p>
        </p:txBody>
      </p:sp>
    </p:spTree>
    <p:extLst>
      <p:ext uri="{BB962C8B-B14F-4D97-AF65-F5344CB8AC3E}">
        <p14:creationId xmlns:p14="http://schemas.microsoft.com/office/powerpoint/2010/main" val="841356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10" y="90152"/>
            <a:ext cx="11951594" cy="6645499"/>
          </a:xfrm>
        </p:spPr>
        <p:txBody>
          <a:bodyPr>
            <a:normAutofit/>
          </a:bodyPr>
          <a:lstStyle/>
          <a:p>
            <a:pPr marL="0" indent="0">
              <a:buNone/>
            </a:pPr>
            <a:r>
              <a:rPr lang="en-US" sz="3600" b="1" dirty="0">
                <a:solidFill>
                  <a:srgbClr val="005AAB"/>
                </a:solidFill>
                <a:latin typeface="AvantGarde-Demi"/>
              </a:rPr>
              <a:t>1</a:t>
            </a:r>
            <a:r>
              <a:rPr lang="en-US" sz="3600" b="1" i="0" u="none" strike="noStrike" baseline="0" dirty="0">
                <a:solidFill>
                  <a:srgbClr val="005AAB"/>
                </a:solidFill>
                <a:latin typeface="AvantGarde-Demi"/>
              </a:rPr>
              <a:t>.8 Shear Stress and Strain</a:t>
            </a:r>
          </a:p>
          <a:p>
            <a:pPr marL="0" indent="0" algn="just">
              <a:buNone/>
            </a:pPr>
            <a:r>
              <a:rPr lang="en-US" b="0" i="0" u="none" strike="noStrike" baseline="0" dirty="0">
                <a:solidFill>
                  <a:srgbClr val="231F20"/>
                </a:solidFill>
                <a:latin typeface="Times New Roman" panose="02020603050405020304" pitchFamily="18" charset="0"/>
              </a:rPr>
              <a:t>When a body is subjected to two equal and opposite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forces acting tangentially across the resisting section, as a</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result of which the body tends to shear off the section, then the stress induced is called </a:t>
            </a:r>
            <a:r>
              <a:rPr lang="en-US" b="1" i="1" u="none" strike="noStrike" baseline="0" dirty="0">
                <a:solidFill>
                  <a:srgbClr val="231F20"/>
                </a:solidFill>
                <a:latin typeface="Times New Roman" panose="02020603050405020304" pitchFamily="18" charset="0"/>
              </a:rPr>
              <a:t>shear stress.</a:t>
            </a:r>
            <a:endParaRPr lang="en-US" b="0" i="0" u="none" strike="noStrike" baseline="0" dirty="0">
              <a:solidFill>
                <a:srgbClr val="231F20"/>
              </a:solidFill>
              <a:latin typeface="Times New Roman" panose="02020603050405020304" pitchFamily="18" charset="0"/>
            </a:endParaRPr>
          </a:p>
          <a:p>
            <a:endParaRPr lang="en-US" b="1" i="0" u="none" strike="noStrike" baseline="0" dirty="0">
              <a:solidFill>
                <a:srgbClr val="0071BD"/>
              </a:solidFill>
              <a:latin typeface="Times New Roman" panose="02020603050405020304" pitchFamily="18" charset="0"/>
            </a:endParaRPr>
          </a:p>
          <a:p>
            <a:endParaRPr lang="en-US" b="1" dirty="0">
              <a:solidFill>
                <a:srgbClr val="0071BD"/>
              </a:solidFill>
              <a:latin typeface="Times New Roman" panose="02020603050405020304" pitchFamily="18" charset="0"/>
            </a:endParaRPr>
          </a:p>
          <a:p>
            <a:endParaRPr lang="en-US" b="1" i="0" u="none" strike="noStrike" baseline="0" dirty="0">
              <a:solidFill>
                <a:srgbClr val="0071BD"/>
              </a:solidFill>
              <a:latin typeface="Times New Roman" panose="02020603050405020304" pitchFamily="18" charset="0"/>
            </a:endParaRPr>
          </a:p>
          <a:p>
            <a:endParaRPr lang="en-US" b="1" dirty="0">
              <a:solidFill>
                <a:srgbClr val="0071BD"/>
              </a:solidFill>
              <a:latin typeface="Times New Roman" panose="02020603050405020304" pitchFamily="18" charset="0"/>
            </a:endParaRPr>
          </a:p>
          <a:p>
            <a:endParaRPr lang="en-US" b="1" i="0" u="none" strike="noStrike" baseline="0" dirty="0">
              <a:solidFill>
                <a:srgbClr val="0071BD"/>
              </a:solidFill>
              <a:latin typeface="Times New Roman" panose="02020603050405020304" pitchFamily="18" charset="0"/>
            </a:endParaRPr>
          </a:p>
          <a:p>
            <a:endParaRPr lang="en-US" b="1" dirty="0">
              <a:solidFill>
                <a:srgbClr val="0071BD"/>
              </a:solidFill>
              <a:latin typeface="Times New Roman" panose="02020603050405020304" pitchFamily="18" charset="0"/>
            </a:endParaRPr>
          </a:p>
          <a:p>
            <a:pPr marL="0" indent="0">
              <a:buNone/>
            </a:pPr>
            <a:endParaRPr lang="en-US" b="1" dirty="0">
              <a:solidFill>
                <a:srgbClr val="0071BD"/>
              </a:solidFill>
              <a:latin typeface="Times New Roman" panose="02020603050405020304" pitchFamily="18" charset="0"/>
            </a:endParaRPr>
          </a:p>
          <a:p>
            <a:pPr marL="0" indent="0">
              <a:buNone/>
            </a:pPr>
            <a:r>
              <a:rPr lang="en-US" b="1" i="0" u="none" strike="noStrike" baseline="0" dirty="0">
                <a:solidFill>
                  <a:srgbClr val="0071BD"/>
                </a:solidFill>
                <a:latin typeface="Times New Roman" panose="02020603050405020304" pitchFamily="18" charset="0"/>
              </a:rPr>
              <a:t>			Fig. </a:t>
            </a:r>
            <a:r>
              <a:rPr lang="en-US" b="1" dirty="0">
                <a:solidFill>
                  <a:srgbClr val="0071BD"/>
                </a:solidFill>
                <a:latin typeface="Times New Roman" panose="02020603050405020304" pitchFamily="18" charset="0"/>
              </a:rPr>
              <a:t>1.3</a:t>
            </a:r>
            <a:r>
              <a:rPr lang="en-US" b="1" i="0" u="none" strike="noStrike" baseline="0" dirty="0">
                <a:solidFill>
                  <a:srgbClr val="0071BD"/>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Single shearing of a riveted joint.</a:t>
            </a:r>
            <a:r>
              <a:rPr lang="en-US" b="1" i="1" u="none" strike="noStrike" baseline="0" dirty="0">
                <a:solidFill>
                  <a:srgbClr val="231F20"/>
                </a:solidFill>
                <a:latin typeface="Times New Roman" panose="02020603050405020304" pitchFamily="18" charset="0"/>
              </a:rPr>
              <a:t>.</a:t>
            </a:r>
            <a:endParaRPr lang="en-US" dirty="0"/>
          </a:p>
        </p:txBody>
      </p:sp>
      <p:pic>
        <p:nvPicPr>
          <p:cNvPr id="4" name="Picture 3"/>
          <p:cNvPicPr>
            <a:picLocks noChangeAspect="1"/>
          </p:cNvPicPr>
          <p:nvPr/>
        </p:nvPicPr>
        <p:blipFill>
          <a:blip r:embed="rId2"/>
          <a:stretch>
            <a:fillRect/>
          </a:stretch>
        </p:blipFill>
        <p:spPr>
          <a:xfrm>
            <a:off x="543875" y="2279561"/>
            <a:ext cx="11009438" cy="3103808"/>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12</a:t>
            </a:fld>
            <a:endParaRPr lang="en-US"/>
          </a:p>
        </p:txBody>
      </p:sp>
    </p:spTree>
    <p:extLst>
      <p:ext uri="{BB962C8B-B14F-4D97-AF65-F5344CB8AC3E}">
        <p14:creationId xmlns:p14="http://schemas.microsoft.com/office/powerpoint/2010/main" val="46720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3153" y="115910"/>
            <a:ext cx="10527111" cy="2291616"/>
          </a:xfrm>
          <a:prstGeom prst="rect">
            <a:avLst/>
          </a:prstGeom>
        </p:spPr>
      </p:pic>
      <p:sp>
        <p:nvSpPr>
          <p:cNvPr id="5" name="Rectangle 4"/>
          <p:cNvSpPr/>
          <p:nvPr/>
        </p:nvSpPr>
        <p:spPr>
          <a:xfrm>
            <a:off x="473153" y="2741646"/>
            <a:ext cx="11207985" cy="3539430"/>
          </a:xfrm>
          <a:prstGeom prst="rect">
            <a:avLst/>
          </a:prstGeom>
        </p:spPr>
        <p:txBody>
          <a:bodyPr wrap="square">
            <a:spAutoFit/>
          </a:bodyPr>
          <a:lstStyle/>
          <a:p>
            <a:pPr algn="just"/>
            <a:r>
              <a:rPr lang="en-US" sz="3200" b="0" i="0" u="none" strike="noStrike" baseline="0" dirty="0">
                <a:solidFill>
                  <a:srgbClr val="231F20"/>
                </a:solidFill>
                <a:latin typeface="Times New Roman" panose="02020603050405020304" pitchFamily="18" charset="0"/>
              </a:rPr>
              <a:t>Consider a body consisting of two plates connected by a rivet as shown in Fig. </a:t>
            </a:r>
            <a:r>
              <a:rPr lang="en-US" sz="3200" dirty="0">
                <a:solidFill>
                  <a:srgbClr val="231F20"/>
                </a:solidFill>
                <a:latin typeface="Times New Roman" panose="02020603050405020304" pitchFamily="18" charset="0"/>
              </a:rPr>
              <a:t>1.3</a:t>
            </a:r>
            <a:r>
              <a:rPr lang="en-US" sz="3200" b="0" i="0" u="none" strike="noStrike" baseline="0" dirty="0">
                <a:solidFill>
                  <a:srgbClr val="231F20"/>
                </a:solidFill>
                <a:latin typeface="Times New Roman" panose="02020603050405020304" pitchFamily="18" charset="0"/>
              </a:rPr>
              <a:t> (</a:t>
            </a:r>
            <a:r>
              <a:rPr lang="en-US" sz="3200" b="0" i="1" u="none" strike="noStrike" baseline="0" dirty="0">
                <a:solidFill>
                  <a:srgbClr val="231F20"/>
                </a:solidFill>
                <a:latin typeface="Times New Roman" panose="02020603050405020304" pitchFamily="18" charset="0"/>
              </a:rPr>
              <a:t>a</a:t>
            </a:r>
            <a:r>
              <a:rPr lang="en-US" sz="3200" b="0" i="0" u="none" strike="noStrike" baseline="0" dirty="0">
                <a:solidFill>
                  <a:srgbClr val="231F20"/>
                </a:solidFill>
                <a:latin typeface="Times New Roman" panose="02020603050405020304" pitchFamily="18" charset="0"/>
              </a:rPr>
              <a:t>). In this</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case, the tangential force </a:t>
            </a:r>
            <a:r>
              <a:rPr lang="en-US" sz="3200" b="0" i="1" u="none" strike="noStrike" baseline="0" dirty="0">
                <a:solidFill>
                  <a:srgbClr val="231F20"/>
                </a:solidFill>
                <a:latin typeface="Times New Roman" panose="02020603050405020304" pitchFamily="18" charset="0"/>
              </a:rPr>
              <a:t>P </a:t>
            </a:r>
            <a:r>
              <a:rPr lang="en-US" sz="3200" b="0" i="0" u="none" strike="noStrike" baseline="0" dirty="0">
                <a:solidFill>
                  <a:srgbClr val="231F20"/>
                </a:solidFill>
                <a:latin typeface="Times New Roman" panose="02020603050405020304" pitchFamily="18" charset="0"/>
              </a:rPr>
              <a:t>tends to shear off the rivet at one cross-section as shown in Fig. </a:t>
            </a:r>
            <a:r>
              <a:rPr lang="en-US" sz="3200" dirty="0">
                <a:solidFill>
                  <a:srgbClr val="231F20"/>
                </a:solidFill>
                <a:latin typeface="Times New Roman" panose="02020603050405020304" pitchFamily="18" charset="0"/>
              </a:rPr>
              <a:t>1.3</a:t>
            </a:r>
            <a:r>
              <a:rPr lang="en-US" sz="3200" b="0" i="0" u="none" strike="noStrike" baseline="0" dirty="0">
                <a:solidFill>
                  <a:srgbClr val="231F20"/>
                </a:solidFill>
                <a:latin typeface="Times New Roman" panose="02020603050405020304" pitchFamily="18" charset="0"/>
              </a:rPr>
              <a:t> (</a:t>
            </a:r>
            <a:r>
              <a:rPr lang="en-US" sz="3200" b="0" i="1" u="none" strike="noStrike" baseline="0" dirty="0">
                <a:solidFill>
                  <a:srgbClr val="231F20"/>
                </a:solidFill>
                <a:latin typeface="Times New Roman" panose="02020603050405020304" pitchFamily="18" charset="0"/>
              </a:rPr>
              <a:t>b</a:t>
            </a:r>
            <a:r>
              <a:rPr lang="en-US" sz="3200" b="0" i="0" u="none" strike="noStrike" baseline="0" dirty="0">
                <a:solidFill>
                  <a:srgbClr val="231F20"/>
                </a:solidFill>
                <a:latin typeface="Times New Roman" panose="02020603050405020304" pitchFamily="18" charset="0"/>
              </a:rPr>
              <a:t>). It</a:t>
            </a:r>
          </a:p>
          <a:p>
            <a:pPr algn="just"/>
            <a:r>
              <a:rPr lang="en-US" sz="3200" b="0" i="0" u="none" strike="noStrike" baseline="0" dirty="0">
                <a:solidFill>
                  <a:srgbClr val="231F20"/>
                </a:solidFill>
                <a:latin typeface="Times New Roman" panose="02020603050405020304" pitchFamily="18" charset="0"/>
              </a:rPr>
              <a:t>may be noted that when the tangential force is resisted by one</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cross-section of the rivet (or when</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shearing takes place at one cross-section of the rivet), then the rivets are said to be in </a:t>
            </a:r>
            <a:r>
              <a:rPr lang="en-US" sz="3200" b="1" i="1" u="none" strike="noStrike" baseline="0" dirty="0">
                <a:solidFill>
                  <a:srgbClr val="231F20"/>
                </a:solidFill>
                <a:latin typeface="Times New Roman" panose="02020603050405020304" pitchFamily="18" charset="0"/>
              </a:rPr>
              <a:t>single shear. </a:t>
            </a:r>
            <a:r>
              <a:rPr lang="en-US" sz="3200" b="0" i="0" u="none" strike="noStrike" baseline="0" dirty="0">
                <a:solidFill>
                  <a:srgbClr val="231F20"/>
                </a:solidFill>
                <a:latin typeface="Times New Roman" panose="02020603050405020304" pitchFamily="18" charset="0"/>
              </a:rPr>
              <a:t>In</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such a case, the area resisting the shear off the rivet,</a:t>
            </a:r>
            <a:endParaRPr lang="en-US" sz="3200" dirty="0"/>
          </a:p>
        </p:txBody>
      </p:sp>
      <p:sp>
        <p:nvSpPr>
          <p:cNvPr id="6" name="Slide Number Placeholder 5"/>
          <p:cNvSpPr>
            <a:spLocks noGrp="1"/>
          </p:cNvSpPr>
          <p:nvPr>
            <p:ph type="sldNum" sz="quarter" idx="12"/>
          </p:nvPr>
        </p:nvSpPr>
        <p:spPr/>
        <p:txBody>
          <a:bodyPr/>
          <a:lstStyle/>
          <a:p>
            <a:fld id="{FE26519D-5832-4C74-968F-A812C8CD0CD7}" type="slidenum">
              <a:rPr lang="en-US" smtClean="0"/>
              <a:t>13</a:t>
            </a:fld>
            <a:endParaRPr lang="en-US"/>
          </a:p>
        </p:txBody>
      </p:sp>
    </p:spTree>
    <p:extLst>
      <p:ext uri="{BB962C8B-B14F-4D97-AF65-F5344CB8AC3E}">
        <p14:creationId xmlns:p14="http://schemas.microsoft.com/office/powerpoint/2010/main" val="892421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225045" y="124703"/>
            <a:ext cx="6259046" cy="2566982"/>
          </a:xfrm>
          <a:prstGeom prst="rect">
            <a:avLst/>
          </a:prstGeom>
        </p:spPr>
      </p:pic>
      <p:sp>
        <p:nvSpPr>
          <p:cNvPr id="5" name="Rectangle 4"/>
          <p:cNvSpPr/>
          <p:nvPr/>
        </p:nvSpPr>
        <p:spPr>
          <a:xfrm>
            <a:off x="321972" y="2614412"/>
            <a:ext cx="11578108" cy="3539430"/>
          </a:xfrm>
          <a:prstGeom prst="rect">
            <a:avLst/>
          </a:prstGeom>
        </p:spPr>
        <p:txBody>
          <a:bodyPr wrap="square">
            <a:spAutoFit/>
          </a:bodyPr>
          <a:lstStyle/>
          <a:p>
            <a:pPr algn="just"/>
            <a:r>
              <a:rPr lang="en-US" sz="3200" b="0" i="0" u="none" strike="noStrike" baseline="0" dirty="0">
                <a:solidFill>
                  <a:srgbClr val="231F20"/>
                </a:solidFill>
                <a:latin typeface="Times New Roman" panose="02020603050405020304" pitchFamily="18" charset="0"/>
              </a:rPr>
              <a:t>Now let us consider two plates connected by the two cover plates as shown in Fig. </a:t>
            </a:r>
            <a:r>
              <a:rPr lang="en-US" sz="3200" dirty="0">
                <a:solidFill>
                  <a:srgbClr val="231F20"/>
                </a:solidFill>
                <a:latin typeface="Times New Roman" panose="02020603050405020304" pitchFamily="18" charset="0"/>
              </a:rPr>
              <a:t>1.4</a:t>
            </a:r>
            <a:r>
              <a:rPr lang="en-US" sz="3200" b="0" i="0" u="none" strike="noStrike" baseline="0" dirty="0">
                <a:solidFill>
                  <a:srgbClr val="231F20"/>
                </a:solidFill>
                <a:latin typeface="Times New Roman" panose="02020603050405020304" pitchFamily="18" charset="0"/>
              </a:rPr>
              <a:t> (</a:t>
            </a:r>
            <a:r>
              <a:rPr lang="en-US" sz="3200" b="0" i="1" u="none" strike="noStrike" baseline="0" dirty="0">
                <a:solidFill>
                  <a:srgbClr val="231F20"/>
                </a:solidFill>
                <a:latin typeface="Times New Roman" panose="02020603050405020304" pitchFamily="18" charset="0"/>
              </a:rPr>
              <a:t>a</a:t>
            </a:r>
            <a:r>
              <a:rPr lang="en-US" sz="3200" b="0" i="0" u="none" strike="noStrike" baseline="0" dirty="0">
                <a:solidFill>
                  <a:srgbClr val="231F20"/>
                </a:solidFill>
                <a:latin typeface="Times New Roman" panose="02020603050405020304" pitchFamily="18" charset="0"/>
              </a:rPr>
              <a:t>). In</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this case, the tangential force </a:t>
            </a:r>
            <a:r>
              <a:rPr lang="en-US" sz="3200" b="0" i="1" u="none" strike="noStrike" baseline="0" dirty="0">
                <a:solidFill>
                  <a:srgbClr val="231F20"/>
                </a:solidFill>
                <a:latin typeface="Times New Roman" panose="02020603050405020304" pitchFamily="18" charset="0"/>
              </a:rPr>
              <a:t>P </a:t>
            </a:r>
            <a:r>
              <a:rPr lang="en-US" sz="3200" b="0" i="0" u="none" strike="noStrike" baseline="0" dirty="0">
                <a:solidFill>
                  <a:srgbClr val="231F20"/>
                </a:solidFill>
                <a:latin typeface="Times New Roman" panose="02020603050405020304" pitchFamily="18" charset="0"/>
              </a:rPr>
              <a:t>tends to shear off the rivet at two cross-sections as shown in Fig. </a:t>
            </a:r>
            <a:r>
              <a:rPr lang="en-US" sz="3200" dirty="0">
                <a:solidFill>
                  <a:srgbClr val="231F20"/>
                </a:solidFill>
                <a:latin typeface="Times New Roman" panose="02020603050405020304" pitchFamily="18" charset="0"/>
              </a:rPr>
              <a:t>1.4 </a:t>
            </a:r>
            <a:r>
              <a:rPr lang="en-US" sz="3200" b="0" i="0" u="none" strike="noStrike" baseline="0" dirty="0">
                <a:solidFill>
                  <a:srgbClr val="231F20"/>
                </a:solidFill>
                <a:latin typeface="Times New Roman" panose="02020603050405020304" pitchFamily="18" charset="0"/>
              </a:rPr>
              <a:t>(</a:t>
            </a:r>
            <a:r>
              <a:rPr lang="en-US" sz="3200" b="0" i="1" u="none" strike="noStrike" baseline="0" dirty="0">
                <a:solidFill>
                  <a:srgbClr val="231F20"/>
                </a:solidFill>
                <a:latin typeface="Times New Roman" panose="02020603050405020304" pitchFamily="18" charset="0"/>
              </a:rPr>
              <a:t>b</a:t>
            </a:r>
            <a:r>
              <a:rPr lang="en-US" sz="3200" b="0" i="0" u="none" strike="noStrike" baseline="0" dirty="0">
                <a:solidFill>
                  <a:srgbClr val="231F20"/>
                </a:solidFill>
                <a:latin typeface="Times New Roman" panose="02020603050405020304" pitchFamily="18" charset="0"/>
              </a:rPr>
              <a:t>). It may be noted that when the tangential force is resisted by two</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cross-sections of the rivet (or </a:t>
            </a:r>
            <a:r>
              <a:rPr lang="en-US" sz="3200" dirty="0"/>
              <a:t>when the shearing takes place at two cross-sections of the rivet), then the rivets are said to be in </a:t>
            </a:r>
            <a:r>
              <a:rPr lang="en-US" sz="3200" b="1" i="1" dirty="0"/>
              <a:t>double shear. </a:t>
            </a:r>
            <a:r>
              <a:rPr lang="en-US" sz="3200" dirty="0"/>
              <a:t>In such a case, the area resisting the shear off the rivet,</a:t>
            </a:r>
          </a:p>
        </p:txBody>
      </p:sp>
      <p:sp>
        <p:nvSpPr>
          <p:cNvPr id="6" name="Slide Number Placeholder 5"/>
          <p:cNvSpPr>
            <a:spLocks noGrp="1"/>
          </p:cNvSpPr>
          <p:nvPr>
            <p:ph type="sldNum" sz="quarter" idx="12"/>
          </p:nvPr>
        </p:nvSpPr>
        <p:spPr/>
        <p:txBody>
          <a:bodyPr/>
          <a:lstStyle/>
          <a:p>
            <a:fld id="{FE26519D-5832-4C74-968F-A812C8CD0CD7}" type="slidenum">
              <a:rPr lang="en-US" smtClean="0"/>
              <a:t>14</a:t>
            </a:fld>
            <a:endParaRPr lang="en-US"/>
          </a:p>
        </p:txBody>
      </p:sp>
    </p:spTree>
    <p:extLst>
      <p:ext uri="{BB962C8B-B14F-4D97-AF65-F5344CB8AC3E}">
        <p14:creationId xmlns:p14="http://schemas.microsoft.com/office/powerpoint/2010/main" val="416953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Fig. 1.4 Double shearing of a riveted joint.</a:t>
            </a:r>
          </a:p>
        </p:txBody>
      </p:sp>
      <p:pic>
        <p:nvPicPr>
          <p:cNvPr id="4" name="Picture 3"/>
          <p:cNvPicPr>
            <a:picLocks noChangeAspect="1"/>
          </p:cNvPicPr>
          <p:nvPr/>
        </p:nvPicPr>
        <p:blipFill>
          <a:blip r:embed="rId2"/>
          <a:stretch>
            <a:fillRect/>
          </a:stretch>
        </p:blipFill>
        <p:spPr>
          <a:xfrm>
            <a:off x="553792" y="180304"/>
            <a:ext cx="10800008" cy="5027134"/>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15</a:t>
            </a:fld>
            <a:endParaRPr lang="en-US"/>
          </a:p>
        </p:txBody>
      </p:sp>
    </p:spTree>
    <p:extLst>
      <p:ext uri="{BB962C8B-B14F-4D97-AF65-F5344CB8AC3E}">
        <p14:creationId xmlns:p14="http://schemas.microsoft.com/office/powerpoint/2010/main" val="2819441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183" y="141668"/>
            <a:ext cx="11589243" cy="6413677"/>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16</a:t>
            </a:fld>
            <a:endParaRPr lang="en-US"/>
          </a:p>
        </p:txBody>
      </p:sp>
    </p:spTree>
    <p:extLst>
      <p:ext uri="{BB962C8B-B14F-4D97-AF65-F5344CB8AC3E}">
        <p14:creationId xmlns:p14="http://schemas.microsoft.com/office/powerpoint/2010/main" val="317902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60608" y="892233"/>
            <a:ext cx="10200067" cy="2919913"/>
          </a:xfrm>
          <a:prstGeom prst="rect">
            <a:avLst/>
          </a:prstGeom>
        </p:spPr>
      </p:pic>
      <p:sp>
        <p:nvSpPr>
          <p:cNvPr id="5" name="Rectangle 4"/>
          <p:cNvSpPr/>
          <p:nvPr/>
        </p:nvSpPr>
        <p:spPr>
          <a:xfrm>
            <a:off x="1025467" y="245902"/>
            <a:ext cx="9535209" cy="646331"/>
          </a:xfrm>
          <a:prstGeom prst="rect">
            <a:avLst/>
          </a:prstGeom>
        </p:spPr>
        <p:txBody>
          <a:bodyPr wrap="square">
            <a:spAutoFit/>
          </a:bodyPr>
          <a:lstStyle/>
          <a:p>
            <a:r>
              <a:rPr lang="en-US" sz="3600" b="1" dirty="0">
                <a:solidFill>
                  <a:srgbClr val="005AAB"/>
                </a:solidFill>
                <a:latin typeface="AvantGarde-Demi"/>
              </a:rPr>
              <a:t>1</a:t>
            </a:r>
            <a:r>
              <a:rPr lang="en-US" sz="3600" b="1" i="0" u="none" strike="noStrike" baseline="0" dirty="0">
                <a:solidFill>
                  <a:srgbClr val="005AAB"/>
                </a:solidFill>
                <a:latin typeface="AvantGarde-Demi"/>
              </a:rPr>
              <a:t>.9 Shear Modulus or Modulus of Rigidity</a:t>
            </a:r>
            <a:endParaRPr lang="en-US" sz="3600" dirty="0"/>
          </a:p>
        </p:txBody>
      </p:sp>
      <p:sp>
        <p:nvSpPr>
          <p:cNvPr id="6" name="Rectangle 5"/>
          <p:cNvSpPr/>
          <p:nvPr/>
        </p:nvSpPr>
        <p:spPr>
          <a:xfrm>
            <a:off x="1708596" y="3948388"/>
            <a:ext cx="8852079" cy="369332"/>
          </a:xfrm>
          <a:prstGeom prst="rect">
            <a:avLst/>
          </a:prstGeom>
        </p:spPr>
        <p:txBody>
          <a:bodyPr wrap="square">
            <a:spAutoFit/>
          </a:bodyPr>
          <a:lstStyle/>
          <a:p>
            <a:r>
              <a:rPr lang="en-US" b="1" i="0" u="none" strike="noStrike" baseline="0" dirty="0">
                <a:solidFill>
                  <a:srgbClr val="EE1C24"/>
                </a:solidFill>
                <a:latin typeface="AvantGarde-Demi"/>
              </a:rPr>
              <a:t>Table 4.2. Values of </a:t>
            </a:r>
            <a:r>
              <a:rPr lang="en-US" b="1" i="1" u="none" strike="noStrike" baseline="0" dirty="0">
                <a:solidFill>
                  <a:srgbClr val="EE1C24"/>
                </a:solidFill>
                <a:latin typeface="AvantGarde-DemiOblique"/>
              </a:rPr>
              <a:t>C </a:t>
            </a:r>
            <a:r>
              <a:rPr lang="en-US" b="1" i="0" u="none" strike="noStrike" baseline="0" dirty="0">
                <a:solidFill>
                  <a:srgbClr val="EE1C24"/>
                </a:solidFill>
                <a:latin typeface="AvantGarde-Demi"/>
              </a:rPr>
              <a:t>for the commonly used materials.</a:t>
            </a:r>
            <a:endParaRPr lang="en-US" dirty="0"/>
          </a:p>
        </p:txBody>
      </p:sp>
      <p:pic>
        <p:nvPicPr>
          <p:cNvPr id="7" name="Picture 6"/>
          <p:cNvPicPr>
            <a:picLocks noChangeAspect="1"/>
          </p:cNvPicPr>
          <p:nvPr/>
        </p:nvPicPr>
        <p:blipFill>
          <a:blip r:embed="rId3"/>
          <a:stretch>
            <a:fillRect/>
          </a:stretch>
        </p:blipFill>
        <p:spPr>
          <a:xfrm>
            <a:off x="1211439" y="4317720"/>
            <a:ext cx="8790326" cy="2302021"/>
          </a:xfrm>
          <a:prstGeom prst="rect">
            <a:avLst/>
          </a:prstGeom>
        </p:spPr>
      </p:pic>
      <p:sp>
        <p:nvSpPr>
          <p:cNvPr id="8" name="Slide Number Placeholder 7"/>
          <p:cNvSpPr>
            <a:spLocks noGrp="1"/>
          </p:cNvSpPr>
          <p:nvPr>
            <p:ph type="sldNum" sz="quarter" idx="12"/>
          </p:nvPr>
        </p:nvSpPr>
        <p:spPr/>
        <p:txBody>
          <a:bodyPr/>
          <a:lstStyle/>
          <a:p>
            <a:fld id="{FE26519D-5832-4C74-968F-A812C8CD0CD7}" type="slidenum">
              <a:rPr lang="en-US" smtClean="0"/>
              <a:t>17</a:t>
            </a:fld>
            <a:endParaRPr lang="en-US"/>
          </a:p>
        </p:txBody>
      </p:sp>
    </p:spTree>
    <p:extLst>
      <p:ext uri="{BB962C8B-B14F-4D97-AF65-F5344CB8AC3E}">
        <p14:creationId xmlns:p14="http://schemas.microsoft.com/office/powerpoint/2010/main" val="1185259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04" y="193182"/>
            <a:ext cx="11771290" cy="6555347"/>
          </a:xfrm>
        </p:spPr>
        <p:txBody>
          <a:bodyPr/>
          <a:lstStyle/>
          <a:p>
            <a:pPr marL="0" indent="0">
              <a:buNone/>
            </a:pPr>
            <a:r>
              <a:rPr lang="en-US" b="1" i="0" u="none" strike="noStrike" baseline="0" dirty="0">
                <a:solidFill>
                  <a:srgbClr val="ED008D"/>
                </a:solidFill>
                <a:latin typeface="Times New Roman" panose="02020603050405020304" pitchFamily="18" charset="0"/>
              </a:rPr>
              <a:t>Example 1.2</a:t>
            </a:r>
            <a:r>
              <a:rPr lang="en-US" sz="4000" b="1" i="0" u="none" strike="noStrike" baseline="0" dirty="0">
                <a:solidFill>
                  <a:srgbClr val="ED008D"/>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A pull of 80 </a:t>
            </a:r>
            <a:r>
              <a:rPr lang="en-US" b="0" i="1" u="none" strike="noStrike" baseline="0" dirty="0" err="1">
                <a:solidFill>
                  <a:srgbClr val="231F20"/>
                </a:solidFill>
                <a:latin typeface="Times New Roman" panose="02020603050405020304" pitchFamily="18" charset="0"/>
              </a:rPr>
              <a:t>kN</a:t>
            </a:r>
            <a:r>
              <a:rPr lang="en-US" b="0" i="1" u="none" strike="noStrike" baseline="0" dirty="0">
                <a:solidFill>
                  <a:srgbClr val="231F20"/>
                </a:solidFill>
                <a:latin typeface="Times New Roman" panose="02020603050405020304" pitchFamily="18" charset="0"/>
              </a:rPr>
              <a:t> is transmitted from a bar X to the bar Y through a pin as shown</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in Fig. </a:t>
            </a:r>
            <a:r>
              <a:rPr lang="en-US" i="1" dirty="0">
                <a:solidFill>
                  <a:srgbClr val="231F20"/>
                </a:solidFill>
                <a:latin typeface="Times New Roman" panose="02020603050405020304" pitchFamily="18" charset="0"/>
              </a:rPr>
              <a:t>1.5</a:t>
            </a:r>
            <a:r>
              <a:rPr lang="en-US" b="0" i="1" u="none" strike="noStrike" baseline="0" dirty="0">
                <a:solidFill>
                  <a:srgbClr val="231F20"/>
                </a:solidFill>
                <a:latin typeface="Times New Roman" panose="02020603050405020304" pitchFamily="18" charset="0"/>
              </a:rPr>
              <a:t>.</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If the maximum permissible tensile stress in the bars is 100 N/mm</a:t>
            </a:r>
            <a:r>
              <a:rPr lang="en-US" b="0" i="1" u="none" strike="noStrike" baseline="30000" dirty="0">
                <a:solidFill>
                  <a:srgbClr val="231F20"/>
                </a:solidFill>
                <a:latin typeface="Times New Roman" panose="02020603050405020304" pitchFamily="18" charset="0"/>
              </a:rPr>
              <a:t>2</a:t>
            </a:r>
            <a:r>
              <a:rPr lang="en-US" sz="800" b="0" i="1" u="none" strike="noStrike" baseline="0"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and the permissible shear</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stress in the pin is 80 N/mm</a:t>
            </a:r>
            <a:r>
              <a:rPr lang="en-US" b="0" i="1" u="none" strike="noStrike" baseline="30000" dirty="0">
                <a:solidFill>
                  <a:srgbClr val="231F20"/>
                </a:solidFill>
                <a:latin typeface="Times New Roman" panose="02020603050405020304" pitchFamily="18" charset="0"/>
              </a:rPr>
              <a:t>2</a:t>
            </a:r>
            <a:r>
              <a:rPr lang="en-US" b="0" i="1" u="none" strike="noStrike" baseline="0" dirty="0">
                <a:solidFill>
                  <a:srgbClr val="231F20"/>
                </a:solidFill>
                <a:latin typeface="Times New Roman" panose="02020603050405020304" pitchFamily="18" charset="0"/>
              </a:rPr>
              <a:t>, find the diameter of bars and of the pin.</a:t>
            </a: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endParaRPr lang="en-US" i="1" dirty="0">
              <a:solidFill>
                <a:srgbClr val="231F20"/>
              </a:solidFill>
              <a:latin typeface="Times New Roman" panose="02020603050405020304" pitchFamily="18" charset="0"/>
            </a:endParaRPr>
          </a:p>
          <a:p>
            <a:pPr marL="914400" lvl="2" indent="0">
              <a:buNone/>
            </a:pPr>
            <a:r>
              <a:rPr lang="en-US" i="1" dirty="0">
                <a:solidFill>
                  <a:srgbClr val="231F20"/>
                </a:solidFill>
                <a:latin typeface="Times New Roman" panose="02020603050405020304" pitchFamily="18" charset="0"/>
              </a:rPr>
              <a:t>					Fig. 1.5</a:t>
            </a:r>
            <a:endParaRPr lang="en-US" dirty="0"/>
          </a:p>
        </p:txBody>
      </p:sp>
      <p:pic>
        <p:nvPicPr>
          <p:cNvPr id="4" name="Picture 3"/>
          <p:cNvPicPr>
            <a:picLocks noChangeAspect="1"/>
          </p:cNvPicPr>
          <p:nvPr/>
        </p:nvPicPr>
        <p:blipFill>
          <a:blip r:embed="rId2"/>
          <a:stretch>
            <a:fillRect/>
          </a:stretch>
        </p:blipFill>
        <p:spPr>
          <a:xfrm>
            <a:off x="575025" y="2086378"/>
            <a:ext cx="8543217" cy="3489104"/>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18</a:t>
            </a:fld>
            <a:endParaRPr lang="en-US"/>
          </a:p>
        </p:txBody>
      </p:sp>
    </p:spTree>
    <p:extLst>
      <p:ext uri="{BB962C8B-B14F-4D97-AF65-F5344CB8AC3E}">
        <p14:creationId xmlns:p14="http://schemas.microsoft.com/office/powerpoint/2010/main" val="1258725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0761" y="154547"/>
            <a:ext cx="9672033" cy="6371898"/>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19</a:t>
            </a:fld>
            <a:endParaRPr lang="en-US"/>
          </a:p>
        </p:txBody>
      </p:sp>
    </p:spTree>
    <p:extLst>
      <p:ext uri="{BB962C8B-B14F-4D97-AF65-F5344CB8AC3E}">
        <p14:creationId xmlns:p14="http://schemas.microsoft.com/office/powerpoint/2010/main" val="991134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93438" y="386365"/>
            <a:ext cx="11239577" cy="6259133"/>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20</a:t>
            </a:fld>
            <a:endParaRPr lang="en-US"/>
          </a:p>
        </p:txBody>
      </p:sp>
    </p:spTree>
    <p:extLst>
      <p:ext uri="{BB962C8B-B14F-4D97-AF65-F5344CB8AC3E}">
        <p14:creationId xmlns:p14="http://schemas.microsoft.com/office/powerpoint/2010/main" val="2451438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611" y="528034"/>
            <a:ext cx="11173496" cy="6176963"/>
          </a:xfrm>
        </p:spPr>
        <p:txBody>
          <a:bodyPr>
            <a:normAutofit/>
          </a:bodyPr>
          <a:lstStyle/>
          <a:p>
            <a:pPr marL="0" indent="0">
              <a:buNone/>
            </a:pPr>
            <a:r>
              <a:rPr lang="en-US" sz="3600" b="1" dirty="0">
                <a:solidFill>
                  <a:srgbClr val="005AAB"/>
                </a:solidFill>
                <a:latin typeface="AvantGarde-Demi"/>
              </a:rPr>
              <a:t>1.10</a:t>
            </a:r>
            <a:r>
              <a:rPr lang="en-US" sz="3600" b="1" i="0" u="none" strike="noStrike" baseline="0" dirty="0">
                <a:solidFill>
                  <a:srgbClr val="005AAB"/>
                </a:solidFill>
                <a:latin typeface="AvantGarde-Demi"/>
              </a:rPr>
              <a:t> Stress-strain Diagram</a:t>
            </a:r>
          </a:p>
          <a:p>
            <a:pPr marL="0" indent="0" algn="just">
              <a:buNone/>
            </a:pPr>
            <a:r>
              <a:rPr lang="en-US" b="0" i="0" u="none" strike="noStrike" baseline="0" dirty="0">
                <a:solidFill>
                  <a:srgbClr val="231F20"/>
                </a:solidFill>
                <a:latin typeface="Times New Roman" panose="02020603050405020304" pitchFamily="18" charset="0"/>
              </a:rPr>
              <a:t>In designing various parts of a machine, it is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necessary to know how the material will function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in service. For this, certain characteristics or</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 properties of the material should be known.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mechanical properties mostly used in mechanical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engineering practice are commonly determined</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from a standard tensile test. This test consists of</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gradually loading a standard specimen of a material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and noting the corresponding values of load and</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elongation until the specimen fractures. The load</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is applied and measured by a testing machine.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stress is determined by dividing the load values by</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the original cross-sectional area of the specimen.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The elongation is measured by determining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amounts that two reference points on the specimen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are moved apart by the action of the machine.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original distance between the two reference points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is known as </a:t>
            </a:r>
            <a:r>
              <a:rPr lang="en-US" b="1" i="1" u="none" strike="noStrike" baseline="0" dirty="0">
                <a:solidFill>
                  <a:srgbClr val="231F20"/>
                </a:solidFill>
                <a:latin typeface="Times New Roman" panose="02020603050405020304" pitchFamily="18" charset="0"/>
              </a:rPr>
              <a:t>gauge length</a:t>
            </a:r>
            <a:r>
              <a:rPr lang="en-US" b="1" i="0" u="none" strike="noStrike" baseline="0"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The strain is determined</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by dividing the elongation values by the gauge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length</a:t>
            </a:r>
            <a:r>
              <a:rPr lang="en-US" b="0" i="1" u="none" strike="noStrike" baseline="0" dirty="0">
                <a:solidFill>
                  <a:srgbClr val="231F20"/>
                </a:solidFill>
                <a:latin typeface="Times New Roman" panose="02020603050405020304" pitchFamily="18" charset="0"/>
              </a:rPr>
              <a:t>.</a:t>
            </a:r>
            <a:endParaRPr lang="en-US" dirty="0"/>
          </a:p>
        </p:txBody>
      </p:sp>
      <p:sp>
        <p:nvSpPr>
          <p:cNvPr id="5" name="Slide Number Placeholder 4"/>
          <p:cNvSpPr>
            <a:spLocks noGrp="1"/>
          </p:cNvSpPr>
          <p:nvPr>
            <p:ph type="sldNum" sz="quarter" idx="12"/>
          </p:nvPr>
        </p:nvSpPr>
        <p:spPr/>
        <p:txBody>
          <a:bodyPr/>
          <a:lstStyle/>
          <a:p>
            <a:fld id="{FE26519D-5832-4C74-968F-A812C8CD0CD7}" type="slidenum">
              <a:rPr lang="en-US" smtClean="0"/>
              <a:t>21</a:t>
            </a:fld>
            <a:endParaRPr lang="en-US"/>
          </a:p>
        </p:txBody>
      </p:sp>
    </p:spTree>
    <p:extLst>
      <p:ext uri="{BB962C8B-B14F-4D97-AF65-F5344CB8AC3E}">
        <p14:creationId xmlns:p14="http://schemas.microsoft.com/office/powerpoint/2010/main" val="173317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425" y="90151"/>
            <a:ext cx="5563673" cy="6631323"/>
          </a:xfrm>
        </p:spPr>
        <p:txBody>
          <a:bodyPr/>
          <a:lstStyle/>
          <a:p>
            <a:pPr marL="0" indent="0" algn="just">
              <a:buNone/>
            </a:pPr>
            <a:r>
              <a:rPr lang="en-US" b="0" i="0" u="none" strike="noStrike" baseline="0" dirty="0">
                <a:solidFill>
                  <a:srgbClr val="231F20"/>
                </a:solidFill>
                <a:latin typeface="Times New Roman" panose="02020603050405020304" pitchFamily="18" charset="0"/>
              </a:rPr>
              <a:t>The values of the stress and corresponding</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strain are used to draw the stress-strain diagram of the material tested. A stress-strain diagram for a</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mild steel under tensile test is shown in Fig. 1.6 (</a:t>
            </a:r>
            <a:r>
              <a:rPr lang="en-US" b="0" i="1" u="none" strike="noStrike" baseline="0" dirty="0">
                <a:solidFill>
                  <a:srgbClr val="231F20"/>
                </a:solidFill>
                <a:latin typeface="Times New Roman" panose="02020603050405020304" pitchFamily="18" charset="0"/>
              </a:rPr>
              <a:t>a</a:t>
            </a:r>
            <a:r>
              <a:rPr lang="en-US" b="0" i="0" u="none" strike="noStrike" baseline="0" dirty="0">
                <a:solidFill>
                  <a:srgbClr val="231F20"/>
                </a:solidFill>
                <a:latin typeface="Times New Roman" panose="02020603050405020304" pitchFamily="18" charset="0"/>
              </a:rPr>
              <a:t>). The various properties of the material are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discussed below :</a:t>
            </a:r>
          </a:p>
          <a:p>
            <a:endParaRPr lang="en-US" dirty="0">
              <a:solidFill>
                <a:srgbClr val="231F20"/>
              </a:solidFill>
              <a:latin typeface="Times New Roman" panose="02020603050405020304" pitchFamily="18" charset="0"/>
            </a:endParaRPr>
          </a:p>
          <a:p>
            <a:endParaRPr lang="en-US" dirty="0">
              <a:solidFill>
                <a:srgbClr val="231F20"/>
              </a:solidFill>
              <a:latin typeface="Times New Roman" panose="02020603050405020304" pitchFamily="18" charset="0"/>
            </a:endParaRPr>
          </a:p>
          <a:p>
            <a:endParaRPr lang="en-US" dirty="0">
              <a:solidFill>
                <a:srgbClr val="231F20"/>
              </a:solidFill>
              <a:latin typeface="Times New Roman" panose="02020603050405020304" pitchFamily="18" charset="0"/>
            </a:endParaRPr>
          </a:p>
          <a:p>
            <a:endParaRPr lang="en-US" dirty="0">
              <a:solidFill>
                <a:srgbClr val="231F20"/>
              </a:solidFill>
              <a:latin typeface="Times New Roman" panose="02020603050405020304" pitchFamily="18" charset="0"/>
            </a:endParaRPr>
          </a:p>
          <a:p>
            <a:endParaRPr lang="en-US" dirty="0">
              <a:solidFill>
                <a:srgbClr val="231F20"/>
              </a:solidFill>
              <a:latin typeface="Times New Roman" panose="02020603050405020304" pitchFamily="18" charset="0"/>
            </a:endParaRPr>
          </a:p>
          <a:p>
            <a:endParaRPr lang="en-US" dirty="0">
              <a:solidFill>
                <a:srgbClr val="231F20"/>
              </a:solidFill>
              <a:latin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613642" y="0"/>
            <a:ext cx="4864015" cy="5834130"/>
          </a:xfrm>
          <a:prstGeom prst="rect">
            <a:avLst/>
          </a:prstGeom>
        </p:spPr>
      </p:pic>
      <p:sp>
        <p:nvSpPr>
          <p:cNvPr id="5" name="Rectangle 4"/>
          <p:cNvSpPr/>
          <p:nvPr/>
        </p:nvSpPr>
        <p:spPr>
          <a:xfrm>
            <a:off x="6613642" y="6129202"/>
            <a:ext cx="5299315" cy="400110"/>
          </a:xfrm>
          <a:prstGeom prst="rect">
            <a:avLst/>
          </a:prstGeom>
        </p:spPr>
        <p:txBody>
          <a:bodyPr wrap="square">
            <a:spAutoFit/>
          </a:bodyPr>
          <a:lstStyle/>
          <a:p>
            <a:r>
              <a:rPr lang="en-US" sz="2000" b="1" i="0" u="none" strike="noStrike" baseline="0" dirty="0">
                <a:solidFill>
                  <a:srgbClr val="0071BD"/>
                </a:solidFill>
                <a:latin typeface="Times New Roman" panose="02020603050405020304" pitchFamily="18" charset="0"/>
              </a:rPr>
              <a:t>Fig. </a:t>
            </a:r>
            <a:r>
              <a:rPr lang="en-US" sz="2000" b="1" dirty="0">
                <a:solidFill>
                  <a:srgbClr val="0071BD"/>
                </a:solidFill>
                <a:latin typeface="Times New Roman" panose="02020603050405020304" pitchFamily="18" charset="0"/>
              </a:rPr>
              <a:t>1.6 </a:t>
            </a:r>
            <a:r>
              <a:rPr lang="en-US" sz="2000" b="1" i="0" u="none" strike="noStrike" baseline="0" dirty="0">
                <a:solidFill>
                  <a:srgbClr val="0071BD"/>
                </a:solidFill>
                <a:latin typeface="Times New Roman" panose="02020603050405020304" pitchFamily="18" charset="0"/>
              </a:rPr>
              <a:t>. </a:t>
            </a:r>
            <a:r>
              <a:rPr lang="en-US" sz="2000" b="0" i="0" u="none" strike="noStrike" baseline="0" dirty="0">
                <a:solidFill>
                  <a:srgbClr val="231F20"/>
                </a:solidFill>
                <a:latin typeface="Times New Roman" panose="02020603050405020304" pitchFamily="18" charset="0"/>
              </a:rPr>
              <a:t>Stress-strain diagram</a:t>
            </a:r>
            <a:r>
              <a:rPr lang="en-US" sz="2000" b="0" i="0" u="none" strike="noStrike" dirty="0">
                <a:solidFill>
                  <a:srgbClr val="231F20"/>
                </a:solidFill>
                <a:latin typeface="Times New Roman" panose="02020603050405020304" pitchFamily="18" charset="0"/>
              </a:rPr>
              <a:t> </a:t>
            </a:r>
            <a:r>
              <a:rPr lang="en-US" sz="2000" b="0" i="0" u="none" strike="noStrike" baseline="0" dirty="0">
                <a:solidFill>
                  <a:srgbClr val="231F20"/>
                </a:solidFill>
                <a:latin typeface="Times New Roman" panose="02020603050405020304" pitchFamily="18" charset="0"/>
              </a:rPr>
              <a:t>for a mild steel.</a:t>
            </a:r>
            <a:endParaRPr lang="en-US" sz="2000" dirty="0"/>
          </a:p>
        </p:txBody>
      </p:sp>
      <p:sp>
        <p:nvSpPr>
          <p:cNvPr id="7" name="Slide Number Placeholder 6"/>
          <p:cNvSpPr>
            <a:spLocks noGrp="1"/>
          </p:cNvSpPr>
          <p:nvPr>
            <p:ph type="sldNum" sz="quarter" idx="12"/>
          </p:nvPr>
        </p:nvSpPr>
        <p:spPr/>
        <p:txBody>
          <a:bodyPr/>
          <a:lstStyle/>
          <a:p>
            <a:fld id="{FE26519D-5832-4C74-968F-A812C8CD0CD7}" type="slidenum">
              <a:rPr lang="en-US" smtClean="0"/>
              <a:t>22</a:t>
            </a:fld>
            <a:endParaRPr lang="en-US"/>
          </a:p>
        </p:txBody>
      </p:sp>
      <p:pic>
        <p:nvPicPr>
          <p:cNvPr id="2" name="Picture 1"/>
          <p:cNvPicPr>
            <a:picLocks noChangeAspect="1"/>
          </p:cNvPicPr>
          <p:nvPr/>
        </p:nvPicPr>
        <p:blipFill>
          <a:blip r:embed="rId3"/>
          <a:stretch>
            <a:fillRect/>
          </a:stretch>
        </p:blipFill>
        <p:spPr>
          <a:xfrm>
            <a:off x="274259" y="3195374"/>
            <a:ext cx="5091117" cy="3343538"/>
          </a:xfrm>
          <a:prstGeom prst="rect">
            <a:avLst/>
          </a:prstGeom>
        </p:spPr>
      </p:pic>
    </p:spTree>
    <p:extLst>
      <p:ext uri="{BB962C8B-B14F-4D97-AF65-F5344CB8AC3E}">
        <p14:creationId xmlns:p14="http://schemas.microsoft.com/office/powerpoint/2010/main" val="2871232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183" y="128789"/>
            <a:ext cx="11771289" cy="6516710"/>
          </a:xfrm>
        </p:spPr>
        <p:txBody>
          <a:bodyPr>
            <a:normAutofit/>
          </a:bodyPr>
          <a:lstStyle/>
          <a:p>
            <a:pPr marL="0" indent="0" algn="just">
              <a:buNone/>
            </a:pPr>
            <a:r>
              <a:rPr lang="en-US" b="1" i="0" u="none" strike="noStrike" baseline="0" dirty="0">
                <a:solidFill>
                  <a:srgbClr val="ED008D"/>
                </a:solidFill>
                <a:latin typeface="Times New Roman" panose="02020603050405020304" pitchFamily="18" charset="0"/>
              </a:rPr>
              <a:t>	1. </a:t>
            </a:r>
            <a:r>
              <a:rPr lang="en-US" b="1" i="1" u="none" strike="noStrike" baseline="0" dirty="0">
                <a:solidFill>
                  <a:srgbClr val="ED008D"/>
                </a:solidFill>
                <a:latin typeface="Times New Roman" panose="02020603050405020304" pitchFamily="18" charset="0"/>
              </a:rPr>
              <a:t>Proportional limit. </a:t>
            </a:r>
            <a:r>
              <a:rPr lang="en-US" b="0" i="0" u="none" strike="noStrike" baseline="0" dirty="0">
                <a:solidFill>
                  <a:srgbClr val="231F20"/>
                </a:solidFill>
                <a:latin typeface="Times New Roman" panose="02020603050405020304" pitchFamily="18" charset="0"/>
              </a:rPr>
              <a:t>We see from the diagram</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that from point </a:t>
            </a:r>
            <a:r>
              <a:rPr lang="en-US" b="0" i="1" u="none" strike="noStrike" baseline="0" dirty="0">
                <a:solidFill>
                  <a:srgbClr val="231F20"/>
                </a:solidFill>
                <a:latin typeface="Times New Roman" panose="02020603050405020304" pitchFamily="18" charset="0"/>
              </a:rPr>
              <a:t>O </a:t>
            </a:r>
            <a:r>
              <a:rPr lang="en-US" b="0" i="0" u="none" strike="noStrike" baseline="0" dirty="0">
                <a:solidFill>
                  <a:srgbClr val="231F20"/>
                </a:solidFill>
                <a:latin typeface="Times New Roman" panose="02020603050405020304" pitchFamily="18" charset="0"/>
              </a:rPr>
              <a:t>to </a:t>
            </a:r>
            <a:r>
              <a:rPr lang="en-US" b="0" i="1" u="none" strike="noStrike" baseline="0" dirty="0">
                <a:solidFill>
                  <a:srgbClr val="231F20"/>
                </a:solidFill>
                <a:latin typeface="Times New Roman" panose="02020603050405020304" pitchFamily="18" charset="0"/>
              </a:rPr>
              <a:t>A </a:t>
            </a:r>
            <a:r>
              <a:rPr lang="en-US" b="0" i="0" u="none" strike="noStrike" baseline="0" dirty="0">
                <a:solidFill>
                  <a:srgbClr val="231F20"/>
                </a:solidFill>
                <a:latin typeface="Times New Roman" panose="02020603050405020304" pitchFamily="18" charset="0"/>
              </a:rPr>
              <a:t>is a straight line, which represents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that the stress is proportional to strain. Beyond point </a:t>
            </a:r>
            <a:r>
              <a:rPr lang="en-US" b="0" i="1" u="none" strike="noStrike" baseline="0" dirty="0">
                <a:solidFill>
                  <a:srgbClr val="231F20"/>
                </a:solidFill>
                <a:latin typeface="Times New Roman" panose="02020603050405020304" pitchFamily="18" charset="0"/>
              </a:rPr>
              <a:t>A</a:t>
            </a:r>
            <a:r>
              <a:rPr lang="en-US" b="0" i="0" u="none" strike="noStrike" baseline="0" dirty="0">
                <a:solidFill>
                  <a:srgbClr val="231F20"/>
                </a:solidFill>
                <a:latin typeface="Times New Roman" panose="02020603050405020304" pitchFamily="18" charset="0"/>
              </a:rPr>
              <a:t>,</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the curve slightly deviates from the straight line. It is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thus obvious, that Hooke's law holds good up to point </a:t>
            </a:r>
            <a:r>
              <a:rPr lang="en-US" b="0" i="1" u="none" strike="noStrike" baseline="0" dirty="0">
                <a:solidFill>
                  <a:srgbClr val="231F20"/>
                </a:solidFill>
                <a:latin typeface="Times New Roman" panose="02020603050405020304" pitchFamily="18" charset="0"/>
              </a:rPr>
              <a:t>A</a:t>
            </a:r>
            <a:r>
              <a:rPr lang="en-US" b="0" i="1"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and it is known as </a:t>
            </a:r>
            <a:r>
              <a:rPr lang="en-US" b="1" i="1" u="none" strike="noStrike" baseline="0" dirty="0">
                <a:solidFill>
                  <a:srgbClr val="231F20"/>
                </a:solidFill>
                <a:latin typeface="Times New Roman" panose="02020603050405020304" pitchFamily="18" charset="0"/>
              </a:rPr>
              <a:t>proportional limit</a:t>
            </a:r>
            <a:r>
              <a:rPr lang="en-US" b="0" i="0" u="none" strike="noStrike" baseline="0" dirty="0">
                <a:solidFill>
                  <a:srgbClr val="231F20"/>
                </a:solidFill>
                <a:latin typeface="Times New Roman" panose="02020603050405020304" pitchFamily="18" charset="0"/>
              </a:rPr>
              <a:t>. It is defined as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that stress at which the stress-strain curve begins to deviate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from the straight line.</a:t>
            </a:r>
          </a:p>
          <a:p>
            <a:pPr marL="0" indent="0" algn="just">
              <a:buNone/>
            </a:pPr>
            <a:r>
              <a:rPr lang="en-US" b="1" i="0" u="none" strike="noStrike" baseline="0" dirty="0">
                <a:solidFill>
                  <a:srgbClr val="ED008D"/>
                </a:solidFill>
                <a:latin typeface="Times New Roman" panose="02020603050405020304" pitchFamily="18" charset="0"/>
              </a:rPr>
              <a:t>	2. </a:t>
            </a:r>
            <a:r>
              <a:rPr lang="en-US" b="1" i="1" u="none" strike="noStrike" baseline="0" dirty="0">
                <a:solidFill>
                  <a:srgbClr val="ED008D"/>
                </a:solidFill>
                <a:latin typeface="Times New Roman" panose="02020603050405020304" pitchFamily="18" charset="0"/>
              </a:rPr>
              <a:t>Elastic limit. </a:t>
            </a:r>
            <a:r>
              <a:rPr lang="en-US" b="0" i="0" u="none" strike="noStrike" baseline="0" dirty="0">
                <a:solidFill>
                  <a:srgbClr val="231F20"/>
                </a:solidFill>
                <a:latin typeface="Times New Roman" panose="02020603050405020304" pitchFamily="18" charset="0"/>
              </a:rPr>
              <a:t>It may be noted that even if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load is increased beyond point </a:t>
            </a:r>
            <a:r>
              <a:rPr lang="en-US" b="0" i="1" u="none" strike="noStrike" baseline="0" dirty="0">
                <a:solidFill>
                  <a:srgbClr val="231F20"/>
                </a:solidFill>
                <a:latin typeface="Times New Roman" panose="02020603050405020304" pitchFamily="18" charset="0"/>
              </a:rPr>
              <a:t>A </a:t>
            </a:r>
            <a:r>
              <a:rPr lang="en-US" b="0" i="0" u="none" strike="noStrike" baseline="0" dirty="0" err="1">
                <a:solidFill>
                  <a:srgbClr val="231F20"/>
                </a:solidFill>
                <a:latin typeface="Times New Roman" panose="02020603050405020304" pitchFamily="18" charset="0"/>
              </a:rPr>
              <a:t>upto</a:t>
            </a:r>
            <a:r>
              <a:rPr lang="en-US" b="0" i="0" u="none" strike="noStrike" baseline="0" dirty="0">
                <a:solidFill>
                  <a:srgbClr val="231F20"/>
                </a:solidFill>
                <a:latin typeface="Times New Roman" panose="02020603050405020304" pitchFamily="18" charset="0"/>
              </a:rPr>
              <a:t> the point </a:t>
            </a:r>
            <a:r>
              <a:rPr lang="en-US" b="0" i="1" u="none" strike="noStrike" baseline="0" dirty="0">
                <a:solidFill>
                  <a:srgbClr val="231F20"/>
                </a:solidFill>
                <a:latin typeface="Times New Roman" panose="02020603050405020304" pitchFamily="18" charset="0"/>
              </a:rPr>
              <a:t>B</a:t>
            </a:r>
            <a:r>
              <a:rPr lang="en-US" b="0" i="0" u="none" strike="noStrike" baseline="0" dirty="0">
                <a:solidFill>
                  <a:srgbClr val="231F20"/>
                </a:solidFill>
                <a:latin typeface="Times New Roman" panose="02020603050405020304" pitchFamily="18" charset="0"/>
              </a:rPr>
              <a:t>,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material will regain its shape and size when the load is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removed. This means that the material has elastic</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properties up to the point </a:t>
            </a:r>
            <a:r>
              <a:rPr lang="en-US" b="0" i="1" u="none" strike="noStrike" baseline="0" dirty="0">
                <a:solidFill>
                  <a:srgbClr val="231F20"/>
                </a:solidFill>
                <a:latin typeface="Times New Roman" panose="02020603050405020304" pitchFamily="18" charset="0"/>
              </a:rPr>
              <a:t>B</a:t>
            </a:r>
            <a:r>
              <a:rPr lang="en-US" b="0" i="0" u="none" strike="noStrike" baseline="0" dirty="0">
                <a:solidFill>
                  <a:srgbClr val="231F20"/>
                </a:solidFill>
                <a:latin typeface="Times New Roman" panose="02020603050405020304" pitchFamily="18" charset="0"/>
              </a:rPr>
              <a:t>. This point is known as </a:t>
            </a:r>
            <a:r>
              <a:rPr lang="en-US" b="1" i="1" u="none" strike="noStrike" baseline="0" dirty="0">
                <a:solidFill>
                  <a:srgbClr val="231F20"/>
                </a:solidFill>
                <a:latin typeface="Times New Roman" panose="02020603050405020304" pitchFamily="18" charset="0"/>
              </a:rPr>
              <a:t>elastic</a:t>
            </a:r>
            <a:r>
              <a:rPr lang="en-US" b="1" i="1" u="none" strike="noStrike" dirty="0">
                <a:solidFill>
                  <a:srgbClr val="231F20"/>
                </a:solidFill>
                <a:latin typeface="Times New Roman" panose="02020603050405020304" pitchFamily="18" charset="0"/>
              </a:rPr>
              <a:t> </a:t>
            </a:r>
            <a:r>
              <a:rPr lang="en-US" b="1" i="1" u="none" strike="noStrike" baseline="0" dirty="0">
                <a:solidFill>
                  <a:srgbClr val="231F20"/>
                </a:solidFill>
                <a:latin typeface="Times New Roman" panose="02020603050405020304" pitchFamily="18" charset="0"/>
              </a:rPr>
              <a:t>limit. </a:t>
            </a:r>
            <a:r>
              <a:rPr lang="en-US" b="0" i="0" u="none" strike="noStrike" baseline="0" dirty="0">
                <a:solidFill>
                  <a:srgbClr val="231F20"/>
                </a:solidFill>
                <a:latin typeface="Times New Roman" panose="02020603050405020304" pitchFamily="18" charset="0"/>
              </a:rPr>
              <a:t>It is defined as the stress developed in the material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without any permanent set.</a:t>
            </a:r>
          </a:p>
          <a:p>
            <a:pPr marL="0" indent="0" algn="just">
              <a:buNone/>
            </a:pPr>
            <a:endParaRPr lang="en-US" b="0" i="0" u="none" strike="noStrike" baseline="0" dirty="0">
              <a:solidFill>
                <a:srgbClr val="231F20"/>
              </a:solidFill>
              <a:latin typeface="Times New Roman" panose="02020603050405020304" pitchFamily="18" charset="0"/>
            </a:endParaRPr>
          </a:p>
          <a:p>
            <a:pPr marL="457200" lvl="1" indent="0" algn="just">
              <a:buNone/>
            </a:pPr>
            <a:r>
              <a:rPr lang="en-US" sz="3600" b="1" i="0" u="none" strike="noStrike" baseline="0" dirty="0">
                <a:solidFill>
                  <a:srgbClr val="ED008D"/>
                </a:solidFill>
                <a:latin typeface="Times New Roman" panose="02020603050405020304" pitchFamily="18" charset="0"/>
              </a:rPr>
              <a:t>Note: </a:t>
            </a:r>
            <a:r>
              <a:rPr lang="en-US" sz="3600" b="0" i="0" u="none" strike="noStrike" baseline="0" dirty="0">
                <a:solidFill>
                  <a:srgbClr val="231F20"/>
                </a:solidFill>
                <a:latin typeface="Times New Roman" panose="02020603050405020304" pitchFamily="18" charset="0"/>
              </a:rPr>
              <a:t>Since the above two limits are very close to each other,</a:t>
            </a:r>
            <a:r>
              <a:rPr lang="en-US" sz="3600" b="0" i="0" u="none" strike="noStrike" dirty="0">
                <a:solidFill>
                  <a:srgbClr val="231F20"/>
                </a:solidFill>
                <a:latin typeface="Times New Roman" panose="02020603050405020304" pitchFamily="18" charset="0"/>
              </a:rPr>
              <a:t> </a:t>
            </a:r>
            <a:r>
              <a:rPr lang="en-US" sz="3600" b="0" i="0" u="none" strike="noStrike" baseline="0" dirty="0">
                <a:solidFill>
                  <a:srgbClr val="231F20"/>
                </a:solidFill>
                <a:latin typeface="Times New Roman" panose="02020603050405020304" pitchFamily="18" charset="0"/>
              </a:rPr>
              <a:t>therefore, for all practical purposes these are taken to be equal.</a:t>
            </a:r>
            <a:endParaRPr lang="en-US" sz="3600" dirty="0"/>
          </a:p>
        </p:txBody>
      </p:sp>
      <p:sp>
        <p:nvSpPr>
          <p:cNvPr id="5" name="Slide Number Placeholder 4"/>
          <p:cNvSpPr>
            <a:spLocks noGrp="1"/>
          </p:cNvSpPr>
          <p:nvPr>
            <p:ph type="sldNum" sz="quarter" idx="12"/>
          </p:nvPr>
        </p:nvSpPr>
        <p:spPr/>
        <p:txBody>
          <a:bodyPr/>
          <a:lstStyle/>
          <a:p>
            <a:fld id="{FE26519D-5832-4C74-968F-A812C8CD0CD7}" type="slidenum">
              <a:rPr lang="en-US" smtClean="0"/>
              <a:t>23</a:t>
            </a:fld>
            <a:endParaRPr lang="en-US"/>
          </a:p>
        </p:txBody>
      </p:sp>
    </p:spTree>
    <p:extLst>
      <p:ext uri="{BB962C8B-B14F-4D97-AF65-F5344CB8AC3E}">
        <p14:creationId xmlns:p14="http://schemas.microsoft.com/office/powerpoint/2010/main" val="2720448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05" y="154546"/>
            <a:ext cx="11874320" cy="6529589"/>
          </a:xfrm>
        </p:spPr>
        <p:txBody>
          <a:bodyPr>
            <a:normAutofit fontScale="92500" lnSpcReduction="10000"/>
          </a:bodyPr>
          <a:lstStyle/>
          <a:p>
            <a:pPr marL="0" indent="0" algn="just">
              <a:buNone/>
            </a:pPr>
            <a:r>
              <a:rPr lang="en-US" b="1" i="0" u="none" strike="noStrike" baseline="0" dirty="0">
                <a:solidFill>
                  <a:srgbClr val="ED008D"/>
                </a:solidFill>
                <a:latin typeface="Times New Roman" panose="02020603050405020304" pitchFamily="18" charset="0"/>
              </a:rPr>
              <a:t>	</a:t>
            </a:r>
            <a:r>
              <a:rPr lang="en-US" sz="2900" b="1" i="0" u="none" strike="noStrike" baseline="0" dirty="0">
                <a:solidFill>
                  <a:srgbClr val="ED008D"/>
                </a:solidFill>
                <a:latin typeface="Times New Roman" panose="02020603050405020304" pitchFamily="18" charset="0"/>
              </a:rPr>
              <a:t>3. </a:t>
            </a:r>
            <a:r>
              <a:rPr lang="en-US" sz="2900" b="1" i="1" u="none" strike="noStrike" baseline="0" dirty="0">
                <a:solidFill>
                  <a:srgbClr val="ED008D"/>
                </a:solidFill>
                <a:latin typeface="Times New Roman" panose="02020603050405020304" pitchFamily="18" charset="0"/>
              </a:rPr>
              <a:t>Yield point</a:t>
            </a:r>
            <a:r>
              <a:rPr lang="en-US" sz="2900" b="1" i="0" u="none" strike="noStrike" baseline="0" dirty="0">
                <a:solidFill>
                  <a:srgbClr val="ED008D"/>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If the material is stressed beyond</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point </a:t>
            </a:r>
            <a:r>
              <a:rPr lang="en-US" sz="2900" b="0" i="1" u="none" strike="noStrike" baseline="0" dirty="0">
                <a:solidFill>
                  <a:srgbClr val="231F20"/>
                </a:solidFill>
                <a:latin typeface="Times New Roman" panose="02020603050405020304" pitchFamily="18" charset="0"/>
              </a:rPr>
              <a:t>B</a:t>
            </a:r>
            <a:r>
              <a:rPr lang="en-US" sz="2900" b="0" i="0" u="none" strike="noStrike" baseline="0" dirty="0">
                <a:solidFill>
                  <a:srgbClr val="231F20"/>
                </a:solidFill>
                <a:latin typeface="Times New Roman" panose="02020603050405020304" pitchFamily="18" charset="0"/>
              </a:rPr>
              <a:t>, the plastic stage will reach </a:t>
            </a:r>
            <a:r>
              <a:rPr lang="en-US" sz="2900" b="0" i="1" u="none" strike="noStrike" baseline="0" dirty="0">
                <a:solidFill>
                  <a:srgbClr val="231F20"/>
                </a:solidFill>
                <a:latin typeface="Times New Roman" panose="02020603050405020304" pitchFamily="18" charset="0"/>
              </a:rPr>
              <a:t>i.e</a:t>
            </a:r>
            <a:r>
              <a:rPr lang="en-US" sz="2900" b="0" i="0" u="none" strike="noStrike" baseline="0" dirty="0">
                <a:solidFill>
                  <a:srgbClr val="231F20"/>
                </a:solidFill>
                <a:latin typeface="Times New Roman" panose="02020603050405020304" pitchFamily="18" charset="0"/>
              </a:rPr>
              <a:t>. on the removal</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of the load, the material will not be able to recover its</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original size and shape. A little consideration will show</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that beyond point </a:t>
            </a:r>
            <a:r>
              <a:rPr lang="en-US" sz="2900" b="0" i="1" u="none" strike="noStrike" baseline="0" dirty="0">
                <a:solidFill>
                  <a:srgbClr val="231F20"/>
                </a:solidFill>
                <a:latin typeface="Times New Roman" panose="02020603050405020304" pitchFamily="18" charset="0"/>
              </a:rPr>
              <a:t>B</a:t>
            </a:r>
            <a:r>
              <a:rPr lang="en-US" sz="2900" b="0" i="0" u="none" strike="noStrike" baseline="0" dirty="0">
                <a:solidFill>
                  <a:srgbClr val="231F20"/>
                </a:solidFill>
                <a:latin typeface="Times New Roman" panose="02020603050405020304" pitchFamily="18" charset="0"/>
              </a:rPr>
              <a:t>, the strain increases at a faster rate with any increase in the stress until the point</a:t>
            </a:r>
            <a:r>
              <a:rPr lang="en-US" sz="2900" b="0" i="0" u="none" strike="noStrike" dirty="0">
                <a:solidFill>
                  <a:srgbClr val="231F20"/>
                </a:solidFill>
                <a:latin typeface="Times New Roman" panose="02020603050405020304" pitchFamily="18" charset="0"/>
              </a:rPr>
              <a:t> </a:t>
            </a:r>
            <a:r>
              <a:rPr lang="en-US" sz="2900" b="0" i="1" u="none" strike="noStrike" baseline="0" dirty="0">
                <a:solidFill>
                  <a:srgbClr val="231F20"/>
                </a:solidFill>
                <a:latin typeface="Times New Roman" panose="02020603050405020304" pitchFamily="18" charset="0"/>
              </a:rPr>
              <a:t>C </a:t>
            </a:r>
            <a:r>
              <a:rPr lang="en-US" sz="2900" b="0" i="0" u="none" strike="noStrike" baseline="0" dirty="0">
                <a:solidFill>
                  <a:srgbClr val="231F20"/>
                </a:solidFill>
                <a:latin typeface="Times New Roman" panose="02020603050405020304" pitchFamily="18" charset="0"/>
              </a:rPr>
              <a:t>is reached. At this point, the material yields before the load and there is an appreciable strain</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without any increase in stress. In case of mild steel, it will be seen that a small load drops to </a:t>
            </a:r>
            <a:r>
              <a:rPr lang="en-US" sz="2900" b="0" i="1" u="none" strike="noStrike" baseline="0" dirty="0">
                <a:solidFill>
                  <a:srgbClr val="231F20"/>
                </a:solidFill>
                <a:latin typeface="Times New Roman" panose="02020603050405020304" pitchFamily="18" charset="0"/>
              </a:rPr>
              <a:t>D</a:t>
            </a:r>
            <a:r>
              <a:rPr lang="en-US" sz="2900" b="0" i="0" u="none" strike="noStrike" baseline="0" dirty="0">
                <a:solidFill>
                  <a:srgbClr val="231F20"/>
                </a:solidFill>
                <a:latin typeface="Times New Roman" panose="02020603050405020304" pitchFamily="18" charset="0"/>
              </a:rPr>
              <a:t>,</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immediately after yielding commences. Hence there are two yield points </a:t>
            </a:r>
            <a:r>
              <a:rPr lang="en-US" sz="2900" b="0" i="1" u="none" strike="noStrike" baseline="0" dirty="0">
                <a:solidFill>
                  <a:srgbClr val="231F20"/>
                </a:solidFill>
                <a:latin typeface="Times New Roman" panose="02020603050405020304" pitchFamily="18" charset="0"/>
              </a:rPr>
              <a:t>C </a:t>
            </a:r>
            <a:r>
              <a:rPr lang="en-US" sz="2900" b="0" i="0" u="none" strike="noStrike" baseline="0" dirty="0">
                <a:solidFill>
                  <a:srgbClr val="231F20"/>
                </a:solidFill>
                <a:latin typeface="Times New Roman" panose="02020603050405020304" pitchFamily="18" charset="0"/>
              </a:rPr>
              <a:t>and </a:t>
            </a:r>
            <a:r>
              <a:rPr lang="en-US" sz="2900" b="0" i="1" u="none" strike="noStrike" baseline="0" dirty="0">
                <a:solidFill>
                  <a:srgbClr val="231F20"/>
                </a:solidFill>
                <a:latin typeface="Times New Roman" panose="02020603050405020304" pitchFamily="18" charset="0"/>
              </a:rPr>
              <a:t>D</a:t>
            </a:r>
            <a:r>
              <a:rPr lang="en-US" sz="2900" b="0" i="0" u="none" strike="noStrike" baseline="0" dirty="0">
                <a:solidFill>
                  <a:srgbClr val="231F20"/>
                </a:solidFill>
                <a:latin typeface="Times New Roman" panose="02020603050405020304" pitchFamily="18" charset="0"/>
              </a:rPr>
              <a:t>. The points </a:t>
            </a:r>
            <a:r>
              <a:rPr lang="en-US" sz="2900" b="0" i="1" u="none" strike="noStrike" baseline="0" dirty="0">
                <a:solidFill>
                  <a:srgbClr val="231F20"/>
                </a:solidFill>
                <a:latin typeface="Times New Roman" panose="02020603050405020304" pitchFamily="18" charset="0"/>
              </a:rPr>
              <a:t>C </a:t>
            </a:r>
            <a:r>
              <a:rPr lang="en-US" sz="2900" b="0" i="0" u="none" strike="noStrike" baseline="0" dirty="0">
                <a:solidFill>
                  <a:srgbClr val="231F20"/>
                </a:solidFill>
                <a:latin typeface="Times New Roman" panose="02020603050405020304" pitchFamily="18" charset="0"/>
              </a:rPr>
              <a:t>and</a:t>
            </a:r>
            <a:r>
              <a:rPr lang="en-US" sz="2900" b="0" i="0" u="none" strike="noStrike" dirty="0">
                <a:solidFill>
                  <a:srgbClr val="231F20"/>
                </a:solidFill>
                <a:latin typeface="Times New Roman" panose="02020603050405020304" pitchFamily="18" charset="0"/>
              </a:rPr>
              <a:t> </a:t>
            </a:r>
            <a:r>
              <a:rPr lang="en-US" sz="2900" b="0" i="1" u="none" strike="noStrike" baseline="0" dirty="0">
                <a:solidFill>
                  <a:srgbClr val="231F20"/>
                </a:solidFill>
                <a:latin typeface="Times New Roman" panose="02020603050405020304" pitchFamily="18" charset="0"/>
              </a:rPr>
              <a:t>D </a:t>
            </a:r>
            <a:r>
              <a:rPr lang="en-US" sz="2900" b="0" i="0" u="none" strike="noStrike" baseline="0" dirty="0">
                <a:solidFill>
                  <a:srgbClr val="231F20"/>
                </a:solidFill>
                <a:latin typeface="Times New Roman" panose="02020603050405020304" pitchFamily="18" charset="0"/>
              </a:rPr>
              <a:t>are called the </a:t>
            </a:r>
            <a:r>
              <a:rPr lang="en-US" sz="2900" b="1" i="1" u="none" strike="noStrike" baseline="0" dirty="0">
                <a:solidFill>
                  <a:srgbClr val="231F20"/>
                </a:solidFill>
                <a:latin typeface="Times New Roman" panose="02020603050405020304" pitchFamily="18" charset="0"/>
              </a:rPr>
              <a:t>upper </a:t>
            </a:r>
            <a:r>
              <a:rPr lang="en-US" sz="2900" b="0" i="0" u="none" strike="noStrike" baseline="0" dirty="0">
                <a:solidFill>
                  <a:srgbClr val="231F20"/>
                </a:solidFill>
                <a:latin typeface="Times New Roman" panose="02020603050405020304" pitchFamily="18" charset="0"/>
              </a:rPr>
              <a:t>and </a:t>
            </a:r>
            <a:r>
              <a:rPr lang="en-US" sz="2900" b="1" i="1" u="none" strike="noStrike" baseline="0" dirty="0">
                <a:solidFill>
                  <a:srgbClr val="231F20"/>
                </a:solidFill>
                <a:latin typeface="Times New Roman" panose="02020603050405020304" pitchFamily="18" charset="0"/>
              </a:rPr>
              <a:t>lower yield points </a:t>
            </a:r>
            <a:r>
              <a:rPr lang="en-US" sz="2900" b="0" i="0" u="none" strike="noStrike" baseline="0" dirty="0">
                <a:solidFill>
                  <a:srgbClr val="231F20"/>
                </a:solidFill>
                <a:latin typeface="Times New Roman" panose="02020603050405020304" pitchFamily="18" charset="0"/>
              </a:rPr>
              <a:t>respectively. The stress corresponding to yield point is</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known as </a:t>
            </a:r>
            <a:r>
              <a:rPr lang="en-US" sz="2900" b="1" i="1" u="none" strike="noStrike" baseline="0" dirty="0">
                <a:solidFill>
                  <a:srgbClr val="231F20"/>
                </a:solidFill>
                <a:latin typeface="Times New Roman" panose="02020603050405020304" pitchFamily="18" charset="0"/>
              </a:rPr>
              <a:t>yield point stress.</a:t>
            </a:r>
          </a:p>
          <a:p>
            <a:pPr marL="0" indent="0" algn="just">
              <a:buNone/>
            </a:pPr>
            <a:r>
              <a:rPr lang="en-US" sz="2900" b="1" i="0" u="none" strike="noStrike" baseline="0" dirty="0">
                <a:solidFill>
                  <a:srgbClr val="ED008D"/>
                </a:solidFill>
                <a:latin typeface="Times New Roman" panose="02020603050405020304" pitchFamily="18" charset="0"/>
              </a:rPr>
              <a:t>	4. </a:t>
            </a:r>
            <a:r>
              <a:rPr lang="en-US" sz="2900" b="1" i="1" u="none" strike="noStrike" baseline="0" dirty="0">
                <a:solidFill>
                  <a:srgbClr val="ED008D"/>
                </a:solidFill>
                <a:latin typeface="Times New Roman" panose="02020603050405020304" pitchFamily="18" charset="0"/>
              </a:rPr>
              <a:t>Ultimate stress</a:t>
            </a:r>
            <a:r>
              <a:rPr lang="en-US" sz="2900" b="1" i="0" u="none" strike="noStrike" baseline="0" dirty="0">
                <a:solidFill>
                  <a:srgbClr val="ED008D"/>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At </a:t>
            </a:r>
            <a:r>
              <a:rPr lang="en-US" sz="2900" b="0" i="1" u="none" strike="noStrike" baseline="0" dirty="0">
                <a:solidFill>
                  <a:srgbClr val="231F20"/>
                </a:solidFill>
                <a:latin typeface="Times New Roman" panose="02020603050405020304" pitchFamily="18" charset="0"/>
              </a:rPr>
              <a:t>D, </a:t>
            </a:r>
            <a:r>
              <a:rPr lang="en-US" sz="2900" b="0" i="0" u="none" strike="noStrike" baseline="0" dirty="0">
                <a:solidFill>
                  <a:srgbClr val="231F20"/>
                </a:solidFill>
                <a:latin typeface="Times New Roman" panose="02020603050405020304" pitchFamily="18" charset="0"/>
              </a:rPr>
              <a:t>the specimen regains some strength and higher values of stresses are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required for higher strains, than those between </a:t>
            </a:r>
            <a:r>
              <a:rPr lang="en-US" sz="2900" b="0" i="1" u="none" strike="noStrike" baseline="0" dirty="0">
                <a:solidFill>
                  <a:srgbClr val="231F20"/>
                </a:solidFill>
                <a:latin typeface="Times New Roman" panose="02020603050405020304" pitchFamily="18" charset="0"/>
              </a:rPr>
              <a:t>A </a:t>
            </a:r>
            <a:r>
              <a:rPr lang="en-US" sz="2900" b="0" i="0" u="none" strike="noStrike" baseline="0" dirty="0">
                <a:solidFill>
                  <a:srgbClr val="231F20"/>
                </a:solidFill>
                <a:latin typeface="Times New Roman" panose="02020603050405020304" pitchFamily="18" charset="0"/>
              </a:rPr>
              <a:t>and </a:t>
            </a:r>
            <a:r>
              <a:rPr lang="en-US" sz="2900" b="0" i="1" u="none" strike="noStrike" baseline="0" dirty="0">
                <a:solidFill>
                  <a:srgbClr val="231F20"/>
                </a:solidFill>
                <a:latin typeface="Times New Roman" panose="02020603050405020304" pitchFamily="18" charset="0"/>
              </a:rPr>
              <a:t>D</a:t>
            </a:r>
            <a:r>
              <a:rPr lang="en-US" sz="2900" b="0" i="0" u="none" strike="noStrike" baseline="0" dirty="0">
                <a:solidFill>
                  <a:srgbClr val="231F20"/>
                </a:solidFill>
                <a:latin typeface="Times New Roman" panose="02020603050405020304" pitchFamily="18" charset="0"/>
              </a:rPr>
              <a:t>. The stress (or load) goes on increasing till the point </a:t>
            </a:r>
            <a:r>
              <a:rPr lang="en-US" sz="2900" b="0" i="1" u="none" strike="noStrike" baseline="0" dirty="0">
                <a:solidFill>
                  <a:srgbClr val="231F20"/>
                </a:solidFill>
                <a:latin typeface="Times New Roman" panose="02020603050405020304" pitchFamily="18" charset="0"/>
              </a:rPr>
              <a:t>E</a:t>
            </a:r>
            <a:r>
              <a:rPr lang="en-US" sz="2900" b="0" i="1"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is reached. The gradual increase in the strain (or length) of the specimen is followed with the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uniform reduction of its cross-sectional area. The work done, during stretching the specimen, is</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transformed largely into heat and the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specimen becomes hot. At </a:t>
            </a:r>
            <a:r>
              <a:rPr lang="en-US" sz="2900" b="0" i="1" u="none" strike="noStrike" baseline="0" dirty="0">
                <a:solidFill>
                  <a:srgbClr val="231F20"/>
                </a:solidFill>
                <a:latin typeface="Times New Roman" panose="02020603050405020304" pitchFamily="18" charset="0"/>
              </a:rPr>
              <a:t>E</a:t>
            </a:r>
            <a:r>
              <a:rPr lang="en-US" sz="2900" b="0" i="0" u="none" strike="noStrike" baseline="0" dirty="0">
                <a:solidFill>
                  <a:srgbClr val="231F20"/>
                </a:solidFill>
                <a:latin typeface="Times New Roman" panose="02020603050405020304" pitchFamily="18" charset="0"/>
              </a:rPr>
              <a:t>, the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stress, which attains its maximum</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value is known as </a:t>
            </a:r>
            <a:r>
              <a:rPr lang="en-US" sz="2900" b="1" i="1" u="none" strike="noStrike" baseline="0" dirty="0">
                <a:solidFill>
                  <a:srgbClr val="231F20"/>
                </a:solidFill>
                <a:latin typeface="Times New Roman" panose="02020603050405020304" pitchFamily="18" charset="0"/>
              </a:rPr>
              <a:t>ultimate stress</a:t>
            </a:r>
            <a:r>
              <a:rPr lang="en-US" sz="2900" b="1" i="0" u="none" strike="noStrike" baseline="0"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It</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is defined as the largest stress</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obtained by dividing the largest value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of the load reached in a test to the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original cross-sectional area of the</a:t>
            </a:r>
            <a:r>
              <a:rPr lang="en-US" sz="2900" b="0" i="0" u="none" strike="noStrike" dirty="0">
                <a:solidFill>
                  <a:srgbClr val="231F20"/>
                </a:solidFill>
                <a:latin typeface="Times New Roman" panose="02020603050405020304" pitchFamily="18" charset="0"/>
              </a:rPr>
              <a:t> </a:t>
            </a:r>
            <a:r>
              <a:rPr lang="en-US" sz="2900" b="0" i="0" u="none" strike="noStrike" baseline="0" dirty="0">
                <a:solidFill>
                  <a:srgbClr val="231F20"/>
                </a:solidFill>
                <a:latin typeface="Times New Roman" panose="02020603050405020304" pitchFamily="18" charset="0"/>
              </a:rPr>
              <a:t>test piece.</a:t>
            </a:r>
            <a:endParaRPr lang="en-US" sz="2900" dirty="0"/>
          </a:p>
        </p:txBody>
      </p:sp>
      <p:sp>
        <p:nvSpPr>
          <p:cNvPr id="5" name="Slide Number Placeholder 4"/>
          <p:cNvSpPr>
            <a:spLocks noGrp="1"/>
          </p:cNvSpPr>
          <p:nvPr>
            <p:ph type="sldNum" sz="quarter" idx="12"/>
          </p:nvPr>
        </p:nvSpPr>
        <p:spPr/>
        <p:txBody>
          <a:bodyPr/>
          <a:lstStyle/>
          <a:p>
            <a:fld id="{FE26519D-5832-4C74-968F-A812C8CD0CD7}" type="slidenum">
              <a:rPr lang="en-US" smtClean="0"/>
              <a:t>24</a:t>
            </a:fld>
            <a:endParaRPr lang="en-US"/>
          </a:p>
        </p:txBody>
      </p:sp>
    </p:spTree>
    <p:extLst>
      <p:ext uri="{BB962C8B-B14F-4D97-AF65-F5344CB8AC3E}">
        <p14:creationId xmlns:p14="http://schemas.microsoft.com/office/powerpoint/2010/main" val="1477264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04" y="90152"/>
            <a:ext cx="11887200" cy="6619741"/>
          </a:xfrm>
        </p:spPr>
        <p:txBody>
          <a:bodyPr>
            <a:normAutofit/>
          </a:bodyPr>
          <a:lstStyle/>
          <a:p>
            <a:pPr marL="0" indent="0" algn="just">
              <a:buNone/>
            </a:pPr>
            <a:r>
              <a:rPr lang="en-US" b="1" i="0" u="none" strike="noStrike" baseline="0" dirty="0">
                <a:solidFill>
                  <a:srgbClr val="ED008D"/>
                </a:solidFill>
                <a:latin typeface="Times New Roman" panose="02020603050405020304" pitchFamily="18" charset="0"/>
              </a:rPr>
              <a:t>	5. </a:t>
            </a:r>
            <a:r>
              <a:rPr lang="en-US" b="1" i="1" u="none" strike="noStrike" baseline="0" dirty="0">
                <a:solidFill>
                  <a:srgbClr val="ED008D"/>
                </a:solidFill>
                <a:latin typeface="Times New Roman" panose="02020603050405020304" pitchFamily="18" charset="0"/>
              </a:rPr>
              <a:t>Breaking stress</a:t>
            </a:r>
            <a:r>
              <a:rPr lang="en-US" b="1" i="0" u="none" strike="noStrike" baseline="0" dirty="0">
                <a:solidFill>
                  <a:srgbClr val="ED008D"/>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After 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specimen has reached the ultimate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stress, a neck is formed, which</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decreases the cross-sectional area of</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the specimen, as shown in Fig. 4.12</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t>
            </a:r>
            <a:r>
              <a:rPr lang="en-US" b="0" i="1" u="none" strike="noStrike" baseline="0" dirty="0">
                <a:solidFill>
                  <a:srgbClr val="231F20"/>
                </a:solidFill>
                <a:latin typeface="Times New Roman" panose="02020603050405020304" pitchFamily="18" charset="0"/>
              </a:rPr>
              <a:t>b</a:t>
            </a:r>
            <a:r>
              <a:rPr lang="en-US" b="0" i="0" u="none" strike="noStrike" baseline="0" dirty="0">
                <a:solidFill>
                  <a:srgbClr val="231F20"/>
                </a:solidFill>
                <a:latin typeface="Times New Roman" panose="02020603050405020304" pitchFamily="18" charset="0"/>
              </a:rPr>
              <a:t>). A little consideration will show</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that the stress (or load) necessary to</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break away the specimen, is less than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the maximum stress. The stress is, therefore, reduced until the specimen breaks away at point </a:t>
            </a:r>
            <a:r>
              <a:rPr lang="en-US" b="0" i="1" u="none" strike="noStrike" baseline="0" dirty="0">
                <a:solidFill>
                  <a:srgbClr val="231F20"/>
                </a:solidFill>
                <a:latin typeface="Times New Roman" panose="02020603050405020304" pitchFamily="18" charset="0"/>
              </a:rPr>
              <a:t>F. </a:t>
            </a:r>
            <a:r>
              <a:rPr lang="en-US" b="0" i="0" u="none" strike="noStrike" baseline="0" dirty="0">
                <a:solidFill>
                  <a:srgbClr val="231F20"/>
                </a:solidFill>
                <a:latin typeface="Times New Roman" panose="02020603050405020304" pitchFamily="18" charset="0"/>
              </a:rPr>
              <a:t>The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stress corresponding to point </a:t>
            </a:r>
            <a:r>
              <a:rPr lang="en-US" b="0" i="1" u="none" strike="noStrike" baseline="0" dirty="0">
                <a:solidFill>
                  <a:srgbClr val="231F20"/>
                </a:solidFill>
                <a:latin typeface="Times New Roman" panose="02020603050405020304" pitchFamily="18" charset="0"/>
              </a:rPr>
              <a:t>F </a:t>
            </a:r>
            <a:r>
              <a:rPr lang="en-US" b="0" i="0" u="none" strike="noStrike" baseline="0" dirty="0">
                <a:solidFill>
                  <a:srgbClr val="231F20"/>
                </a:solidFill>
                <a:latin typeface="Times New Roman" panose="02020603050405020304" pitchFamily="18" charset="0"/>
              </a:rPr>
              <a:t>is known a</a:t>
            </a:r>
            <a:r>
              <a:rPr lang="en-US" b="1" i="0" u="none" strike="noStrike" baseline="0" dirty="0">
                <a:solidFill>
                  <a:srgbClr val="231F20"/>
                </a:solidFill>
                <a:latin typeface="Times New Roman" panose="02020603050405020304" pitchFamily="18" charset="0"/>
              </a:rPr>
              <a:t>s </a:t>
            </a:r>
            <a:r>
              <a:rPr lang="en-US" b="1" i="1" u="none" strike="noStrike" baseline="0" dirty="0">
                <a:solidFill>
                  <a:srgbClr val="231F20"/>
                </a:solidFill>
                <a:latin typeface="Times New Roman" panose="02020603050405020304" pitchFamily="18" charset="0"/>
              </a:rPr>
              <a:t>breaking stress</a:t>
            </a:r>
            <a:r>
              <a:rPr lang="en-US" b="1" i="0" u="none" strike="noStrike" baseline="0" dirty="0">
                <a:solidFill>
                  <a:srgbClr val="231F20"/>
                </a:solidFill>
                <a:latin typeface="Times New Roman" panose="02020603050405020304" pitchFamily="18" charset="0"/>
              </a:rPr>
              <a:t>.</a:t>
            </a:r>
          </a:p>
          <a:p>
            <a:pPr lvl="1" algn="just"/>
            <a:r>
              <a:rPr lang="en-US" sz="3200" b="1" i="0" u="none" strike="noStrike" baseline="0" dirty="0">
                <a:solidFill>
                  <a:srgbClr val="ED008D"/>
                </a:solidFill>
                <a:latin typeface="Times New Roman" panose="02020603050405020304" pitchFamily="18" charset="0"/>
              </a:rPr>
              <a:t>Note : </a:t>
            </a:r>
            <a:r>
              <a:rPr lang="en-US" sz="3200" b="0" i="0" u="none" strike="noStrike" baseline="0" dirty="0">
                <a:solidFill>
                  <a:srgbClr val="231F20"/>
                </a:solidFill>
                <a:latin typeface="Times New Roman" panose="02020603050405020304" pitchFamily="18" charset="0"/>
              </a:rPr>
              <a:t>The breaking stress (</a:t>
            </a:r>
            <a:r>
              <a:rPr lang="en-US" sz="3200" b="0" i="1" u="none" strike="noStrike" baseline="0" dirty="0">
                <a:solidFill>
                  <a:srgbClr val="231F20"/>
                </a:solidFill>
                <a:latin typeface="Times New Roman" panose="02020603050405020304" pitchFamily="18" charset="0"/>
              </a:rPr>
              <a:t>i.e</a:t>
            </a:r>
            <a:r>
              <a:rPr lang="en-US" sz="3200" b="0" i="0" u="none" strike="noStrike" baseline="0" dirty="0">
                <a:solidFill>
                  <a:srgbClr val="231F20"/>
                </a:solidFill>
                <a:latin typeface="Times New Roman" panose="02020603050405020304" pitchFamily="18" charset="0"/>
              </a:rPr>
              <a:t>. stress at </a:t>
            </a:r>
            <a:r>
              <a:rPr lang="en-US" sz="3200" b="0" i="1" u="none" strike="noStrike" baseline="0" dirty="0">
                <a:solidFill>
                  <a:srgbClr val="231F20"/>
                </a:solidFill>
                <a:latin typeface="Times New Roman" panose="02020603050405020304" pitchFamily="18" charset="0"/>
              </a:rPr>
              <a:t>F </a:t>
            </a:r>
            <a:r>
              <a:rPr lang="en-US" sz="3200" b="0" i="0" u="none" strike="noStrike" baseline="0" dirty="0">
                <a:solidFill>
                  <a:srgbClr val="231F20"/>
                </a:solidFill>
                <a:latin typeface="Times New Roman" panose="02020603050405020304" pitchFamily="18" charset="0"/>
              </a:rPr>
              <a:t>which is less than at </a:t>
            </a:r>
            <a:r>
              <a:rPr lang="en-US" sz="3200" b="0" i="1" u="none" strike="noStrike" baseline="0" dirty="0">
                <a:solidFill>
                  <a:srgbClr val="231F20"/>
                </a:solidFill>
                <a:latin typeface="Times New Roman" panose="02020603050405020304" pitchFamily="18" charset="0"/>
              </a:rPr>
              <a:t>E</a:t>
            </a:r>
            <a:r>
              <a:rPr lang="en-US" sz="3200" b="0" i="0" u="none" strike="noStrike" baseline="0" dirty="0">
                <a:solidFill>
                  <a:srgbClr val="231F20"/>
                </a:solidFill>
                <a:latin typeface="Times New Roman" panose="02020603050405020304" pitchFamily="18" charset="0"/>
              </a:rPr>
              <a:t>) appears to be somewhat</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misleading. As the</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formation of a neck takes place at </a:t>
            </a:r>
            <a:r>
              <a:rPr lang="en-US" sz="3200" b="0" i="1" u="none" strike="noStrike" baseline="0" dirty="0">
                <a:solidFill>
                  <a:srgbClr val="231F20"/>
                </a:solidFill>
                <a:latin typeface="Times New Roman" panose="02020603050405020304" pitchFamily="18" charset="0"/>
              </a:rPr>
              <a:t>E </a:t>
            </a:r>
            <a:r>
              <a:rPr lang="en-US" sz="3200" b="0" i="0" u="none" strike="noStrike" baseline="0" dirty="0">
                <a:solidFill>
                  <a:srgbClr val="231F20"/>
                </a:solidFill>
                <a:latin typeface="Times New Roman" panose="02020603050405020304" pitchFamily="18" charset="0"/>
              </a:rPr>
              <a:t>which reduces the cross-sectional area, it causes the specimen suddenly</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to fail at </a:t>
            </a:r>
            <a:r>
              <a:rPr lang="en-US" sz="3200" b="0" i="1" u="none" strike="noStrike" baseline="0" dirty="0">
                <a:solidFill>
                  <a:srgbClr val="231F20"/>
                </a:solidFill>
                <a:latin typeface="Times New Roman" panose="02020603050405020304" pitchFamily="18" charset="0"/>
              </a:rPr>
              <a:t>F</a:t>
            </a:r>
            <a:r>
              <a:rPr lang="en-US" sz="3200" b="0" i="0" u="none" strike="noStrike" baseline="0" dirty="0">
                <a:solidFill>
                  <a:srgbClr val="231F20"/>
                </a:solidFill>
                <a:latin typeface="Times New Roman" panose="02020603050405020304" pitchFamily="18" charset="0"/>
              </a:rPr>
              <a:t>. If for each value of the strain between </a:t>
            </a:r>
            <a:r>
              <a:rPr lang="en-US" sz="3200" b="0" i="1" u="none" strike="noStrike" baseline="0" dirty="0">
                <a:solidFill>
                  <a:srgbClr val="231F20"/>
                </a:solidFill>
                <a:latin typeface="Times New Roman" panose="02020603050405020304" pitchFamily="18" charset="0"/>
              </a:rPr>
              <a:t>E </a:t>
            </a:r>
            <a:r>
              <a:rPr lang="en-US" sz="3200" b="0" i="0" u="none" strike="noStrike" baseline="0" dirty="0">
                <a:solidFill>
                  <a:srgbClr val="231F20"/>
                </a:solidFill>
                <a:latin typeface="Times New Roman" panose="02020603050405020304" pitchFamily="18" charset="0"/>
              </a:rPr>
              <a:t>and </a:t>
            </a:r>
            <a:r>
              <a:rPr lang="en-US" sz="3200" b="0" i="1" u="none" strike="noStrike" baseline="0" dirty="0">
                <a:solidFill>
                  <a:srgbClr val="231F20"/>
                </a:solidFill>
                <a:latin typeface="Times New Roman" panose="02020603050405020304" pitchFamily="18" charset="0"/>
              </a:rPr>
              <a:t>F</a:t>
            </a:r>
            <a:r>
              <a:rPr lang="en-US" sz="3200" b="0" i="0" u="none" strike="noStrike" baseline="0" dirty="0">
                <a:solidFill>
                  <a:srgbClr val="231F20"/>
                </a:solidFill>
                <a:latin typeface="Times New Roman" panose="02020603050405020304" pitchFamily="18" charset="0"/>
              </a:rPr>
              <a:t>, the tensile load is divided by the reduced </a:t>
            </a:r>
            <a:r>
              <a:rPr lang="en-US" sz="3200" b="0" i="0" u="none" strike="noStrike" baseline="0" dirty="0" err="1">
                <a:solidFill>
                  <a:srgbClr val="231F20"/>
                </a:solidFill>
                <a:latin typeface="Times New Roman" panose="02020603050405020304" pitchFamily="18" charset="0"/>
              </a:rPr>
              <a:t>crosssectional</a:t>
            </a:r>
            <a:r>
              <a:rPr lang="en-US" sz="3200"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area at the narrowest part of the neck, then the true stress-strain curve will follow the dotted line </a:t>
            </a:r>
            <a:r>
              <a:rPr lang="en-US" sz="3200" b="0" i="1" u="none" strike="noStrike" baseline="0" dirty="0">
                <a:solidFill>
                  <a:srgbClr val="231F20"/>
                </a:solidFill>
                <a:latin typeface="Times New Roman" panose="02020603050405020304" pitchFamily="18" charset="0"/>
              </a:rPr>
              <a:t>EG</a:t>
            </a:r>
            <a:r>
              <a:rPr lang="en-US" sz="3200" b="0" i="0" u="none" strike="noStrike" baseline="0" dirty="0">
                <a:solidFill>
                  <a:srgbClr val="231F20"/>
                </a:solidFill>
                <a:latin typeface="Times New Roman" panose="02020603050405020304" pitchFamily="18" charset="0"/>
              </a:rPr>
              <a:t>.</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However, it is an established practice, to calculate strains on the basis of original cross-sectional area of the</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specimen.</a:t>
            </a:r>
            <a:endParaRPr lang="en-US" sz="3200" dirty="0"/>
          </a:p>
        </p:txBody>
      </p:sp>
      <p:sp>
        <p:nvSpPr>
          <p:cNvPr id="5" name="Slide Number Placeholder 4"/>
          <p:cNvSpPr>
            <a:spLocks noGrp="1"/>
          </p:cNvSpPr>
          <p:nvPr>
            <p:ph type="sldNum" sz="quarter" idx="12"/>
          </p:nvPr>
        </p:nvSpPr>
        <p:spPr/>
        <p:txBody>
          <a:bodyPr/>
          <a:lstStyle/>
          <a:p>
            <a:fld id="{FE26519D-5832-4C74-968F-A812C8CD0CD7}" type="slidenum">
              <a:rPr lang="en-US" smtClean="0"/>
              <a:t>25</a:t>
            </a:fld>
            <a:endParaRPr lang="en-US"/>
          </a:p>
        </p:txBody>
      </p:sp>
    </p:spTree>
    <p:extLst>
      <p:ext uri="{BB962C8B-B14F-4D97-AF65-F5344CB8AC3E}">
        <p14:creationId xmlns:p14="http://schemas.microsoft.com/office/powerpoint/2010/main" val="3251705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34851" y="237100"/>
            <a:ext cx="11454788" cy="6620900"/>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26</a:t>
            </a:fld>
            <a:endParaRPr lang="en-US"/>
          </a:p>
        </p:txBody>
      </p:sp>
    </p:spTree>
    <p:extLst>
      <p:ext uri="{BB962C8B-B14F-4D97-AF65-F5344CB8AC3E}">
        <p14:creationId xmlns:p14="http://schemas.microsoft.com/office/powerpoint/2010/main" val="10791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05" y="141668"/>
            <a:ext cx="11900078" cy="6439436"/>
          </a:xfrm>
        </p:spPr>
        <p:txBody>
          <a:bodyPr/>
          <a:lstStyle/>
          <a:p>
            <a:pPr marL="0" indent="0" algn="just">
              <a:buNone/>
            </a:pPr>
            <a:r>
              <a:rPr lang="en-US" b="1" i="0" u="none" strike="noStrike" baseline="0" dirty="0">
                <a:solidFill>
                  <a:srgbClr val="ED008D"/>
                </a:solidFill>
                <a:latin typeface="Times New Roman" panose="02020603050405020304" pitchFamily="18" charset="0"/>
              </a:rPr>
              <a:t>	Note : </a:t>
            </a:r>
            <a:r>
              <a:rPr lang="en-US" b="0" i="0" u="none" strike="noStrike" baseline="0" dirty="0">
                <a:solidFill>
                  <a:srgbClr val="231F20"/>
                </a:solidFill>
                <a:latin typeface="Times New Roman" panose="02020603050405020304" pitchFamily="18" charset="0"/>
              </a:rPr>
              <a:t>The percentage elongation gives a measure of ductility of the metal under test. The amount of local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extensions depends upon the material and also on the transverse dimensions of the test piece. Since the specimens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are to be made from bars, strips, sheets, wires, forgings, castings, etc., therefore it is not possible to make all</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specimens of one standard size. Since the dimensions of the specimen influence the result, therefore some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standard means of comparison of results are necessary.</a:t>
            </a:r>
            <a:endParaRPr lang="en-US" dirty="0"/>
          </a:p>
        </p:txBody>
      </p:sp>
      <p:pic>
        <p:nvPicPr>
          <p:cNvPr id="4" name="Picture 3"/>
          <p:cNvPicPr>
            <a:picLocks noChangeAspect="1"/>
          </p:cNvPicPr>
          <p:nvPr/>
        </p:nvPicPr>
        <p:blipFill>
          <a:blip r:embed="rId2"/>
          <a:stretch>
            <a:fillRect/>
          </a:stretch>
        </p:blipFill>
        <p:spPr>
          <a:xfrm>
            <a:off x="671209" y="3103808"/>
            <a:ext cx="11170063" cy="2897747"/>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27</a:t>
            </a:fld>
            <a:endParaRPr lang="en-US" dirty="0"/>
          </a:p>
        </p:txBody>
      </p:sp>
    </p:spTree>
    <p:extLst>
      <p:ext uri="{BB962C8B-B14F-4D97-AF65-F5344CB8AC3E}">
        <p14:creationId xmlns:p14="http://schemas.microsoft.com/office/powerpoint/2010/main" val="3569697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5873" y="180304"/>
            <a:ext cx="11560238" cy="6542468"/>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28</a:t>
            </a:fld>
            <a:endParaRPr lang="en-US"/>
          </a:p>
        </p:txBody>
      </p:sp>
    </p:spTree>
    <p:extLst>
      <p:ext uri="{BB962C8B-B14F-4D97-AF65-F5344CB8AC3E}">
        <p14:creationId xmlns:p14="http://schemas.microsoft.com/office/powerpoint/2010/main" val="1819284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1784168" cy="6645499"/>
          </a:xfrm>
        </p:spPr>
        <p:txBody>
          <a:bodyPr/>
          <a:lstStyle/>
          <a:p>
            <a:pPr marL="0" indent="0" algn="just">
              <a:buNone/>
            </a:pPr>
            <a:r>
              <a:rPr lang="en-US" b="1" i="0" u="none" strike="noStrike" baseline="0" dirty="0">
                <a:solidFill>
                  <a:srgbClr val="ED008D"/>
                </a:solidFill>
                <a:latin typeface="Times New Roman" panose="02020603050405020304" pitchFamily="18" charset="0"/>
              </a:rPr>
              <a:t>Example 1.3. </a:t>
            </a:r>
            <a:r>
              <a:rPr lang="en-US" b="0" i="1" u="none" strike="noStrike" baseline="0" dirty="0">
                <a:solidFill>
                  <a:srgbClr val="231F20"/>
                </a:solidFill>
                <a:latin typeface="Times New Roman" panose="02020603050405020304" pitchFamily="18" charset="0"/>
              </a:rPr>
              <a:t>A mild steel rod of 12 mm diameter was tested for tensile strength with the</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gauge length of 60 mm. Following observations were recorded :	Final length = 80 mm; Final diameter = 7 mm; Yield load = 3.4 </a:t>
            </a:r>
            <a:r>
              <a:rPr lang="en-US" b="0" i="1" u="none" strike="noStrike" baseline="0" dirty="0" err="1">
                <a:solidFill>
                  <a:srgbClr val="231F20"/>
                </a:solidFill>
                <a:latin typeface="Times New Roman" panose="02020603050405020304" pitchFamily="18" charset="0"/>
              </a:rPr>
              <a:t>kN</a:t>
            </a:r>
            <a:r>
              <a:rPr lang="en-US" b="0" i="1" u="none" strike="noStrike" baseline="0" dirty="0">
                <a:solidFill>
                  <a:srgbClr val="231F20"/>
                </a:solidFill>
                <a:latin typeface="Times New Roman" panose="02020603050405020304" pitchFamily="18" charset="0"/>
              </a:rPr>
              <a:t> and 	Ultimate load = 6.1 </a:t>
            </a:r>
            <a:r>
              <a:rPr lang="en-US" b="0" i="1" u="none" strike="noStrike" baseline="0" dirty="0" err="1">
                <a:solidFill>
                  <a:srgbClr val="231F20"/>
                </a:solidFill>
                <a:latin typeface="Times New Roman" panose="02020603050405020304" pitchFamily="18" charset="0"/>
              </a:rPr>
              <a:t>kN.</a:t>
            </a:r>
            <a:endParaRPr lang="en-US" i="1" dirty="0">
              <a:solidFill>
                <a:srgbClr val="231F20"/>
              </a:solidFill>
              <a:latin typeface="Times New Roman" panose="02020603050405020304" pitchFamily="18" charset="0"/>
            </a:endParaRPr>
          </a:p>
          <a:p>
            <a:pPr marL="0" indent="0" algn="just">
              <a:buNone/>
            </a:pPr>
            <a:r>
              <a:rPr lang="en-US" b="0" i="1" u="none" strike="noStrike" baseline="0" dirty="0">
                <a:solidFill>
                  <a:srgbClr val="231F20"/>
                </a:solidFill>
                <a:latin typeface="Times New Roman" panose="02020603050405020304" pitchFamily="18" charset="0"/>
              </a:rPr>
              <a:t>Calculate : 1. yield stress, 2. ultimate tensile stress, 3. percentage reduction in area, and</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4. percentage elongation.</a:t>
            </a:r>
            <a:endParaRPr lang="en-US" dirty="0"/>
          </a:p>
        </p:txBody>
      </p:sp>
      <p:pic>
        <p:nvPicPr>
          <p:cNvPr id="4" name="Picture 3"/>
          <p:cNvPicPr>
            <a:picLocks noChangeAspect="1"/>
          </p:cNvPicPr>
          <p:nvPr/>
        </p:nvPicPr>
        <p:blipFill>
          <a:blip r:embed="rId2"/>
          <a:stretch>
            <a:fillRect/>
          </a:stretch>
        </p:blipFill>
        <p:spPr>
          <a:xfrm>
            <a:off x="2912275" y="2512494"/>
            <a:ext cx="7274914" cy="4236805"/>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29</a:t>
            </a:fld>
            <a:endParaRPr lang="en-US"/>
          </a:p>
        </p:txBody>
      </p:sp>
    </p:spTree>
    <p:extLst>
      <p:ext uri="{BB962C8B-B14F-4D97-AF65-F5344CB8AC3E}">
        <p14:creationId xmlns:p14="http://schemas.microsoft.com/office/powerpoint/2010/main" val="2116248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1489" y="540913"/>
            <a:ext cx="11224654" cy="2202118"/>
          </a:xfrm>
          <a:prstGeom prst="rect">
            <a:avLst/>
          </a:prstGeom>
        </p:spPr>
      </p:pic>
      <p:pic>
        <p:nvPicPr>
          <p:cNvPr id="5" name="Picture 4"/>
          <p:cNvPicPr>
            <a:picLocks noChangeAspect="1"/>
          </p:cNvPicPr>
          <p:nvPr/>
        </p:nvPicPr>
        <p:blipFill>
          <a:blip r:embed="rId3"/>
          <a:stretch>
            <a:fillRect/>
          </a:stretch>
        </p:blipFill>
        <p:spPr>
          <a:xfrm>
            <a:off x="803008" y="2743031"/>
            <a:ext cx="10818833" cy="2086546"/>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30</a:t>
            </a:fld>
            <a:endParaRPr lang="en-US"/>
          </a:p>
        </p:txBody>
      </p:sp>
    </p:spTree>
    <p:extLst>
      <p:ext uri="{BB962C8B-B14F-4D97-AF65-F5344CB8AC3E}">
        <p14:creationId xmlns:p14="http://schemas.microsoft.com/office/powerpoint/2010/main" val="1734026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457" y="141668"/>
            <a:ext cx="11668258" cy="6478073"/>
          </a:xfrm>
        </p:spPr>
        <p:txBody>
          <a:bodyPr>
            <a:normAutofit lnSpcReduction="10000"/>
          </a:bodyPr>
          <a:lstStyle/>
          <a:p>
            <a:pPr marL="0" indent="0">
              <a:buNone/>
            </a:pPr>
            <a:r>
              <a:rPr lang="en-US" sz="3600" b="1" dirty="0">
                <a:solidFill>
                  <a:srgbClr val="005AAB"/>
                </a:solidFill>
                <a:latin typeface="AvantGarde-Demi"/>
              </a:rPr>
              <a:t>1.11</a:t>
            </a:r>
            <a:r>
              <a:rPr lang="en-US" sz="3600" b="1" i="0" u="none" strike="noStrike" baseline="0" dirty="0">
                <a:solidFill>
                  <a:srgbClr val="005AAB"/>
                </a:solidFill>
                <a:latin typeface="AvantGarde-Demi"/>
              </a:rPr>
              <a:t> Working Stress</a:t>
            </a:r>
          </a:p>
          <a:p>
            <a:pPr marL="0" indent="0" algn="just">
              <a:buNone/>
            </a:pPr>
            <a:r>
              <a:rPr lang="en-US" sz="4000" b="0" i="0" u="none" strike="noStrike" baseline="0" dirty="0">
                <a:solidFill>
                  <a:srgbClr val="231F20"/>
                </a:solidFill>
                <a:latin typeface="Times New Roman" panose="02020603050405020304" pitchFamily="18" charset="0"/>
              </a:rPr>
              <a:t>When designing machine parts, it is desirable to keep the stress lower than the maximum or</a:t>
            </a:r>
            <a:r>
              <a:rPr lang="en-US" sz="4000" b="0" i="0" u="none" strike="noStrike" dirty="0">
                <a:solidFill>
                  <a:srgbClr val="231F20"/>
                </a:solidFill>
                <a:latin typeface="Times New Roman" panose="02020603050405020304" pitchFamily="18" charset="0"/>
              </a:rPr>
              <a:t> </a:t>
            </a:r>
            <a:r>
              <a:rPr lang="en-US" sz="4000" b="0" i="0" u="none" strike="noStrike" baseline="0" dirty="0">
                <a:solidFill>
                  <a:srgbClr val="231F20"/>
                </a:solidFill>
                <a:latin typeface="Times New Roman" panose="02020603050405020304" pitchFamily="18" charset="0"/>
              </a:rPr>
              <a:t>ultimate stress at which failure of the material takes place. This stress is known as the </a:t>
            </a:r>
            <a:r>
              <a:rPr lang="en-US" sz="4000" b="1" i="1" u="none" strike="noStrike" baseline="0" dirty="0">
                <a:solidFill>
                  <a:srgbClr val="231F20"/>
                </a:solidFill>
                <a:latin typeface="Times New Roman" panose="02020603050405020304" pitchFamily="18" charset="0"/>
              </a:rPr>
              <a:t>working stress</a:t>
            </a:r>
            <a:r>
              <a:rPr lang="en-US" sz="4000" b="1" i="1" u="none" strike="noStrike" dirty="0">
                <a:solidFill>
                  <a:srgbClr val="231F20"/>
                </a:solidFill>
                <a:latin typeface="Times New Roman" panose="02020603050405020304" pitchFamily="18" charset="0"/>
              </a:rPr>
              <a:t> </a:t>
            </a:r>
            <a:r>
              <a:rPr lang="en-US" sz="4000" b="0" i="0" u="none" strike="noStrike" baseline="0" dirty="0">
                <a:solidFill>
                  <a:srgbClr val="231F20"/>
                </a:solidFill>
                <a:latin typeface="Times New Roman" panose="02020603050405020304" pitchFamily="18" charset="0"/>
              </a:rPr>
              <a:t>or </a:t>
            </a:r>
            <a:r>
              <a:rPr lang="en-US" sz="4000" b="1" i="1" u="none" strike="noStrike" baseline="0" dirty="0">
                <a:solidFill>
                  <a:srgbClr val="231F20"/>
                </a:solidFill>
                <a:latin typeface="Times New Roman" panose="02020603050405020304" pitchFamily="18" charset="0"/>
              </a:rPr>
              <a:t>design stress. </a:t>
            </a:r>
            <a:r>
              <a:rPr lang="en-US" sz="4000" b="0" i="0" u="none" strike="noStrike" baseline="0" dirty="0">
                <a:solidFill>
                  <a:srgbClr val="231F20"/>
                </a:solidFill>
                <a:latin typeface="Times New Roman" panose="02020603050405020304" pitchFamily="18" charset="0"/>
              </a:rPr>
              <a:t>It is also known as </a:t>
            </a:r>
            <a:r>
              <a:rPr lang="en-US" sz="4000" b="1" i="1" u="none" strike="noStrike" baseline="0" dirty="0">
                <a:solidFill>
                  <a:srgbClr val="231F20"/>
                </a:solidFill>
                <a:latin typeface="Times New Roman" panose="02020603050405020304" pitchFamily="18" charset="0"/>
              </a:rPr>
              <a:t>safe </a:t>
            </a:r>
            <a:r>
              <a:rPr lang="en-US" sz="4000" b="0" i="0" u="none" strike="noStrike" baseline="0" dirty="0">
                <a:solidFill>
                  <a:srgbClr val="231F20"/>
                </a:solidFill>
                <a:latin typeface="Times New Roman" panose="02020603050405020304" pitchFamily="18" charset="0"/>
              </a:rPr>
              <a:t>or </a:t>
            </a:r>
            <a:r>
              <a:rPr lang="en-US" sz="4000" b="1" i="1" u="none" strike="noStrike" baseline="0" dirty="0">
                <a:solidFill>
                  <a:srgbClr val="231F20"/>
                </a:solidFill>
                <a:latin typeface="Times New Roman" panose="02020603050405020304" pitchFamily="18" charset="0"/>
              </a:rPr>
              <a:t>allowable stress.</a:t>
            </a:r>
          </a:p>
          <a:p>
            <a:pPr marL="457200" lvl="1" indent="0" algn="just">
              <a:buNone/>
            </a:pPr>
            <a:r>
              <a:rPr lang="en-US" sz="3600" b="1" dirty="0">
                <a:solidFill>
                  <a:srgbClr val="ED008D"/>
                </a:solidFill>
                <a:latin typeface="Times New Roman" panose="02020603050405020304" pitchFamily="18" charset="0"/>
              </a:rPr>
              <a:t>	</a:t>
            </a:r>
          </a:p>
          <a:p>
            <a:pPr marL="457200" lvl="1" indent="0" algn="just">
              <a:buNone/>
            </a:pPr>
            <a:r>
              <a:rPr lang="en-US" sz="4400" b="1" i="0" u="none" strike="noStrike" baseline="0" dirty="0">
                <a:solidFill>
                  <a:srgbClr val="ED008D"/>
                </a:solidFill>
                <a:latin typeface="Times New Roman" panose="02020603050405020304" pitchFamily="18" charset="0"/>
              </a:rPr>
              <a:t>Note : </a:t>
            </a:r>
            <a:r>
              <a:rPr lang="en-US" sz="4400" b="0" i="0" u="none" strike="noStrike" baseline="0" dirty="0">
                <a:solidFill>
                  <a:srgbClr val="231F20"/>
                </a:solidFill>
                <a:latin typeface="Times New Roman" panose="02020603050405020304" pitchFamily="18" charset="0"/>
              </a:rPr>
              <a:t>By failure it is not meant actual breaking of the material. Some machine parts are said to fail when they</a:t>
            </a:r>
            <a:r>
              <a:rPr lang="en-US" sz="4400" b="0" i="0" u="none" strike="noStrike" dirty="0">
                <a:solidFill>
                  <a:srgbClr val="231F20"/>
                </a:solidFill>
                <a:latin typeface="Times New Roman" panose="02020603050405020304" pitchFamily="18" charset="0"/>
              </a:rPr>
              <a:t> </a:t>
            </a:r>
            <a:r>
              <a:rPr lang="en-US" sz="4400" b="0" i="0" u="none" strike="noStrike" baseline="0" dirty="0">
                <a:solidFill>
                  <a:srgbClr val="231F20"/>
                </a:solidFill>
                <a:latin typeface="Times New Roman" panose="02020603050405020304" pitchFamily="18" charset="0"/>
              </a:rPr>
              <a:t>have plastic deformation set in them, and they no more perform their function satisfactory.</a:t>
            </a:r>
            <a:endParaRPr lang="en-US" sz="4400" dirty="0"/>
          </a:p>
        </p:txBody>
      </p:sp>
      <p:sp>
        <p:nvSpPr>
          <p:cNvPr id="5" name="Slide Number Placeholder 4"/>
          <p:cNvSpPr>
            <a:spLocks noGrp="1"/>
          </p:cNvSpPr>
          <p:nvPr>
            <p:ph type="sldNum" sz="quarter" idx="12"/>
          </p:nvPr>
        </p:nvSpPr>
        <p:spPr/>
        <p:txBody>
          <a:bodyPr/>
          <a:lstStyle/>
          <a:p>
            <a:fld id="{FE26519D-5832-4C74-968F-A812C8CD0CD7}" type="slidenum">
              <a:rPr lang="en-US" smtClean="0"/>
              <a:t>31</a:t>
            </a:fld>
            <a:endParaRPr lang="en-US"/>
          </a:p>
        </p:txBody>
      </p:sp>
    </p:spTree>
    <p:extLst>
      <p:ext uri="{BB962C8B-B14F-4D97-AF65-F5344CB8AC3E}">
        <p14:creationId xmlns:p14="http://schemas.microsoft.com/office/powerpoint/2010/main" val="560472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636" y="103031"/>
            <a:ext cx="11964472" cy="6754969"/>
          </a:xfrm>
        </p:spPr>
        <p:txBody>
          <a:bodyPr/>
          <a:lstStyle/>
          <a:p>
            <a:pPr marL="0" indent="0">
              <a:buNone/>
            </a:pPr>
            <a:r>
              <a:rPr lang="en-US" sz="3600" b="1" dirty="0">
                <a:solidFill>
                  <a:srgbClr val="005AAB"/>
                </a:solidFill>
                <a:latin typeface="AvantGarde-Demi"/>
              </a:rPr>
              <a:t>1.12 </a:t>
            </a:r>
            <a:r>
              <a:rPr lang="en-US" sz="3600" b="1" i="0" u="none" strike="noStrike" baseline="0" dirty="0">
                <a:solidFill>
                  <a:srgbClr val="005AAB"/>
                </a:solidFill>
                <a:latin typeface="AvantGarde-Demi"/>
              </a:rPr>
              <a:t> Factor of Safety</a:t>
            </a:r>
          </a:p>
          <a:p>
            <a:pPr marL="0" indent="0">
              <a:buNone/>
            </a:pPr>
            <a:r>
              <a:rPr lang="en-US" b="0" i="0" u="none" strike="noStrike" baseline="0" dirty="0">
                <a:solidFill>
                  <a:srgbClr val="231F20"/>
                </a:solidFill>
                <a:latin typeface="Times New Roman" panose="02020603050405020304" pitchFamily="18" charset="0"/>
              </a:rPr>
              <a:t>It is defined, in general, as the </a:t>
            </a:r>
            <a:r>
              <a:rPr lang="en-US" b="1" i="0" u="none" strike="noStrike" baseline="0" dirty="0">
                <a:solidFill>
                  <a:srgbClr val="231F20"/>
                </a:solidFill>
                <a:latin typeface="Times New Roman" panose="02020603050405020304" pitchFamily="18" charset="0"/>
              </a:rPr>
              <a:t>ratio of the maximum stress to the working stress. </a:t>
            </a:r>
            <a:r>
              <a:rPr lang="en-US" b="0" i="0" u="none" strike="noStrike" baseline="0" dirty="0">
                <a:solidFill>
                  <a:srgbClr val="231F20"/>
                </a:solidFill>
                <a:latin typeface="Times New Roman" panose="02020603050405020304" pitchFamily="18" charset="0"/>
              </a:rPr>
              <a:t>Mathematically,</a:t>
            </a:r>
            <a:endParaRPr lang="en-US" dirty="0"/>
          </a:p>
        </p:txBody>
      </p:sp>
      <p:pic>
        <p:nvPicPr>
          <p:cNvPr id="4" name="Picture 3"/>
          <p:cNvPicPr>
            <a:picLocks noChangeAspect="1"/>
          </p:cNvPicPr>
          <p:nvPr/>
        </p:nvPicPr>
        <p:blipFill>
          <a:blip r:embed="rId2"/>
          <a:stretch>
            <a:fillRect/>
          </a:stretch>
        </p:blipFill>
        <p:spPr>
          <a:xfrm>
            <a:off x="537780" y="1532587"/>
            <a:ext cx="10762918" cy="5022760"/>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32</a:t>
            </a:fld>
            <a:endParaRPr lang="en-US"/>
          </a:p>
        </p:txBody>
      </p:sp>
    </p:spTree>
    <p:extLst>
      <p:ext uri="{BB962C8B-B14F-4D97-AF65-F5344CB8AC3E}">
        <p14:creationId xmlns:p14="http://schemas.microsoft.com/office/powerpoint/2010/main" val="1359207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11" y="115910"/>
            <a:ext cx="11874320" cy="6619741"/>
          </a:xfrm>
        </p:spPr>
        <p:txBody>
          <a:bodyPr>
            <a:normAutofit lnSpcReduction="10000"/>
          </a:bodyPr>
          <a:lstStyle/>
          <a:p>
            <a:pPr marL="0" indent="0">
              <a:buNone/>
            </a:pPr>
            <a:r>
              <a:rPr lang="en-US" sz="3600" b="1" dirty="0">
                <a:solidFill>
                  <a:srgbClr val="005AAB"/>
                </a:solidFill>
                <a:latin typeface="AvantGarde-Demi"/>
              </a:rPr>
              <a:t>1.13</a:t>
            </a:r>
            <a:r>
              <a:rPr lang="en-US" sz="3600" b="1" i="0" u="none" strike="noStrike" baseline="0" dirty="0">
                <a:solidFill>
                  <a:srgbClr val="005AAB"/>
                </a:solidFill>
                <a:latin typeface="AvantGarde-Demi"/>
              </a:rPr>
              <a:t> Selection of Factor of Safety</a:t>
            </a:r>
          </a:p>
          <a:p>
            <a:pPr marL="0" indent="0" algn="just">
              <a:buNone/>
            </a:pPr>
            <a:r>
              <a:rPr lang="en-US" b="0" i="0" u="none" strike="noStrike" baseline="0" dirty="0">
                <a:solidFill>
                  <a:srgbClr val="231F20"/>
                </a:solidFill>
                <a:latin typeface="Times New Roman" panose="02020603050405020304" pitchFamily="18" charset="0"/>
              </a:rPr>
              <a:t>The selection of a proper factor of safety to be used in designing any machine component</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depends upon a number of considerations, such as the material, mode of manufacture, type of stress,</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general service conditions and shape of the parts. Before selecting a proper factor of safety, a design</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engineer should consider the following points :</a:t>
            </a:r>
          </a:p>
          <a:p>
            <a:pPr marL="457200" lvl="1" indent="0">
              <a:buNone/>
            </a:pPr>
            <a:r>
              <a:rPr lang="en-US" b="1" i="0" u="none" strike="noStrike" baseline="0" dirty="0">
                <a:solidFill>
                  <a:srgbClr val="ED008D"/>
                </a:solidFill>
                <a:latin typeface="Times New Roman" panose="02020603050405020304" pitchFamily="18" charset="0"/>
              </a:rPr>
              <a:t>1. </a:t>
            </a:r>
            <a:r>
              <a:rPr lang="en-US" b="0" i="0" u="none" strike="noStrike" baseline="0" dirty="0">
                <a:solidFill>
                  <a:srgbClr val="231F20"/>
                </a:solidFill>
                <a:latin typeface="Times New Roman" panose="02020603050405020304" pitchFamily="18" charset="0"/>
              </a:rPr>
              <a:t>The reliability of the properties of the material and change of these properties during</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service ;</a:t>
            </a:r>
          </a:p>
          <a:p>
            <a:pPr marL="457200" lvl="1" indent="0">
              <a:buNone/>
            </a:pPr>
            <a:r>
              <a:rPr lang="en-US" b="1" i="0" u="none" strike="noStrike" baseline="0" dirty="0">
                <a:solidFill>
                  <a:srgbClr val="ED008D"/>
                </a:solidFill>
                <a:latin typeface="Times New Roman" panose="02020603050405020304" pitchFamily="18" charset="0"/>
              </a:rPr>
              <a:t>2. </a:t>
            </a:r>
            <a:r>
              <a:rPr lang="en-US" b="0" i="0" u="none" strike="noStrike" baseline="0" dirty="0">
                <a:solidFill>
                  <a:srgbClr val="231F20"/>
                </a:solidFill>
                <a:latin typeface="Times New Roman" panose="02020603050405020304" pitchFamily="18" charset="0"/>
              </a:rPr>
              <a:t>The reliability of test results and accuracy of application of these results to actual machine</a:t>
            </a:r>
            <a:r>
              <a:rPr lang="en-US" b="0" i="0" u="none" strike="noStrike" dirty="0">
                <a:solidFill>
                  <a:srgbClr val="231F20"/>
                </a:solidFill>
                <a:latin typeface="Times New Roman" panose="02020603050405020304" pitchFamily="18" charset="0"/>
              </a:rPr>
              <a:t> </a:t>
            </a:r>
            <a:r>
              <a:rPr lang="en-US" b="0" i="0" u="none" strike="noStrike" baseline="0" dirty="0">
                <a:solidFill>
                  <a:srgbClr val="231F20"/>
                </a:solidFill>
                <a:latin typeface="Times New Roman" panose="02020603050405020304" pitchFamily="18" charset="0"/>
              </a:rPr>
              <a:t>parts ;</a:t>
            </a:r>
          </a:p>
          <a:p>
            <a:pPr marL="457200" lvl="1" indent="0">
              <a:buNone/>
            </a:pPr>
            <a:r>
              <a:rPr lang="en-US" b="1" i="0" u="none" strike="noStrike" baseline="0" dirty="0">
                <a:solidFill>
                  <a:srgbClr val="ED008D"/>
                </a:solidFill>
                <a:latin typeface="Times New Roman" panose="02020603050405020304" pitchFamily="18" charset="0"/>
              </a:rPr>
              <a:t>3. </a:t>
            </a:r>
            <a:r>
              <a:rPr lang="en-US" b="0" i="0" u="none" strike="noStrike" baseline="0" dirty="0">
                <a:solidFill>
                  <a:srgbClr val="231F20"/>
                </a:solidFill>
                <a:latin typeface="Times New Roman" panose="02020603050405020304" pitchFamily="18" charset="0"/>
              </a:rPr>
              <a:t>The reliability of applied load ;</a:t>
            </a:r>
          </a:p>
          <a:p>
            <a:pPr marL="457200" lvl="1" indent="0">
              <a:buNone/>
            </a:pPr>
            <a:r>
              <a:rPr lang="en-US" b="1" i="0" u="none" strike="noStrike" baseline="0" dirty="0">
                <a:solidFill>
                  <a:srgbClr val="ED008D"/>
                </a:solidFill>
                <a:latin typeface="Times New Roman" panose="02020603050405020304" pitchFamily="18" charset="0"/>
              </a:rPr>
              <a:t>4. </a:t>
            </a:r>
            <a:r>
              <a:rPr lang="en-US" b="0" i="0" u="none" strike="noStrike" baseline="0" dirty="0">
                <a:solidFill>
                  <a:srgbClr val="231F20"/>
                </a:solidFill>
                <a:latin typeface="Times New Roman" panose="02020603050405020304" pitchFamily="18" charset="0"/>
              </a:rPr>
              <a:t>The certainty as to exact mode of failure ;</a:t>
            </a:r>
          </a:p>
          <a:p>
            <a:pPr marL="457200" lvl="1" indent="0">
              <a:buNone/>
            </a:pPr>
            <a:r>
              <a:rPr lang="en-US" b="1" i="0" u="none" strike="noStrike" baseline="0" dirty="0">
                <a:solidFill>
                  <a:srgbClr val="ED008D"/>
                </a:solidFill>
                <a:latin typeface="Times New Roman" panose="02020603050405020304" pitchFamily="18" charset="0"/>
              </a:rPr>
              <a:t>5. </a:t>
            </a:r>
            <a:r>
              <a:rPr lang="en-US" b="0" i="0" u="none" strike="noStrike" baseline="0" dirty="0">
                <a:solidFill>
                  <a:srgbClr val="231F20"/>
                </a:solidFill>
                <a:latin typeface="Times New Roman" panose="02020603050405020304" pitchFamily="18" charset="0"/>
              </a:rPr>
              <a:t>The extent of simplifying assumptions ;</a:t>
            </a:r>
          </a:p>
          <a:p>
            <a:pPr marL="457200" lvl="1" indent="0">
              <a:buNone/>
            </a:pPr>
            <a:r>
              <a:rPr lang="en-US" b="1" i="0" u="none" strike="noStrike" baseline="0" dirty="0">
                <a:solidFill>
                  <a:srgbClr val="ED008D"/>
                </a:solidFill>
                <a:latin typeface="Times New Roman" panose="02020603050405020304" pitchFamily="18" charset="0"/>
              </a:rPr>
              <a:t>6. </a:t>
            </a:r>
            <a:r>
              <a:rPr lang="en-US" b="0" i="0" u="none" strike="noStrike" baseline="0" dirty="0">
                <a:solidFill>
                  <a:srgbClr val="231F20"/>
                </a:solidFill>
                <a:latin typeface="Times New Roman" panose="02020603050405020304" pitchFamily="18" charset="0"/>
              </a:rPr>
              <a:t>The extent of </a:t>
            </a:r>
            <a:r>
              <a:rPr lang="en-US" b="0" i="0" u="none" strike="noStrike" baseline="0" dirty="0" err="1">
                <a:solidFill>
                  <a:srgbClr val="231F20"/>
                </a:solidFill>
                <a:latin typeface="Times New Roman" panose="02020603050405020304" pitchFamily="18" charset="0"/>
              </a:rPr>
              <a:t>localised</a:t>
            </a:r>
            <a:r>
              <a:rPr lang="en-US" b="0" i="0" u="none" strike="noStrike" baseline="0" dirty="0">
                <a:solidFill>
                  <a:srgbClr val="231F20"/>
                </a:solidFill>
                <a:latin typeface="Times New Roman" panose="02020603050405020304" pitchFamily="18" charset="0"/>
              </a:rPr>
              <a:t> stresses ;</a:t>
            </a:r>
          </a:p>
          <a:p>
            <a:pPr marL="457200" lvl="1" indent="0">
              <a:buNone/>
            </a:pPr>
            <a:r>
              <a:rPr lang="en-US" b="1" i="0" u="none" strike="noStrike" baseline="0" dirty="0">
                <a:solidFill>
                  <a:srgbClr val="ED008D"/>
                </a:solidFill>
                <a:latin typeface="Times New Roman" panose="02020603050405020304" pitchFamily="18" charset="0"/>
              </a:rPr>
              <a:t>7. </a:t>
            </a:r>
            <a:r>
              <a:rPr lang="en-US" b="0" i="0" u="none" strike="noStrike" baseline="0" dirty="0">
                <a:solidFill>
                  <a:srgbClr val="231F20"/>
                </a:solidFill>
                <a:latin typeface="Times New Roman" panose="02020603050405020304" pitchFamily="18" charset="0"/>
              </a:rPr>
              <a:t>The extent of initial stresses set up during manufacture ;</a:t>
            </a:r>
          </a:p>
          <a:p>
            <a:pPr marL="457200" lvl="1" indent="0">
              <a:buNone/>
            </a:pPr>
            <a:r>
              <a:rPr lang="en-US" b="1" i="0" u="none" strike="noStrike" baseline="0" dirty="0">
                <a:solidFill>
                  <a:srgbClr val="ED008D"/>
                </a:solidFill>
                <a:latin typeface="Times New Roman" panose="02020603050405020304" pitchFamily="18" charset="0"/>
              </a:rPr>
              <a:t>8. </a:t>
            </a:r>
            <a:r>
              <a:rPr lang="en-US" b="0" i="0" u="none" strike="noStrike" baseline="0" dirty="0">
                <a:solidFill>
                  <a:srgbClr val="231F20"/>
                </a:solidFill>
                <a:latin typeface="Times New Roman" panose="02020603050405020304" pitchFamily="18" charset="0"/>
              </a:rPr>
              <a:t>The extent of loss of life if failure occurs ; and</a:t>
            </a:r>
          </a:p>
          <a:p>
            <a:pPr marL="457200" lvl="1" indent="0">
              <a:buNone/>
            </a:pPr>
            <a:r>
              <a:rPr lang="en-US" b="1" i="0" u="none" strike="noStrike" baseline="0" dirty="0">
                <a:solidFill>
                  <a:srgbClr val="ED008D"/>
                </a:solidFill>
                <a:latin typeface="Times New Roman" panose="02020603050405020304" pitchFamily="18" charset="0"/>
              </a:rPr>
              <a:t>9. </a:t>
            </a:r>
            <a:r>
              <a:rPr lang="en-US" b="0" i="0" u="none" strike="noStrike" baseline="0" dirty="0">
                <a:solidFill>
                  <a:srgbClr val="231F20"/>
                </a:solidFill>
                <a:latin typeface="Times New Roman" panose="02020603050405020304" pitchFamily="18" charset="0"/>
              </a:rPr>
              <a:t>The extent of loss of property if failure occurs.</a:t>
            </a:r>
            <a:endParaRPr lang="en-US" dirty="0"/>
          </a:p>
        </p:txBody>
      </p:sp>
      <p:sp>
        <p:nvSpPr>
          <p:cNvPr id="5" name="Slide Number Placeholder 4"/>
          <p:cNvSpPr>
            <a:spLocks noGrp="1"/>
          </p:cNvSpPr>
          <p:nvPr>
            <p:ph type="sldNum" sz="quarter" idx="12"/>
          </p:nvPr>
        </p:nvSpPr>
        <p:spPr/>
        <p:txBody>
          <a:bodyPr/>
          <a:lstStyle/>
          <a:p>
            <a:fld id="{FE26519D-5832-4C74-968F-A812C8CD0CD7}" type="slidenum">
              <a:rPr lang="en-US" smtClean="0"/>
              <a:t>33</a:t>
            </a:fld>
            <a:endParaRPr lang="en-US"/>
          </a:p>
        </p:txBody>
      </p:sp>
    </p:spTree>
    <p:extLst>
      <p:ext uri="{BB962C8B-B14F-4D97-AF65-F5344CB8AC3E}">
        <p14:creationId xmlns:p14="http://schemas.microsoft.com/office/powerpoint/2010/main" val="425992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941" y="128788"/>
            <a:ext cx="11745531" cy="6542467"/>
          </a:xfrm>
        </p:spPr>
        <p:txBody>
          <a:bodyPr/>
          <a:lstStyle/>
          <a:p>
            <a:pPr marL="0" indent="0" algn="just">
              <a:buNone/>
            </a:pPr>
            <a:r>
              <a:rPr lang="en-US" sz="3200" dirty="0">
                <a:latin typeface="Times New Roman" panose="02020603050405020304" pitchFamily="18" charset="0"/>
                <a:cs typeface="Times New Roman" panose="02020603050405020304" pitchFamily="18" charset="0"/>
              </a:rPr>
              <a:t>Each of the above factors must be carefully considered and evaluated. The high factor of safety results in unnecessary risk of failure. The values of factor of safety based on ultimate strength for different materials and type of load are given in the following table:</a:t>
            </a:r>
          </a:p>
          <a:p>
            <a:pPr marL="0" indent="0" algn="just">
              <a:buNone/>
            </a:pPr>
            <a:r>
              <a:rPr lang="en-US" b="1" i="0" u="none" strike="noStrike" baseline="0" dirty="0">
                <a:solidFill>
                  <a:srgbClr val="EE1C24"/>
                </a:solidFill>
                <a:latin typeface="AvantGarde-Demi"/>
              </a:rPr>
              <a:t>	Table 1.3. Values of factor of safety.</a:t>
            </a:r>
          </a:p>
          <a:p>
            <a:pPr marL="0" indent="0" algn="just">
              <a:buNone/>
            </a:pPr>
            <a:endParaRPr lang="en-US" b="1" i="0" u="none" strike="noStrike" baseline="0" dirty="0">
              <a:solidFill>
                <a:srgbClr val="EE1C24"/>
              </a:solidFill>
              <a:latin typeface="AvantGarde-Demi"/>
            </a:endParaRPr>
          </a:p>
          <a:p>
            <a:pPr algn="just"/>
            <a:endParaRPr lang="en-US" dirty="0"/>
          </a:p>
        </p:txBody>
      </p:sp>
      <p:pic>
        <p:nvPicPr>
          <p:cNvPr id="4" name="Picture 3"/>
          <p:cNvPicPr>
            <a:picLocks noChangeAspect="1"/>
          </p:cNvPicPr>
          <p:nvPr/>
        </p:nvPicPr>
        <p:blipFill>
          <a:blip r:embed="rId2"/>
          <a:stretch>
            <a:fillRect/>
          </a:stretch>
        </p:blipFill>
        <p:spPr>
          <a:xfrm>
            <a:off x="670247" y="2580847"/>
            <a:ext cx="11294225" cy="4090408"/>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34</a:t>
            </a:fld>
            <a:endParaRPr lang="en-US"/>
          </a:p>
        </p:txBody>
      </p:sp>
    </p:spTree>
    <p:extLst>
      <p:ext uri="{BB962C8B-B14F-4D97-AF65-F5344CB8AC3E}">
        <p14:creationId xmlns:p14="http://schemas.microsoft.com/office/powerpoint/2010/main" val="685916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46" y="128789"/>
            <a:ext cx="11758412" cy="6555346"/>
          </a:xfrm>
        </p:spPr>
        <p:txBody>
          <a:bodyPr>
            <a:normAutofit/>
          </a:bodyPr>
          <a:lstStyle/>
          <a:p>
            <a:pPr marL="0" indent="0">
              <a:buNone/>
            </a:pPr>
            <a:r>
              <a:rPr lang="en-US" sz="3600" b="1" dirty="0">
                <a:solidFill>
                  <a:srgbClr val="005AAB"/>
                </a:solidFill>
                <a:latin typeface="AvantGarde-Demi"/>
              </a:rPr>
              <a:t>1.14</a:t>
            </a:r>
            <a:r>
              <a:rPr lang="en-US" sz="3600" b="1" i="0" u="none" strike="noStrike" baseline="0" dirty="0">
                <a:solidFill>
                  <a:srgbClr val="005AAB"/>
                </a:solidFill>
                <a:latin typeface="AvantGarde-Demi"/>
              </a:rPr>
              <a:t> Stresses in Composite Bars</a:t>
            </a:r>
          </a:p>
          <a:p>
            <a:pPr marL="0" indent="0" algn="just">
              <a:buNone/>
            </a:pPr>
            <a:r>
              <a:rPr lang="en-US" sz="3200" b="0" i="0" u="none" strike="noStrike" baseline="0" dirty="0">
                <a:solidFill>
                  <a:srgbClr val="231F20"/>
                </a:solidFill>
                <a:latin typeface="Times New Roman" panose="02020603050405020304" pitchFamily="18" charset="0"/>
              </a:rPr>
              <a:t>A composite bar may be defined as a bar made up of two or more different materials, joined</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together, in such a manner that the system can extends or</a:t>
            </a:r>
            <a:r>
              <a:rPr lang="en-US" sz="3200"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contracts as one unit, equally, when subjected to</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tension or compression</a:t>
            </a:r>
            <a:r>
              <a:rPr lang="en-US" sz="3200" b="0" i="0" u="none" strike="noStrike" dirty="0">
                <a:solidFill>
                  <a:srgbClr val="231F20"/>
                </a:solidFill>
                <a:latin typeface="Times New Roman" panose="02020603050405020304" pitchFamily="18" charset="0"/>
              </a:rPr>
              <a:t> respectively.</a:t>
            </a:r>
            <a:r>
              <a:rPr lang="en-US" sz="3200" b="0" i="0" u="none" strike="noStrike" baseline="0" dirty="0">
                <a:solidFill>
                  <a:srgbClr val="231F20"/>
                </a:solidFill>
                <a:latin typeface="Times New Roman" panose="02020603050405020304" pitchFamily="18" charset="0"/>
              </a:rPr>
              <a:t> </a:t>
            </a:r>
          </a:p>
          <a:p>
            <a:pPr marL="0" indent="0" algn="just">
              <a:buNone/>
            </a:pPr>
            <a:r>
              <a:rPr lang="en-US" sz="3200" b="0" i="0" u="none" strike="noStrike" baseline="0" dirty="0">
                <a:solidFill>
                  <a:srgbClr val="231F20"/>
                </a:solidFill>
                <a:latin typeface="Times New Roman" panose="02020603050405020304" pitchFamily="18" charset="0"/>
              </a:rPr>
              <a:t>In case of composite bars, the following points should be kept in view:</a:t>
            </a:r>
          </a:p>
          <a:p>
            <a:pPr marL="457200" lvl="1" indent="0" algn="just">
              <a:buNone/>
            </a:pPr>
            <a:r>
              <a:rPr lang="en-US" sz="3200" b="1" i="0" u="none" strike="noStrike" baseline="0" dirty="0">
                <a:solidFill>
                  <a:srgbClr val="ED008D"/>
                </a:solidFill>
                <a:latin typeface="Times New Roman" panose="02020603050405020304" pitchFamily="18" charset="0"/>
              </a:rPr>
              <a:t>1. </a:t>
            </a:r>
            <a:r>
              <a:rPr lang="en-US" sz="3200" b="0" i="0" u="none" strike="noStrike" baseline="0" dirty="0">
                <a:solidFill>
                  <a:srgbClr val="231F20"/>
                </a:solidFill>
                <a:latin typeface="Times New Roman" panose="02020603050405020304" pitchFamily="18" charset="0"/>
              </a:rPr>
              <a:t>The extension or contraction of the bar being equal, the strain </a:t>
            </a:r>
            <a:r>
              <a:rPr lang="en-US" sz="3200" b="0" i="1" u="none" strike="noStrike" baseline="0" dirty="0">
                <a:solidFill>
                  <a:srgbClr val="231F20"/>
                </a:solidFill>
                <a:latin typeface="Times New Roman" panose="02020603050405020304" pitchFamily="18" charset="0"/>
              </a:rPr>
              <a:t>i.e</a:t>
            </a:r>
            <a:r>
              <a:rPr lang="en-US" sz="3200" b="0" i="0" u="none" strike="noStrike" baseline="0" dirty="0">
                <a:solidFill>
                  <a:srgbClr val="231F20"/>
                </a:solidFill>
                <a:latin typeface="Times New Roman" panose="02020603050405020304" pitchFamily="18" charset="0"/>
              </a:rPr>
              <a:t>. deformation per unit</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length is also equal.</a:t>
            </a:r>
          </a:p>
          <a:p>
            <a:pPr marL="457200" lvl="1" indent="0" algn="just">
              <a:buNone/>
            </a:pPr>
            <a:r>
              <a:rPr lang="en-US" sz="3200" b="1" i="0" u="none" strike="noStrike" baseline="0" dirty="0">
                <a:solidFill>
                  <a:srgbClr val="ED008D"/>
                </a:solidFill>
                <a:latin typeface="Times New Roman" panose="02020603050405020304" pitchFamily="18" charset="0"/>
              </a:rPr>
              <a:t>2. </a:t>
            </a:r>
            <a:r>
              <a:rPr lang="en-US" sz="3200" b="0" i="0" u="none" strike="noStrike" baseline="0" dirty="0">
                <a:solidFill>
                  <a:srgbClr val="231F20"/>
                </a:solidFill>
                <a:latin typeface="Times New Roman" panose="02020603050405020304" pitchFamily="18" charset="0"/>
              </a:rPr>
              <a:t>The total external load on the bar is equal to the sum of the loads carried by different</a:t>
            </a:r>
            <a:r>
              <a:rPr lang="en-US" sz="3200" b="0" i="0" u="none" strike="noStrike" dirty="0">
                <a:solidFill>
                  <a:srgbClr val="231F20"/>
                </a:solidFill>
                <a:latin typeface="Times New Roman" panose="02020603050405020304" pitchFamily="18" charset="0"/>
              </a:rPr>
              <a:t> </a:t>
            </a:r>
            <a:r>
              <a:rPr lang="en-US" sz="3200" b="0" i="0" u="none" strike="noStrike" baseline="0" dirty="0">
                <a:solidFill>
                  <a:srgbClr val="231F20"/>
                </a:solidFill>
                <a:latin typeface="Times New Roman" panose="02020603050405020304" pitchFamily="18" charset="0"/>
              </a:rPr>
              <a:t>materials.</a:t>
            </a:r>
          </a:p>
          <a:p>
            <a:pPr marL="0" indent="0" algn="just">
              <a:buNone/>
            </a:pPr>
            <a:r>
              <a:rPr lang="en-US" sz="3200" b="0" i="0" u="none" strike="noStrike" baseline="0" dirty="0">
                <a:solidFill>
                  <a:srgbClr val="231F20"/>
                </a:solidFill>
                <a:latin typeface="Times New Roman" panose="02020603050405020304" pitchFamily="18" charset="0"/>
              </a:rPr>
              <a:t>Consider a composite bar made up of two different materials as shown in Fig</a:t>
            </a:r>
            <a:r>
              <a:rPr lang="en-US" sz="3200" dirty="0">
                <a:solidFill>
                  <a:srgbClr val="231F20"/>
                </a:solidFill>
                <a:latin typeface="Times New Roman" panose="02020603050405020304" pitchFamily="18" charset="0"/>
              </a:rPr>
              <a:t>. 1.7 below.</a:t>
            </a:r>
            <a:endParaRPr lang="en-US" sz="3200" dirty="0"/>
          </a:p>
        </p:txBody>
      </p:sp>
      <p:sp>
        <p:nvSpPr>
          <p:cNvPr id="5" name="Slide Number Placeholder 4"/>
          <p:cNvSpPr>
            <a:spLocks noGrp="1"/>
          </p:cNvSpPr>
          <p:nvPr>
            <p:ph type="sldNum" sz="quarter" idx="12"/>
          </p:nvPr>
        </p:nvSpPr>
        <p:spPr/>
        <p:txBody>
          <a:bodyPr/>
          <a:lstStyle/>
          <a:p>
            <a:fld id="{FE26519D-5832-4C74-968F-A812C8CD0CD7}" type="slidenum">
              <a:rPr lang="en-US" smtClean="0"/>
              <a:t>35</a:t>
            </a:fld>
            <a:endParaRPr lang="en-US"/>
          </a:p>
        </p:txBody>
      </p:sp>
    </p:spTree>
    <p:extLst>
      <p:ext uri="{BB962C8B-B14F-4D97-AF65-F5344CB8AC3E}">
        <p14:creationId xmlns:p14="http://schemas.microsoft.com/office/powerpoint/2010/main" val="2242448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96737" y="278699"/>
            <a:ext cx="5030302" cy="2705766"/>
          </a:xfrm>
          <a:prstGeom prst="rect">
            <a:avLst/>
          </a:prstGeom>
        </p:spPr>
      </p:pic>
      <p:pic>
        <p:nvPicPr>
          <p:cNvPr id="5" name="Picture 4"/>
          <p:cNvPicPr>
            <a:picLocks noChangeAspect="1"/>
          </p:cNvPicPr>
          <p:nvPr/>
        </p:nvPicPr>
        <p:blipFill>
          <a:blip r:embed="rId3"/>
          <a:stretch>
            <a:fillRect/>
          </a:stretch>
        </p:blipFill>
        <p:spPr>
          <a:xfrm>
            <a:off x="6798301" y="0"/>
            <a:ext cx="3891163" cy="4636394"/>
          </a:xfrm>
          <a:prstGeom prst="rect">
            <a:avLst/>
          </a:prstGeom>
        </p:spPr>
      </p:pic>
      <p:pic>
        <p:nvPicPr>
          <p:cNvPr id="6" name="Picture 5"/>
          <p:cNvPicPr>
            <a:picLocks noChangeAspect="1"/>
          </p:cNvPicPr>
          <p:nvPr/>
        </p:nvPicPr>
        <p:blipFill>
          <a:blip r:embed="rId4"/>
          <a:stretch>
            <a:fillRect/>
          </a:stretch>
        </p:blipFill>
        <p:spPr>
          <a:xfrm>
            <a:off x="728631" y="2984465"/>
            <a:ext cx="4598408" cy="4331766"/>
          </a:xfrm>
          <a:prstGeom prst="rect">
            <a:avLst/>
          </a:prstGeom>
        </p:spPr>
      </p:pic>
      <p:sp>
        <p:nvSpPr>
          <p:cNvPr id="7" name="Rectangle 6"/>
          <p:cNvSpPr/>
          <p:nvPr/>
        </p:nvSpPr>
        <p:spPr>
          <a:xfrm>
            <a:off x="6117465" y="4970104"/>
            <a:ext cx="6074535" cy="523220"/>
          </a:xfrm>
          <a:prstGeom prst="rect">
            <a:avLst/>
          </a:prstGeom>
        </p:spPr>
        <p:txBody>
          <a:bodyPr wrap="square">
            <a:spAutoFit/>
          </a:bodyPr>
          <a:lstStyle/>
          <a:p>
            <a:r>
              <a:rPr lang="en-US" sz="2800" b="1" i="0" u="none" strike="noStrike" baseline="0" dirty="0">
                <a:solidFill>
                  <a:srgbClr val="0071BD"/>
                </a:solidFill>
                <a:latin typeface="Times New Roman" panose="02020603050405020304" pitchFamily="18" charset="0"/>
              </a:rPr>
              <a:t>Fig. </a:t>
            </a:r>
            <a:r>
              <a:rPr lang="en-US" sz="2800" b="1" dirty="0">
                <a:solidFill>
                  <a:srgbClr val="0071BD"/>
                </a:solidFill>
                <a:latin typeface="Times New Roman" panose="02020603050405020304" pitchFamily="18" charset="0"/>
              </a:rPr>
              <a:t>1.7 </a:t>
            </a:r>
            <a:r>
              <a:rPr lang="en-US" sz="2800" b="1" i="0" u="none" strike="noStrike" baseline="0" dirty="0">
                <a:solidFill>
                  <a:srgbClr val="0071BD"/>
                </a:solidFill>
                <a:latin typeface="Times New Roman" panose="02020603050405020304" pitchFamily="18" charset="0"/>
              </a:rPr>
              <a:t>. </a:t>
            </a:r>
            <a:r>
              <a:rPr lang="en-US" sz="2800" b="0" i="0" u="none" strike="noStrike" baseline="0" dirty="0">
                <a:solidFill>
                  <a:srgbClr val="231F20"/>
                </a:solidFill>
                <a:latin typeface="Times New Roman" panose="02020603050405020304" pitchFamily="18" charset="0"/>
              </a:rPr>
              <a:t>Stresses in</a:t>
            </a:r>
            <a:r>
              <a:rPr lang="en-US" sz="2800" b="0" i="0" u="none" strike="noStrike" dirty="0">
                <a:solidFill>
                  <a:srgbClr val="231F20"/>
                </a:solidFill>
                <a:latin typeface="Times New Roman" panose="02020603050405020304" pitchFamily="18" charset="0"/>
              </a:rPr>
              <a:t> </a:t>
            </a:r>
            <a:r>
              <a:rPr lang="en-US" sz="2800" b="0" i="0" u="none" strike="noStrike" baseline="0" dirty="0">
                <a:solidFill>
                  <a:srgbClr val="231F20"/>
                </a:solidFill>
                <a:latin typeface="Times New Roman" panose="02020603050405020304" pitchFamily="18" charset="0"/>
              </a:rPr>
              <a:t>composite bars.</a:t>
            </a:r>
            <a:endParaRPr lang="en-US" sz="2800" dirty="0"/>
          </a:p>
        </p:txBody>
      </p:sp>
      <p:sp>
        <p:nvSpPr>
          <p:cNvPr id="8" name="Slide Number Placeholder 7"/>
          <p:cNvSpPr>
            <a:spLocks noGrp="1"/>
          </p:cNvSpPr>
          <p:nvPr>
            <p:ph type="sldNum" sz="quarter" idx="12"/>
          </p:nvPr>
        </p:nvSpPr>
        <p:spPr/>
        <p:txBody>
          <a:bodyPr/>
          <a:lstStyle/>
          <a:p>
            <a:fld id="{FE26519D-5832-4C74-968F-A812C8CD0CD7}" type="slidenum">
              <a:rPr lang="en-US" smtClean="0"/>
              <a:t>36</a:t>
            </a:fld>
            <a:endParaRPr lang="en-US"/>
          </a:p>
        </p:txBody>
      </p:sp>
    </p:spTree>
    <p:extLst>
      <p:ext uri="{BB962C8B-B14F-4D97-AF65-F5344CB8AC3E}">
        <p14:creationId xmlns:p14="http://schemas.microsoft.com/office/powerpoint/2010/main" val="1429437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0506" y="141668"/>
            <a:ext cx="11431679" cy="6490952"/>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37</a:t>
            </a:fld>
            <a:endParaRPr lang="en-US"/>
          </a:p>
        </p:txBody>
      </p:sp>
    </p:spTree>
    <p:extLst>
      <p:ext uri="{BB962C8B-B14F-4D97-AF65-F5344CB8AC3E}">
        <p14:creationId xmlns:p14="http://schemas.microsoft.com/office/powerpoint/2010/main" val="2549924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0225" y="136188"/>
            <a:ext cx="11729762" cy="6444916"/>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38</a:t>
            </a:fld>
            <a:endParaRPr lang="en-US"/>
          </a:p>
        </p:txBody>
      </p:sp>
    </p:spTree>
    <p:extLst>
      <p:ext uri="{BB962C8B-B14F-4D97-AF65-F5344CB8AC3E}">
        <p14:creationId xmlns:p14="http://schemas.microsoft.com/office/powerpoint/2010/main" val="142494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90152"/>
            <a:ext cx="11925835" cy="6767848"/>
          </a:xfrm>
        </p:spPr>
        <p:txBody>
          <a:bodyPr/>
          <a:lstStyle/>
          <a:p>
            <a:pPr marL="0" indent="0" algn="just">
              <a:buNone/>
            </a:pPr>
            <a:r>
              <a:rPr lang="en-US" b="1" i="0" u="none" strike="noStrike" baseline="0" dirty="0">
                <a:solidFill>
                  <a:srgbClr val="ED008D"/>
                </a:solidFill>
                <a:latin typeface="Times New Roman" panose="02020603050405020304" pitchFamily="18" charset="0"/>
              </a:rPr>
              <a:t>Example 1.4. </a:t>
            </a:r>
            <a:r>
              <a:rPr lang="en-US" b="0" i="1" u="none" strike="noStrike" baseline="0" dirty="0">
                <a:solidFill>
                  <a:srgbClr val="231F20"/>
                </a:solidFill>
                <a:latin typeface="Times New Roman" panose="02020603050405020304" pitchFamily="18" charset="0"/>
              </a:rPr>
              <a:t>A bar 3 m long is made of two bars, one of copper having E = 105 GN/m</a:t>
            </a:r>
            <a:r>
              <a:rPr lang="en-US" b="0" i="1" u="none" strike="noStrike" baseline="30000" dirty="0">
                <a:solidFill>
                  <a:srgbClr val="231F20"/>
                </a:solidFill>
                <a:latin typeface="Times New Roman" panose="02020603050405020304" pitchFamily="18" charset="0"/>
              </a:rPr>
              <a:t>2</a:t>
            </a:r>
            <a:r>
              <a:rPr lang="en-US" sz="800" b="0" i="1" u="none" strike="noStrike" baseline="0"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and</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the other of steel having E = 210 GN/m</a:t>
            </a:r>
            <a:r>
              <a:rPr lang="en-US" b="0" i="1" u="none" strike="noStrike" baseline="30000" dirty="0">
                <a:solidFill>
                  <a:srgbClr val="231F20"/>
                </a:solidFill>
                <a:latin typeface="Times New Roman" panose="02020603050405020304" pitchFamily="18" charset="0"/>
              </a:rPr>
              <a:t>2</a:t>
            </a:r>
            <a:r>
              <a:rPr lang="en-US" b="0" i="1" u="none" strike="noStrike" baseline="0" dirty="0">
                <a:solidFill>
                  <a:srgbClr val="231F20"/>
                </a:solidFill>
                <a:latin typeface="Times New Roman" panose="02020603050405020304" pitchFamily="18" charset="0"/>
              </a:rPr>
              <a:t>. Each bar is 25 mm broad and 12.5 mm thick. This compound</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bar is stretched by a load of 50 kN. Find the increase in length of the compound bar and the stress</a:t>
            </a:r>
            <a:r>
              <a:rPr lang="en-US" b="0" i="1" u="none" strike="noStrike" dirty="0">
                <a:solidFill>
                  <a:srgbClr val="231F20"/>
                </a:solidFill>
                <a:latin typeface="Times New Roman" panose="02020603050405020304" pitchFamily="18" charset="0"/>
              </a:rPr>
              <a:t> </a:t>
            </a:r>
            <a:r>
              <a:rPr lang="en-US" b="0" i="1" u="none" strike="noStrike" baseline="0" dirty="0">
                <a:solidFill>
                  <a:srgbClr val="231F20"/>
                </a:solidFill>
                <a:latin typeface="Times New Roman" panose="02020603050405020304" pitchFamily="18" charset="0"/>
              </a:rPr>
              <a:t>produced in the steel and copper. The length of copper as well as of steel bar </a:t>
            </a:r>
            <a:r>
              <a:rPr lang="en-US" b="0" i="1" u="none" strike="noStrike" baseline="0">
                <a:solidFill>
                  <a:srgbClr val="231F20"/>
                </a:solidFill>
                <a:latin typeface="Times New Roman" panose="02020603050405020304" pitchFamily="18" charset="0"/>
              </a:rPr>
              <a:t>is 3</a:t>
            </a:r>
            <a:r>
              <a:rPr lang="en-US" b="0" i="1" u="none" strike="noStrike">
                <a:solidFill>
                  <a:srgbClr val="231F20"/>
                </a:solidFill>
                <a:latin typeface="Times New Roman" panose="02020603050405020304" pitchFamily="18" charset="0"/>
              </a:rPr>
              <a:t> </a:t>
            </a:r>
            <a:r>
              <a:rPr lang="en-US" b="0" i="1" u="none" strike="noStrike" baseline="0">
                <a:solidFill>
                  <a:srgbClr val="231F20"/>
                </a:solidFill>
                <a:latin typeface="Times New Roman" panose="02020603050405020304" pitchFamily="18" charset="0"/>
              </a:rPr>
              <a:t>m </a:t>
            </a:r>
            <a:r>
              <a:rPr lang="en-US" b="0" i="1" u="none" strike="noStrike" baseline="0" dirty="0">
                <a:solidFill>
                  <a:srgbClr val="231F20"/>
                </a:solidFill>
                <a:latin typeface="Times New Roman" panose="02020603050405020304" pitchFamily="18" charset="0"/>
              </a:rPr>
              <a:t>each.</a:t>
            </a:r>
            <a:endParaRPr lang="en-US" dirty="0"/>
          </a:p>
        </p:txBody>
      </p:sp>
      <p:pic>
        <p:nvPicPr>
          <p:cNvPr id="4" name="Picture 3"/>
          <p:cNvPicPr>
            <a:picLocks noChangeAspect="1"/>
          </p:cNvPicPr>
          <p:nvPr/>
        </p:nvPicPr>
        <p:blipFill>
          <a:blip r:embed="rId2"/>
          <a:stretch>
            <a:fillRect/>
          </a:stretch>
        </p:blipFill>
        <p:spPr>
          <a:xfrm>
            <a:off x="538818" y="2112134"/>
            <a:ext cx="10604118" cy="4378817"/>
          </a:xfrm>
          <a:prstGeom prst="rect">
            <a:avLst/>
          </a:prstGeom>
        </p:spPr>
      </p:pic>
      <p:sp>
        <p:nvSpPr>
          <p:cNvPr id="6" name="Slide Number Placeholder 5"/>
          <p:cNvSpPr>
            <a:spLocks noGrp="1"/>
          </p:cNvSpPr>
          <p:nvPr>
            <p:ph type="sldNum" sz="quarter" idx="12"/>
          </p:nvPr>
        </p:nvSpPr>
        <p:spPr/>
        <p:txBody>
          <a:bodyPr/>
          <a:lstStyle/>
          <a:p>
            <a:fld id="{FE26519D-5832-4C74-968F-A812C8CD0CD7}" type="slidenum">
              <a:rPr lang="en-US" smtClean="0"/>
              <a:t>39</a:t>
            </a:fld>
            <a:endParaRPr lang="en-US"/>
          </a:p>
        </p:txBody>
      </p:sp>
    </p:spTree>
    <p:extLst>
      <p:ext uri="{BB962C8B-B14F-4D97-AF65-F5344CB8AC3E}">
        <p14:creationId xmlns:p14="http://schemas.microsoft.com/office/powerpoint/2010/main" val="7370087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66670" y="115910"/>
            <a:ext cx="11438368" cy="6691206"/>
          </a:xfrm>
          <a:prstGeom prst="rect">
            <a:avLst/>
          </a:prstGeom>
        </p:spPr>
      </p:pic>
      <p:sp>
        <p:nvSpPr>
          <p:cNvPr id="5" name="Slide Number Placeholder 4"/>
          <p:cNvSpPr>
            <a:spLocks noGrp="1"/>
          </p:cNvSpPr>
          <p:nvPr>
            <p:ph type="sldNum" sz="quarter" idx="12"/>
          </p:nvPr>
        </p:nvSpPr>
        <p:spPr/>
        <p:txBody>
          <a:bodyPr/>
          <a:lstStyle/>
          <a:p>
            <a:fld id="{FE26519D-5832-4C74-968F-A812C8CD0CD7}" type="slidenum">
              <a:rPr lang="en-US" smtClean="0"/>
              <a:t>40</a:t>
            </a:fld>
            <a:endParaRPr lang="en-US"/>
          </a:p>
        </p:txBody>
      </p:sp>
    </p:spTree>
    <p:extLst>
      <p:ext uri="{BB962C8B-B14F-4D97-AF65-F5344CB8AC3E}">
        <p14:creationId xmlns:p14="http://schemas.microsoft.com/office/powerpoint/2010/main" val="3824245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861" y="90152"/>
            <a:ext cx="11911885" cy="6653481"/>
          </a:xfrm>
        </p:spPr>
        <p:txBody>
          <a:bodyPr>
            <a:normAutofit/>
          </a:bodyPr>
          <a:lstStyle/>
          <a:p>
            <a:pPr marL="0" indent="0">
              <a:buNone/>
            </a:pPr>
            <a:r>
              <a:rPr lang="en-US" sz="3600" b="1" dirty="0">
                <a:solidFill>
                  <a:srgbClr val="005AAB"/>
                </a:solidFill>
                <a:latin typeface="AvantGarde-Demi"/>
              </a:rPr>
              <a:t>1.15 Stresses due to Change in Temperature—Thermal Stresses</a:t>
            </a:r>
          </a:p>
          <a:p>
            <a:pPr marL="0" indent="0" algn="just">
              <a:buNone/>
            </a:pPr>
            <a:r>
              <a:rPr lang="en-US" sz="4400" dirty="0">
                <a:solidFill>
                  <a:srgbClr val="231F20"/>
                </a:solidFill>
                <a:latin typeface="Times New Roman" panose="02020603050405020304" pitchFamily="18" charset="0"/>
              </a:rPr>
              <a:t>Whenever there is some increase or decrease in the temperature of a body, it causes the body to expand or contract. A little consideration will show that if the body is allowed to expand or contract freely, with the rise or fall of the temperature, no stresses are induced in the body. But, if the deformation of the body is prevented, some stresses are induced in the body. Such stresses are known as </a:t>
            </a:r>
            <a:r>
              <a:rPr lang="en-US" sz="4400" b="1" i="1" dirty="0">
                <a:solidFill>
                  <a:srgbClr val="231F20"/>
                </a:solidFill>
                <a:latin typeface="Times New Roman" panose="02020603050405020304" pitchFamily="18" charset="0"/>
              </a:rPr>
              <a:t>thermal stresses.</a:t>
            </a:r>
            <a:endParaRPr lang="en-US" sz="4400" dirty="0"/>
          </a:p>
        </p:txBody>
      </p:sp>
      <p:sp>
        <p:nvSpPr>
          <p:cNvPr id="6" name="Slide Number Placeholder 5"/>
          <p:cNvSpPr>
            <a:spLocks noGrp="1"/>
          </p:cNvSpPr>
          <p:nvPr>
            <p:ph type="sldNum" sz="quarter" idx="12"/>
          </p:nvPr>
        </p:nvSpPr>
        <p:spPr/>
        <p:txBody>
          <a:bodyPr/>
          <a:lstStyle/>
          <a:p>
            <a:fld id="{FE26519D-5832-4C74-968F-A812C8CD0CD7}" type="slidenum">
              <a:rPr lang="en-US" smtClean="0"/>
              <a:t>41</a:t>
            </a:fld>
            <a:endParaRPr lang="en-US"/>
          </a:p>
        </p:txBody>
      </p:sp>
    </p:spTree>
    <p:extLst>
      <p:ext uri="{BB962C8B-B14F-4D97-AF65-F5344CB8AC3E}">
        <p14:creationId xmlns:p14="http://schemas.microsoft.com/office/powerpoint/2010/main" val="319533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183" y="244698"/>
            <a:ext cx="11567968" cy="6400800"/>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42</a:t>
            </a:fld>
            <a:endParaRPr lang="en-US"/>
          </a:p>
        </p:txBody>
      </p:sp>
    </p:spTree>
    <p:extLst>
      <p:ext uri="{BB962C8B-B14F-4D97-AF65-F5344CB8AC3E}">
        <p14:creationId xmlns:p14="http://schemas.microsoft.com/office/powerpoint/2010/main" val="1151522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1B403-161F-4E04-B722-AEE346A4AD51}"/>
              </a:ext>
            </a:extLst>
          </p:cNvPr>
          <p:cNvSpPr>
            <a:spLocks noGrp="1"/>
          </p:cNvSpPr>
          <p:nvPr>
            <p:ph type="title"/>
          </p:nvPr>
        </p:nvSpPr>
        <p:spPr/>
        <p:txBody>
          <a:bodyPr/>
          <a:lstStyle/>
          <a:p>
            <a:endParaRPr lang="en-TZ"/>
          </a:p>
        </p:txBody>
      </p:sp>
      <p:pic>
        <p:nvPicPr>
          <p:cNvPr id="5" name="Content Placeholder 4">
            <a:extLst>
              <a:ext uri="{FF2B5EF4-FFF2-40B4-BE49-F238E27FC236}">
                <a16:creationId xmlns:a16="http://schemas.microsoft.com/office/drawing/2014/main" id="{A65F4965-0E4A-4AFF-9D20-6953E0BB3E97}"/>
              </a:ext>
            </a:extLst>
          </p:cNvPr>
          <p:cNvPicPr>
            <a:picLocks noGrp="1" noChangeAspect="1"/>
          </p:cNvPicPr>
          <p:nvPr>
            <p:ph idx="1"/>
          </p:nvPr>
        </p:nvPicPr>
        <p:blipFill>
          <a:blip r:embed="rId2"/>
          <a:stretch>
            <a:fillRect/>
          </a:stretch>
        </p:blipFill>
        <p:spPr>
          <a:xfrm>
            <a:off x="598840" y="357188"/>
            <a:ext cx="10754960" cy="1333500"/>
          </a:xfrm>
          <a:prstGeom prst="rect">
            <a:avLst/>
          </a:prstGeom>
        </p:spPr>
      </p:pic>
      <p:sp>
        <p:nvSpPr>
          <p:cNvPr id="4" name="Slide Number Placeholder 3">
            <a:extLst>
              <a:ext uri="{FF2B5EF4-FFF2-40B4-BE49-F238E27FC236}">
                <a16:creationId xmlns:a16="http://schemas.microsoft.com/office/drawing/2014/main" id="{7FA96128-9B92-4881-82AC-B6968EE9489B}"/>
              </a:ext>
            </a:extLst>
          </p:cNvPr>
          <p:cNvSpPr>
            <a:spLocks noGrp="1"/>
          </p:cNvSpPr>
          <p:nvPr>
            <p:ph type="sldNum" sz="quarter" idx="12"/>
          </p:nvPr>
        </p:nvSpPr>
        <p:spPr/>
        <p:txBody>
          <a:bodyPr/>
          <a:lstStyle/>
          <a:p>
            <a:fld id="{FE26519D-5832-4C74-968F-A812C8CD0CD7}" type="slidenum">
              <a:rPr lang="en-US" smtClean="0"/>
              <a:t>43</a:t>
            </a:fld>
            <a:endParaRPr lang="en-US"/>
          </a:p>
        </p:txBody>
      </p:sp>
    </p:spTree>
    <p:extLst>
      <p:ext uri="{BB962C8B-B14F-4D97-AF65-F5344CB8AC3E}">
        <p14:creationId xmlns:p14="http://schemas.microsoft.com/office/powerpoint/2010/main" val="2669947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425" y="103031"/>
            <a:ext cx="11887199" cy="6632620"/>
          </a:xfrm>
        </p:spPr>
        <p:txBody>
          <a:bodyPr/>
          <a:lstStyle/>
          <a:p>
            <a:pPr marL="0" indent="0">
              <a:buNone/>
            </a:pPr>
            <a:r>
              <a:rPr lang="en-US" sz="3600" b="1" dirty="0">
                <a:solidFill>
                  <a:srgbClr val="005AAB"/>
                </a:solidFill>
                <a:latin typeface="AvantGarde-Demi"/>
              </a:rPr>
              <a:t>1.16. Linear and Lateral Strain</a:t>
            </a:r>
          </a:p>
          <a:p>
            <a:pPr marL="0" indent="0">
              <a:buNone/>
            </a:pPr>
            <a:r>
              <a:rPr lang="en-US" dirty="0">
                <a:solidFill>
                  <a:srgbClr val="231F20"/>
                </a:solidFill>
                <a:latin typeface="Times New Roman" panose="02020603050405020304" pitchFamily="18" charset="0"/>
              </a:rPr>
              <a:t>Consider a circular bar of diameter </a:t>
            </a:r>
            <a:r>
              <a:rPr lang="en-US" i="1" dirty="0">
                <a:solidFill>
                  <a:srgbClr val="231F20"/>
                </a:solidFill>
                <a:latin typeface="Times New Roman" panose="02020603050405020304" pitchFamily="18" charset="0"/>
              </a:rPr>
              <a:t>d </a:t>
            </a:r>
            <a:r>
              <a:rPr lang="en-US" dirty="0">
                <a:solidFill>
                  <a:srgbClr val="231F20"/>
                </a:solidFill>
                <a:latin typeface="Times New Roman" panose="02020603050405020304" pitchFamily="18" charset="0"/>
              </a:rPr>
              <a:t>and length </a:t>
            </a:r>
            <a:r>
              <a:rPr lang="en-US" i="1" dirty="0">
                <a:solidFill>
                  <a:srgbClr val="231F20"/>
                </a:solidFill>
                <a:latin typeface="Times New Roman" panose="02020603050405020304" pitchFamily="18" charset="0"/>
              </a:rPr>
              <a:t>l</a:t>
            </a:r>
            <a:r>
              <a:rPr lang="en-US" dirty="0">
                <a:solidFill>
                  <a:srgbClr val="231F20"/>
                </a:solidFill>
                <a:latin typeface="Times New Roman" panose="02020603050405020304" pitchFamily="18" charset="0"/>
              </a:rPr>
              <a:t>, subjected to a tensile force </a:t>
            </a:r>
            <a:r>
              <a:rPr lang="en-US" i="1" dirty="0">
                <a:solidFill>
                  <a:srgbClr val="231F20"/>
                </a:solidFill>
                <a:latin typeface="Times New Roman" panose="02020603050405020304" pitchFamily="18" charset="0"/>
              </a:rPr>
              <a:t>P </a:t>
            </a:r>
            <a:r>
              <a:rPr lang="en-US" dirty="0">
                <a:solidFill>
                  <a:srgbClr val="231F20"/>
                </a:solidFill>
                <a:latin typeface="Times New Roman" panose="02020603050405020304" pitchFamily="18" charset="0"/>
              </a:rPr>
              <a:t>as shown in Fig. 1.8 (</a:t>
            </a:r>
            <a:r>
              <a:rPr lang="en-US" i="1" dirty="0">
                <a:solidFill>
                  <a:srgbClr val="231F20"/>
                </a:solidFill>
                <a:latin typeface="Times New Roman" panose="02020603050405020304" pitchFamily="18" charset="0"/>
              </a:rPr>
              <a:t>a</a:t>
            </a:r>
            <a:r>
              <a:rPr lang="en-US" dirty="0">
                <a:solidFill>
                  <a:srgbClr val="231F20"/>
                </a:solidFill>
                <a:latin typeface="Times New Roman" panose="02020603050405020304" pitchFamily="18" charset="0"/>
              </a:rPr>
              <a:t>).</a:t>
            </a:r>
            <a:endParaRPr lang="en-US" dirty="0"/>
          </a:p>
        </p:txBody>
      </p:sp>
      <p:pic>
        <p:nvPicPr>
          <p:cNvPr id="4" name="Picture 3"/>
          <p:cNvPicPr>
            <a:picLocks noChangeAspect="1"/>
          </p:cNvPicPr>
          <p:nvPr/>
        </p:nvPicPr>
        <p:blipFill>
          <a:blip r:embed="rId2"/>
          <a:stretch>
            <a:fillRect/>
          </a:stretch>
        </p:blipFill>
        <p:spPr>
          <a:xfrm>
            <a:off x="1867438" y="1674880"/>
            <a:ext cx="8657097" cy="2037948"/>
          </a:xfrm>
          <a:prstGeom prst="rect">
            <a:avLst/>
          </a:prstGeom>
        </p:spPr>
      </p:pic>
      <p:sp>
        <p:nvSpPr>
          <p:cNvPr id="5" name="Rectangle 4"/>
          <p:cNvSpPr/>
          <p:nvPr/>
        </p:nvSpPr>
        <p:spPr>
          <a:xfrm>
            <a:off x="2962140" y="3712828"/>
            <a:ext cx="6297768" cy="523220"/>
          </a:xfrm>
          <a:prstGeom prst="rect">
            <a:avLst/>
          </a:prstGeom>
        </p:spPr>
        <p:txBody>
          <a:bodyPr wrap="square">
            <a:spAutoFit/>
          </a:bodyPr>
          <a:lstStyle/>
          <a:p>
            <a:r>
              <a:rPr lang="en-US" sz="2800" b="1" dirty="0">
                <a:solidFill>
                  <a:srgbClr val="0071BD"/>
                </a:solidFill>
                <a:latin typeface="Times New Roman" panose="02020603050405020304" pitchFamily="18" charset="0"/>
              </a:rPr>
              <a:t>Fig. 1.8. </a:t>
            </a:r>
            <a:r>
              <a:rPr lang="en-US" sz="2800" dirty="0">
                <a:solidFill>
                  <a:srgbClr val="231F20"/>
                </a:solidFill>
                <a:latin typeface="Times New Roman" panose="02020603050405020304" pitchFamily="18" charset="0"/>
              </a:rPr>
              <a:t>Linear and lateral strain.</a:t>
            </a:r>
            <a:endParaRPr lang="en-US" sz="2800" dirty="0"/>
          </a:p>
        </p:txBody>
      </p:sp>
      <p:sp>
        <p:nvSpPr>
          <p:cNvPr id="6" name="Rectangle 5"/>
          <p:cNvSpPr/>
          <p:nvPr/>
        </p:nvSpPr>
        <p:spPr>
          <a:xfrm>
            <a:off x="167424" y="4378285"/>
            <a:ext cx="11642503" cy="1815882"/>
          </a:xfrm>
          <a:prstGeom prst="rect">
            <a:avLst/>
          </a:prstGeom>
        </p:spPr>
        <p:txBody>
          <a:bodyPr wrap="square">
            <a:spAutoFit/>
          </a:bodyPr>
          <a:lstStyle/>
          <a:p>
            <a:pPr algn="just"/>
            <a:r>
              <a:rPr lang="en-US" sz="2800" dirty="0">
                <a:solidFill>
                  <a:srgbClr val="231F20"/>
                </a:solidFill>
                <a:latin typeface="Times New Roman" panose="02020603050405020304" pitchFamily="18" charset="0"/>
              </a:rPr>
              <a:t>A little consideration will show that due to tensile force, the length of the bar increases by an amount </a:t>
            </a:r>
            <a:r>
              <a:rPr lang="en-US" sz="2800" dirty="0">
                <a:solidFill>
                  <a:srgbClr val="231F20"/>
                </a:solidFill>
                <a:latin typeface="Symbol" panose="05050102010706020507" pitchFamily="18" charset="2"/>
                <a:sym typeface="Symbol" panose="05050102010706020507" pitchFamily="18" charset="2"/>
              </a:rPr>
              <a:t></a:t>
            </a:r>
            <a:r>
              <a:rPr lang="en-US" sz="2800" i="1" dirty="0">
                <a:solidFill>
                  <a:srgbClr val="231F20"/>
                </a:solidFill>
                <a:latin typeface="Times New Roman" panose="02020603050405020304" pitchFamily="18" charset="0"/>
              </a:rPr>
              <a:t>l </a:t>
            </a:r>
            <a:r>
              <a:rPr lang="en-US" sz="2800" dirty="0">
                <a:solidFill>
                  <a:srgbClr val="231F20"/>
                </a:solidFill>
                <a:latin typeface="Times New Roman" panose="02020603050405020304" pitchFamily="18" charset="0"/>
              </a:rPr>
              <a:t>and the diameter decreases by an amount </a:t>
            </a:r>
            <a:r>
              <a:rPr lang="en-US" sz="2800" dirty="0">
                <a:solidFill>
                  <a:srgbClr val="231F20"/>
                </a:solidFill>
                <a:latin typeface="Symbol" panose="05050102010706020507" pitchFamily="18" charset="2"/>
                <a:sym typeface="Symbol" panose="05050102010706020507" pitchFamily="18" charset="2"/>
              </a:rPr>
              <a:t></a:t>
            </a:r>
            <a:r>
              <a:rPr lang="en-US" sz="2800" i="1" dirty="0">
                <a:solidFill>
                  <a:srgbClr val="231F20"/>
                </a:solidFill>
                <a:latin typeface="Times New Roman" panose="02020603050405020304" pitchFamily="18" charset="0"/>
              </a:rPr>
              <a:t>d</a:t>
            </a:r>
            <a:r>
              <a:rPr lang="en-US" sz="2800" dirty="0">
                <a:solidFill>
                  <a:srgbClr val="231F20"/>
                </a:solidFill>
                <a:latin typeface="Times New Roman" panose="02020603050405020304" pitchFamily="18" charset="0"/>
              </a:rPr>
              <a:t>, as shown in Fig. 1.8 (</a:t>
            </a:r>
            <a:r>
              <a:rPr lang="en-US" sz="2800" i="1" dirty="0">
                <a:solidFill>
                  <a:srgbClr val="231F20"/>
                </a:solidFill>
                <a:latin typeface="Times New Roman" panose="02020603050405020304" pitchFamily="18" charset="0"/>
              </a:rPr>
              <a:t>b</a:t>
            </a:r>
            <a:r>
              <a:rPr lang="en-US" sz="2800" dirty="0">
                <a:solidFill>
                  <a:srgbClr val="231F20"/>
                </a:solidFill>
                <a:latin typeface="Times New Roman" panose="02020603050405020304" pitchFamily="18" charset="0"/>
              </a:rPr>
              <a:t>). Similarly, if the bar is subjected to a compressive force, the length of bar will decrease which will be followed by increase in diameter.</a:t>
            </a:r>
            <a:endParaRPr lang="en-US" sz="2800" dirty="0"/>
          </a:p>
        </p:txBody>
      </p:sp>
      <p:sp>
        <p:nvSpPr>
          <p:cNvPr id="9" name="Slide Number Placeholder 8"/>
          <p:cNvSpPr>
            <a:spLocks noGrp="1"/>
          </p:cNvSpPr>
          <p:nvPr>
            <p:ph type="sldNum" sz="quarter" idx="12"/>
          </p:nvPr>
        </p:nvSpPr>
        <p:spPr/>
        <p:txBody>
          <a:bodyPr/>
          <a:lstStyle/>
          <a:p>
            <a:fld id="{FE26519D-5832-4C74-968F-A812C8CD0CD7}" type="slidenum">
              <a:rPr lang="en-US" smtClean="0"/>
              <a:t>44</a:t>
            </a:fld>
            <a:endParaRPr lang="en-US"/>
          </a:p>
        </p:txBody>
      </p:sp>
    </p:spTree>
    <p:extLst>
      <p:ext uri="{BB962C8B-B14F-4D97-AF65-F5344CB8AC3E}">
        <p14:creationId xmlns:p14="http://schemas.microsoft.com/office/powerpoint/2010/main" val="167847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1973" y="115910"/>
            <a:ext cx="11668258" cy="6581104"/>
          </a:xfrm>
        </p:spPr>
        <p:txBody>
          <a:bodyPr/>
          <a:lstStyle/>
          <a:p>
            <a:pPr marL="0" indent="0">
              <a:buNone/>
            </a:pPr>
            <a:r>
              <a:rPr lang="en-US" sz="4400" dirty="0">
                <a:solidFill>
                  <a:schemeClr val="accent5"/>
                </a:solidFill>
                <a:latin typeface="Times New Roman" panose="02020603050405020304" pitchFamily="18" charset="0"/>
              </a:rPr>
              <a:t>	Point to Note</a:t>
            </a:r>
          </a:p>
          <a:p>
            <a:pPr marL="0" indent="0" algn="just">
              <a:buNone/>
            </a:pPr>
            <a:r>
              <a:rPr lang="en-US" sz="4000" dirty="0">
                <a:solidFill>
                  <a:srgbClr val="231F20"/>
                </a:solidFill>
                <a:latin typeface="Times New Roman" panose="02020603050405020304" pitchFamily="18" charset="0"/>
              </a:rPr>
              <a:t>It is thus obvious, that every direct stress is accompanied by a strain in its own direction which is known as </a:t>
            </a:r>
            <a:r>
              <a:rPr lang="en-US" sz="4000" b="1" i="1" dirty="0">
                <a:solidFill>
                  <a:srgbClr val="231F20"/>
                </a:solidFill>
                <a:latin typeface="Times New Roman" panose="02020603050405020304" pitchFamily="18" charset="0"/>
              </a:rPr>
              <a:t>linear strain </a:t>
            </a:r>
            <a:r>
              <a:rPr lang="en-US" sz="4000" dirty="0">
                <a:solidFill>
                  <a:srgbClr val="231F20"/>
                </a:solidFill>
                <a:latin typeface="Times New Roman" panose="02020603050405020304" pitchFamily="18" charset="0"/>
              </a:rPr>
              <a:t>and an opposite kind of strain in every direction, at right angles to it, is known as </a:t>
            </a:r>
            <a:r>
              <a:rPr lang="en-US" sz="4000" b="1" i="1" dirty="0">
                <a:solidFill>
                  <a:srgbClr val="231F20"/>
                </a:solidFill>
                <a:latin typeface="Times New Roman" panose="02020603050405020304" pitchFamily="18" charset="0"/>
              </a:rPr>
              <a:t>lateral strain.</a:t>
            </a:r>
            <a:endParaRPr lang="en-US" sz="4000" dirty="0"/>
          </a:p>
        </p:txBody>
      </p:sp>
      <p:sp>
        <p:nvSpPr>
          <p:cNvPr id="6" name="Slide Number Placeholder 5"/>
          <p:cNvSpPr>
            <a:spLocks noGrp="1"/>
          </p:cNvSpPr>
          <p:nvPr>
            <p:ph type="sldNum" sz="quarter" idx="12"/>
          </p:nvPr>
        </p:nvSpPr>
        <p:spPr/>
        <p:txBody>
          <a:bodyPr/>
          <a:lstStyle/>
          <a:p>
            <a:fld id="{FE26519D-5832-4C74-968F-A812C8CD0CD7}" type="slidenum">
              <a:rPr lang="en-US" smtClean="0"/>
              <a:t>45</a:t>
            </a:fld>
            <a:endParaRPr lang="en-US"/>
          </a:p>
        </p:txBody>
      </p:sp>
    </p:spTree>
    <p:extLst>
      <p:ext uri="{BB962C8B-B14F-4D97-AF65-F5344CB8AC3E}">
        <p14:creationId xmlns:p14="http://schemas.microsoft.com/office/powerpoint/2010/main" val="41110690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669" y="103031"/>
            <a:ext cx="11874320" cy="6581104"/>
          </a:xfrm>
        </p:spPr>
        <p:txBody>
          <a:bodyPr/>
          <a:lstStyle/>
          <a:p>
            <a:pPr marL="0" indent="0">
              <a:buNone/>
            </a:pPr>
            <a:r>
              <a:rPr lang="en-US" sz="3600" b="1" dirty="0">
                <a:solidFill>
                  <a:srgbClr val="005AAB"/>
                </a:solidFill>
                <a:latin typeface="AvantGarde-Demi"/>
              </a:rPr>
              <a:t>1.17 Poisson's Ratio</a:t>
            </a:r>
          </a:p>
          <a:p>
            <a:pPr marL="0" indent="0">
              <a:buNone/>
            </a:pPr>
            <a:r>
              <a:rPr lang="en-US" sz="2400" dirty="0">
                <a:solidFill>
                  <a:srgbClr val="231F20"/>
                </a:solidFill>
                <a:latin typeface="Times New Roman" panose="02020603050405020304" pitchFamily="18" charset="0"/>
              </a:rPr>
              <a:t>It has been found experimentally that when a body is stressed within elastic limit, the lateral strain bears a constant ratio to the linear strain, Mathematically,</a:t>
            </a:r>
            <a:endParaRPr lang="en-US" sz="2400" dirty="0"/>
          </a:p>
        </p:txBody>
      </p:sp>
      <p:pic>
        <p:nvPicPr>
          <p:cNvPr id="4" name="Picture 3"/>
          <p:cNvPicPr>
            <a:picLocks noChangeAspect="1"/>
          </p:cNvPicPr>
          <p:nvPr/>
        </p:nvPicPr>
        <p:blipFill>
          <a:blip r:embed="rId2"/>
          <a:stretch>
            <a:fillRect/>
          </a:stretch>
        </p:blipFill>
        <p:spPr>
          <a:xfrm>
            <a:off x="2971868" y="1434173"/>
            <a:ext cx="3986942" cy="870455"/>
          </a:xfrm>
          <a:prstGeom prst="rect">
            <a:avLst/>
          </a:prstGeom>
        </p:spPr>
      </p:pic>
      <p:pic>
        <p:nvPicPr>
          <p:cNvPr id="5" name="Picture 4"/>
          <p:cNvPicPr>
            <a:picLocks noChangeAspect="1"/>
          </p:cNvPicPr>
          <p:nvPr/>
        </p:nvPicPr>
        <p:blipFill>
          <a:blip r:embed="rId3"/>
          <a:stretch>
            <a:fillRect/>
          </a:stretch>
        </p:blipFill>
        <p:spPr>
          <a:xfrm>
            <a:off x="141669" y="2304628"/>
            <a:ext cx="10683426" cy="1265338"/>
          </a:xfrm>
          <a:prstGeom prst="rect">
            <a:avLst/>
          </a:prstGeom>
        </p:spPr>
      </p:pic>
      <p:pic>
        <p:nvPicPr>
          <p:cNvPr id="6" name="Picture 5"/>
          <p:cNvPicPr>
            <a:picLocks noChangeAspect="1"/>
          </p:cNvPicPr>
          <p:nvPr/>
        </p:nvPicPr>
        <p:blipFill>
          <a:blip r:embed="rId4"/>
          <a:stretch>
            <a:fillRect/>
          </a:stretch>
        </p:blipFill>
        <p:spPr>
          <a:xfrm>
            <a:off x="1301239" y="4053864"/>
            <a:ext cx="8739515" cy="2756579"/>
          </a:xfrm>
          <a:prstGeom prst="rect">
            <a:avLst/>
          </a:prstGeom>
        </p:spPr>
      </p:pic>
      <p:sp>
        <p:nvSpPr>
          <p:cNvPr id="7" name="Rectangle 6"/>
          <p:cNvSpPr/>
          <p:nvPr/>
        </p:nvSpPr>
        <p:spPr>
          <a:xfrm>
            <a:off x="863771" y="3569966"/>
            <a:ext cx="11328229" cy="523220"/>
          </a:xfrm>
          <a:prstGeom prst="rect">
            <a:avLst/>
          </a:prstGeom>
        </p:spPr>
        <p:txBody>
          <a:bodyPr wrap="none">
            <a:spAutoFit/>
          </a:bodyPr>
          <a:lstStyle/>
          <a:p>
            <a:r>
              <a:rPr lang="en-US" sz="2800" b="1" dirty="0">
                <a:solidFill>
                  <a:srgbClr val="EE1C24"/>
                </a:solidFill>
                <a:latin typeface="AvantGarde-Demi"/>
              </a:rPr>
              <a:t>Table 1.4. Values of Poisson’s ratio for commonly used materials.</a:t>
            </a:r>
            <a:endParaRPr lang="en-US" sz="2800" dirty="0"/>
          </a:p>
        </p:txBody>
      </p:sp>
      <p:sp>
        <p:nvSpPr>
          <p:cNvPr id="10" name="Slide Number Placeholder 9"/>
          <p:cNvSpPr>
            <a:spLocks noGrp="1"/>
          </p:cNvSpPr>
          <p:nvPr>
            <p:ph type="sldNum" sz="quarter" idx="12"/>
          </p:nvPr>
        </p:nvSpPr>
        <p:spPr/>
        <p:txBody>
          <a:bodyPr/>
          <a:lstStyle/>
          <a:p>
            <a:fld id="{FE26519D-5832-4C74-968F-A812C8CD0CD7}" type="slidenum">
              <a:rPr lang="en-US" smtClean="0"/>
              <a:t>46</a:t>
            </a:fld>
            <a:endParaRPr lang="en-US"/>
          </a:p>
        </p:txBody>
      </p:sp>
    </p:spTree>
    <p:extLst>
      <p:ext uri="{BB962C8B-B14F-4D97-AF65-F5344CB8AC3E}">
        <p14:creationId xmlns:p14="http://schemas.microsoft.com/office/powerpoint/2010/main" val="1317030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741" y="0"/>
            <a:ext cx="11937642" cy="6756513"/>
          </a:xfrm>
        </p:spPr>
        <p:txBody>
          <a:bodyPr/>
          <a:lstStyle/>
          <a:p>
            <a:pPr marL="0" indent="0">
              <a:buNone/>
            </a:pPr>
            <a:r>
              <a:rPr lang="en-US" b="1" dirty="0">
                <a:solidFill>
                  <a:srgbClr val="005AAB"/>
                </a:solidFill>
                <a:latin typeface="AvantGarde-Demi"/>
              </a:rPr>
              <a:t>1.18 Volumetric Strain</a:t>
            </a:r>
            <a:endParaRPr lang="en-US" dirty="0"/>
          </a:p>
        </p:txBody>
      </p:sp>
      <p:pic>
        <p:nvPicPr>
          <p:cNvPr id="4" name="Picture 3"/>
          <p:cNvPicPr>
            <a:picLocks noChangeAspect="1"/>
          </p:cNvPicPr>
          <p:nvPr/>
        </p:nvPicPr>
        <p:blipFill>
          <a:blip r:embed="rId2"/>
          <a:stretch>
            <a:fillRect/>
          </a:stretch>
        </p:blipFill>
        <p:spPr>
          <a:xfrm>
            <a:off x="262031" y="600411"/>
            <a:ext cx="11697490" cy="6156102"/>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47</a:t>
            </a:fld>
            <a:endParaRPr lang="en-US"/>
          </a:p>
        </p:txBody>
      </p:sp>
    </p:spTree>
    <p:extLst>
      <p:ext uri="{BB962C8B-B14F-4D97-AF65-F5344CB8AC3E}">
        <p14:creationId xmlns:p14="http://schemas.microsoft.com/office/powerpoint/2010/main" val="1080337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10" y="141668"/>
            <a:ext cx="11861442" cy="6593983"/>
          </a:xfrm>
        </p:spPr>
        <p:txBody>
          <a:bodyPr/>
          <a:lstStyle/>
          <a:p>
            <a:pPr marL="0" indent="0">
              <a:buNone/>
            </a:pPr>
            <a:r>
              <a:rPr lang="en-US" sz="3600" b="1" dirty="0">
                <a:solidFill>
                  <a:srgbClr val="005AAB"/>
                </a:solidFill>
                <a:latin typeface="AvantGarde-Demi"/>
              </a:rPr>
              <a:t>1.19 Bulk Modulus</a:t>
            </a:r>
          </a:p>
          <a:p>
            <a:pPr marL="0" indent="0" algn="just">
              <a:buNone/>
            </a:pPr>
            <a:r>
              <a:rPr lang="en-US" sz="3200" dirty="0">
                <a:solidFill>
                  <a:srgbClr val="231F20"/>
                </a:solidFill>
                <a:latin typeface="Times New Roman" panose="02020603050405020304" pitchFamily="18" charset="0"/>
              </a:rPr>
              <a:t>When a body is subjected to three mutually perpendicular stresses, of equal intensity, then the ratio of the direct stress to the corresponding volumetric strain is known as </a:t>
            </a:r>
            <a:r>
              <a:rPr lang="en-US" sz="3200" b="1" i="1" dirty="0">
                <a:solidFill>
                  <a:srgbClr val="231F20"/>
                </a:solidFill>
                <a:latin typeface="Times New Roman" panose="02020603050405020304" pitchFamily="18" charset="0"/>
              </a:rPr>
              <a:t>Bulk modulus. </a:t>
            </a:r>
            <a:r>
              <a:rPr lang="en-US" sz="3200" dirty="0">
                <a:solidFill>
                  <a:srgbClr val="231F20"/>
                </a:solidFill>
                <a:latin typeface="Times New Roman" panose="02020603050405020304" pitchFamily="18" charset="0"/>
              </a:rPr>
              <a:t>It is usually denoted by </a:t>
            </a:r>
            <a:r>
              <a:rPr lang="en-US" sz="3200" i="1" dirty="0">
                <a:solidFill>
                  <a:srgbClr val="231F20"/>
                </a:solidFill>
                <a:latin typeface="Times New Roman" panose="02020603050405020304" pitchFamily="18" charset="0"/>
              </a:rPr>
              <a:t>K</a:t>
            </a:r>
            <a:r>
              <a:rPr lang="en-US" sz="3200" dirty="0">
                <a:solidFill>
                  <a:srgbClr val="231F20"/>
                </a:solidFill>
                <a:latin typeface="Times New Roman" panose="02020603050405020304" pitchFamily="18" charset="0"/>
              </a:rPr>
              <a:t>. Mathematically, bulk modulus</a:t>
            </a:r>
            <a:r>
              <a:rPr lang="en-US" dirty="0">
                <a:solidFill>
                  <a:srgbClr val="231F20"/>
                </a:solidFill>
                <a:latin typeface="Times New Roman" panose="02020603050405020304" pitchFamily="18" charset="0"/>
              </a:rPr>
              <a:t>,</a:t>
            </a:r>
            <a:endParaRPr lang="en-US" dirty="0"/>
          </a:p>
        </p:txBody>
      </p:sp>
      <p:pic>
        <p:nvPicPr>
          <p:cNvPr id="4" name="Picture 3"/>
          <p:cNvPicPr>
            <a:picLocks noChangeAspect="1"/>
          </p:cNvPicPr>
          <p:nvPr/>
        </p:nvPicPr>
        <p:blipFill>
          <a:blip r:embed="rId2"/>
          <a:stretch>
            <a:fillRect/>
          </a:stretch>
        </p:blipFill>
        <p:spPr>
          <a:xfrm>
            <a:off x="2709906" y="2691685"/>
            <a:ext cx="7807245" cy="1700011"/>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48</a:t>
            </a:fld>
            <a:endParaRPr lang="en-US"/>
          </a:p>
        </p:txBody>
      </p:sp>
    </p:spTree>
    <p:extLst>
      <p:ext uri="{BB962C8B-B14F-4D97-AF65-F5344CB8AC3E}">
        <p14:creationId xmlns:p14="http://schemas.microsoft.com/office/powerpoint/2010/main" val="40557062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10" y="103030"/>
            <a:ext cx="11887200" cy="6754969"/>
          </a:xfrm>
        </p:spPr>
        <p:txBody>
          <a:bodyPr/>
          <a:lstStyle/>
          <a:p>
            <a:pPr marL="0" indent="0">
              <a:buNone/>
            </a:pPr>
            <a:r>
              <a:rPr lang="en-US" sz="3600" b="1" dirty="0">
                <a:solidFill>
                  <a:srgbClr val="005AAB"/>
                </a:solidFill>
                <a:latin typeface="AvantGarde-Demi"/>
              </a:rPr>
              <a:t>1.20 Relation Between Bulk Modulus and Young’s Modulus</a:t>
            </a:r>
          </a:p>
          <a:p>
            <a:pPr marL="0" indent="0">
              <a:buNone/>
            </a:pPr>
            <a:r>
              <a:rPr lang="en-US" dirty="0">
                <a:solidFill>
                  <a:srgbClr val="231F20"/>
                </a:solidFill>
                <a:latin typeface="Times New Roman" panose="02020603050405020304" pitchFamily="18" charset="0"/>
              </a:rPr>
              <a:t>The bulk modulus (</a:t>
            </a:r>
            <a:r>
              <a:rPr lang="en-US" i="1" dirty="0">
                <a:solidFill>
                  <a:srgbClr val="231F20"/>
                </a:solidFill>
                <a:latin typeface="Times New Roman" panose="02020603050405020304" pitchFamily="18" charset="0"/>
              </a:rPr>
              <a:t>K</a:t>
            </a:r>
            <a:r>
              <a:rPr lang="en-US" dirty="0">
                <a:solidFill>
                  <a:srgbClr val="231F20"/>
                </a:solidFill>
                <a:latin typeface="Times New Roman" panose="02020603050405020304" pitchFamily="18" charset="0"/>
              </a:rPr>
              <a:t>) and Young's modulus (</a:t>
            </a:r>
            <a:r>
              <a:rPr lang="en-US" i="1" dirty="0">
                <a:solidFill>
                  <a:srgbClr val="231F20"/>
                </a:solidFill>
                <a:latin typeface="Times New Roman" panose="02020603050405020304" pitchFamily="18" charset="0"/>
              </a:rPr>
              <a:t>E</a:t>
            </a:r>
            <a:r>
              <a:rPr lang="en-US" dirty="0">
                <a:solidFill>
                  <a:srgbClr val="231F20"/>
                </a:solidFill>
                <a:latin typeface="Times New Roman" panose="02020603050405020304" pitchFamily="18" charset="0"/>
              </a:rPr>
              <a:t>) are related by the following relation,</a:t>
            </a:r>
            <a:endParaRPr lang="en-US" dirty="0"/>
          </a:p>
        </p:txBody>
      </p:sp>
      <p:pic>
        <p:nvPicPr>
          <p:cNvPr id="4" name="Picture 3"/>
          <p:cNvPicPr>
            <a:picLocks noChangeAspect="1"/>
          </p:cNvPicPr>
          <p:nvPr/>
        </p:nvPicPr>
        <p:blipFill>
          <a:blip r:embed="rId2"/>
          <a:stretch>
            <a:fillRect/>
          </a:stretch>
        </p:blipFill>
        <p:spPr>
          <a:xfrm>
            <a:off x="2471242" y="2150773"/>
            <a:ext cx="3981073" cy="1189191"/>
          </a:xfrm>
          <a:prstGeom prst="rect">
            <a:avLst/>
          </a:prstGeom>
        </p:spPr>
      </p:pic>
      <p:pic>
        <p:nvPicPr>
          <p:cNvPr id="5" name="Picture 4"/>
          <p:cNvPicPr>
            <a:picLocks noChangeAspect="1"/>
          </p:cNvPicPr>
          <p:nvPr/>
        </p:nvPicPr>
        <p:blipFill>
          <a:blip r:embed="rId3"/>
          <a:stretch>
            <a:fillRect/>
          </a:stretch>
        </p:blipFill>
        <p:spPr>
          <a:xfrm>
            <a:off x="3102403" y="5364832"/>
            <a:ext cx="4457393" cy="1093353"/>
          </a:xfrm>
          <a:prstGeom prst="rect">
            <a:avLst/>
          </a:prstGeom>
        </p:spPr>
      </p:pic>
      <p:sp>
        <p:nvSpPr>
          <p:cNvPr id="6" name="Rectangle 5"/>
          <p:cNvSpPr/>
          <p:nvPr/>
        </p:nvSpPr>
        <p:spPr>
          <a:xfrm>
            <a:off x="296213" y="3221251"/>
            <a:ext cx="11114469" cy="2062103"/>
          </a:xfrm>
          <a:prstGeom prst="rect">
            <a:avLst/>
          </a:prstGeom>
        </p:spPr>
        <p:txBody>
          <a:bodyPr wrap="square">
            <a:spAutoFit/>
          </a:bodyPr>
          <a:lstStyle/>
          <a:p>
            <a:pPr algn="just"/>
            <a:r>
              <a:rPr lang="en-US" sz="3200" b="1" dirty="0">
                <a:solidFill>
                  <a:srgbClr val="005AAB"/>
                </a:solidFill>
                <a:latin typeface="AvantGarde-Demi"/>
              </a:rPr>
              <a:t>1.21 Relation Between Young’s Modulus and Modulus of Rigidity</a:t>
            </a:r>
          </a:p>
          <a:p>
            <a:pPr algn="just"/>
            <a:r>
              <a:rPr lang="en-US" sz="3200" dirty="0">
                <a:solidFill>
                  <a:srgbClr val="231F20"/>
                </a:solidFill>
                <a:latin typeface="Times New Roman" panose="02020603050405020304" pitchFamily="18" charset="0"/>
              </a:rPr>
              <a:t>The Young's modulus (</a:t>
            </a:r>
            <a:r>
              <a:rPr lang="en-US" sz="3200" i="1" dirty="0">
                <a:solidFill>
                  <a:srgbClr val="231F20"/>
                </a:solidFill>
                <a:latin typeface="Times New Roman" panose="02020603050405020304" pitchFamily="18" charset="0"/>
              </a:rPr>
              <a:t>E</a:t>
            </a:r>
            <a:r>
              <a:rPr lang="en-US" sz="3200" dirty="0">
                <a:solidFill>
                  <a:srgbClr val="231F20"/>
                </a:solidFill>
                <a:latin typeface="Times New Roman" panose="02020603050405020304" pitchFamily="18" charset="0"/>
              </a:rPr>
              <a:t>) and modulus of rigidity (</a:t>
            </a:r>
            <a:r>
              <a:rPr lang="en-US" sz="3200" i="1" dirty="0">
                <a:solidFill>
                  <a:srgbClr val="231F20"/>
                </a:solidFill>
                <a:latin typeface="Times New Roman" panose="02020603050405020304" pitchFamily="18" charset="0"/>
              </a:rPr>
              <a:t>G</a:t>
            </a:r>
            <a:r>
              <a:rPr lang="en-US" sz="3200" dirty="0">
                <a:solidFill>
                  <a:srgbClr val="231F20"/>
                </a:solidFill>
                <a:latin typeface="Times New Roman" panose="02020603050405020304" pitchFamily="18" charset="0"/>
              </a:rPr>
              <a:t>) are related by the following relation,</a:t>
            </a:r>
            <a:endParaRPr lang="en-US" sz="3200" dirty="0"/>
          </a:p>
        </p:txBody>
      </p:sp>
      <p:sp>
        <p:nvSpPr>
          <p:cNvPr id="9" name="Slide Number Placeholder 8"/>
          <p:cNvSpPr>
            <a:spLocks noGrp="1"/>
          </p:cNvSpPr>
          <p:nvPr>
            <p:ph type="sldNum" sz="quarter" idx="12"/>
          </p:nvPr>
        </p:nvSpPr>
        <p:spPr/>
        <p:txBody>
          <a:bodyPr/>
          <a:lstStyle/>
          <a:p>
            <a:fld id="{FE26519D-5832-4C74-968F-A812C8CD0CD7}" type="slidenum">
              <a:rPr lang="en-US" smtClean="0"/>
              <a:t>49</a:t>
            </a:fld>
            <a:endParaRPr lang="en-US"/>
          </a:p>
        </p:txBody>
      </p:sp>
    </p:spTree>
    <p:extLst>
      <p:ext uri="{BB962C8B-B14F-4D97-AF65-F5344CB8AC3E}">
        <p14:creationId xmlns:p14="http://schemas.microsoft.com/office/powerpoint/2010/main" val="5687095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10" y="90152"/>
            <a:ext cx="11912958" cy="6606862"/>
          </a:xfrm>
        </p:spPr>
        <p:txBody>
          <a:bodyPr/>
          <a:lstStyle/>
          <a:p>
            <a:pPr marL="0" indent="0">
              <a:buNone/>
            </a:pPr>
            <a:r>
              <a:rPr lang="en-US" b="1" dirty="0">
                <a:solidFill>
                  <a:srgbClr val="ED008D"/>
                </a:solidFill>
                <a:latin typeface="Times New Roman" panose="02020603050405020304" pitchFamily="18" charset="0"/>
              </a:rPr>
              <a:t>Example 1.5. </a:t>
            </a:r>
            <a:r>
              <a:rPr lang="en-US" i="1" dirty="0">
                <a:solidFill>
                  <a:srgbClr val="231F20"/>
                </a:solidFill>
                <a:latin typeface="Times New Roman" panose="02020603050405020304" pitchFamily="18" charset="0"/>
              </a:rPr>
              <a:t>A steel bar 2.4 m long and 30 mm square is elongated by a load of 500 </a:t>
            </a:r>
            <a:r>
              <a:rPr lang="en-US" i="1" dirty="0" err="1">
                <a:solidFill>
                  <a:srgbClr val="231F20"/>
                </a:solidFill>
                <a:latin typeface="Times New Roman" panose="02020603050405020304" pitchFamily="18" charset="0"/>
              </a:rPr>
              <a:t>kN.</a:t>
            </a:r>
            <a:r>
              <a:rPr lang="en-US" i="1" dirty="0">
                <a:solidFill>
                  <a:srgbClr val="231F20"/>
                </a:solidFill>
                <a:latin typeface="Times New Roman" panose="02020603050405020304" pitchFamily="18" charset="0"/>
              </a:rPr>
              <a:t> If </a:t>
            </a:r>
            <a:r>
              <a:rPr lang="en-US" i="1" dirty="0" err="1">
                <a:solidFill>
                  <a:srgbClr val="231F20"/>
                </a:solidFill>
                <a:latin typeface="Times New Roman" panose="02020603050405020304" pitchFamily="18" charset="0"/>
              </a:rPr>
              <a:t>poisson's</a:t>
            </a:r>
            <a:r>
              <a:rPr lang="en-US" i="1" dirty="0">
                <a:solidFill>
                  <a:srgbClr val="231F20"/>
                </a:solidFill>
                <a:latin typeface="Times New Roman" panose="02020603050405020304" pitchFamily="18" charset="0"/>
              </a:rPr>
              <a:t> ratio is 0.25, find the increase in volume. Take E = 0.2 × 10</a:t>
            </a:r>
            <a:r>
              <a:rPr lang="en-US" i="1" baseline="30000" dirty="0">
                <a:solidFill>
                  <a:srgbClr val="231F20"/>
                </a:solidFill>
                <a:latin typeface="Times New Roman" panose="02020603050405020304" pitchFamily="18" charset="0"/>
              </a:rPr>
              <a:t>6</a:t>
            </a:r>
            <a:r>
              <a:rPr lang="en-US" i="1" dirty="0">
                <a:solidFill>
                  <a:srgbClr val="231F20"/>
                </a:solidFill>
                <a:latin typeface="Times New Roman" panose="02020603050405020304" pitchFamily="18" charset="0"/>
              </a:rPr>
              <a:t>N/mm</a:t>
            </a:r>
            <a:r>
              <a:rPr lang="en-US" i="1" baseline="30000" dirty="0">
                <a:solidFill>
                  <a:srgbClr val="231F20"/>
                </a:solidFill>
                <a:latin typeface="Times New Roman" panose="02020603050405020304" pitchFamily="18" charset="0"/>
              </a:rPr>
              <a:t>2</a:t>
            </a:r>
            <a:r>
              <a:rPr lang="en-US" i="1" dirty="0">
                <a:solidFill>
                  <a:srgbClr val="231F20"/>
                </a:solidFill>
                <a:latin typeface="Times New Roman" panose="02020603050405020304" pitchFamily="18" charset="0"/>
              </a:rPr>
              <a:t>.</a:t>
            </a:r>
            <a:endParaRPr lang="en-US" dirty="0"/>
          </a:p>
        </p:txBody>
      </p:sp>
      <p:pic>
        <p:nvPicPr>
          <p:cNvPr id="4" name="Picture 3"/>
          <p:cNvPicPr>
            <a:picLocks noChangeAspect="1"/>
          </p:cNvPicPr>
          <p:nvPr/>
        </p:nvPicPr>
        <p:blipFill>
          <a:blip r:embed="rId2"/>
          <a:stretch>
            <a:fillRect/>
          </a:stretch>
        </p:blipFill>
        <p:spPr>
          <a:xfrm>
            <a:off x="228028" y="1434608"/>
            <a:ext cx="11620535" cy="5273045"/>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50</a:t>
            </a:fld>
            <a:endParaRPr lang="en-US"/>
          </a:p>
        </p:txBody>
      </p:sp>
    </p:spTree>
    <p:extLst>
      <p:ext uri="{BB962C8B-B14F-4D97-AF65-F5344CB8AC3E}">
        <p14:creationId xmlns:p14="http://schemas.microsoft.com/office/powerpoint/2010/main" val="14723423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46" y="141668"/>
            <a:ext cx="7542577" cy="3721994"/>
          </a:xfrm>
        </p:spPr>
        <p:txBody>
          <a:bodyPr>
            <a:normAutofit lnSpcReduction="10000"/>
          </a:bodyPr>
          <a:lstStyle/>
          <a:p>
            <a:pPr marL="0" indent="0">
              <a:buNone/>
            </a:pPr>
            <a:r>
              <a:rPr lang="en-US" sz="3600" b="1" dirty="0">
                <a:solidFill>
                  <a:srgbClr val="005AAB"/>
                </a:solidFill>
                <a:latin typeface="AvantGarde-Demi"/>
              </a:rPr>
              <a:t>1.22 Impact Stress</a:t>
            </a:r>
          </a:p>
          <a:p>
            <a:pPr marL="0" indent="0" algn="just">
              <a:buNone/>
            </a:pPr>
            <a:r>
              <a:rPr lang="en-US" sz="3200" dirty="0">
                <a:solidFill>
                  <a:srgbClr val="231F20"/>
                </a:solidFill>
                <a:latin typeface="Times New Roman" panose="02020603050405020304" pitchFamily="18" charset="0"/>
              </a:rPr>
              <a:t>Sometimes, machine members are subjected to the load with impact. The stress produced in the member due to the falling load is known as </a:t>
            </a:r>
            <a:r>
              <a:rPr lang="en-US" sz="3200" b="1" i="1" dirty="0">
                <a:solidFill>
                  <a:srgbClr val="231F20"/>
                </a:solidFill>
                <a:latin typeface="Times New Roman" panose="02020603050405020304" pitchFamily="18" charset="0"/>
              </a:rPr>
              <a:t>impact stress.</a:t>
            </a:r>
          </a:p>
          <a:p>
            <a:pPr marL="0" indent="0" algn="just">
              <a:buNone/>
            </a:pPr>
            <a:r>
              <a:rPr lang="en-US" sz="3200" dirty="0">
                <a:solidFill>
                  <a:srgbClr val="231F20"/>
                </a:solidFill>
                <a:latin typeface="Times New Roman" panose="02020603050405020304" pitchFamily="18" charset="0"/>
              </a:rPr>
              <a:t>Consider a bar carrying a load </a:t>
            </a:r>
            <a:r>
              <a:rPr lang="en-US" sz="3200" i="1" dirty="0">
                <a:solidFill>
                  <a:srgbClr val="231F20"/>
                </a:solidFill>
                <a:latin typeface="Times New Roman" panose="02020603050405020304" pitchFamily="18" charset="0"/>
              </a:rPr>
              <a:t>W </a:t>
            </a:r>
            <a:r>
              <a:rPr lang="en-US" sz="3200" dirty="0">
                <a:solidFill>
                  <a:srgbClr val="231F20"/>
                </a:solidFill>
                <a:latin typeface="Times New Roman" panose="02020603050405020304" pitchFamily="18" charset="0"/>
              </a:rPr>
              <a:t>at a height </a:t>
            </a:r>
            <a:r>
              <a:rPr lang="en-US" sz="3200" i="1" dirty="0">
                <a:solidFill>
                  <a:srgbClr val="231F20"/>
                </a:solidFill>
                <a:latin typeface="Times New Roman" panose="02020603050405020304" pitchFamily="18" charset="0"/>
              </a:rPr>
              <a:t>h </a:t>
            </a:r>
            <a:r>
              <a:rPr lang="en-US" sz="3200" dirty="0">
                <a:solidFill>
                  <a:srgbClr val="231F20"/>
                </a:solidFill>
                <a:latin typeface="Times New Roman" panose="02020603050405020304" pitchFamily="18" charset="0"/>
              </a:rPr>
              <a:t>and falling on the collar provided at the lower end, as shown in Fig. 1.9.</a:t>
            </a:r>
            <a:endParaRPr lang="en-US" sz="3200" dirty="0"/>
          </a:p>
        </p:txBody>
      </p:sp>
      <p:pic>
        <p:nvPicPr>
          <p:cNvPr id="4" name="Picture 3"/>
          <p:cNvPicPr>
            <a:picLocks noChangeAspect="1"/>
          </p:cNvPicPr>
          <p:nvPr/>
        </p:nvPicPr>
        <p:blipFill>
          <a:blip r:embed="rId2"/>
          <a:stretch>
            <a:fillRect/>
          </a:stretch>
        </p:blipFill>
        <p:spPr>
          <a:xfrm>
            <a:off x="288673" y="3696238"/>
            <a:ext cx="5030302" cy="3000776"/>
          </a:xfrm>
          <a:prstGeom prst="rect">
            <a:avLst/>
          </a:prstGeom>
        </p:spPr>
      </p:pic>
      <p:pic>
        <p:nvPicPr>
          <p:cNvPr id="5" name="Picture 4"/>
          <p:cNvPicPr>
            <a:picLocks noChangeAspect="1"/>
          </p:cNvPicPr>
          <p:nvPr/>
        </p:nvPicPr>
        <p:blipFill>
          <a:blip r:embed="rId3"/>
          <a:stretch>
            <a:fillRect/>
          </a:stretch>
        </p:blipFill>
        <p:spPr>
          <a:xfrm>
            <a:off x="8135127" y="307973"/>
            <a:ext cx="4177834" cy="5593144"/>
          </a:xfrm>
          <a:prstGeom prst="rect">
            <a:avLst/>
          </a:prstGeom>
        </p:spPr>
      </p:pic>
      <p:sp>
        <p:nvSpPr>
          <p:cNvPr id="6" name="Rectangle 5"/>
          <p:cNvSpPr/>
          <p:nvPr/>
        </p:nvSpPr>
        <p:spPr>
          <a:xfrm>
            <a:off x="7697123" y="5794360"/>
            <a:ext cx="3935693" cy="584775"/>
          </a:xfrm>
          <a:prstGeom prst="rect">
            <a:avLst/>
          </a:prstGeom>
        </p:spPr>
        <p:txBody>
          <a:bodyPr wrap="none">
            <a:spAutoFit/>
          </a:bodyPr>
          <a:lstStyle/>
          <a:p>
            <a:r>
              <a:rPr lang="en-US" sz="3200" b="1" dirty="0">
                <a:solidFill>
                  <a:srgbClr val="0071BD"/>
                </a:solidFill>
                <a:latin typeface="Times New Roman" panose="02020603050405020304" pitchFamily="18" charset="0"/>
              </a:rPr>
              <a:t>Fig. 1.9. </a:t>
            </a:r>
            <a:r>
              <a:rPr lang="en-US" sz="3200" dirty="0">
                <a:solidFill>
                  <a:srgbClr val="231F20"/>
                </a:solidFill>
                <a:latin typeface="Times New Roman" panose="02020603050405020304" pitchFamily="18" charset="0"/>
              </a:rPr>
              <a:t>Impact stress.</a:t>
            </a:r>
            <a:endParaRPr lang="en-US" sz="3200" dirty="0"/>
          </a:p>
        </p:txBody>
      </p:sp>
      <p:sp>
        <p:nvSpPr>
          <p:cNvPr id="9" name="Slide Number Placeholder 8"/>
          <p:cNvSpPr>
            <a:spLocks noGrp="1"/>
          </p:cNvSpPr>
          <p:nvPr>
            <p:ph type="sldNum" sz="quarter" idx="12"/>
          </p:nvPr>
        </p:nvSpPr>
        <p:spPr/>
        <p:txBody>
          <a:bodyPr/>
          <a:lstStyle/>
          <a:p>
            <a:fld id="{FE26519D-5832-4C74-968F-A812C8CD0CD7}" type="slidenum">
              <a:rPr lang="en-US" smtClean="0"/>
              <a:t>51</a:t>
            </a:fld>
            <a:endParaRPr lang="en-US"/>
          </a:p>
        </p:txBody>
      </p:sp>
    </p:spTree>
    <p:extLst>
      <p:ext uri="{BB962C8B-B14F-4D97-AF65-F5344CB8AC3E}">
        <p14:creationId xmlns:p14="http://schemas.microsoft.com/office/powerpoint/2010/main" val="296446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182" y="139034"/>
            <a:ext cx="11809927" cy="6583738"/>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52</a:t>
            </a:fld>
            <a:endParaRPr lang="en-US"/>
          </a:p>
        </p:txBody>
      </p:sp>
    </p:spTree>
    <p:extLst>
      <p:ext uri="{BB962C8B-B14F-4D97-AF65-F5344CB8AC3E}">
        <p14:creationId xmlns:p14="http://schemas.microsoft.com/office/powerpoint/2010/main" val="27876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115910"/>
            <a:ext cx="11925835" cy="6645498"/>
          </a:xfrm>
        </p:spPr>
        <p:txBody>
          <a:bodyPr/>
          <a:lstStyle/>
          <a:p>
            <a:pPr marL="0" indent="0" algn="just">
              <a:buNone/>
            </a:pPr>
            <a:r>
              <a:rPr lang="en-US" b="1" dirty="0">
                <a:solidFill>
                  <a:srgbClr val="ED008D"/>
                </a:solidFill>
                <a:latin typeface="Times New Roman" panose="02020603050405020304" pitchFamily="18" charset="0"/>
              </a:rPr>
              <a:t>Example 1.6. </a:t>
            </a:r>
            <a:r>
              <a:rPr lang="en-US" i="1" dirty="0">
                <a:solidFill>
                  <a:srgbClr val="231F20"/>
                </a:solidFill>
                <a:latin typeface="Times New Roman" panose="02020603050405020304" pitchFamily="18" charset="0"/>
              </a:rPr>
              <a:t>An unknown weight falls through 10 mm on a collar rigidly attached to the lower end of a vertical bar 3 m long and 600 mm</a:t>
            </a:r>
            <a:r>
              <a:rPr lang="en-US" i="1" baseline="30000" dirty="0">
                <a:solidFill>
                  <a:srgbClr val="231F20"/>
                </a:solidFill>
                <a:latin typeface="Times New Roman" panose="02020603050405020304" pitchFamily="18" charset="0"/>
              </a:rPr>
              <a:t>2</a:t>
            </a:r>
            <a:r>
              <a:rPr lang="en-US" i="1" dirty="0">
                <a:solidFill>
                  <a:srgbClr val="231F20"/>
                </a:solidFill>
                <a:latin typeface="Times New Roman" panose="02020603050405020304" pitchFamily="18" charset="0"/>
              </a:rPr>
              <a:t> in section. If the maximum instantaneous extension is known to be 2 mm, what is the corresponding stress and the value of unknown weight W? Take E = 200 </a:t>
            </a:r>
            <a:r>
              <a:rPr lang="en-US" i="1" dirty="0" err="1">
                <a:solidFill>
                  <a:srgbClr val="231F20"/>
                </a:solidFill>
                <a:latin typeface="Times New Roman" panose="02020603050405020304" pitchFamily="18" charset="0"/>
              </a:rPr>
              <a:t>kN</a:t>
            </a:r>
            <a:r>
              <a:rPr lang="en-US" i="1" dirty="0">
                <a:solidFill>
                  <a:srgbClr val="231F20"/>
                </a:solidFill>
                <a:latin typeface="Times New Roman" panose="02020603050405020304" pitchFamily="18" charset="0"/>
              </a:rPr>
              <a:t>/mm</a:t>
            </a:r>
            <a:r>
              <a:rPr lang="en-US" i="1" baseline="30000" dirty="0">
                <a:solidFill>
                  <a:srgbClr val="231F20"/>
                </a:solidFill>
                <a:latin typeface="Times New Roman" panose="02020603050405020304" pitchFamily="18" charset="0"/>
              </a:rPr>
              <a:t>2</a:t>
            </a:r>
            <a:r>
              <a:rPr lang="en-US" i="1" dirty="0">
                <a:solidFill>
                  <a:srgbClr val="231F20"/>
                </a:solidFill>
                <a:latin typeface="Times New Roman" panose="02020603050405020304" pitchFamily="18" charset="0"/>
              </a:rPr>
              <a:t>.</a:t>
            </a:r>
          </a:p>
          <a:p>
            <a:endParaRPr lang="en-US" dirty="0"/>
          </a:p>
        </p:txBody>
      </p:sp>
      <p:pic>
        <p:nvPicPr>
          <p:cNvPr id="4" name="Picture 3"/>
          <p:cNvPicPr>
            <a:picLocks noChangeAspect="1"/>
          </p:cNvPicPr>
          <p:nvPr/>
        </p:nvPicPr>
        <p:blipFill>
          <a:blip r:embed="rId2"/>
          <a:stretch>
            <a:fillRect/>
          </a:stretch>
        </p:blipFill>
        <p:spPr>
          <a:xfrm>
            <a:off x="456393" y="2266682"/>
            <a:ext cx="11401994" cy="4494726"/>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53</a:t>
            </a:fld>
            <a:endParaRPr lang="en-US"/>
          </a:p>
        </p:txBody>
      </p:sp>
    </p:spTree>
    <p:extLst>
      <p:ext uri="{BB962C8B-B14F-4D97-AF65-F5344CB8AC3E}">
        <p14:creationId xmlns:p14="http://schemas.microsoft.com/office/powerpoint/2010/main" val="40723686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43188" y="115910"/>
            <a:ext cx="8628845" cy="6611488"/>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54</a:t>
            </a:fld>
            <a:endParaRPr lang="en-US"/>
          </a:p>
        </p:txBody>
      </p:sp>
    </p:spTree>
    <p:extLst>
      <p:ext uri="{BB962C8B-B14F-4D97-AF65-F5344CB8AC3E}">
        <p14:creationId xmlns:p14="http://schemas.microsoft.com/office/powerpoint/2010/main" val="30259168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46" y="128788"/>
            <a:ext cx="11887200" cy="6619741"/>
          </a:xfrm>
        </p:spPr>
        <p:txBody>
          <a:bodyPr>
            <a:normAutofit/>
          </a:bodyPr>
          <a:lstStyle/>
          <a:p>
            <a:pPr marL="0" indent="0">
              <a:buNone/>
            </a:pPr>
            <a:r>
              <a:rPr lang="en-US" sz="3600" b="1" dirty="0">
                <a:solidFill>
                  <a:srgbClr val="005AAB"/>
                </a:solidFill>
                <a:latin typeface="AvantGarde-Demi"/>
              </a:rPr>
              <a:t>1.23 Resilience</a:t>
            </a:r>
          </a:p>
          <a:p>
            <a:pPr marL="0" indent="0" algn="just">
              <a:buNone/>
            </a:pPr>
            <a:r>
              <a:rPr lang="en-US" sz="2900" dirty="0">
                <a:solidFill>
                  <a:srgbClr val="231F20"/>
                </a:solidFill>
                <a:latin typeface="Times New Roman" panose="02020603050405020304" pitchFamily="18" charset="0"/>
              </a:rPr>
              <a:t>When a body is loaded within elastic limit, it changes its dimensions and on the removal of the load, it regains its original dimensions. So long as it remains loaded, it has stored energy in itself. On removing the load, the energy stored is given off as in the case of a spring. This energy, which is absorbed in a body when strained within elastic limit, is known as </a:t>
            </a:r>
            <a:r>
              <a:rPr lang="en-US" sz="2900" b="1" i="1" dirty="0">
                <a:solidFill>
                  <a:srgbClr val="231F20"/>
                </a:solidFill>
                <a:latin typeface="Times New Roman" panose="02020603050405020304" pitchFamily="18" charset="0"/>
              </a:rPr>
              <a:t>strain energy</a:t>
            </a:r>
            <a:r>
              <a:rPr lang="en-US" sz="2900" b="1" dirty="0">
                <a:solidFill>
                  <a:srgbClr val="231F20"/>
                </a:solidFill>
                <a:latin typeface="Times New Roman" panose="02020603050405020304" pitchFamily="18" charset="0"/>
              </a:rPr>
              <a:t>. </a:t>
            </a:r>
            <a:r>
              <a:rPr lang="en-US" sz="2900" dirty="0">
                <a:solidFill>
                  <a:srgbClr val="231F20"/>
                </a:solidFill>
                <a:latin typeface="Times New Roman" panose="02020603050405020304" pitchFamily="18" charset="0"/>
              </a:rPr>
              <a:t>The strain energy is always capable of doing some work.</a:t>
            </a:r>
          </a:p>
          <a:p>
            <a:pPr marL="0" indent="0" algn="just">
              <a:buNone/>
            </a:pPr>
            <a:endParaRPr lang="en-US" sz="2900" dirty="0">
              <a:solidFill>
                <a:srgbClr val="231F20"/>
              </a:solidFill>
              <a:latin typeface="Times New Roman" panose="02020603050405020304" pitchFamily="18" charset="0"/>
            </a:endParaRPr>
          </a:p>
          <a:p>
            <a:pPr marL="0" indent="0" algn="just">
              <a:buNone/>
            </a:pPr>
            <a:r>
              <a:rPr lang="en-US" sz="2900" dirty="0">
                <a:solidFill>
                  <a:srgbClr val="231F20"/>
                </a:solidFill>
                <a:latin typeface="Times New Roman" panose="02020603050405020304" pitchFamily="18" charset="0"/>
              </a:rPr>
              <a:t>The strain energy stored in a body due to external loading, within elastic limit, is known as </a:t>
            </a:r>
            <a:r>
              <a:rPr lang="en-US" sz="2900" b="1" i="1" dirty="0">
                <a:solidFill>
                  <a:srgbClr val="231F20"/>
                </a:solidFill>
                <a:latin typeface="Times New Roman" panose="02020603050405020304" pitchFamily="18" charset="0"/>
              </a:rPr>
              <a:t>resilience </a:t>
            </a:r>
            <a:r>
              <a:rPr lang="en-US" sz="2900" dirty="0">
                <a:solidFill>
                  <a:srgbClr val="231F20"/>
                </a:solidFill>
                <a:latin typeface="Times New Roman" panose="02020603050405020304" pitchFamily="18" charset="0"/>
              </a:rPr>
              <a:t>and the maximum energy which can be stored in a body up to the elastic limit is called </a:t>
            </a:r>
            <a:r>
              <a:rPr lang="en-US" sz="2900" b="1" i="1" dirty="0">
                <a:solidFill>
                  <a:srgbClr val="231F20"/>
                </a:solidFill>
                <a:latin typeface="Times New Roman" panose="02020603050405020304" pitchFamily="18" charset="0"/>
              </a:rPr>
              <a:t>proof resilience</a:t>
            </a:r>
            <a:r>
              <a:rPr lang="en-US" sz="2900" i="1" dirty="0">
                <a:solidFill>
                  <a:srgbClr val="231F20"/>
                </a:solidFill>
                <a:latin typeface="Times New Roman" panose="02020603050405020304" pitchFamily="18" charset="0"/>
              </a:rPr>
              <a:t>. </a:t>
            </a:r>
            <a:r>
              <a:rPr lang="en-US" sz="2900" dirty="0">
                <a:solidFill>
                  <a:srgbClr val="231F20"/>
                </a:solidFill>
                <a:latin typeface="Times New Roman" panose="02020603050405020304" pitchFamily="18" charset="0"/>
              </a:rPr>
              <a:t>The proof resilience per unit volume of a material is known as </a:t>
            </a:r>
            <a:r>
              <a:rPr lang="en-US" sz="2900" b="1" i="1" dirty="0">
                <a:solidFill>
                  <a:srgbClr val="231F20"/>
                </a:solidFill>
                <a:latin typeface="Times New Roman" panose="02020603050405020304" pitchFamily="18" charset="0"/>
              </a:rPr>
              <a:t>modulus of resilience</a:t>
            </a:r>
            <a:r>
              <a:rPr lang="en-US" sz="2900" b="1" dirty="0">
                <a:solidFill>
                  <a:srgbClr val="231F20"/>
                </a:solidFill>
                <a:latin typeface="Times New Roman" panose="02020603050405020304" pitchFamily="18" charset="0"/>
              </a:rPr>
              <a:t>. </a:t>
            </a:r>
            <a:r>
              <a:rPr lang="en-US" sz="2900" dirty="0">
                <a:solidFill>
                  <a:srgbClr val="231F20"/>
                </a:solidFill>
                <a:latin typeface="Times New Roman" panose="02020603050405020304" pitchFamily="18" charset="0"/>
              </a:rPr>
              <a:t>It is an important property of a material and gives capacity of the material to bear impact or shocks. Mathematically, strain energy stored in a body due to tensile or compressive load or resilience</a:t>
            </a:r>
            <a:endParaRPr lang="en-US" sz="2900" dirty="0"/>
          </a:p>
        </p:txBody>
      </p:sp>
      <p:sp>
        <p:nvSpPr>
          <p:cNvPr id="6" name="Slide Number Placeholder 5"/>
          <p:cNvSpPr>
            <a:spLocks noGrp="1"/>
          </p:cNvSpPr>
          <p:nvPr>
            <p:ph type="sldNum" sz="quarter" idx="12"/>
          </p:nvPr>
        </p:nvSpPr>
        <p:spPr/>
        <p:txBody>
          <a:bodyPr/>
          <a:lstStyle/>
          <a:p>
            <a:fld id="{FE26519D-5832-4C74-968F-A812C8CD0CD7}" type="slidenum">
              <a:rPr lang="en-US" smtClean="0"/>
              <a:t>55</a:t>
            </a:fld>
            <a:endParaRPr lang="en-US"/>
          </a:p>
        </p:txBody>
      </p:sp>
    </p:spTree>
    <p:extLst>
      <p:ext uri="{BB962C8B-B14F-4D97-AF65-F5344CB8AC3E}">
        <p14:creationId xmlns:p14="http://schemas.microsoft.com/office/powerpoint/2010/main" val="30925814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129" y="53416"/>
            <a:ext cx="11981330" cy="6668059"/>
          </a:xfrm>
          <a:prstGeom prst="rect">
            <a:avLst/>
          </a:prstGeom>
          <a:noFill/>
          <a:ln>
            <a:noFill/>
          </a:ln>
        </p:spPr>
      </p:pic>
      <p:sp>
        <p:nvSpPr>
          <p:cNvPr id="7" name="Slide Number Placeholder 6"/>
          <p:cNvSpPr>
            <a:spLocks noGrp="1"/>
          </p:cNvSpPr>
          <p:nvPr>
            <p:ph type="sldNum" sz="quarter" idx="12"/>
          </p:nvPr>
        </p:nvSpPr>
        <p:spPr/>
        <p:txBody>
          <a:bodyPr/>
          <a:lstStyle/>
          <a:p>
            <a:fld id="{FE26519D-5832-4C74-968F-A812C8CD0CD7}" type="slidenum">
              <a:rPr lang="en-US" smtClean="0"/>
              <a:t>56</a:t>
            </a:fld>
            <a:endParaRPr lang="en-US"/>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455400" y="339480"/>
              <a:ext cx="1036080" cy="580680"/>
            </p14:xfrm>
          </p:contentPart>
        </mc:Choice>
        <mc:Fallback xmlns="">
          <p:pic>
            <p:nvPicPr>
              <p:cNvPr id="2" name="Ink 1"/>
              <p:cNvPicPr/>
              <p:nvPr/>
            </p:nvPicPr>
            <p:blipFill>
              <a:blip r:embed="rId4"/>
              <a:stretch>
                <a:fillRect/>
              </a:stretch>
            </p:blipFill>
            <p:spPr>
              <a:xfrm>
                <a:off x="446040" y="330120"/>
                <a:ext cx="1054800" cy="599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p14:cNvContentPartPr/>
              <p14:nvPr/>
            </p14:nvContentPartPr>
            <p14:xfrm>
              <a:off x="455400" y="535680"/>
              <a:ext cx="991440" cy="277200"/>
            </p14:xfrm>
          </p:contentPart>
        </mc:Choice>
        <mc:Fallback xmlns="">
          <p:pic>
            <p:nvPicPr>
              <p:cNvPr id="3" name="Ink 2"/>
              <p:cNvPicPr/>
              <p:nvPr/>
            </p:nvPicPr>
            <p:blipFill>
              <a:blip r:embed="rId6"/>
              <a:stretch>
                <a:fillRect/>
              </a:stretch>
            </p:blipFill>
            <p:spPr>
              <a:xfrm>
                <a:off x="446040" y="526320"/>
                <a:ext cx="1010160" cy="295920"/>
              </a:xfrm>
              <a:prstGeom prst="rect">
                <a:avLst/>
              </a:prstGeom>
            </p:spPr>
          </p:pic>
        </mc:Fallback>
      </mc:AlternateContent>
    </p:spTree>
    <p:extLst>
      <p:ext uri="{BB962C8B-B14F-4D97-AF65-F5344CB8AC3E}">
        <p14:creationId xmlns:p14="http://schemas.microsoft.com/office/powerpoint/2010/main" val="14408091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151" y="0"/>
            <a:ext cx="3374265" cy="4468969"/>
          </a:xfrm>
        </p:spPr>
        <p:txBody>
          <a:bodyPr/>
          <a:lstStyle/>
          <a:p>
            <a:pPr marL="0" indent="0">
              <a:buNone/>
            </a:pPr>
            <a:r>
              <a:rPr lang="en-US" b="1" dirty="0">
                <a:solidFill>
                  <a:srgbClr val="ED008D"/>
                </a:solidFill>
                <a:latin typeface="Times New Roman" panose="02020603050405020304" pitchFamily="18" charset="0"/>
              </a:rPr>
              <a:t>Example 1.7. </a:t>
            </a:r>
            <a:r>
              <a:rPr lang="en-US" i="1" dirty="0">
                <a:solidFill>
                  <a:srgbClr val="231F20"/>
                </a:solidFill>
                <a:latin typeface="Times New Roman" panose="02020603050405020304" pitchFamily="18" charset="0"/>
              </a:rPr>
              <a:t>A wrought iron bar 50 mm in diameter and 2.5 m long transmits a shock energy of 100 N-m. Find the maximum instantaneous stress and the elongation. Take E = 200 GN/m</a:t>
            </a:r>
            <a:r>
              <a:rPr lang="en-US" i="1" baseline="30000" dirty="0">
                <a:solidFill>
                  <a:srgbClr val="231F20"/>
                </a:solidFill>
                <a:latin typeface="Times New Roman" panose="02020603050405020304" pitchFamily="18" charset="0"/>
              </a:rPr>
              <a:t>2</a:t>
            </a:r>
            <a:r>
              <a:rPr lang="en-US" i="1" dirty="0">
                <a:solidFill>
                  <a:srgbClr val="231F20"/>
                </a:solidFill>
                <a:latin typeface="Times New Roman" panose="02020603050405020304" pitchFamily="18" charset="0"/>
              </a:rPr>
              <a:t>.</a:t>
            </a:r>
            <a:endParaRPr lang="en-US" dirty="0"/>
          </a:p>
        </p:txBody>
      </p:sp>
      <p:pic>
        <p:nvPicPr>
          <p:cNvPr id="4" name="Picture 3"/>
          <p:cNvPicPr>
            <a:picLocks noChangeAspect="1"/>
          </p:cNvPicPr>
          <p:nvPr/>
        </p:nvPicPr>
        <p:blipFill>
          <a:blip r:embed="rId2"/>
          <a:stretch>
            <a:fillRect/>
          </a:stretch>
        </p:blipFill>
        <p:spPr>
          <a:xfrm>
            <a:off x="3464417" y="0"/>
            <a:ext cx="8615966" cy="6761408"/>
          </a:xfrm>
          <a:prstGeom prst="rect">
            <a:avLst/>
          </a:prstGeom>
        </p:spPr>
      </p:pic>
      <p:sp>
        <p:nvSpPr>
          <p:cNvPr id="7" name="Slide Number Placeholder 6"/>
          <p:cNvSpPr>
            <a:spLocks noGrp="1"/>
          </p:cNvSpPr>
          <p:nvPr>
            <p:ph type="sldNum" sz="quarter" idx="12"/>
          </p:nvPr>
        </p:nvSpPr>
        <p:spPr/>
        <p:txBody>
          <a:bodyPr/>
          <a:lstStyle/>
          <a:p>
            <a:fld id="{FE26519D-5832-4C74-968F-A812C8CD0CD7}" type="slidenum">
              <a:rPr lang="en-US" smtClean="0"/>
              <a:t>57</a:t>
            </a:fld>
            <a:endParaRPr lang="en-US"/>
          </a:p>
        </p:txBody>
      </p:sp>
    </p:spTree>
    <p:extLst>
      <p:ext uri="{BB962C8B-B14F-4D97-AF65-F5344CB8AC3E}">
        <p14:creationId xmlns:p14="http://schemas.microsoft.com/office/powerpoint/2010/main" val="14667224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41668"/>
            <a:ext cx="11036121" cy="6035295"/>
          </a:xfrm>
        </p:spPr>
        <p:txBody>
          <a:bodyPr>
            <a:normAutofit/>
          </a:bodyPr>
          <a:lstStyle/>
          <a:p>
            <a:pPr algn="ctr"/>
            <a:endParaRPr lang="en-US" sz="7200" dirty="0"/>
          </a:p>
          <a:p>
            <a:pPr algn="ctr"/>
            <a:endParaRPr lang="en-US" sz="7200" dirty="0"/>
          </a:p>
          <a:p>
            <a:pPr marL="0" indent="0" algn="ctr">
              <a:buNone/>
            </a:pPr>
            <a:r>
              <a:rPr lang="en-US" sz="7200" dirty="0">
                <a:solidFill>
                  <a:srgbClr val="FF0000"/>
                </a:solidFill>
                <a:latin typeface="Algerian" panose="04020705040A02060702" pitchFamily="82" charset="0"/>
              </a:rPr>
              <a:t>THANK YOU !</a:t>
            </a:r>
          </a:p>
        </p:txBody>
      </p:sp>
      <p:sp>
        <p:nvSpPr>
          <p:cNvPr id="7" name="Slide Number Placeholder 6"/>
          <p:cNvSpPr>
            <a:spLocks noGrp="1"/>
          </p:cNvSpPr>
          <p:nvPr>
            <p:ph type="sldNum" sz="quarter" idx="12"/>
          </p:nvPr>
        </p:nvSpPr>
        <p:spPr/>
        <p:txBody>
          <a:bodyPr/>
          <a:lstStyle/>
          <a:p>
            <a:fld id="{FE26519D-5832-4C74-968F-A812C8CD0CD7}" type="slidenum">
              <a:rPr lang="en-US" smtClean="0"/>
              <a:t>58</a:t>
            </a:fld>
            <a:endParaRPr lang="en-US"/>
          </a:p>
        </p:txBody>
      </p:sp>
    </p:spTree>
    <p:extLst>
      <p:ext uri="{BB962C8B-B14F-4D97-AF65-F5344CB8AC3E}">
        <p14:creationId xmlns:p14="http://schemas.microsoft.com/office/powerpoint/2010/main" val="2975247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708</TotalTime>
  <Words>3574</Words>
  <Application>Microsoft Office PowerPoint</Application>
  <PresentationFormat>Widescreen</PresentationFormat>
  <Paragraphs>214</Paragraphs>
  <Slides>58</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Algerian</vt:lpstr>
      <vt:lpstr>Arial</vt:lpstr>
      <vt:lpstr>AvantGarde-Demi</vt:lpstr>
      <vt:lpstr>AvantGarde-DemiOblique</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FUNDAMENTALS OF STRESS AND STRAIN</dc:title>
  <dc:creator>Joram</dc:creator>
  <cp:lastModifiedBy>p sulley</cp:lastModifiedBy>
  <cp:revision>58</cp:revision>
  <dcterms:created xsi:type="dcterms:W3CDTF">2016-11-23T08:05:10Z</dcterms:created>
  <dcterms:modified xsi:type="dcterms:W3CDTF">2025-11-25T11:37:06Z</dcterms:modified>
</cp:coreProperties>
</file>