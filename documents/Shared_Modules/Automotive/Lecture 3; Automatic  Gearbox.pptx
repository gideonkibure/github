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83" r:id="rId2"/>
    <p:sldId id="284" r:id="rId3"/>
    <p:sldId id="348" r:id="rId4"/>
    <p:sldId id="376" r:id="rId5"/>
    <p:sldId id="286" r:id="rId6"/>
    <p:sldId id="306" r:id="rId7"/>
    <p:sldId id="310" r:id="rId8"/>
    <p:sldId id="375" r:id="rId9"/>
    <p:sldId id="288" r:id="rId10"/>
    <p:sldId id="290" r:id="rId11"/>
    <p:sldId id="291" r:id="rId12"/>
    <p:sldId id="292" r:id="rId13"/>
    <p:sldId id="296" r:id="rId14"/>
    <p:sldId id="295" r:id="rId15"/>
    <p:sldId id="344" r:id="rId16"/>
    <p:sldId id="349" r:id="rId17"/>
    <p:sldId id="345" r:id="rId18"/>
    <p:sldId id="304" r:id="rId19"/>
    <p:sldId id="330" r:id="rId20"/>
    <p:sldId id="331" r:id="rId21"/>
    <p:sldId id="305" r:id="rId22"/>
    <p:sldId id="350" r:id="rId23"/>
    <p:sldId id="367" r:id="rId24"/>
    <p:sldId id="351" r:id="rId25"/>
    <p:sldId id="352" r:id="rId26"/>
    <p:sldId id="353" r:id="rId27"/>
    <p:sldId id="354" r:id="rId28"/>
    <p:sldId id="335" r:id="rId29"/>
    <p:sldId id="355" r:id="rId30"/>
    <p:sldId id="356" r:id="rId31"/>
    <p:sldId id="338" r:id="rId32"/>
    <p:sldId id="357" r:id="rId33"/>
    <p:sldId id="368" r:id="rId34"/>
    <p:sldId id="340" r:id="rId35"/>
    <p:sldId id="358" r:id="rId36"/>
    <p:sldId id="342" r:id="rId37"/>
    <p:sldId id="365" r:id="rId38"/>
    <p:sldId id="343" r:id="rId39"/>
    <p:sldId id="308" r:id="rId40"/>
    <p:sldId id="381" r:id="rId41"/>
    <p:sldId id="374" r:id="rId42"/>
    <p:sldId id="325" r:id="rId43"/>
    <p:sldId id="326" r:id="rId44"/>
    <p:sldId id="329" r:id="rId45"/>
    <p:sldId id="378" r:id="rId46"/>
    <p:sldId id="379" r:id="rId47"/>
    <p:sldId id="380" r:id="rId48"/>
    <p:sldId id="315" r:id="rId49"/>
    <p:sldId id="316" r:id="rId50"/>
    <p:sldId id="320" r:id="rId51"/>
    <p:sldId id="311" r:id="rId52"/>
    <p:sldId id="313" r:id="rId53"/>
    <p:sldId id="347" r:id="rId54"/>
    <p:sldId id="312" r:id="rId55"/>
    <p:sldId id="371" r:id="rId56"/>
    <p:sldId id="372" r:id="rId57"/>
    <p:sldId id="346" r:id="rId5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p:cViewPr varScale="1">
        <p:scale>
          <a:sx n="65" d="100"/>
          <a:sy n="65" d="100"/>
        </p:scale>
        <p:origin x="1560" y="7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10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a:xfrm>
            <a:off x="1921934" y="5054602"/>
            <a:ext cx="4064860" cy="279400"/>
          </a:xfrm>
        </p:spPr>
        <p:txBody>
          <a:bodyPr/>
          <a:lstStyle/>
          <a:p>
            <a:endParaRPr lang="en-GB"/>
          </a:p>
        </p:txBody>
      </p:sp>
      <p:sp>
        <p:nvSpPr>
          <p:cNvPr id="6" name="Slide Number Placeholder 5"/>
          <p:cNvSpPr>
            <a:spLocks noGrp="1"/>
          </p:cNvSpPr>
          <p:nvPr>
            <p:ph type="sldNum" sz="quarter" idx="12"/>
          </p:nvPr>
        </p:nvSpPr>
        <p:spPr>
          <a:xfrm>
            <a:off x="6817317" y="5054602"/>
            <a:ext cx="413483" cy="279400"/>
          </a:xfrm>
        </p:spPr>
        <p:txBody>
          <a:bodyPr/>
          <a:lstStyle/>
          <a:p>
            <a:fld id="{F8E4787C-5E12-4A9E-B386-113EB29A20BC}" type="slidenum">
              <a:rPr lang="en-GB" smtClean="0"/>
              <a:pPr/>
              <a:t>‹#›</a:t>
            </a:fld>
            <a:endParaRPr lang="en-GB"/>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514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E4787C-5E12-4A9E-B386-113EB29A20BC}" type="slidenum">
              <a:rPr lang="en-GB" smtClean="0"/>
              <a:pPr/>
              <a:t>‹#›</a:t>
            </a:fld>
            <a:endParaRPr lang="en-GB"/>
          </a:p>
        </p:txBody>
      </p:sp>
    </p:spTree>
    <p:extLst>
      <p:ext uri="{BB962C8B-B14F-4D97-AF65-F5344CB8AC3E}">
        <p14:creationId xmlns:p14="http://schemas.microsoft.com/office/powerpoint/2010/main" val="1021386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E4787C-5E12-4A9E-B386-113EB29A20BC}" type="slidenum">
              <a:rPr lang="en-GB" smtClean="0"/>
              <a:pPr/>
              <a:t>‹#›</a:t>
            </a:fld>
            <a:endParaRPr lang="en-GB"/>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0740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B7E829-023E-4487-891A-99CA34390CB2}" type="datetimeFigureOut">
              <a:rPr lang="en-US" smtClean="0"/>
              <a:pPr/>
              <a:t>12/2/2024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E4787C-5E12-4A9E-B386-113EB29A20BC}" type="slidenum">
              <a:rPr lang="en-GB" smtClean="0"/>
              <a:pPr/>
              <a:t>‹#›</a:t>
            </a:fld>
            <a:endParaRPr lang="en-GB"/>
          </a:p>
        </p:txBody>
      </p:sp>
    </p:spTree>
    <p:extLst>
      <p:ext uri="{BB962C8B-B14F-4D97-AF65-F5344CB8AC3E}">
        <p14:creationId xmlns:p14="http://schemas.microsoft.com/office/powerpoint/2010/main" val="383026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B7E829-023E-4487-891A-99CA34390CB2}" type="datetimeFigureOut">
              <a:rPr lang="en-US" smtClean="0"/>
              <a:pPr/>
              <a:t>12/2/2024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8E4787C-5E12-4A9E-B386-113EB29A20BC}" type="slidenum">
              <a:rPr lang="en-GB" smtClean="0"/>
              <a:pPr/>
              <a:t>‹#›</a:t>
            </a:fld>
            <a:endParaRPr lang="en-GB"/>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1404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7E829-023E-4487-891A-99CA34390CB2}" type="datetimeFigureOut">
              <a:rPr lang="en-US" smtClean="0"/>
              <a:pPr/>
              <a:t>12/2/2024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8E4787C-5E12-4A9E-B386-113EB29A20BC}" type="slidenum">
              <a:rPr lang="en-GB" smtClean="0"/>
              <a:pPr/>
              <a:t>‹#›</a:t>
            </a:fld>
            <a:endParaRPr lang="en-GB"/>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41683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B7E829-023E-4487-891A-99CA34390CB2}" type="datetimeFigureOut">
              <a:rPr lang="en-US" smtClean="0"/>
              <a:pPr/>
              <a:t>12/2/2024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8E4787C-5E12-4A9E-B386-113EB29A20BC}" type="slidenum">
              <a:rPr lang="en-GB" smtClean="0"/>
              <a:pPr/>
              <a:t>‹#›</a:t>
            </a:fld>
            <a:endParaRPr lang="en-GB"/>
          </a:p>
        </p:txBody>
      </p:sp>
    </p:spTree>
    <p:extLst>
      <p:ext uri="{BB962C8B-B14F-4D97-AF65-F5344CB8AC3E}">
        <p14:creationId xmlns:p14="http://schemas.microsoft.com/office/powerpoint/2010/main" val="454518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B7E829-023E-4487-891A-99CA34390CB2}" type="datetimeFigureOut">
              <a:rPr lang="en-US" smtClean="0"/>
              <a:pPr/>
              <a:t>12/2/2024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E4787C-5E12-4A9E-B386-113EB29A20BC}" type="slidenum">
              <a:rPr lang="en-GB" smtClean="0"/>
              <a:pPr/>
              <a:t>‹#›</a:t>
            </a:fld>
            <a:endParaRPr lang="en-GB"/>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33020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B7E829-023E-4487-891A-99CA34390CB2}" type="datetimeFigureOut">
              <a:rPr lang="en-US" smtClean="0"/>
              <a:pPr/>
              <a:t>12/2/2024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E4787C-5E12-4A9E-B386-113EB29A20BC}" type="slidenum">
              <a:rPr lang="en-GB" smtClean="0"/>
              <a:pPr/>
              <a:t>‹#›</a:t>
            </a:fld>
            <a:endParaRPr lang="en-GB"/>
          </a:p>
        </p:txBody>
      </p:sp>
    </p:spTree>
    <p:extLst>
      <p:ext uri="{BB962C8B-B14F-4D97-AF65-F5344CB8AC3E}">
        <p14:creationId xmlns:p14="http://schemas.microsoft.com/office/powerpoint/2010/main" val="96046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6B7E829-023E-4487-891A-99CA34390CB2}" type="datetimeFigureOut">
              <a:rPr lang="en-US" smtClean="0"/>
              <a:pPr/>
              <a:t>12/2/2024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E4787C-5E12-4A9E-B386-113EB29A20BC}" type="slidenum">
              <a:rPr lang="en-GB" smtClean="0"/>
              <a:pPr/>
              <a:t>‹#›</a:t>
            </a:fld>
            <a:endParaRPr lang="en-GB"/>
          </a:p>
        </p:txBody>
      </p:sp>
    </p:spTree>
    <p:extLst>
      <p:ext uri="{BB962C8B-B14F-4D97-AF65-F5344CB8AC3E}">
        <p14:creationId xmlns:p14="http://schemas.microsoft.com/office/powerpoint/2010/main" val="4264378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E4787C-5E12-4A9E-B386-113EB29A20BC}" type="slidenum">
              <a:rPr lang="en-GB" smtClean="0"/>
              <a:pPr/>
              <a:t>‹#›</a:t>
            </a:fld>
            <a:endParaRPr lang="en-GB"/>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15867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E4787C-5E12-4A9E-B386-113EB29A20BC}" type="slidenum">
              <a:rPr lang="en-GB" smtClean="0"/>
              <a:pPr/>
              <a:t>‹#›</a:t>
            </a:fld>
            <a:endParaRPr lang="en-GB"/>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732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E4787C-5E12-4A9E-B386-113EB29A20BC}" type="slidenum">
              <a:rPr lang="en-GB" smtClean="0"/>
              <a:pPr/>
              <a:t>‹#›</a:t>
            </a:fld>
            <a:endParaRPr lang="en-GB"/>
          </a:p>
        </p:txBody>
      </p:sp>
    </p:spTree>
    <p:extLst>
      <p:ext uri="{BB962C8B-B14F-4D97-AF65-F5344CB8AC3E}">
        <p14:creationId xmlns:p14="http://schemas.microsoft.com/office/powerpoint/2010/main" val="3640247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E4787C-5E12-4A9E-B386-113EB29A20BC}" type="slidenum">
              <a:rPr lang="en-GB" smtClean="0"/>
              <a:pPr/>
              <a:t>‹#›</a:t>
            </a:fld>
            <a:endParaRPr lang="en-GB"/>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69946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E4787C-5E12-4A9E-B386-113EB29A20BC}" type="slidenum">
              <a:rPr lang="en-GB" smtClean="0"/>
              <a:pPr/>
              <a:t>‹#›</a:t>
            </a:fld>
            <a:endParaRPr lang="en-GB"/>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10685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E4787C-5E12-4A9E-B386-113EB29A20BC}" type="slidenum">
              <a:rPr lang="en-GB" smtClean="0"/>
              <a:pPr/>
              <a:t>‹#›</a:t>
            </a:fld>
            <a:endParaRPr lang="en-GB"/>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83564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B7E829-023E-4487-891A-99CA34390CB2}" type="datetimeFigureOut">
              <a:rPr lang="en-US" smtClean="0"/>
              <a:pPr/>
              <a:t>12/2/2024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E4787C-5E12-4A9E-B386-113EB29A20BC}" type="slidenum">
              <a:rPr lang="en-GB" smtClean="0"/>
              <a:pPr/>
              <a:t>‹#›</a:t>
            </a:fld>
            <a:endParaRPr lang="en-GB"/>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6813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6B7E829-023E-4487-891A-99CA34390CB2}" type="datetimeFigureOut">
              <a:rPr lang="en-US" smtClean="0"/>
              <a:pPr/>
              <a:t>12/2/2024</a:t>
            </a:fld>
            <a:endParaRPr lang="en-GB"/>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GB"/>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8E4787C-5E12-4A9E-B386-113EB29A20BC}" type="slidenum">
              <a:rPr lang="en-GB" smtClean="0"/>
              <a:pPr/>
              <a:t>‹#›</a:t>
            </a:fld>
            <a:endParaRPr lang="en-GB"/>
          </a:p>
        </p:txBody>
      </p:sp>
    </p:spTree>
    <p:extLst>
      <p:ext uri="{BB962C8B-B14F-4D97-AF65-F5344CB8AC3E}">
        <p14:creationId xmlns:p14="http://schemas.microsoft.com/office/powerpoint/2010/main" val="165282954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132616-7F09-47BD-81AC-0055EE8653BC}"/>
              </a:ext>
            </a:extLst>
          </p:cNvPr>
          <p:cNvSpPr>
            <a:spLocks noGrp="1"/>
          </p:cNvSpPr>
          <p:nvPr>
            <p:ph type="ctrTitle"/>
          </p:nvPr>
        </p:nvSpPr>
        <p:spPr/>
        <p:txBody>
          <a:bodyPr/>
          <a:lstStyle/>
          <a:p>
            <a:r>
              <a:rPr lang="en-US" sz="4400" b="1" dirty="0">
                <a:latin typeface="+mn-lt"/>
              </a:rPr>
              <a:t>Lecture 3; </a:t>
            </a:r>
            <a:r>
              <a:rPr lang="en-US" dirty="0"/>
              <a:t> </a:t>
            </a:r>
            <a:r>
              <a:rPr lang="en-US" b="1" dirty="0"/>
              <a:t>Automatic</a:t>
            </a:r>
            <a:r>
              <a:rPr lang="en-US" dirty="0"/>
              <a:t> </a:t>
            </a:r>
            <a:r>
              <a:rPr lang="en-US" sz="4400" b="1" dirty="0">
                <a:latin typeface="+mn-lt"/>
              </a:rPr>
              <a:t> Gearbox</a:t>
            </a:r>
            <a:endParaRPr lang="en-US" dirty="0"/>
          </a:p>
        </p:txBody>
      </p:sp>
    </p:spTree>
    <p:extLst>
      <p:ext uri="{BB962C8B-B14F-4D97-AF65-F5344CB8AC3E}">
        <p14:creationId xmlns:p14="http://schemas.microsoft.com/office/powerpoint/2010/main" val="2790952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316FE-B471-451A-8749-13A847C66CB5}"/>
              </a:ext>
            </a:extLst>
          </p:cNvPr>
          <p:cNvSpPr>
            <a:spLocks noGrp="1"/>
          </p:cNvSpPr>
          <p:nvPr>
            <p:ph type="title"/>
          </p:nvPr>
        </p:nvSpPr>
        <p:spPr/>
        <p:txBody>
          <a:bodyPr>
            <a:normAutofit fontScale="90000"/>
          </a:bodyPr>
          <a:lstStyle/>
          <a:p>
            <a:r>
              <a:rPr lang="en-US" sz="4400" b="1" dirty="0"/>
              <a:t>This presentation will explore</a:t>
            </a:r>
            <a:endParaRPr lang="en-US" dirty="0"/>
          </a:p>
        </p:txBody>
      </p:sp>
      <p:sp>
        <p:nvSpPr>
          <p:cNvPr id="3" name="Content Placeholder 2">
            <a:extLst>
              <a:ext uri="{FF2B5EF4-FFF2-40B4-BE49-F238E27FC236}">
                <a16:creationId xmlns:a16="http://schemas.microsoft.com/office/drawing/2014/main" id="{49B38EF5-FDCF-492C-8B20-8704B8BDABCB}"/>
              </a:ext>
            </a:extLst>
          </p:cNvPr>
          <p:cNvSpPr>
            <a:spLocks noGrp="1"/>
          </p:cNvSpPr>
          <p:nvPr>
            <p:ph idx="1"/>
          </p:nvPr>
        </p:nvSpPr>
        <p:spPr/>
        <p:txBody>
          <a:bodyPr/>
          <a:lstStyle/>
          <a:p>
            <a:r>
              <a:rPr lang="en-US" dirty="0"/>
              <a:t>Define Automatic gear box</a:t>
            </a:r>
          </a:p>
          <a:p>
            <a:r>
              <a:rPr lang="en-US" dirty="0"/>
              <a:t>Identify components of  Automatic  gear box</a:t>
            </a:r>
          </a:p>
          <a:p>
            <a:r>
              <a:rPr lang="en-US" dirty="0"/>
              <a:t>Describe components of  Automatic  gear box</a:t>
            </a:r>
          </a:p>
          <a:p>
            <a:r>
              <a:rPr lang="en-US" dirty="0"/>
              <a:t>Describe maintenance procedures for  Automatic  gear box</a:t>
            </a:r>
          </a:p>
          <a:p>
            <a:endParaRPr lang="en-US" dirty="0"/>
          </a:p>
        </p:txBody>
      </p:sp>
    </p:spTree>
    <p:extLst>
      <p:ext uri="{BB962C8B-B14F-4D97-AF65-F5344CB8AC3E}">
        <p14:creationId xmlns:p14="http://schemas.microsoft.com/office/powerpoint/2010/main" val="2208912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1374B-1B40-4C90-BF1E-F095E9398323}"/>
              </a:ext>
            </a:extLst>
          </p:cNvPr>
          <p:cNvSpPr>
            <a:spLocks noGrp="1"/>
          </p:cNvSpPr>
          <p:nvPr>
            <p:ph type="title"/>
          </p:nvPr>
        </p:nvSpPr>
        <p:spPr/>
        <p:txBody>
          <a:bodyPr/>
          <a:lstStyle/>
          <a:p>
            <a:r>
              <a:rPr lang="en-US" b="1" dirty="0"/>
              <a:t>Introduction</a:t>
            </a:r>
            <a:endParaRPr lang="en-TZ" dirty="0"/>
          </a:p>
        </p:txBody>
      </p:sp>
      <p:sp>
        <p:nvSpPr>
          <p:cNvPr id="3" name="Content Placeholder 2">
            <a:extLst>
              <a:ext uri="{FF2B5EF4-FFF2-40B4-BE49-F238E27FC236}">
                <a16:creationId xmlns:a16="http://schemas.microsoft.com/office/drawing/2014/main" id="{0BFFE2F6-002B-4BCF-AFC1-6CC832D3C46B}"/>
              </a:ext>
            </a:extLst>
          </p:cNvPr>
          <p:cNvSpPr>
            <a:spLocks noGrp="1"/>
          </p:cNvSpPr>
          <p:nvPr>
            <p:ph idx="1"/>
          </p:nvPr>
        </p:nvSpPr>
        <p:spPr/>
        <p:txBody>
          <a:bodyPr/>
          <a:lstStyle/>
          <a:p>
            <a:pPr marL="0" indent="0" algn="just">
              <a:buNone/>
            </a:pPr>
            <a:r>
              <a:rPr lang="en-US" b="0" i="0" dirty="0">
                <a:effectLst/>
                <a:latin typeface="+mj-lt"/>
              </a:rPr>
              <a:t>An </a:t>
            </a:r>
            <a:r>
              <a:rPr lang="en-US" b="1" i="0" dirty="0">
                <a:effectLst/>
                <a:latin typeface="+mj-lt"/>
              </a:rPr>
              <a:t>automatic gear box</a:t>
            </a:r>
            <a:r>
              <a:rPr lang="en-US" b="0" i="0" dirty="0">
                <a:effectLst/>
                <a:latin typeface="+mj-lt"/>
              </a:rPr>
              <a:t> is multi-speed transmission used in motor vehicles that does not require driver input to change gears under normal driving.</a:t>
            </a:r>
            <a:endParaRPr lang="en-US" dirty="0">
              <a:latin typeface="+mj-lt"/>
            </a:endParaRPr>
          </a:p>
          <a:p>
            <a:pPr marL="0" indent="0" algn="just">
              <a:buNone/>
            </a:pPr>
            <a:r>
              <a:rPr lang="en-US" b="0" i="0" dirty="0">
                <a:effectLst/>
                <a:latin typeface="+mj-lt"/>
              </a:rPr>
              <a:t>An automatic </a:t>
            </a:r>
            <a:r>
              <a:rPr lang="en-US" b="1" i="0" dirty="0">
                <a:effectLst/>
                <a:latin typeface="+mj-lt"/>
              </a:rPr>
              <a:t>gearbox</a:t>
            </a:r>
            <a:r>
              <a:rPr lang="en-US" b="0" i="0" dirty="0">
                <a:effectLst/>
                <a:latin typeface="+mj-lt"/>
              </a:rPr>
              <a:t> is one of the most complex systems in the vehicle. </a:t>
            </a:r>
            <a:endParaRPr lang="en-US" dirty="0">
              <a:latin typeface="+mj-lt"/>
            </a:endParaRPr>
          </a:p>
          <a:p>
            <a:endParaRPr lang="en-TZ" dirty="0">
              <a:latin typeface="+mj-lt"/>
            </a:endParaRPr>
          </a:p>
        </p:txBody>
      </p:sp>
    </p:spTree>
    <p:extLst>
      <p:ext uri="{BB962C8B-B14F-4D97-AF65-F5344CB8AC3E}">
        <p14:creationId xmlns:p14="http://schemas.microsoft.com/office/powerpoint/2010/main" val="2265684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2354-3988-C969-F571-8409BE808080}"/>
              </a:ext>
            </a:extLst>
          </p:cNvPr>
          <p:cNvSpPr>
            <a:spLocks noGrp="1"/>
          </p:cNvSpPr>
          <p:nvPr>
            <p:ph type="title"/>
          </p:nvPr>
        </p:nvSpPr>
        <p:spPr/>
        <p:txBody>
          <a:bodyPr/>
          <a:lstStyle/>
          <a:p>
            <a:r>
              <a:rPr lang="en-US" b="1" dirty="0"/>
              <a:t>Introduction</a:t>
            </a:r>
            <a:endParaRPr lang="en-US" dirty="0"/>
          </a:p>
        </p:txBody>
      </p:sp>
      <p:sp>
        <p:nvSpPr>
          <p:cNvPr id="3" name="Content Placeholder 2">
            <a:extLst>
              <a:ext uri="{FF2B5EF4-FFF2-40B4-BE49-F238E27FC236}">
                <a16:creationId xmlns:a16="http://schemas.microsoft.com/office/drawing/2014/main" id="{7490A15B-85AC-4EBB-49F9-B3982601466C}"/>
              </a:ext>
            </a:extLst>
          </p:cNvPr>
          <p:cNvSpPr>
            <a:spLocks noGrp="1"/>
          </p:cNvSpPr>
          <p:nvPr>
            <p:ph idx="1"/>
          </p:nvPr>
        </p:nvSpPr>
        <p:spPr/>
        <p:txBody>
          <a:bodyPr/>
          <a:lstStyle/>
          <a:p>
            <a:r>
              <a:rPr lang="en-US" dirty="0"/>
              <a:t>Automatic transmissions contain mechanical systems, hydraulic systems, electrical systems and computer controls, all working together in perfect harmony.</a:t>
            </a:r>
          </a:p>
          <a:p>
            <a:r>
              <a:rPr lang="en-US" dirty="0"/>
              <a:t>This automatic transmission obtains different gear ratios using planetary gears</a:t>
            </a:r>
          </a:p>
        </p:txBody>
      </p:sp>
    </p:spTree>
    <p:extLst>
      <p:ext uri="{BB962C8B-B14F-4D97-AF65-F5344CB8AC3E}">
        <p14:creationId xmlns:p14="http://schemas.microsoft.com/office/powerpoint/2010/main" val="962374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7B4A7-BDDC-44D1-9BFE-5A3399FB7512}"/>
              </a:ext>
            </a:extLst>
          </p:cNvPr>
          <p:cNvSpPr>
            <a:spLocks noGrp="1"/>
          </p:cNvSpPr>
          <p:nvPr>
            <p:ph type="title"/>
          </p:nvPr>
        </p:nvSpPr>
        <p:spPr/>
        <p:txBody>
          <a:bodyPr>
            <a:normAutofit fontScale="90000"/>
          </a:bodyPr>
          <a:lstStyle/>
          <a:p>
            <a:r>
              <a:rPr lang="en-US" b="1" dirty="0">
                <a:latin typeface="Garamond" panose="02020404030301010803" pitchFamily="18" charset="0"/>
              </a:rPr>
              <a:t>Automatic Gear Box Construction</a:t>
            </a:r>
            <a:endParaRPr lang="en-US" dirty="0">
              <a:latin typeface="Garamond" panose="02020404030301010803" pitchFamily="18" charset="0"/>
            </a:endParaRPr>
          </a:p>
        </p:txBody>
      </p:sp>
      <p:sp>
        <p:nvSpPr>
          <p:cNvPr id="3" name="Content Placeholder 2">
            <a:extLst>
              <a:ext uri="{FF2B5EF4-FFF2-40B4-BE49-F238E27FC236}">
                <a16:creationId xmlns:a16="http://schemas.microsoft.com/office/drawing/2014/main" id="{46FB9C45-8009-4E0D-8C9D-D8B4C4841597}"/>
              </a:ext>
            </a:extLst>
          </p:cNvPr>
          <p:cNvSpPr>
            <a:spLocks noGrp="1"/>
          </p:cNvSpPr>
          <p:nvPr>
            <p:ph idx="1"/>
          </p:nvPr>
        </p:nvSpPr>
        <p:spPr>
          <a:xfrm>
            <a:off x="762000" y="2362200"/>
            <a:ext cx="8229600" cy="3962400"/>
          </a:xfrm>
        </p:spPr>
        <p:txBody>
          <a:bodyPr>
            <a:noAutofit/>
          </a:bodyPr>
          <a:lstStyle/>
          <a:p>
            <a:pPr marL="0" indent="0">
              <a:buNone/>
            </a:pPr>
            <a:r>
              <a:rPr lang="en-US" sz="2000" b="1" dirty="0">
                <a:latin typeface="Garamond" panose="02020404030301010803" pitchFamily="18" charset="0"/>
              </a:rPr>
              <a:t>Basic Components of  Automatic  gear box</a:t>
            </a:r>
          </a:p>
          <a:p>
            <a:pPr marL="571500" indent="-571500">
              <a:buFont typeface="+mj-lt"/>
              <a:buAutoNum type="romanLcPeriod"/>
            </a:pPr>
            <a:r>
              <a:rPr lang="en-GB" sz="2000" b="1" dirty="0">
                <a:latin typeface="Garamond" panose="02020404030301010803" pitchFamily="18" charset="0"/>
              </a:rPr>
              <a:t>Torque Converter</a:t>
            </a:r>
          </a:p>
          <a:p>
            <a:pPr marL="571500" indent="-571500">
              <a:buFont typeface="+mj-lt"/>
              <a:buAutoNum type="romanLcPeriod"/>
            </a:pPr>
            <a:r>
              <a:rPr lang="en-GB" sz="2000" b="1" dirty="0">
                <a:latin typeface="Garamond" panose="02020404030301010803" pitchFamily="18" charset="0"/>
              </a:rPr>
              <a:t>Oil pump</a:t>
            </a:r>
          </a:p>
          <a:p>
            <a:pPr marL="571500" indent="-571500">
              <a:buFont typeface="+mj-lt"/>
              <a:buAutoNum type="romanLcPeriod"/>
            </a:pPr>
            <a:r>
              <a:rPr lang="en-US" sz="2000" b="1" dirty="0">
                <a:latin typeface="Garamond" panose="02020404030301010803" pitchFamily="18" charset="0"/>
              </a:rPr>
              <a:t>Transmission case/Housing</a:t>
            </a:r>
            <a:endParaRPr lang="en-GB" sz="2000" b="1" dirty="0">
              <a:latin typeface="Garamond" panose="02020404030301010803" pitchFamily="18" charset="0"/>
            </a:endParaRPr>
          </a:p>
          <a:p>
            <a:pPr marL="571500" indent="-571500">
              <a:buFont typeface="+mj-lt"/>
              <a:buAutoNum type="romanLcPeriod"/>
            </a:pPr>
            <a:r>
              <a:rPr lang="en-GB" sz="2000" b="1" dirty="0">
                <a:latin typeface="Garamond" panose="02020404030301010803" pitchFamily="18" charset="0"/>
              </a:rPr>
              <a:t>Planetary (Epicyclic) Gearsets</a:t>
            </a:r>
            <a:r>
              <a:rPr lang="en-GB" sz="2000" dirty="0">
                <a:latin typeface="Garamond" panose="02020404030301010803" pitchFamily="18" charset="0"/>
              </a:rPr>
              <a:t> </a:t>
            </a:r>
            <a:endParaRPr lang="en-GB" sz="2000" b="1" dirty="0">
              <a:latin typeface="Garamond" panose="02020404030301010803" pitchFamily="18" charset="0"/>
            </a:endParaRPr>
          </a:p>
          <a:p>
            <a:pPr marL="571500" indent="-571500">
              <a:buFont typeface="+mj-lt"/>
              <a:buAutoNum type="romanLcPeriod"/>
            </a:pPr>
            <a:r>
              <a:rPr lang="en-GB" sz="2000" b="1" dirty="0">
                <a:latin typeface="Garamond" panose="02020404030301010803" pitchFamily="18" charset="0"/>
              </a:rPr>
              <a:t>Transmission Shafts</a:t>
            </a:r>
            <a:r>
              <a:rPr lang="en-GB" sz="2000" dirty="0">
                <a:latin typeface="Garamond" panose="02020404030301010803" pitchFamily="18" charset="0"/>
              </a:rPr>
              <a:t> </a:t>
            </a:r>
            <a:endParaRPr lang="en-GB" sz="2000" b="1" dirty="0">
              <a:latin typeface="Garamond" panose="02020404030301010803" pitchFamily="18" charset="0"/>
            </a:endParaRPr>
          </a:p>
          <a:p>
            <a:pPr marL="571500" indent="-571500">
              <a:buFont typeface="+mj-lt"/>
              <a:buAutoNum type="romanLcPeriod"/>
            </a:pPr>
            <a:r>
              <a:rPr lang="en-US" sz="2000" b="1" dirty="0">
                <a:latin typeface="Garamond" panose="02020404030301010803" pitchFamily="18" charset="0"/>
              </a:rPr>
              <a:t>Band brake and clutch</a:t>
            </a:r>
            <a:r>
              <a:rPr lang="en-GB" sz="2000" b="1" dirty="0">
                <a:latin typeface="Garamond" panose="02020404030301010803" pitchFamily="18" charset="0"/>
              </a:rPr>
              <a:t> </a:t>
            </a:r>
          </a:p>
          <a:p>
            <a:pPr marL="571500" indent="-571500">
              <a:buFont typeface="+mj-lt"/>
              <a:buAutoNum type="romanLcPeriod"/>
            </a:pPr>
            <a:r>
              <a:rPr lang="en-GB" sz="2000" b="1" dirty="0">
                <a:latin typeface="Garamond" panose="02020404030301010803" pitchFamily="18" charset="0"/>
              </a:rPr>
              <a:t>Valve body </a:t>
            </a:r>
          </a:p>
          <a:p>
            <a:endParaRPr lang="en-US" sz="2000" dirty="0">
              <a:latin typeface="Garamond" panose="02020404030301010803" pitchFamily="18" charset="0"/>
            </a:endParaRPr>
          </a:p>
        </p:txBody>
      </p:sp>
    </p:spTree>
    <p:extLst>
      <p:ext uri="{BB962C8B-B14F-4D97-AF65-F5344CB8AC3E}">
        <p14:creationId xmlns:p14="http://schemas.microsoft.com/office/powerpoint/2010/main" val="23353103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5DEAA3-41FB-4873-AEF5-B6DA9B92DA7B}"/>
              </a:ext>
            </a:extLst>
          </p:cNvPr>
          <p:cNvPicPr>
            <a:picLocks noGrp="1" noChangeAspect="1"/>
          </p:cNvPicPr>
          <p:nvPr>
            <p:ph idx="1"/>
          </p:nvPr>
        </p:nvPicPr>
        <p:blipFill>
          <a:blip r:embed="rId2"/>
          <a:stretch>
            <a:fillRect/>
          </a:stretch>
        </p:blipFill>
        <p:spPr>
          <a:xfrm>
            <a:off x="381000" y="609600"/>
            <a:ext cx="8001000" cy="5257800"/>
          </a:xfrm>
        </p:spPr>
      </p:pic>
    </p:spTree>
    <p:extLst>
      <p:ext uri="{BB962C8B-B14F-4D97-AF65-F5344CB8AC3E}">
        <p14:creationId xmlns:p14="http://schemas.microsoft.com/office/powerpoint/2010/main" val="2182844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EBDD3-A00A-4F62-93C2-0ACB8B545B28}"/>
              </a:ext>
            </a:extLst>
          </p:cNvPr>
          <p:cNvSpPr>
            <a:spLocks noGrp="1"/>
          </p:cNvSpPr>
          <p:nvPr>
            <p:ph type="title"/>
          </p:nvPr>
        </p:nvSpPr>
        <p:spPr/>
        <p:txBody>
          <a:bodyPr/>
          <a:lstStyle/>
          <a:p>
            <a:r>
              <a:rPr lang="en-US" b="1" dirty="0">
                <a:solidFill>
                  <a:srgbClr val="FF0000"/>
                </a:solidFill>
              </a:rPr>
              <a:t>I. </a:t>
            </a:r>
            <a:r>
              <a:rPr lang="en-US" b="1" i="0" dirty="0">
                <a:solidFill>
                  <a:srgbClr val="FF0000"/>
                </a:solidFill>
                <a:effectLst/>
              </a:rPr>
              <a:t>Torque Converter </a:t>
            </a:r>
            <a:endParaRPr lang="en-US" dirty="0">
              <a:solidFill>
                <a:srgbClr val="FF0000"/>
              </a:solidFill>
            </a:endParaRPr>
          </a:p>
        </p:txBody>
      </p:sp>
      <p:sp>
        <p:nvSpPr>
          <p:cNvPr id="3" name="Content Placeholder 2">
            <a:extLst>
              <a:ext uri="{FF2B5EF4-FFF2-40B4-BE49-F238E27FC236}">
                <a16:creationId xmlns:a16="http://schemas.microsoft.com/office/drawing/2014/main" id="{049C565F-E048-4631-BA61-2731E7D14976}"/>
              </a:ext>
            </a:extLst>
          </p:cNvPr>
          <p:cNvSpPr>
            <a:spLocks noGrp="1"/>
          </p:cNvSpPr>
          <p:nvPr>
            <p:ph idx="1"/>
          </p:nvPr>
        </p:nvSpPr>
        <p:spPr/>
        <p:txBody>
          <a:bodyPr/>
          <a:lstStyle/>
          <a:p>
            <a:pPr marL="0" indent="0" algn="just">
              <a:buNone/>
            </a:pPr>
            <a:r>
              <a:rPr lang="en-US" b="0" i="0" dirty="0">
                <a:solidFill>
                  <a:srgbClr val="2C2823"/>
                </a:solidFill>
                <a:effectLst/>
                <a:latin typeface="+mj-lt"/>
              </a:rPr>
              <a:t>The torque converter is a fluid coupling that sits between the engine and the transmission. </a:t>
            </a:r>
          </a:p>
          <a:p>
            <a:pPr marL="0" indent="0" algn="just">
              <a:buNone/>
            </a:pPr>
            <a:r>
              <a:rPr lang="en-US" b="0" i="0" dirty="0">
                <a:solidFill>
                  <a:srgbClr val="2C2823"/>
                </a:solidFill>
                <a:effectLst/>
                <a:latin typeface="+mj-lt"/>
              </a:rPr>
              <a:t>It has two primary functions in terms of transmitting torque:</a:t>
            </a:r>
          </a:p>
          <a:p>
            <a:pPr algn="just">
              <a:buFont typeface="+mj-lt"/>
              <a:buAutoNum type="arabicPeriod"/>
            </a:pPr>
            <a:r>
              <a:rPr lang="en-US" b="0" i="0" dirty="0">
                <a:solidFill>
                  <a:srgbClr val="2C2823"/>
                </a:solidFill>
                <a:effectLst/>
                <a:latin typeface="+mj-lt"/>
              </a:rPr>
              <a:t>Transfers power from the engine to the transmission input shaft</a:t>
            </a:r>
          </a:p>
          <a:p>
            <a:pPr algn="l">
              <a:buFont typeface="+mj-lt"/>
              <a:buAutoNum type="arabicPeriod"/>
            </a:pPr>
            <a:r>
              <a:rPr lang="en-US" b="0" i="0" dirty="0">
                <a:solidFill>
                  <a:srgbClr val="2C2823"/>
                </a:solidFill>
                <a:effectLst/>
                <a:latin typeface="+mj-lt"/>
              </a:rPr>
              <a:t>Multiplies engine torque output</a:t>
            </a:r>
          </a:p>
          <a:p>
            <a:endParaRPr lang="en-US" dirty="0">
              <a:latin typeface="+mj-lt"/>
            </a:endParaRPr>
          </a:p>
        </p:txBody>
      </p:sp>
    </p:spTree>
    <p:extLst>
      <p:ext uri="{BB962C8B-B14F-4D97-AF65-F5344CB8AC3E}">
        <p14:creationId xmlns:p14="http://schemas.microsoft.com/office/powerpoint/2010/main" val="3556974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EBDD3-A00A-4F62-93C2-0ACB8B545B28}"/>
              </a:ext>
            </a:extLst>
          </p:cNvPr>
          <p:cNvSpPr>
            <a:spLocks noGrp="1"/>
          </p:cNvSpPr>
          <p:nvPr>
            <p:ph type="title"/>
          </p:nvPr>
        </p:nvSpPr>
        <p:spPr/>
        <p:txBody>
          <a:bodyPr/>
          <a:lstStyle/>
          <a:p>
            <a:r>
              <a:rPr lang="en-US" b="1" dirty="0">
                <a:solidFill>
                  <a:srgbClr val="FF0000"/>
                </a:solidFill>
              </a:rPr>
              <a:t>I. </a:t>
            </a:r>
            <a:r>
              <a:rPr lang="en-US" b="1" i="0" dirty="0">
                <a:solidFill>
                  <a:srgbClr val="FF0000"/>
                </a:solidFill>
                <a:effectLst/>
              </a:rPr>
              <a:t>Torque Converter </a:t>
            </a:r>
            <a:endParaRPr lang="en-US" dirty="0">
              <a:solidFill>
                <a:srgbClr val="FF0000"/>
              </a:solidFill>
            </a:endParaRPr>
          </a:p>
        </p:txBody>
      </p:sp>
      <p:sp>
        <p:nvSpPr>
          <p:cNvPr id="3" name="Content Placeholder 2">
            <a:extLst>
              <a:ext uri="{FF2B5EF4-FFF2-40B4-BE49-F238E27FC236}">
                <a16:creationId xmlns:a16="http://schemas.microsoft.com/office/drawing/2014/main" id="{049C565F-E048-4631-BA61-2731E7D14976}"/>
              </a:ext>
            </a:extLst>
          </p:cNvPr>
          <p:cNvSpPr>
            <a:spLocks noGrp="1"/>
          </p:cNvSpPr>
          <p:nvPr>
            <p:ph idx="1"/>
          </p:nvPr>
        </p:nvSpPr>
        <p:spPr/>
        <p:txBody>
          <a:bodyPr>
            <a:normAutofit fontScale="92500" lnSpcReduction="10000"/>
          </a:bodyPr>
          <a:lstStyle/>
          <a:p>
            <a:pPr marL="0" indent="0">
              <a:buNone/>
            </a:pPr>
            <a:r>
              <a:rPr lang="en-GB" sz="2400" dirty="0"/>
              <a:t>The torque converter couples the engine to the transmission. Its principle of operation can be demonstrated by two electric fans.</a:t>
            </a:r>
            <a:endParaRPr lang="en-US" sz="2400" dirty="0"/>
          </a:p>
          <a:p>
            <a:r>
              <a:rPr lang="en-GB" sz="2400" dirty="0"/>
              <a:t>One fan power cord is connected to the AC supply and faces the other.</a:t>
            </a:r>
            <a:endParaRPr lang="en-US" sz="2400" dirty="0"/>
          </a:p>
          <a:p>
            <a:r>
              <a:rPr lang="en-GB" sz="2400" dirty="0"/>
              <a:t>The air flow created by this fan causes the second fan to rotate, even though it is not connected to the supply. </a:t>
            </a:r>
            <a:endParaRPr lang="en-US" sz="2400" dirty="0"/>
          </a:p>
          <a:p>
            <a:r>
              <a:rPr lang="en-GB" sz="2400" dirty="0"/>
              <a:t>A torque converter uses oil instead of air to perform the turning motion.</a:t>
            </a:r>
            <a:endParaRPr lang="en-US" sz="2400" dirty="0"/>
          </a:p>
          <a:p>
            <a:endParaRPr lang="en-US" dirty="0">
              <a:latin typeface="+mj-lt"/>
            </a:endParaRPr>
          </a:p>
        </p:txBody>
      </p:sp>
    </p:spTree>
    <p:extLst>
      <p:ext uri="{BB962C8B-B14F-4D97-AF65-F5344CB8AC3E}">
        <p14:creationId xmlns:p14="http://schemas.microsoft.com/office/powerpoint/2010/main" val="1173709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ACC8436-4925-4BE8-8987-EFA893495975}"/>
              </a:ext>
            </a:extLst>
          </p:cNvPr>
          <p:cNvPicPr>
            <a:picLocks noGrp="1" noChangeAspect="1"/>
          </p:cNvPicPr>
          <p:nvPr>
            <p:ph idx="1"/>
          </p:nvPr>
        </p:nvPicPr>
        <p:blipFill>
          <a:blip r:embed="rId2"/>
          <a:stretch>
            <a:fillRect/>
          </a:stretch>
        </p:blipFill>
        <p:spPr>
          <a:xfrm>
            <a:off x="1371600" y="495300"/>
            <a:ext cx="6934200" cy="5867400"/>
          </a:xfrm>
        </p:spPr>
      </p:pic>
    </p:spTree>
    <p:extLst>
      <p:ext uri="{BB962C8B-B14F-4D97-AF65-F5344CB8AC3E}">
        <p14:creationId xmlns:p14="http://schemas.microsoft.com/office/powerpoint/2010/main" val="138954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4EA17E-11BD-4CA4-806A-65C92A38ED0C}"/>
              </a:ext>
            </a:extLst>
          </p:cNvPr>
          <p:cNvSpPr>
            <a:spLocks noGrp="1"/>
          </p:cNvSpPr>
          <p:nvPr>
            <p:ph idx="1"/>
          </p:nvPr>
        </p:nvSpPr>
        <p:spPr/>
        <p:txBody>
          <a:bodyPr>
            <a:normAutofit fontScale="70000" lnSpcReduction="20000"/>
          </a:bodyPr>
          <a:lstStyle/>
          <a:p>
            <a:pPr marL="0" indent="0">
              <a:buNone/>
            </a:pPr>
            <a:r>
              <a:rPr lang="en-US" sz="3200" b="1" dirty="0"/>
              <a:t>Torque Converter Construction</a:t>
            </a:r>
            <a:r>
              <a:rPr lang="en-GB" b="1" dirty="0"/>
              <a:t>s</a:t>
            </a:r>
            <a:r>
              <a:rPr lang="en-GB" sz="3200" b="1" dirty="0"/>
              <a:t> </a:t>
            </a:r>
          </a:p>
          <a:p>
            <a:r>
              <a:rPr lang="en-GB" sz="3200" b="1" dirty="0"/>
              <a:t>Housing</a:t>
            </a:r>
            <a:r>
              <a:rPr lang="en-GB" sz="3200" dirty="0"/>
              <a:t> - Made from two parts, an outer housing and an impeller. They are precision welded together</a:t>
            </a:r>
            <a:r>
              <a:rPr lang="en-US" sz="3200" dirty="0">
                <a:solidFill>
                  <a:srgbClr val="000000"/>
                </a:solidFill>
              </a:rPr>
              <a:t> and oil filled.</a:t>
            </a:r>
          </a:p>
          <a:p>
            <a:r>
              <a:rPr lang="en-US" sz="3200" b="1" dirty="0"/>
              <a:t>Impeller</a:t>
            </a:r>
            <a:r>
              <a:rPr lang="en-US" sz="3200" dirty="0"/>
              <a:t> - (Driving fan) provides power to drive turbine. It contains blades that direct oil flow</a:t>
            </a:r>
          </a:p>
          <a:p>
            <a:r>
              <a:rPr lang="en-GB" sz="3200" b="1" dirty="0"/>
              <a:t>Turbine</a:t>
            </a:r>
            <a:r>
              <a:rPr lang="en-GB" sz="3200" dirty="0"/>
              <a:t> - (Driven fan) </a:t>
            </a:r>
            <a:r>
              <a:rPr lang="en-US" sz="3200" dirty="0"/>
              <a:t>contains blades that receive oil and redirect it, to produce a turning force.</a:t>
            </a:r>
          </a:p>
          <a:p>
            <a:r>
              <a:rPr lang="en-US" sz="3200" b="1" dirty="0"/>
              <a:t>Stator</a:t>
            </a:r>
            <a:r>
              <a:rPr lang="en-US" sz="3200" dirty="0"/>
              <a:t> - Redirects oil flow from turbine to impeller, using blades</a:t>
            </a:r>
            <a:endParaRPr lang="en-US" dirty="0"/>
          </a:p>
        </p:txBody>
      </p:sp>
      <p:sp>
        <p:nvSpPr>
          <p:cNvPr id="4" name="TextBox 3">
            <a:extLst>
              <a:ext uri="{FF2B5EF4-FFF2-40B4-BE49-F238E27FC236}">
                <a16:creationId xmlns:a16="http://schemas.microsoft.com/office/drawing/2014/main" id="{39038460-87DB-085D-165A-C1E548BEEBAB}"/>
              </a:ext>
            </a:extLst>
          </p:cNvPr>
          <p:cNvSpPr txBox="1"/>
          <p:nvPr/>
        </p:nvSpPr>
        <p:spPr>
          <a:xfrm>
            <a:off x="1600200" y="1219200"/>
            <a:ext cx="5562600" cy="646331"/>
          </a:xfrm>
          <a:prstGeom prst="rect">
            <a:avLst/>
          </a:prstGeom>
          <a:noFill/>
        </p:spPr>
        <p:txBody>
          <a:bodyPr wrap="square">
            <a:spAutoFit/>
          </a:bodyPr>
          <a:lstStyle/>
          <a:p>
            <a:r>
              <a:rPr lang="en-GB" sz="3600" b="1" dirty="0">
                <a:solidFill>
                  <a:srgbClr val="FF0000"/>
                </a:solidFill>
              </a:rPr>
              <a:t>Torque Converter</a:t>
            </a:r>
            <a:endParaRPr lang="en-US" sz="3600" dirty="0"/>
          </a:p>
        </p:txBody>
      </p:sp>
    </p:spTree>
    <p:extLst>
      <p:ext uri="{BB962C8B-B14F-4D97-AF65-F5344CB8AC3E}">
        <p14:creationId xmlns:p14="http://schemas.microsoft.com/office/powerpoint/2010/main" val="1460622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D0460ED-4B7F-40C4-9E3D-808B90BD9A6D}"/>
              </a:ext>
            </a:extLst>
          </p:cNvPr>
          <p:cNvPicPr>
            <a:picLocks noGrp="1" noChangeAspect="1"/>
          </p:cNvPicPr>
          <p:nvPr>
            <p:ph idx="1"/>
          </p:nvPr>
        </p:nvPicPr>
        <p:blipFill>
          <a:blip r:embed="rId2"/>
          <a:stretch>
            <a:fillRect/>
          </a:stretch>
        </p:blipFill>
        <p:spPr>
          <a:xfrm>
            <a:off x="685800" y="609600"/>
            <a:ext cx="7619999" cy="5867399"/>
          </a:xfrm>
        </p:spPr>
      </p:pic>
    </p:spTree>
    <p:extLst>
      <p:ext uri="{BB962C8B-B14F-4D97-AF65-F5344CB8AC3E}">
        <p14:creationId xmlns:p14="http://schemas.microsoft.com/office/powerpoint/2010/main" val="2824729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111CE-3FD6-46DC-837E-7A812DFDF15E}"/>
              </a:ext>
            </a:extLst>
          </p:cNvPr>
          <p:cNvSpPr>
            <a:spLocks noGrp="1"/>
          </p:cNvSpPr>
          <p:nvPr>
            <p:ph idx="1"/>
          </p:nvPr>
        </p:nvSpPr>
        <p:spPr/>
        <p:txBody>
          <a:bodyPr>
            <a:normAutofit fontScale="62500" lnSpcReduction="20000"/>
          </a:bodyPr>
          <a:lstStyle/>
          <a:p>
            <a:pPr marL="0" indent="0">
              <a:buNone/>
            </a:pPr>
            <a:r>
              <a:rPr lang="en-US" sz="3200" b="1" dirty="0"/>
              <a:t>Torque Converter Operation</a:t>
            </a:r>
          </a:p>
          <a:p>
            <a:pPr algn="just"/>
            <a:r>
              <a:rPr lang="en-GB" sz="3200" dirty="0"/>
              <a:t>The converter housing is bolted to the flexplate of the engine</a:t>
            </a:r>
          </a:p>
          <a:p>
            <a:pPr algn="just"/>
            <a:r>
              <a:rPr lang="en-GB" sz="3200" dirty="0"/>
              <a:t>The housing and the impeller therefore turn at engine speed.</a:t>
            </a:r>
            <a:endParaRPr lang="en-US" sz="3200" dirty="0">
              <a:solidFill>
                <a:srgbClr val="000000"/>
              </a:solidFill>
            </a:endParaRPr>
          </a:p>
          <a:p>
            <a:pPr algn="just"/>
            <a:r>
              <a:rPr lang="en-US" sz="3200" dirty="0"/>
              <a:t>As the impeller spins, oil is flung outward. A vacuum is created in the centre of the impeller, which draws in more oil.</a:t>
            </a:r>
            <a:endParaRPr lang="en-US" sz="3200" dirty="0">
              <a:solidFill>
                <a:srgbClr val="000000"/>
              </a:solidFill>
            </a:endParaRPr>
          </a:p>
          <a:p>
            <a:pPr algn="just"/>
            <a:r>
              <a:rPr lang="en-US" sz="3200" dirty="0"/>
              <a:t>The turbine is connected to the input shaft of the transmission system. </a:t>
            </a:r>
          </a:p>
          <a:p>
            <a:pPr algn="just"/>
            <a:r>
              <a:rPr lang="en-US" sz="3200" dirty="0"/>
              <a:t>It is turned by oil entering its blades. The blades force the oil toward the centre of the turbine. </a:t>
            </a:r>
            <a:r>
              <a:rPr lang="en-GB" sz="3200" dirty="0"/>
              <a:t>Oil exits the turbine in the opposite direction from impeller rotation, due to turbine design. </a:t>
            </a:r>
            <a:endParaRPr lang="en-US" sz="3200" dirty="0"/>
          </a:p>
          <a:p>
            <a:endParaRPr lang="en-US" dirty="0"/>
          </a:p>
        </p:txBody>
      </p:sp>
      <p:sp>
        <p:nvSpPr>
          <p:cNvPr id="4" name="TextBox 3">
            <a:extLst>
              <a:ext uri="{FF2B5EF4-FFF2-40B4-BE49-F238E27FC236}">
                <a16:creationId xmlns:a16="http://schemas.microsoft.com/office/drawing/2014/main" id="{41EE79C7-02D6-A25D-E6C3-5C819A648042}"/>
              </a:ext>
            </a:extLst>
          </p:cNvPr>
          <p:cNvSpPr txBox="1"/>
          <p:nvPr/>
        </p:nvSpPr>
        <p:spPr>
          <a:xfrm>
            <a:off x="1752600" y="922868"/>
            <a:ext cx="5116642" cy="707886"/>
          </a:xfrm>
          <a:prstGeom prst="rect">
            <a:avLst/>
          </a:prstGeom>
          <a:noFill/>
        </p:spPr>
        <p:txBody>
          <a:bodyPr wrap="square">
            <a:spAutoFit/>
          </a:bodyPr>
          <a:lstStyle/>
          <a:p>
            <a:r>
              <a:rPr lang="en-GB" sz="4000" b="1" dirty="0">
                <a:solidFill>
                  <a:srgbClr val="FF0000"/>
                </a:solidFill>
              </a:rPr>
              <a:t>Torque Converter</a:t>
            </a:r>
            <a:endParaRPr lang="en-US" sz="4000" dirty="0"/>
          </a:p>
        </p:txBody>
      </p:sp>
    </p:spTree>
    <p:extLst>
      <p:ext uri="{BB962C8B-B14F-4D97-AF65-F5344CB8AC3E}">
        <p14:creationId xmlns:p14="http://schemas.microsoft.com/office/powerpoint/2010/main" val="1929463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CD5EDF-4EBD-4862-BFDD-346F606A3248}"/>
              </a:ext>
            </a:extLst>
          </p:cNvPr>
          <p:cNvSpPr>
            <a:spLocks noGrp="1"/>
          </p:cNvSpPr>
          <p:nvPr>
            <p:ph idx="1"/>
          </p:nvPr>
        </p:nvSpPr>
        <p:spPr/>
        <p:txBody>
          <a:bodyPr>
            <a:normAutofit fontScale="62500" lnSpcReduction="20000"/>
          </a:bodyPr>
          <a:lstStyle/>
          <a:p>
            <a:pPr marL="0" indent="0">
              <a:buNone/>
            </a:pPr>
            <a:r>
              <a:rPr lang="en-US" sz="3200" b="1" dirty="0"/>
              <a:t>Torque Converter Operation</a:t>
            </a:r>
          </a:p>
          <a:p>
            <a:pPr algn="just"/>
            <a:r>
              <a:rPr lang="en-GB" sz="3200" dirty="0"/>
              <a:t>The stator is designed to redirect oil flow, so that it assists the impeller. It can only spin in one direction, against turbine oil flow.</a:t>
            </a:r>
            <a:endParaRPr lang="en-US" sz="3200" dirty="0"/>
          </a:p>
          <a:p>
            <a:pPr algn="just"/>
            <a:r>
              <a:rPr lang="en-GB" sz="3200" dirty="0"/>
              <a:t>At low engine speeds, the turbine turns at a lower speed than the impeller, producing a gain in output torque. This is ideal for moving a vehicle from stop, </a:t>
            </a:r>
            <a:r>
              <a:rPr lang="en-GB" sz="3200" b="1" dirty="0"/>
              <a:t>This is known as torque multiplication. </a:t>
            </a:r>
            <a:endParaRPr lang="en-US" sz="3200" b="1" dirty="0"/>
          </a:p>
          <a:p>
            <a:pPr algn="just"/>
            <a:r>
              <a:rPr lang="en-GB" sz="3200" dirty="0"/>
              <a:t>As engine speed increases, torque multiplication reduces until the speed of the turbine approaches that of the impeller (3000 RPM plus).</a:t>
            </a:r>
            <a:endParaRPr lang="en-US" dirty="0"/>
          </a:p>
        </p:txBody>
      </p:sp>
      <p:sp>
        <p:nvSpPr>
          <p:cNvPr id="4" name="TextBox 3">
            <a:extLst>
              <a:ext uri="{FF2B5EF4-FFF2-40B4-BE49-F238E27FC236}">
                <a16:creationId xmlns:a16="http://schemas.microsoft.com/office/drawing/2014/main" id="{ED1B2530-3300-9BC3-F773-FB1EC721F7F6}"/>
              </a:ext>
            </a:extLst>
          </p:cNvPr>
          <p:cNvSpPr txBox="1"/>
          <p:nvPr/>
        </p:nvSpPr>
        <p:spPr>
          <a:xfrm>
            <a:off x="2057400" y="1371600"/>
            <a:ext cx="4811842" cy="646331"/>
          </a:xfrm>
          <a:prstGeom prst="rect">
            <a:avLst/>
          </a:prstGeom>
          <a:noFill/>
        </p:spPr>
        <p:txBody>
          <a:bodyPr wrap="square">
            <a:spAutoFit/>
          </a:bodyPr>
          <a:lstStyle/>
          <a:p>
            <a:r>
              <a:rPr lang="en-GB" sz="3600" b="1" dirty="0">
                <a:solidFill>
                  <a:srgbClr val="FF0000"/>
                </a:solidFill>
              </a:rPr>
              <a:t>Torque Converter</a:t>
            </a:r>
            <a:endParaRPr lang="en-US" sz="3600" dirty="0"/>
          </a:p>
        </p:txBody>
      </p:sp>
    </p:spTree>
    <p:extLst>
      <p:ext uri="{BB962C8B-B14F-4D97-AF65-F5344CB8AC3E}">
        <p14:creationId xmlns:p14="http://schemas.microsoft.com/office/powerpoint/2010/main" val="218412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59">
            <a:extLst>
              <a:ext uri="{FF2B5EF4-FFF2-40B4-BE49-F238E27FC236}">
                <a16:creationId xmlns:a16="http://schemas.microsoft.com/office/drawing/2014/main" id="{DDE54A6D-FB49-4B48-8EF3-AB9FC8B56669}"/>
              </a:ext>
            </a:extLst>
          </p:cNvPr>
          <p:cNvGrpSpPr>
            <a:grpSpLocks/>
          </p:cNvGrpSpPr>
          <p:nvPr/>
        </p:nvGrpSpPr>
        <p:grpSpPr bwMode="auto">
          <a:xfrm>
            <a:off x="1219200" y="779462"/>
            <a:ext cx="6070203" cy="5299075"/>
            <a:chOff x="2718" y="1008"/>
            <a:chExt cx="2815" cy="2522"/>
          </a:xfrm>
        </p:grpSpPr>
        <p:pic>
          <p:nvPicPr>
            <p:cNvPr id="5" name="Picture 42" descr="torqueConverter0">
              <a:extLst>
                <a:ext uri="{FF2B5EF4-FFF2-40B4-BE49-F238E27FC236}">
                  <a16:creationId xmlns:a16="http://schemas.microsoft.com/office/drawing/2014/main" id="{D59446A8-25E0-402E-A9CD-2725F35F2816}"/>
                </a:ext>
              </a:extLst>
            </p:cNvPr>
            <p:cNvPicPr>
              <a:picLocks noChangeAspect="1" noChangeArrowheads="1"/>
            </p:cNvPicPr>
            <p:nvPr/>
          </p:nvPicPr>
          <p:blipFill>
            <a:blip r:embed="rId2"/>
            <a:srcRect/>
            <a:stretch>
              <a:fillRect/>
            </a:stretch>
          </p:blipFill>
          <p:spPr bwMode="auto">
            <a:xfrm>
              <a:off x="3296" y="1008"/>
              <a:ext cx="2237" cy="2319"/>
            </a:xfrm>
            <a:prstGeom prst="rect">
              <a:avLst/>
            </a:prstGeom>
            <a:noFill/>
          </p:spPr>
        </p:pic>
        <p:sp>
          <p:nvSpPr>
            <p:cNvPr id="6" name="Text Box 45">
              <a:extLst>
                <a:ext uri="{FF2B5EF4-FFF2-40B4-BE49-F238E27FC236}">
                  <a16:creationId xmlns:a16="http://schemas.microsoft.com/office/drawing/2014/main" id="{36745D1F-052D-41F5-8051-EE2A776757C9}"/>
                </a:ext>
              </a:extLst>
            </p:cNvPr>
            <p:cNvSpPr txBox="1">
              <a:spLocks noChangeArrowheads="1"/>
            </p:cNvSpPr>
            <p:nvPr/>
          </p:nvSpPr>
          <p:spPr bwMode="auto">
            <a:xfrm>
              <a:off x="2862" y="3318"/>
              <a:ext cx="549" cy="212"/>
            </a:xfrm>
            <a:prstGeom prst="rect">
              <a:avLst/>
            </a:prstGeom>
            <a:noFill/>
            <a:ln w="9525">
              <a:noFill/>
              <a:miter lim="800000"/>
              <a:headEnd/>
              <a:tailEnd/>
            </a:ln>
            <a:effectLst/>
          </p:spPr>
          <p:txBody>
            <a:bodyPr wrap="none">
              <a:spAutoFit/>
            </a:bodyPr>
            <a:lstStyle/>
            <a:p>
              <a:pPr algn="ctr">
                <a:buSzPct val="110000"/>
                <a:buFont typeface="Wingdings" pitchFamily="2" charset="2"/>
                <a:buNone/>
              </a:pPr>
              <a:r>
                <a:rPr lang="en-GB"/>
                <a:t>Turbine</a:t>
              </a:r>
            </a:p>
          </p:txBody>
        </p:sp>
        <p:sp>
          <p:nvSpPr>
            <p:cNvPr id="7" name="Text Box 46">
              <a:extLst>
                <a:ext uri="{FF2B5EF4-FFF2-40B4-BE49-F238E27FC236}">
                  <a16:creationId xmlns:a16="http://schemas.microsoft.com/office/drawing/2014/main" id="{F2803832-6086-43EC-911D-0FCC03E76804}"/>
                </a:ext>
              </a:extLst>
            </p:cNvPr>
            <p:cNvSpPr txBox="1">
              <a:spLocks noChangeArrowheads="1"/>
            </p:cNvSpPr>
            <p:nvPr/>
          </p:nvSpPr>
          <p:spPr bwMode="auto">
            <a:xfrm>
              <a:off x="3762" y="3318"/>
              <a:ext cx="458" cy="212"/>
            </a:xfrm>
            <a:prstGeom prst="rect">
              <a:avLst/>
            </a:prstGeom>
            <a:noFill/>
            <a:ln w="9525">
              <a:noFill/>
              <a:miter lim="800000"/>
              <a:headEnd/>
              <a:tailEnd/>
            </a:ln>
            <a:effectLst/>
          </p:spPr>
          <p:txBody>
            <a:bodyPr wrap="none">
              <a:spAutoFit/>
            </a:bodyPr>
            <a:lstStyle/>
            <a:p>
              <a:pPr algn="ctr">
                <a:buSzPct val="110000"/>
                <a:buFont typeface="Wingdings" pitchFamily="2" charset="2"/>
                <a:buNone/>
              </a:pPr>
              <a:r>
                <a:rPr lang="en-GB"/>
                <a:t>Stator</a:t>
              </a:r>
            </a:p>
          </p:txBody>
        </p:sp>
        <p:sp>
          <p:nvSpPr>
            <p:cNvPr id="8" name="Text Box 47">
              <a:extLst>
                <a:ext uri="{FF2B5EF4-FFF2-40B4-BE49-F238E27FC236}">
                  <a16:creationId xmlns:a16="http://schemas.microsoft.com/office/drawing/2014/main" id="{440E5577-ED37-454E-9CAD-3B161502ED04}"/>
                </a:ext>
              </a:extLst>
            </p:cNvPr>
            <p:cNvSpPr txBox="1">
              <a:spLocks noChangeArrowheads="1"/>
            </p:cNvSpPr>
            <p:nvPr/>
          </p:nvSpPr>
          <p:spPr bwMode="auto">
            <a:xfrm>
              <a:off x="4548" y="3318"/>
              <a:ext cx="571" cy="212"/>
            </a:xfrm>
            <a:prstGeom prst="rect">
              <a:avLst/>
            </a:prstGeom>
            <a:noFill/>
            <a:ln w="9525">
              <a:noFill/>
              <a:miter lim="800000"/>
              <a:headEnd/>
              <a:tailEnd/>
            </a:ln>
            <a:effectLst/>
          </p:spPr>
          <p:txBody>
            <a:bodyPr wrap="none">
              <a:spAutoFit/>
            </a:bodyPr>
            <a:lstStyle/>
            <a:p>
              <a:pPr algn="ctr">
                <a:buSzPct val="110000"/>
                <a:buFont typeface="Wingdings" pitchFamily="2" charset="2"/>
                <a:buNone/>
              </a:pPr>
              <a:r>
                <a:rPr lang="en-GB"/>
                <a:t>Impeller</a:t>
              </a:r>
            </a:p>
          </p:txBody>
        </p:sp>
        <p:sp>
          <p:nvSpPr>
            <p:cNvPr id="9" name="Text Box 48">
              <a:extLst>
                <a:ext uri="{FF2B5EF4-FFF2-40B4-BE49-F238E27FC236}">
                  <a16:creationId xmlns:a16="http://schemas.microsoft.com/office/drawing/2014/main" id="{3B3264E6-386C-4143-98D2-65A756C032D0}"/>
                </a:ext>
              </a:extLst>
            </p:cNvPr>
            <p:cNvSpPr txBox="1">
              <a:spLocks noChangeArrowheads="1"/>
            </p:cNvSpPr>
            <p:nvPr/>
          </p:nvSpPr>
          <p:spPr bwMode="auto">
            <a:xfrm>
              <a:off x="2718" y="1430"/>
              <a:ext cx="647" cy="233"/>
            </a:xfrm>
            <a:prstGeom prst="rect">
              <a:avLst/>
            </a:prstGeom>
            <a:noFill/>
            <a:ln w="9525">
              <a:noFill/>
              <a:miter lim="800000"/>
              <a:headEnd/>
              <a:tailEnd/>
            </a:ln>
            <a:effectLst/>
          </p:spPr>
          <p:txBody>
            <a:bodyPr wrap="none">
              <a:spAutoFit/>
            </a:bodyPr>
            <a:lstStyle/>
            <a:p>
              <a:pPr algn="ctr">
                <a:buSzPct val="110000"/>
                <a:buFont typeface="Wingdings" pitchFamily="2" charset="2"/>
                <a:buNone/>
              </a:pPr>
              <a:r>
                <a:rPr lang="en-GB" dirty="0"/>
                <a:t>Flexplate</a:t>
              </a:r>
            </a:p>
          </p:txBody>
        </p:sp>
        <p:sp>
          <p:nvSpPr>
            <p:cNvPr id="10" name="Line 49">
              <a:extLst>
                <a:ext uri="{FF2B5EF4-FFF2-40B4-BE49-F238E27FC236}">
                  <a16:creationId xmlns:a16="http://schemas.microsoft.com/office/drawing/2014/main" id="{1BA95F13-C5D2-422D-A01D-8E728BBA1B52}"/>
                </a:ext>
              </a:extLst>
            </p:cNvPr>
            <p:cNvSpPr>
              <a:spLocks noChangeShapeType="1"/>
            </p:cNvSpPr>
            <p:nvPr/>
          </p:nvSpPr>
          <p:spPr bwMode="auto">
            <a:xfrm>
              <a:off x="3096" y="1608"/>
              <a:ext cx="352" cy="344"/>
            </a:xfrm>
            <a:prstGeom prst="line">
              <a:avLst/>
            </a:prstGeom>
            <a:noFill/>
            <a:ln w="19050">
              <a:solidFill>
                <a:schemeClr val="tx1"/>
              </a:solidFill>
              <a:round/>
              <a:headEnd/>
              <a:tailEnd type="triangle" w="med" len="med"/>
            </a:ln>
            <a:effectLst/>
          </p:spPr>
          <p:txBody>
            <a:bodyPr anchor="ctr">
              <a:spAutoFit/>
            </a:bodyPr>
            <a:lstStyle/>
            <a:p>
              <a:endParaRPr lang="en-GB"/>
            </a:p>
          </p:txBody>
        </p:sp>
        <p:sp>
          <p:nvSpPr>
            <p:cNvPr id="11" name="Line 50">
              <a:extLst>
                <a:ext uri="{FF2B5EF4-FFF2-40B4-BE49-F238E27FC236}">
                  <a16:creationId xmlns:a16="http://schemas.microsoft.com/office/drawing/2014/main" id="{0B98E30E-A8AF-4965-AF93-5DD53B93C502}"/>
                </a:ext>
              </a:extLst>
            </p:cNvPr>
            <p:cNvSpPr>
              <a:spLocks noChangeShapeType="1"/>
            </p:cNvSpPr>
            <p:nvPr/>
          </p:nvSpPr>
          <p:spPr bwMode="auto">
            <a:xfrm flipV="1">
              <a:off x="3400" y="2920"/>
              <a:ext cx="448" cy="600"/>
            </a:xfrm>
            <a:prstGeom prst="line">
              <a:avLst/>
            </a:prstGeom>
            <a:noFill/>
            <a:ln w="9525">
              <a:noFill/>
              <a:round/>
              <a:headEnd/>
              <a:tailEnd/>
            </a:ln>
            <a:effectLst/>
          </p:spPr>
          <p:txBody>
            <a:bodyPr wrap="none" anchor="ctr">
              <a:spAutoFit/>
            </a:bodyPr>
            <a:lstStyle/>
            <a:p>
              <a:endParaRPr lang="en-GB"/>
            </a:p>
          </p:txBody>
        </p:sp>
        <p:sp>
          <p:nvSpPr>
            <p:cNvPr id="12" name="Line 51">
              <a:extLst>
                <a:ext uri="{FF2B5EF4-FFF2-40B4-BE49-F238E27FC236}">
                  <a16:creationId xmlns:a16="http://schemas.microsoft.com/office/drawing/2014/main" id="{C7EBD89A-3977-4E68-8824-DB152336661B}"/>
                </a:ext>
              </a:extLst>
            </p:cNvPr>
            <p:cNvSpPr>
              <a:spLocks noChangeShapeType="1"/>
            </p:cNvSpPr>
            <p:nvPr/>
          </p:nvSpPr>
          <p:spPr bwMode="auto">
            <a:xfrm flipV="1">
              <a:off x="3176" y="2888"/>
              <a:ext cx="664" cy="472"/>
            </a:xfrm>
            <a:prstGeom prst="line">
              <a:avLst/>
            </a:prstGeom>
            <a:noFill/>
            <a:ln w="19050">
              <a:solidFill>
                <a:schemeClr val="tx1"/>
              </a:solidFill>
              <a:round/>
              <a:headEnd/>
              <a:tailEnd type="triangle" w="med" len="med"/>
            </a:ln>
            <a:effectLst/>
          </p:spPr>
          <p:txBody>
            <a:bodyPr anchor="ctr">
              <a:spAutoFit/>
            </a:bodyPr>
            <a:lstStyle/>
            <a:p>
              <a:endParaRPr lang="en-GB"/>
            </a:p>
          </p:txBody>
        </p:sp>
        <p:sp>
          <p:nvSpPr>
            <p:cNvPr id="13" name="Line 52">
              <a:extLst>
                <a:ext uri="{FF2B5EF4-FFF2-40B4-BE49-F238E27FC236}">
                  <a16:creationId xmlns:a16="http://schemas.microsoft.com/office/drawing/2014/main" id="{3C15E6B3-699E-4361-93DB-C7807125C0E5}"/>
                </a:ext>
              </a:extLst>
            </p:cNvPr>
            <p:cNvSpPr>
              <a:spLocks noChangeShapeType="1"/>
            </p:cNvSpPr>
            <p:nvPr/>
          </p:nvSpPr>
          <p:spPr bwMode="auto">
            <a:xfrm flipV="1">
              <a:off x="4000" y="2504"/>
              <a:ext cx="0" cy="840"/>
            </a:xfrm>
            <a:prstGeom prst="line">
              <a:avLst/>
            </a:prstGeom>
            <a:noFill/>
            <a:ln w="19050">
              <a:solidFill>
                <a:schemeClr val="tx1"/>
              </a:solidFill>
              <a:round/>
              <a:headEnd/>
              <a:tailEnd type="triangle" w="med" len="med"/>
            </a:ln>
            <a:effectLst/>
          </p:spPr>
          <p:txBody>
            <a:bodyPr anchor="ctr">
              <a:spAutoFit/>
            </a:bodyPr>
            <a:lstStyle/>
            <a:p>
              <a:endParaRPr lang="en-GB"/>
            </a:p>
          </p:txBody>
        </p:sp>
        <p:sp>
          <p:nvSpPr>
            <p:cNvPr id="14" name="Line 53">
              <a:extLst>
                <a:ext uri="{FF2B5EF4-FFF2-40B4-BE49-F238E27FC236}">
                  <a16:creationId xmlns:a16="http://schemas.microsoft.com/office/drawing/2014/main" id="{23C113E7-9944-4D97-ADAC-141D508B65D9}"/>
                </a:ext>
              </a:extLst>
            </p:cNvPr>
            <p:cNvSpPr>
              <a:spLocks noChangeShapeType="1"/>
            </p:cNvSpPr>
            <p:nvPr/>
          </p:nvSpPr>
          <p:spPr bwMode="auto">
            <a:xfrm flipH="1" flipV="1">
              <a:off x="4144" y="2880"/>
              <a:ext cx="632" cy="504"/>
            </a:xfrm>
            <a:prstGeom prst="line">
              <a:avLst/>
            </a:prstGeom>
            <a:noFill/>
            <a:ln w="19050">
              <a:solidFill>
                <a:schemeClr val="tx1"/>
              </a:solidFill>
              <a:round/>
              <a:headEnd/>
              <a:tailEnd type="triangle" w="med" len="med"/>
            </a:ln>
            <a:effectLst/>
          </p:spPr>
          <p:txBody>
            <a:bodyPr anchor="ctr">
              <a:spAutoFit/>
            </a:bodyPr>
            <a:lstStyle/>
            <a:p>
              <a:endParaRPr lang="en-GB"/>
            </a:p>
          </p:txBody>
        </p:sp>
        <p:sp>
          <p:nvSpPr>
            <p:cNvPr id="15" name="Text Box 54">
              <a:extLst>
                <a:ext uri="{FF2B5EF4-FFF2-40B4-BE49-F238E27FC236}">
                  <a16:creationId xmlns:a16="http://schemas.microsoft.com/office/drawing/2014/main" id="{D6A37B4B-98DE-4534-B753-E3A6D3C7276B}"/>
                </a:ext>
              </a:extLst>
            </p:cNvPr>
            <p:cNvSpPr txBox="1">
              <a:spLocks noChangeArrowheads="1"/>
            </p:cNvSpPr>
            <p:nvPr/>
          </p:nvSpPr>
          <p:spPr bwMode="auto">
            <a:xfrm>
              <a:off x="4665" y="1081"/>
              <a:ext cx="584" cy="212"/>
            </a:xfrm>
            <a:prstGeom prst="rect">
              <a:avLst/>
            </a:prstGeom>
            <a:noFill/>
            <a:ln w="9525">
              <a:noFill/>
              <a:miter lim="800000"/>
              <a:headEnd/>
              <a:tailEnd/>
            </a:ln>
            <a:effectLst/>
          </p:spPr>
          <p:txBody>
            <a:bodyPr wrap="none">
              <a:spAutoFit/>
            </a:bodyPr>
            <a:lstStyle/>
            <a:p>
              <a:pPr algn="ctr">
                <a:buSzPct val="110000"/>
                <a:buFont typeface="Wingdings" pitchFamily="2" charset="2"/>
                <a:buNone/>
              </a:pPr>
              <a:r>
                <a:rPr lang="en-GB"/>
                <a:t>Housing</a:t>
              </a:r>
            </a:p>
          </p:txBody>
        </p:sp>
        <p:sp>
          <p:nvSpPr>
            <p:cNvPr id="16" name="Line 55">
              <a:extLst>
                <a:ext uri="{FF2B5EF4-FFF2-40B4-BE49-F238E27FC236}">
                  <a16:creationId xmlns:a16="http://schemas.microsoft.com/office/drawing/2014/main" id="{D2320E4E-9B02-4592-B092-6EB8A331957E}"/>
                </a:ext>
              </a:extLst>
            </p:cNvPr>
            <p:cNvSpPr>
              <a:spLocks noChangeShapeType="1"/>
            </p:cNvSpPr>
            <p:nvPr/>
          </p:nvSpPr>
          <p:spPr bwMode="auto">
            <a:xfrm flipH="1">
              <a:off x="4344" y="1199"/>
              <a:ext cx="344" cy="185"/>
            </a:xfrm>
            <a:prstGeom prst="line">
              <a:avLst/>
            </a:prstGeom>
            <a:noFill/>
            <a:ln w="19050">
              <a:solidFill>
                <a:schemeClr val="tx1"/>
              </a:solidFill>
              <a:round/>
              <a:headEnd/>
              <a:tailEnd type="triangle" w="med" len="med"/>
            </a:ln>
            <a:effectLst/>
          </p:spPr>
          <p:txBody>
            <a:bodyPr anchor="ctr">
              <a:spAutoFit/>
            </a:bodyPr>
            <a:lstStyle/>
            <a:p>
              <a:endParaRPr lang="en-GB"/>
            </a:p>
          </p:txBody>
        </p:sp>
        <p:grpSp>
          <p:nvGrpSpPr>
            <p:cNvPr id="17" name="Group 56">
              <a:extLst>
                <a:ext uri="{FF2B5EF4-FFF2-40B4-BE49-F238E27FC236}">
                  <a16:creationId xmlns:a16="http://schemas.microsoft.com/office/drawing/2014/main" id="{FB9FC76F-BB31-43B9-BA3E-D1A843C79B7F}"/>
                </a:ext>
              </a:extLst>
            </p:cNvPr>
            <p:cNvGrpSpPr>
              <a:grpSpLocks/>
            </p:cNvGrpSpPr>
            <p:nvPr/>
          </p:nvGrpSpPr>
          <p:grpSpPr bwMode="auto">
            <a:xfrm>
              <a:off x="4232" y="1488"/>
              <a:ext cx="937" cy="282"/>
              <a:chOff x="4232" y="1624"/>
              <a:chExt cx="937" cy="282"/>
            </a:xfrm>
          </p:grpSpPr>
          <p:sp>
            <p:nvSpPr>
              <p:cNvPr id="18" name="Text Box 57">
                <a:extLst>
                  <a:ext uri="{FF2B5EF4-FFF2-40B4-BE49-F238E27FC236}">
                    <a16:creationId xmlns:a16="http://schemas.microsoft.com/office/drawing/2014/main" id="{362FEBED-980A-4635-8341-EDE7D5251591}"/>
                  </a:ext>
                </a:extLst>
              </p:cNvPr>
              <p:cNvSpPr txBox="1">
                <a:spLocks noChangeArrowheads="1"/>
              </p:cNvSpPr>
              <p:nvPr/>
            </p:nvSpPr>
            <p:spPr bwMode="auto">
              <a:xfrm>
                <a:off x="4634" y="1694"/>
                <a:ext cx="535" cy="212"/>
              </a:xfrm>
              <a:prstGeom prst="rect">
                <a:avLst/>
              </a:prstGeom>
              <a:noFill/>
              <a:ln w="9525">
                <a:noFill/>
                <a:miter lim="800000"/>
                <a:headEnd/>
                <a:tailEnd/>
              </a:ln>
              <a:effectLst/>
            </p:spPr>
            <p:txBody>
              <a:bodyPr wrap="none">
                <a:spAutoFit/>
              </a:bodyPr>
              <a:lstStyle/>
              <a:p>
                <a:pPr algn="ctr">
                  <a:buSzPct val="110000"/>
                  <a:buFont typeface="Wingdings" pitchFamily="2" charset="2"/>
                  <a:buNone/>
                </a:pPr>
                <a:r>
                  <a:rPr lang="en-GB"/>
                  <a:t>Oil flow</a:t>
                </a:r>
              </a:p>
            </p:txBody>
          </p:sp>
          <p:sp>
            <p:nvSpPr>
              <p:cNvPr id="19" name="Line 58">
                <a:extLst>
                  <a:ext uri="{FF2B5EF4-FFF2-40B4-BE49-F238E27FC236}">
                    <a16:creationId xmlns:a16="http://schemas.microsoft.com/office/drawing/2014/main" id="{D00E537A-E3B6-49A3-A3B6-137A036995C2}"/>
                  </a:ext>
                </a:extLst>
              </p:cNvPr>
              <p:cNvSpPr>
                <a:spLocks noChangeShapeType="1"/>
              </p:cNvSpPr>
              <p:nvPr/>
            </p:nvSpPr>
            <p:spPr bwMode="auto">
              <a:xfrm flipH="1" flipV="1">
                <a:off x="4232" y="1624"/>
                <a:ext cx="448" cy="160"/>
              </a:xfrm>
              <a:prstGeom prst="line">
                <a:avLst/>
              </a:prstGeom>
              <a:noFill/>
              <a:ln w="19050">
                <a:solidFill>
                  <a:schemeClr val="tx1"/>
                </a:solidFill>
                <a:round/>
                <a:headEnd/>
                <a:tailEnd type="triangle" w="med" len="med"/>
              </a:ln>
              <a:effectLst/>
            </p:spPr>
            <p:txBody>
              <a:bodyPr wrap="none" anchor="ctr">
                <a:spAutoFit/>
              </a:bodyPr>
              <a:lstStyle/>
              <a:p>
                <a:endParaRPr lang="en-GB"/>
              </a:p>
            </p:txBody>
          </p:sp>
        </p:grpSp>
      </p:grpSp>
    </p:spTree>
    <p:extLst>
      <p:ext uri="{BB962C8B-B14F-4D97-AF65-F5344CB8AC3E}">
        <p14:creationId xmlns:p14="http://schemas.microsoft.com/office/powerpoint/2010/main" val="159474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C4D4C-E0B4-41B4-82B4-2959804D9D68}"/>
              </a:ext>
            </a:extLst>
          </p:cNvPr>
          <p:cNvSpPr>
            <a:spLocks noGrp="1"/>
          </p:cNvSpPr>
          <p:nvPr>
            <p:ph type="title"/>
          </p:nvPr>
        </p:nvSpPr>
        <p:spPr/>
        <p:txBody>
          <a:bodyPr/>
          <a:lstStyle/>
          <a:p>
            <a:r>
              <a:rPr lang="en-US" b="1" dirty="0">
                <a:solidFill>
                  <a:srgbClr val="FF0000"/>
                </a:solidFill>
              </a:rPr>
              <a:t>II. Oil Pump</a:t>
            </a:r>
            <a:endParaRPr lang="en-US" dirty="0"/>
          </a:p>
        </p:txBody>
      </p:sp>
      <p:sp>
        <p:nvSpPr>
          <p:cNvPr id="3" name="Content Placeholder 2">
            <a:extLst>
              <a:ext uri="{FF2B5EF4-FFF2-40B4-BE49-F238E27FC236}">
                <a16:creationId xmlns:a16="http://schemas.microsoft.com/office/drawing/2014/main" id="{62E43C21-72F5-44F7-919D-6921D8F71849}"/>
              </a:ext>
            </a:extLst>
          </p:cNvPr>
          <p:cNvSpPr>
            <a:spLocks noGrp="1"/>
          </p:cNvSpPr>
          <p:nvPr>
            <p:ph idx="1"/>
          </p:nvPr>
        </p:nvSpPr>
        <p:spPr/>
        <p:txBody>
          <a:bodyPr>
            <a:normAutofit fontScale="85000" lnSpcReduction="20000"/>
          </a:bodyPr>
          <a:lstStyle/>
          <a:p>
            <a:pPr algn="just"/>
            <a:r>
              <a:rPr lang="en-US" sz="3200" dirty="0"/>
              <a:t>The hydraulic system is a complex maze of passages and tubes. </a:t>
            </a:r>
          </a:p>
          <a:p>
            <a:pPr algn="just"/>
            <a:r>
              <a:rPr lang="en-US" sz="3200" dirty="0"/>
              <a:t>It uses pressurized transmission fluid to control transmission and torque converter operations. </a:t>
            </a:r>
          </a:p>
          <a:p>
            <a:pPr algn="just"/>
            <a:r>
              <a:rPr lang="en-US" sz="3200" dirty="0"/>
              <a:t>The fluid also cools and lubricates components.</a:t>
            </a:r>
          </a:p>
          <a:p>
            <a:pPr algn="just"/>
            <a:r>
              <a:rPr lang="en-US" sz="3200" dirty="0"/>
              <a:t>The </a:t>
            </a:r>
            <a:r>
              <a:rPr lang="en-US" sz="3200" b="1" dirty="0"/>
              <a:t>Oil Pump</a:t>
            </a:r>
            <a:r>
              <a:rPr lang="en-US" sz="3200" dirty="0"/>
              <a:t> provides a constant supply of pressurized fluid. </a:t>
            </a:r>
          </a:p>
          <a:p>
            <a:endParaRPr lang="en-US" sz="3200" dirty="0"/>
          </a:p>
          <a:p>
            <a:endParaRPr lang="en-US" dirty="0"/>
          </a:p>
        </p:txBody>
      </p:sp>
    </p:spTree>
    <p:extLst>
      <p:ext uri="{BB962C8B-B14F-4D97-AF65-F5344CB8AC3E}">
        <p14:creationId xmlns:p14="http://schemas.microsoft.com/office/powerpoint/2010/main" val="20176707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28096-07B9-4F3C-B864-1C141DA77C01}"/>
              </a:ext>
            </a:extLst>
          </p:cNvPr>
          <p:cNvSpPr>
            <a:spLocks noGrp="1"/>
          </p:cNvSpPr>
          <p:nvPr>
            <p:ph type="title"/>
          </p:nvPr>
        </p:nvSpPr>
        <p:spPr/>
        <p:txBody>
          <a:bodyPr/>
          <a:lstStyle/>
          <a:p>
            <a:r>
              <a:rPr lang="en-US" b="1" dirty="0">
                <a:solidFill>
                  <a:srgbClr val="FF0000"/>
                </a:solidFill>
              </a:rPr>
              <a:t>II. Oil Pump </a:t>
            </a:r>
            <a:r>
              <a:rPr lang="en-US" b="1" dirty="0">
                <a:solidFill>
                  <a:schemeClr val="accent3"/>
                </a:solidFill>
              </a:rPr>
              <a:t>cont..</a:t>
            </a:r>
            <a:endParaRPr lang="en-TZ" dirty="0">
              <a:solidFill>
                <a:schemeClr val="accent3"/>
              </a:solidFill>
            </a:endParaRPr>
          </a:p>
        </p:txBody>
      </p:sp>
      <p:sp>
        <p:nvSpPr>
          <p:cNvPr id="3" name="Content Placeholder 2">
            <a:extLst>
              <a:ext uri="{FF2B5EF4-FFF2-40B4-BE49-F238E27FC236}">
                <a16:creationId xmlns:a16="http://schemas.microsoft.com/office/drawing/2014/main" id="{1EE2FDBE-EEC9-40FE-BB59-B62975222BF8}"/>
              </a:ext>
            </a:extLst>
          </p:cNvPr>
          <p:cNvSpPr>
            <a:spLocks noGrp="1"/>
          </p:cNvSpPr>
          <p:nvPr>
            <p:ph idx="1"/>
          </p:nvPr>
        </p:nvSpPr>
        <p:spPr/>
        <p:txBody>
          <a:bodyPr/>
          <a:lstStyle/>
          <a:p>
            <a:r>
              <a:rPr lang="en-US" sz="2400" dirty="0"/>
              <a:t>It is directly connected to a flange on the torque converter housing and turns at engine speed. </a:t>
            </a:r>
          </a:p>
          <a:p>
            <a:r>
              <a:rPr lang="en-US" sz="2400" dirty="0"/>
              <a:t>The pump contains two gears, the inner gear, which is driven at engine speed, drives the outer gear. </a:t>
            </a:r>
          </a:p>
          <a:p>
            <a:r>
              <a:rPr lang="en-US" sz="2400" dirty="0"/>
              <a:t>Fluid is drawn up from the pan on one side of the crescent and forced into the hydraulic system on the other side.</a:t>
            </a:r>
          </a:p>
          <a:p>
            <a:endParaRPr lang="en-TZ" dirty="0"/>
          </a:p>
        </p:txBody>
      </p:sp>
    </p:spTree>
    <p:extLst>
      <p:ext uri="{BB962C8B-B14F-4D97-AF65-F5344CB8AC3E}">
        <p14:creationId xmlns:p14="http://schemas.microsoft.com/office/powerpoint/2010/main" val="2687595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A12C858-A4DD-40DD-9AB2-B09A02D2684F}"/>
              </a:ext>
            </a:extLst>
          </p:cNvPr>
          <p:cNvPicPr>
            <a:picLocks noGrp="1" noChangeAspect="1"/>
          </p:cNvPicPr>
          <p:nvPr>
            <p:ph idx="1"/>
          </p:nvPr>
        </p:nvPicPr>
        <p:blipFill>
          <a:blip r:embed="rId2"/>
          <a:stretch>
            <a:fillRect/>
          </a:stretch>
        </p:blipFill>
        <p:spPr>
          <a:xfrm>
            <a:off x="1219200" y="571500"/>
            <a:ext cx="6705600" cy="5715000"/>
          </a:xfrm>
        </p:spPr>
      </p:pic>
    </p:spTree>
    <p:extLst>
      <p:ext uri="{BB962C8B-B14F-4D97-AF65-F5344CB8AC3E}">
        <p14:creationId xmlns:p14="http://schemas.microsoft.com/office/powerpoint/2010/main" val="112156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F8F34E-E902-410B-84EE-9391349742CD}"/>
              </a:ext>
            </a:extLst>
          </p:cNvPr>
          <p:cNvSpPr>
            <a:spLocks noGrp="1"/>
          </p:cNvSpPr>
          <p:nvPr>
            <p:ph type="title"/>
          </p:nvPr>
        </p:nvSpPr>
        <p:spPr/>
        <p:txBody>
          <a:bodyPr/>
          <a:lstStyle/>
          <a:p>
            <a:r>
              <a:rPr lang="en-US" b="1" dirty="0">
                <a:solidFill>
                  <a:srgbClr val="FF0000"/>
                </a:solidFill>
              </a:rPr>
              <a:t>III.</a:t>
            </a:r>
            <a:r>
              <a:rPr lang="en-US" dirty="0">
                <a:solidFill>
                  <a:srgbClr val="FF0000"/>
                </a:solidFill>
              </a:rPr>
              <a:t> </a:t>
            </a:r>
            <a:r>
              <a:rPr lang="en-US" b="1" dirty="0">
                <a:solidFill>
                  <a:srgbClr val="FF0000"/>
                </a:solidFill>
              </a:rPr>
              <a:t>Transmission housing</a:t>
            </a:r>
          </a:p>
        </p:txBody>
      </p:sp>
      <p:sp>
        <p:nvSpPr>
          <p:cNvPr id="3" name="Content Placeholder 2">
            <a:extLst>
              <a:ext uri="{FF2B5EF4-FFF2-40B4-BE49-F238E27FC236}">
                <a16:creationId xmlns:a16="http://schemas.microsoft.com/office/drawing/2014/main" id="{ACA9B382-CC2A-454C-8E7F-F927931D14D8}"/>
              </a:ext>
            </a:extLst>
          </p:cNvPr>
          <p:cNvSpPr>
            <a:spLocks noGrp="1"/>
          </p:cNvSpPr>
          <p:nvPr>
            <p:ph idx="1"/>
          </p:nvPr>
        </p:nvSpPr>
        <p:spPr/>
        <p:txBody>
          <a:bodyPr>
            <a:normAutofit lnSpcReduction="10000"/>
          </a:bodyPr>
          <a:lstStyle/>
          <a:p>
            <a:r>
              <a:rPr lang="en-US" b="0" i="0" dirty="0">
                <a:solidFill>
                  <a:srgbClr val="2C2823"/>
                </a:solidFill>
                <a:effectLst/>
                <a:latin typeface="+mj-lt"/>
              </a:rPr>
              <a:t>A transmission housing enclo</a:t>
            </a:r>
            <a:r>
              <a:rPr lang="en-US" dirty="0">
                <a:solidFill>
                  <a:srgbClr val="2C2823"/>
                </a:solidFill>
                <a:latin typeface="+mj-lt"/>
              </a:rPr>
              <a:t>ses</a:t>
            </a:r>
            <a:r>
              <a:rPr lang="en-US" b="0" i="0" dirty="0">
                <a:solidFill>
                  <a:srgbClr val="2C2823"/>
                </a:solidFill>
                <a:effectLst/>
                <a:latin typeface="+mj-lt"/>
              </a:rPr>
              <a:t> all the parts of the transmission</a:t>
            </a:r>
          </a:p>
          <a:p>
            <a:r>
              <a:rPr lang="en-US" b="0" i="0" dirty="0">
                <a:solidFill>
                  <a:srgbClr val="2C2823"/>
                </a:solidFill>
                <a:effectLst/>
                <a:latin typeface="+mj-lt"/>
              </a:rPr>
              <a:t>The transmission housing is typically made of aluminum. </a:t>
            </a:r>
          </a:p>
          <a:p>
            <a:r>
              <a:rPr lang="en-US" b="0" i="0" dirty="0">
                <a:solidFill>
                  <a:srgbClr val="2C2823"/>
                </a:solidFill>
                <a:effectLst/>
                <a:latin typeface="+mj-lt"/>
              </a:rPr>
              <a:t>Besides protecting all the moving gears of the transmission, the converter housing on modern cars has various sensors that track input rotational speed from the engine and output rotational speed to the rest of the car.</a:t>
            </a:r>
            <a:endParaRPr lang="en-US" dirty="0">
              <a:latin typeface="+mj-lt"/>
            </a:endParaRPr>
          </a:p>
        </p:txBody>
      </p:sp>
    </p:spTree>
    <p:extLst>
      <p:ext uri="{BB962C8B-B14F-4D97-AF65-F5344CB8AC3E}">
        <p14:creationId xmlns:p14="http://schemas.microsoft.com/office/powerpoint/2010/main" val="26148080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A41FE-AC47-4677-B724-655047855F24}"/>
              </a:ext>
            </a:extLst>
          </p:cNvPr>
          <p:cNvSpPr>
            <a:spLocks noGrp="1"/>
          </p:cNvSpPr>
          <p:nvPr>
            <p:ph type="title"/>
          </p:nvPr>
        </p:nvSpPr>
        <p:spPr/>
        <p:txBody>
          <a:bodyPr/>
          <a:lstStyle/>
          <a:p>
            <a:r>
              <a:rPr lang="en-US" b="1" dirty="0">
                <a:solidFill>
                  <a:srgbClr val="FF0000"/>
                </a:solidFill>
              </a:rPr>
              <a:t>Transmission housing </a:t>
            </a:r>
            <a:r>
              <a:rPr lang="en-US" b="1" dirty="0">
                <a:solidFill>
                  <a:srgbClr val="0070C0"/>
                </a:solidFill>
              </a:rPr>
              <a:t>cont.…</a:t>
            </a:r>
            <a:endParaRPr lang="en-US" dirty="0">
              <a:solidFill>
                <a:srgbClr val="0070C0"/>
              </a:solidFill>
            </a:endParaRPr>
          </a:p>
        </p:txBody>
      </p:sp>
      <p:sp>
        <p:nvSpPr>
          <p:cNvPr id="3" name="Content Placeholder 2">
            <a:extLst>
              <a:ext uri="{FF2B5EF4-FFF2-40B4-BE49-F238E27FC236}">
                <a16:creationId xmlns:a16="http://schemas.microsoft.com/office/drawing/2014/main" id="{D917DE91-F141-4835-8065-0DC6D57EFE95}"/>
              </a:ext>
            </a:extLst>
          </p:cNvPr>
          <p:cNvSpPr>
            <a:spLocks noGrp="1"/>
          </p:cNvSpPr>
          <p:nvPr>
            <p:ph idx="1"/>
          </p:nvPr>
        </p:nvSpPr>
        <p:spPr/>
        <p:txBody>
          <a:bodyPr>
            <a:normAutofit fontScale="62500" lnSpcReduction="20000"/>
          </a:bodyPr>
          <a:lstStyle/>
          <a:p>
            <a:pPr marL="0" indent="0" algn="just">
              <a:buNone/>
            </a:pPr>
            <a:r>
              <a:rPr lang="en-GB" sz="3200" dirty="0">
                <a:solidFill>
                  <a:srgbClr val="000000"/>
                </a:solidFill>
              </a:rPr>
              <a:t>There are four main parts of the transmission housing</a:t>
            </a:r>
          </a:p>
          <a:p>
            <a:pPr algn="just"/>
            <a:r>
              <a:rPr lang="en-GB" sz="3200" b="1" dirty="0"/>
              <a:t>Converter Housing</a:t>
            </a:r>
            <a:r>
              <a:rPr lang="en-GB" sz="3200" dirty="0"/>
              <a:t> - Attaches the transmission to the engine, houses the converter and is usually made of aluminium</a:t>
            </a:r>
            <a:r>
              <a:rPr lang="en-US" sz="3200" dirty="0">
                <a:solidFill>
                  <a:srgbClr val="000000"/>
                </a:solidFill>
              </a:rPr>
              <a:t>. </a:t>
            </a:r>
          </a:p>
          <a:p>
            <a:pPr algn="just"/>
            <a:r>
              <a:rPr lang="en-GB" sz="3200" b="1" dirty="0"/>
              <a:t>Main Transmission Case</a:t>
            </a:r>
            <a:r>
              <a:rPr lang="en-GB" sz="3200" dirty="0"/>
              <a:t> - </a:t>
            </a:r>
          </a:p>
          <a:p>
            <a:pPr marL="360363" indent="-360363" algn="just">
              <a:buSzPct val="110000"/>
              <a:buFont typeface="Wingdings" pitchFamily="2" charset="2"/>
              <a:buNone/>
            </a:pPr>
            <a:r>
              <a:rPr lang="en-GB" sz="3200" dirty="0"/>
              <a:t>	Holds the components of the transmission system(gears, band, clutches, shafts</a:t>
            </a:r>
            <a:r>
              <a:rPr lang="en-US" sz="3200" dirty="0"/>
              <a:t>.</a:t>
            </a:r>
          </a:p>
          <a:p>
            <a:pPr algn="just"/>
            <a:r>
              <a:rPr lang="en-GB" sz="3200" b="1" dirty="0"/>
              <a:t>Oil Pan</a:t>
            </a:r>
            <a:r>
              <a:rPr lang="en-GB" sz="3200" dirty="0"/>
              <a:t> - Holds the hydraulic oil and is sealed by a gasket</a:t>
            </a:r>
            <a:r>
              <a:rPr lang="en-US" sz="3200" dirty="0"/>
              <a:t>.</a:t>
            </a:r>
          </a:p>
          <a:p>
            <a:pPr algn="just"/>
            <a:r>
              <a:rPr lang="en-GB" sz="3200" b="1" dirty="0"/>
              <a:t>Extension Housing</a:t>
            </a:r>
            <a:r>
              <a:rPr lang="en-GB" sz="3200" dirty="0"/>
              <a:t> - Protects and houses the output shaft and is sealed by a gasket</a:t>
            </a:r>
            <a:r>
              <a:rPr lang="en-US" sz="3200" dirty="0"/>
              <a:t>.</a:t>
            </a:r>
          </a:p>
          <a:p>
            <a:endParaRPr lang="en-US" dirty="0"/>
          </a:p>
        </p:txBody>
      </p:sp>
    </p:spTree>
    <p:extLst>
      <p:ext uri="{BB962C8B-B14F-4D97-AF65-F5344CB8AC3E}">
        <p14:creationId xmlns:p14="http://schemas.microsoft.com/office/powerpoint/2010/main" val="167887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689445D-F7DB-407D-A22B-2C66298DD3CC}"/>
              </a:ext>
            </a:extLst>
          </p:cNvPr>
          <p:cNvPicPr>
            <a:picLocks noGrp="1" noChangeAspect="1"/>
          </p:cNvPicPr>
          <p:nvPr>
            <p:ph idx="1"/>
          </p:nvPr>
        </p:nvPicPr>
        <p:blipFill>
          <a:blip r:embed="rId2"/>
          <a:stretch>
            <a:fillRect/>
          </a:stretch>
        </p:blipFill>
        <p:spPr>
          <a:xfrm>
            <a:off x="914400" y="762000"/>
            <a:ext cx="7029450" cy="5334000"/>
          </a:xfrm>
        </p:spPr>
      </p:pic>
    </p:spTree>
    <p:extLst>
      <p:ext uri="{BB962C8B-B14F-4D97-AF65-F5344CB8AC3E}">
        <p14:creationId xmlns:p14="http://schemas.microsoft.com/office/powerpoint/2010/main" val="34091403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B7D99-05BD-4913-88AF-4B7E1548526D}"/>
              </a:ext>
            </a:extLst>
          </p:cNvPr>
          <p:cNvSpPr>
            <a:spLocks noGrp="1"/>
          </p:cNvSpPr>
          <p:nvPr>
            <p:ph type="title"/>
          </p:nvPr>
        </p:nvSpPr>
        <p:spPr/>
        <p:txBody>
          <a:bodyPr>
            <a:normAutofit fontScale="90000"/>
          </a:bodyPr>
          <a:lstStyle/>
          <a:p>
            <a:r>
              <a:rPr lang="en-GB" sz="4400" b="1" dirty="0">
                <a:solidFill>
                  <a:srgbClr val="FF0000"/>
                </a:solidFill>
              </a:rPr>
              <a:t>IV. Planetary (Epicyclic) Gearsets</a:t>
            </a:r>
            <a:r>
              <a:rPr lang="en-GB" sz="4400" dirty="0">
                <a:solidFill>
                  <a:srgbClr val="FF0000"/>
                </a:solidFill>
              </a:rPr>
              <a:t> </a:t>
            </a:r>
            <a:endParaRPr lang="en-US" dirty="0">
              <a:solidFill>
                <a:srgbClr val="FF0000"/>
              </a:solidFill>
            </a:endParaRPr>
          </a:p>
        </p:txBody>
      </p:sp>
      <p:sp>
        <p:nvSpPr>
          <p:cNvPr id="3" name="Content Placeholder 2">
            <a:extLst>
              <a:ext uri="{FF2B5EF4-FFF2-40B4-BE49-F238E27FC236}">
                <a16:creationId xmlns:a16="http://schemas.microsoft.com/office/drawing/2014/main" id="{040488EA-0605-4FDD-BEE2-93CBF28E402C}"/>
              </a:ext>
            </a:extLst>
          </p:cNvPr>
          <p:cNvSpPr>
            <a:spLocks noGrp="1"/>
          </p:cNvSpPr>
          <p:nvPr>
            <p:ph idx="1"/>
          </p:nvPr>
        </p:nvSpPr>
        <p:spPr/>
        <p:txBody>
          <a:bodyPr>
            <a:normAutofit fontScale="92500" lnSpcReduction="20000"/>
          </a:bodyPr>
          <a:lstStyle/>
          <a:p>
            <a:pPr algn="just"/>
            <a:r>
              <a:rPr lang="en-GB" sz="3200" dirty="0"/>
              <a:t>In an automatic transmission, planetary gearsets are used to provide forward and reverse gear ratios. </a:t>
            </a:r>
          </a:p>
          <a:p>
            <a:pPr algn="just"/>
            <a:r>
              <a:rPr lang="en-GB" sz="3200" dirty="0"/>
              <a:t>The gears rotate, but never move in a lateral direction</a:t>
            </a:r>
          </a:p>
          <a:p>
            <a:pPr algn="just"/>
            <a:r>
              <a:rPr lang="en-GB" sz="3200" dirty="0"/>
              <a:t>The basic planetary gear set consists of a sun gear, a ring gear, planet gears and Planet carrier .</a:t>
            </a:r>
            <a:endParaRPr lang="en-US" sz="3200" dirty="0"/>
          </a:p>
          <a:p>
            <a:endParaRPr lang="en-US" dirty="0"/>
          </a:p>
        </p:txBody>
      </p:sp>
    </p:spTree>
    <p:extLst>
      <p:ext uri="{BB962C8B-B14F-4D97-AF65-F5344CB8AC3E}">
        <p14:creationId xmlns:p14="http://schemas.microsoft.com/office/powerpoint/2010/main" val="2303107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96F81-A393-4CF4-8E9D-D705AF4B78CC}"/>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b="1" dirty="0">
              <a:solidFill>
                <a:srgbClr val="0070C0"/>
              </a:solidFill>
            </a:endParaRPr>
          </a:p>
        </p:txBody>
      </p:sp>
      <p:sp>
        <p:nvSpPr>
          <p:cNvPr id="3" name="Content Placeholder 2">
            <a:extLst>
              <a:ext uri="{FF2B5EF4-FFF2-40B4-BE49-F238E27FC236}">
                <a16:creationId xmlns:a16="http://schemas.microsoft.com/office/drawing/2014/main" id="{1B7E6C51-5F46-4E69-81BD-D106C8D44CC1}"/>
              </a:ext>
            </a:extLst>
          </p:cNvPr>
          <p:cNvSpPr>
            <a:spLocks noGrp="1"/>
          </p:cNvSpPr>
          <p:nvPr>
            <p:ph idx="1"/>
          </p:nvPr>
        </p:nvSpPr>
        <p:spPr/>
        <p:txBody>
          <a:bodyPr/>
          <a:lstStyle/>
          <a:p>
            <a:pPr algn="just"/>
            <a:r>
              <a:rPr lang="en-GB" sz="2400" b="1" dirty="0"/>
              <a:t>Sun Gear</a:t>
            </a:r>
            <a:r>
              <a:rPr lang="en-GB" sz="2400" dirty="0"/>
              <a:t> - Middle gear around which the other gears revolve.</a:t>
            </a:r>
            <a:endParaRPr lang="en-US" sz="2400" dirty="0"/>
          </a:p>
          <a:p>
            <a:pPr algn="just"/>
            <a:r>
              <a:rPr lang="en-GB" sz="2400" b="1" dirty="0"/>
              <a:t>Planet Gears</a:t>
            </a:r>
            <a:r>
              <a:rPr lang="en-GB" sz="2400" dirty="0"/>
              <a:t> - Usually two or more gears that mesh with, and revolve around, the sun gear. </a:t>
            </a:r>
          </a:p>
          <a:p>
            <a:pPr algn="just"/>
            <a:r>
              <a:rPr lang="en-GB" sz="2400" b="1" dirty="0"/>
              <a:t>Planet carrier</a:t>
            </a:r>
            <a:r>
              <a:rPr lang="en-GB" sz="2400" dirty="0"/>
              <a:t>-holds the planet gears together</a:t>
            </a:r>
            <a:endParaRPr lang="en-US" sz="2400" dirty="0"/>
          </a:p>
          <a:p>
            <a:pPr algn="just"/>
            <a:r>
              <a:rPr lang="en-GB" sz="2400" b="1" dirty="0"/>
              <a:t>Ring Gear</a:t>
            </a:r>
            <a:r>
              <a:rPr lang="en-GB" sz="2400" dirty="0"/>
              <a:t> - Surrounds and meshes with the planet gears.</a:t>
            </a:r>
            <a:endParaRPr lang="en-US" sz="2400" dirty="0"/>
          </a:p>
          <a:p>
            <a:endParaRPr lang="en-TZ" dirty="0"/>
          </a:p>
        </p:txBody>
      </p:sp>
    </p:spTree>
    <p:extLst>
      <p:ext uri="{BB962C8B-B14F-4D97-AF65-F5344CB8AC3E}">
        <p14:creationId xmlns:p14="http://schemas.microsoft.com/office/powerpoint/2010/main" val="1958707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FA1E9E6F-D62F-45E7-B86B-405D6B72F66D}"/>
              </a:ext>
            </a:extLst>
          </p:cNvPr>
          <p:cNvPicPr>
            <a:picLocks noGrp="1" noChangeAspect="1"/>
          </p:cNvPicPr>
          <p:nvPr>
            <p:ph idx="1"/>
          </p:nvPr>
        </p:nvPicPr>
        <p:blipFill>
          <a:blip r:embed="rId2"/>
          <a:stretch>
            <a:fillRect/>
          </a:stretch>
        </p:blipFill>
        <p:spPr>
          <a:xfrm>
            <a:off x="609600" y="609600"/>
            <a:ext cx="7924800" cy="5562600"/>
          </a:xfrm>
        </p:spPr>
      </p:pic>
    </p:spTree>
    <p:extLst>
      <p:ext uri="{BB962C8B-B14F-4D97-AF65-F5344CB8AC3E}">
        <p14:creationId xmlns:p14="http://schemas.microsoft.com/office/powerpoint/2010/main" val="3666518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B3A9F-4EA8-43B1-B0C7-82FA767D5CE9}"/>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4C9CEE93-C480-4AD0-9091-5F86B16D658D}"/>
              </a:ext>
            </a:extLst>
          </p:cNvPr>
          <p:cNvSpPr>
            <a:spLocks noGrp="1"/>
          </p:cNvSpPr>
          <p:nvPr>
            <p:ph idx="1"/>
          </p:nvPr>
        </p:nvSpPr>
        <p:spPr/>
        <p:txBody>
          <a:bodyPr/>
          <a:lstStyle/>
          <a:p>
            <a:pPr algn="just"/>
            <a:r>
              <a:rPr lang="en-GB" sz="2400" b="1" dirty="0"/>
              <a:t>Ring gear clamped</a:t>
            </a:r>
            <a:r>
              <a:rPr lang="en-GB" sz="2400" dirty="0"/>
              <a:t> - sun gear and planet carrier both rotate in the same direction (e.g. clockwise).</a:t>
            </a:r>
            <a:endParaRPr lang="en-US" sz="2400" dirty="0"/>
          </a:p>
          <a:p>
            <a:pPr algn="just"/>
            <a:r>
              <a:rPr lang="en-GB" sz="2400" b="1" dirty="0"/>
              <a:t>Sun gear clamped</a:t>
            </a:r>
            <a:r>
              <a:rPr lang="en-GB" sz="2400" dirty="0"/>
              <a:t> -  planet carrier and ring gear both rotate in the same direction (e.g. clockwise). </a:t>
            </a:r>
            <a:endParaRPr lang="en-US" sz="2400" dirty="0"/>
          </a:p>
          <a:p>
            <a:pPr algn="just"/>
            <a:r>
              <a:rPr lang="en-GB" sz="2400" b="1" dirty="0"/>
              <a:t>Planet carrier clamped</a:t>
            </a:r>
            <a:r>
              <a:rPr lang="en-GB" sz="2400" dirty="0"/>
              <a:t> - sun gear rotates in one direction (e.g. clockwise), the ring gear rotates in the other direction (e.g. counter-clockwise).</a:t>
            </a:r>
            <a:endParaRPr lang="en-US" sz="2400" dirty="0"/>
          </a:p>
          <a:p>
            <a:endParaRPr lang="en-TZ" dirty="0"/>
          </a:p>
        </p:txBody>
      </p:sp>
    </p:spTree>
    <p:extLst>
      <p:ext uri="{BB962C8B-B14F-4D97-AF65-F5344CB8AC3E}">
        <p14:creationId xmlns:p14="http://schemas.microsoft.com/office/powerpoint/2010/main" val="26354374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a:extLst>
              <a:ext uri="{FF2B5EF4-FFF2-40B4-BE49-F238E27FC236}">
                <a16:creationId xmlns:a16="http://schemas.microsoft.com/office/drawing/2014/main" id="{80384F6E-9E3B-4106-90B0-DFC7E38F4D5A}"/>
              </a:ext>
            </a:extLst>
          </p:cNvPr>
          <p:cNvPicPr>
            <a:picLocks noGrp="1" noChangeAspect="1"/>
          </p:cNvPicPr>
          <p:nvPr>
            <p:ph idx="1"/>
          </p:nvPr>
        </p:nvPicPr>
        <p:blipFill>
          <a:blip r:embed="rId2"/>
          <a:stretch>
            <a:fillRect/>
          </a:stretch>
        </p:blipFill>
        <p:spPr>
          <a:xfrm>
            <a:off x="1143000" y="609600"/>
            <a:ext cx="6705600" cy="5638800"/>
          </a:xfrm>
        </p:spPr>
      </p:pic>
    </p:spTree>
    <p:extLst>
      <p:ext uri="{BB962C8B-B14F-4D97-AF65-F5344CB8AC3E}">
        <p14:creationId xmlns:p14="http://schemas.microsoft.com/office/powerpoint/2010/main" val="1839787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FE33-A455-422B-A45D-4D15E1AA7E77}"/>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549DAB1B-E850-43A3-949E-AA44BB77B50F}"/>
              </a:ext>
            </a:extLst>
          </p:cNvPr>
          <p:cNvSpPr>
            <a:spLocks noGrp="1"/>
          </p:cNvSpPr>
          <p:nvPr>
            <p:ph idx="1"/>
          </p:nvPr>
        </p:nvSpPr>
        <p:spPr/>
        <p:txBody>
          <a:bodyPr>
            <a:normAutofit fontScale="85000" lnSpcReduction="10000"/>
          </a:bodyPr>
          <a:lstStyle/>
          <a:p>
            <a:pPr algn="just"/>
            <a:r>
              <a:rPr lang="en-US" sz="2400" b="1" dirty="0"/>
              <a:t>Planetary Reduction</a:t>
            </a:r>
          </a:p>
          <a:p>
            <a:pPr marL="0" indent="0" algn="just">
              <a:buNone/>
            </a:pPr>
            <a:r>
              <a:rPr lang="en-GB" sz="2400" dirty="0"/>
              <a:t>When the output shaft rotates slower than the input shaft, an increase in output torque is achieved. This is obtained by using gear reduction. There are two typical methods:</a:t>
            </a:r>
            <a:endParaRPr lang="en-US" sz="2400" dirty="0">
              <a:solidFill>
                <a:srgbClr val="000000"/>
              </a:solidFill>
            </a:endParaRPr>
          </a:p>
          <a:p>
            <a:pPr marL="0" indent="0" algn="just">
              <a:buNone/>
            </a:pPr>
            <a:r>
              <a:rPr lang="en-GB" sz="2400" b="1" dirty="0"/>
              <a:t>a. Sun gear clamped</a:t>
            </a:r>
            <a:r>
              <a:rPr lang="en-GB" sz="2400" dirty="0"/>
              <a:t> - Input is applied to the ring gear, the planet gears move around the sun gear, the planet carrier is the output. </a:t>
            </a:r>
          </a:p>
          <a:p>
            <a:pPr marL="360363" indent="-360363" algn="just"/>
            <a:r>
              <a:rPr lang="en-GB" sz="2400" dirty="0"/>
              <a:t>	Ring Gear - </a:t>
            </a:r>
            <a:r>
              <a:rPr lang="en-GB" sz="2400" b="1" dirty="0"/>
              <a:t>Input </a:t>
            </a:r>
          </a:p>
          <a:p>
            <a:pPr marL="360363" indent="-360363" algn="just"/>
            <a:r>
              <a:rPr lang="en-GB" sz="2400" dirty="0"/>
              <a:t>	Planet Carrier - </a:t>
            </a:r>
            <a:r>
              <a:rPr lang="en-GB" sz="2400" b="1" dirty="0"/>
              <a:t>Output</a:t>
            </a:r>
            <a:endParaRPr lang="en-GB" sz="2400" dirty="0"/>
          </a:p>
          <a:p>
            <a:pPr marL="360363" indent="-360363" algn="just"/>
            <a:r>
              <a:rPr lang="en-GB" sz="2400" dirty="0"/>
              <a:t>	Sun Gear - </a:t>
            </a:r>
            <a:r>
              <a:rPr lang="en-GB" sz="2400" b="1" dirty="0"/>
              <a:t>Clamped</a:t>
            </a:r>
            <a:endParaRPr lang="en-US" sz="2400" b="1" dirty="0"/>
          </a:p>
          <a:p>
            <a:endParaRPr lang="en-TZ" dirty="0"/>
          </a:p>
        </p:txBody>
      </p:sp>
    </p:spTree>
    <p:extLst>
      <p:ext uri="{BB962C8B-B14F-4D97-AF65-F5344CB8AC3E}">
        <p14:creationId xmlns:p14="http://schemas.microsoft.com/office/powerpoint/2010/main" val="13664197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C1ECD-1AE3-4DD0-8CB1-4D62C92FB8FE}"/>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60BB79E2-E1E9-4231-99A1-17AFBBA158A4}"/>
              </a:ext>
            </a:extLst>
          </p:cNvPr>
          <p:cNvSpPr>
            <a:spLocks noGrp="1"/>
          </p:cNvSpPr>
          <p:nvPr>
            <p:ph idx="1"/>
          </p:nvPr>
        </p:nvSpPr>
        <p:spPr/>
        <p:txBody>
          <a:bodyPr>
            <a:normAutofit fontScale="92500" lnSpcReduction="20000"/>
          </a:bodyPr>
          <a:lstStyle/>
          <a:p>
            <a:pPr marL="0" indent="0">
              <a:buNone/>
            </a:pPr>
            <a:r>
              <a:rPr lang="en-US" sz="2400" b="1" dirty="0"/>
              <a:t>Planetary Reduction cont..</a:t>
            </a:r>
          </a:p>
          <a:p>
            <a:pPr marL="0" indent="0" algn="just">
              <a:buNone/>
            </a:pPr>
            <a:r>
              <a:rPr lang="en-GB" sz="2400" b="1" dirty="0"/>
              <a:t>b. Ring gear clamped</a:t>
            </a:r>
            <a:r>
              <a:rPr lang="en-GB" sz="2400" dirty="0"/>
              <a:t> - Input is applied to the sun gear, the planet carrier is turned by the planet gears to become the output.</a:t>
            </a:r>
          </a:p>
          <a:p>
            <a:pPr marL="360363" indent="-360363" algn="just"/>
            <a:r>
              <a:rPr lang="en-GB" sz="2400" dirty="0"/>
              <a:t>	Ring Gear - </a:t>
            </a:r>
            <a:r>
              <a:rPr lang="en-GB" sz="2400" b="1" dirty="0"/>
              <a:t>Clamped</a:t>
            </a:r>
            <a:endParaRPr lang="en-GB" sz="2400" dirty="0"/>
          </a:p>
          <a:p>
            <a:pPr marL="360363" indent="-360363" algn="just"/>
            <a:r>
              <a:rPr lang="en-GB" sz="2400" dirty="0"/>
              <a:t>	Planet Carrier - </a:t>
            </a:r>
            <a:r>
              <a:rPr lang="en-GB" sz="2400" b="1" dirty="0"/>
              <a:t>Output</a:t>
            </a:r>
            <a:endParaRPr lang="en-GB" sz="2400" dirty="0"/>
          </a:p>
          <a:p>
            <a:pPr marL="360363" indent="-360363" algn="just"/>
            <a:r>
              <a:rPr lang="en-GB" sz="2400" dirty="0"/>
              <a:t>	Sun Gear - </a:t>
            </a:r>
            <a:r>
              <a:rPr lang="en-GB" sz="2400" b="1" dirty="0"/>
              <a:t>Input </a:t>
            </a:r>
            <a:endParaRPr lang="en-US" sz="2400" b="1" dirty="0"/>
          </a:p>
          <a:p>
            <a:pPr marL="0" indent="0" algn="just">
              <a:buNone/>
            </a:pPr>
            <a:r>
              <a:rPr lang="en-GB" sz="2400" dirty="0"/>
              <a:t>In both cases, the direction of input and output rotation is the same.</a:t>
            </a:r>
            <a:endParaRPr lang="en-US" sz="2400" dirty="0">
              <a:solidFill>
                <a:srgbClr val="000000"/>
              </a:solidFill>
            </a:endParaRPr>
          </a:p>
          <a:p>
            <a:endParaRPr lang="en-TZ" dirty="0"/>
          </a:p>
        </p:txBody>
      </p:sp>
    </p:spTree>
    <p:extLst>
      <p:ext uri="{BB962C8B-B14F-4D97-AF65-F5344CB8AC3E}">
        <p14:creationId xmlns:p14="http://schemas.microsoft.com/office/powerpoint/2010/main" val="2549041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BCD486-D913-498F-B1A1-CA35D0BE3A3A}"/>
              </a:ext>
            </a:extLst>
          </p:cNvPr>
          <p:cNvPicPr>
            <a:picLocks noGrp="1" noChangeAspect="1"/>
          </p:cNvPicPr>
          <p:nvPr>
            <p:ph idx="1"/>
          </p:nvPr>
        </p:nvPicPr>
        <p:blipFill>
          <a:blip r:embed="rId2"/>
          <a:stretch>
            <a:fillRect/>
          </a:stretch>
        </p:blipFill>
        <p:spPr>
          <a:xfrm>
            <a:off x="2057400" y="533400"/>
            <a:ext cx="5310187" cy="5638800"/>
          </a:xfrm>
        </p:spPr>
      </p:pic>
    </p:spTree>
    <p:extLst>
      <p:ext uri="{BB962C8B-B14F-4D97-AF65-F5344CB8AC3E}">
        <p14:creationId xmlns:p14="http://schemas.microsoft.com/office/powerpoint/2010/main" val="4287302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D5E2C-64E7-4223-96D1-D0859D1B0F4B}"/>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F05E8D5C-3BFC-4CA0-9758-71EA7420CB01}"/>
              </a:ext>
            </a:extLst>
          </p:cNvPr>
          <p:cNvSpPr>
            <a:spLocks noGrp="1"/>
          </p:cNvSpPr>
          <p:nvPr>
            <p:ph idx="1"/>
          </p:nvPr>
        </p:nvSpPr>
        <p:spPr/>
        <p:txBody>
          <a:bodyPr>
            <a:normAutofit fontScale="85000" lnSpcReduction="20000"/>
          </a:bodyPr>
          <a:lstStyle/>
          <a:p>
            <a:r>
              <a:rPr lang="en-US" sz="2400" b="1" dirty="0"/>
              <a:t>Overdrive</a:t>
            </a:r>
          </a:p>
          <a:p>
            <a:pPr marL="0" indent="0" algn="just">
              <a:buNone/>
            </a:pPr>
            <a:r>
              <a:rPr lang="en-GB" sz="2400" dirty="0"/>
              <a:t>When the output shaft rotates faster than the input shaft, an increase in vehicle speed is achieved, at the cost of reduced output torque. This is obtained by using overdrive. There are two typical methods:</a:t>
            </a:r>
            <a:endParaRPr lang="en-US" sz="2400" dirty="0">
              <a:solidFill>
                <a:srgbClr val="000000"/>
              </a:solidFill>
            </a:endParaRPr>
          </a:p>
          <a:p>
            <a:pPr marL="0" indent="0" algn="just">
              <a:buNone/>
            </a:pPr>
            <a:r>
              <a:rPr lang="en-GB" sz="2400" b="1" dirty="0"/>
              <a:t>a. Ring gear clamped</a:t>
            </a:r>
            <a:r>
              <a:rPr lang="en-GB" sz="2400" dirty="0"/>
              <a:t> - Input is applied to the planet carrier and the output is taken from the sun gear.</a:t>
            </a:r>
          </a:p>
          <a:p>
            <a:pPr marL="360363" indent="-360363" algn="just"/>
            <a:r>
              <a:rPr lang="en-GB" sz="2400" dirty="0"/>
              <a:t>	Ring Gear - </a:t>
            </a:r>
            <a:r>
              <a:rPr lang="en-GB" sz="2400" b="1" dirty="0"/>
              <a:t>Clamped</a:t>
            </a:r>
            <a:endParaRPr lang="en-GB" sz="2400" dirty="0"/>
          </a:p>
          <a:p>
            <a:pPr marL="360363" indent="-360363" algn="just"/>
            <a:r>
              <a:rPr lang="en-GB" sz="2400" dirty="0"/>
              <a:t>	Planet Carrier - </a:t>
            </a:r>
            <a:r>
              <a:rPr lang="en-GB" sz="2400" b="1" dirty="0"/>
              <a:t>Input </a:t>
            </a:r>
            <a:endParaRPr lang="en-GB" sz="2400" dirty="0"/>
          </a:p>
          <a:p>
            <a:pPr marL="360363" indent="-360363" algn="just"/>
            <a:r>
              <a:rPr lang="en-GB" sz="2400" dirty="0"/>
              <a:t>	Sun Gear - </a:t>
            </a:r>
            <a:r>
              <a:rPr lang="en-GB" sz="2400" b="1" dirty="0"/>
              <a:t>Output</a:t>
            </a:r>
            <a:endParaRPr lang="en-US" sz="2400" b="1" dirty="0"/>
          </a:p>
          <a:p>
            <a:endParaRPr lang="en-TZ" dirty="0"/>
          </a:p>
        </p:txBody>
      </p:sp>
    </p:spTree>
    <p:extLst>
      <p:ext uri="{BB962C8B-B14F-4D97-AF65-F5344CB8AC3E}">
        <p14:creationId xmlns:p14="http://schemas.microsoft.com/office/powerpoint/2010/main" val="1182358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2081F-717F-4272-827C-27AB8796098B}"/>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727BE674-20C7-4894-A6B7-3CCACF920F16}"/>
              </a:ext>
            </a:extLst>
          </p:cNvPr>
          <p:cNvSpPr>
            <a:spLocks noGrp="1"/>
          </p:cNvSpPr>
          <p:nvPr>
            <p:ph idx="1"/>
          </p:nvPr>
        </p:nvSpPr>
        <p:spPr/>
        <p:txBody>
          <a:bodyPr/>
          <a:lstStyle/>
          <a:p>
            <a:pPr marL="0" indent="0">
              <a:buNone/>
            </a:pPr>
            <a:r>
              <a:rPr lang="en-US" sz="2400" b="1" dirty="0"/>
              <a:t>Overdrive cont..</a:t>
            </a:r>
          </a:p>
          <a:p>
            <a:pPr marL="0" indent="0">
              <a:buNone/>
            </a:pPr>
            <a:r>
              <a:rPr lang="en-GB" sz="2400" b="1" dirty="0"/>
              <a:t>b. Sun gear clamped</a:t>
            </a:r>
            <a:r>
              <a:rPr lang="en-GB" sz="2400" dirty="0"/>
              <a:t> - Input is applied to the planet carrier and the ring gear is turned by the planet gears to become the output.</a:t>
            </a:r>
          </a:p>
          <a:p>
            <a:pPr marL="360363" indent="-360363"/>
            <a:r>
              <a:rPr lang="en-GB" sz="2400" dirty="0"/>
              <a:t>	Ring Gear - </a:t>
            </a:r>
            <a:r>
              <a:rPr lang="en-GB" sz="2400" b="1" dirty="0"/>
              <a:t>Output</a:t>
            </a:r>
            <a:endParaRPr lang="en-GB" sz="2400" dirty="0"/>
          </a:p>
          <a:p>
            <a:pPr marL="360363" indent="-360363"/>
            <a:r>
              <a:rPr lang="en-GB" sz="2400" dirty="0"/>
              <a:t>	Planet Carrier - </a:t>
            </a:r>
            <a:r>
              <a:rPr lang="en-GB" sz="2400" b="1" dirty="0"/>
              <a:t>Input </a:t>
            </a:r>
            <a:endParaRPr lang="en-GB" sz="2400" dirty="0"/>
          </a:p>
          <a:p>
            <a:pPr marL="360363" indent="-360363"/>
            <a:r>
              <a:rPr lang="en-GB" sz="2400" dirty="0"/>
              <a:t>	Sun Gear - </a:t>
            </a:r>
            <a:r>
              <a:rPr lang="en-GB" sz="2400" b="1" dirty="0"/>
              <a:t>Clamped</a:t>
            </a:r>
            <a:endParaRPr lang="en-US" sz="2400" b="1" dirty="0"/>
          </a:p>
          <a:p>
            <a:endParaRPr lang="en-TZ" dirty="0"/>
          </a:p>
        </p:txBody>
      </p:sp>
    </p:spTree>
    <p:extLst>
      <p:ext uri="{BB962C8B-B14F-4D97-AF65-F5344CB8AC3E}">
        <p14:creationId xmlns:p14="http://schemas.microsoft.com/office/powerpoint/2010/main" val="3833301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E1B5A7F-4B4B-4766-BB1E-1CEC6153F240}"/>
              </a:ext>
            </a:extLst>
          </p:cNvPr>
          <p:cNvPicPr>
            <a:picLocks noGrp="1" noChangeAspect="1"/>
          </p:cNvPicPr>
          <p:nvPr>
            <p:ph idx="1"/>
          </p:nvPr>
        </p:nvPicPr>
        <p:blipFill>
          <a:blip r:embed="rId2"/>
          <a:stretch>
            <a:fillRect/>
          </a:stretch>
        </p:blipFill>
        <p:spPr>
          <a:xfrm>
            <a:off x="1828800" y="685800"/>
            <a:ext cx="5486399" cy="5410200"/>
          </a:xfrm>
        </p:spPr>
      </p:pic>
    </p:spTree>
    <p:extLst>
      <p:ext uri="{BB962C8B-B14F-4D97-AF65-F5344CB8AC3E}">
        <p14:creationId xmlns:p14="http://schemas.microsoft.com/office/powerpoint/2010/main" val="31322503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08266-A608-4774-974E-127133BA767B}"/>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F396DA36-135E-44B5-80F7-00CBC6D52412}"/>
              </a:ext>
            </a:extLst>
          </p:cNvPr>
          <p:cNvSpPr>
            <a:spLocks noGrp="1"/>
          </p:cNvSpPr>
          <p:nvPr>
            <p:ph idx="1"/>
          </p:nvPr>
        </p:nvSpPr>
        <p:spPr/>
        <p:txBody>
          <a:bodyPr>
            <a:normAutofit/>
          </a:bodyPr>
          <a:lstStyle/>
          <a:p>
            <a:pPr algn="just"/>
            <a:r>
              <a:rPr lang="en-US" sz="2400" b="1" dirty="0"/>
              <a:t>Reverse</a:t>
            </a:r>
          </a:p>
          <a:p>
            <a:pPr marL="0" indent="0" algn="just">
              <a:buNone/>
            </a:pPr>
            <a:r>
              <a:rPr lang="en-GB" sz="2400" b="1" dirty="0"/>
              <a:t>a. Planet carrier clamped</a:t>
            </a:r>
            <a:r>
              <a:rPr lang="en-GB" sz="2400" dirty="0"/>
              <a:t> - The input is applied to the sun gear and the output is taken from the ring gear.</a:t>
            </a:r>
          </a:p>
          <a:p>
            <a:pPr marL="360363" indent="-360363" algn="just"/>
            <a:r>
              <a:rPr lang="en-GB" sz="2400" dirty="0"/>
              <a:t>	Ring Gear - </a:t>
            </a:r>
            <a:r>
              <a:rPr lang="en-GB" sz="2400" b="1" dirty="0"/>
              <a:t>Output</a:t>
            </a:r>
            <a:endParaRPr lang="en-GB" sz="2400" dirty="0"/>
          </a:p>
          <a:p>
            <a:pPr marL="360363" indent="-360363" algn="just"/>
            <a:r>
              <a:rPr lang="en-GB" sz="2400" dirty="0"/>
              <a:t>	Planet Carrier - </a:t>
            </a:r>
            <a:r>
              <a:rPr lang="en-GB" sz="2400" b="1" dirty="0"/>
              <a:t>Clamped</a:t>
            </a:r>
            <a:endParaRPr lang="en-GB" sz="2400" dirty="0"/>
          </a:p>
          <a:p>
            <a:pPr marL="360363" indent="-360363" algn="just"/>
            <a:r>
              <a:rPr lang="en-GB" sz="2400" dirty="0"/>
              <a:t>	Sun Gear - </a:t>
            </a:r>
            <a:r>
              <a:rPr lang="en-GB" sz="2400" b="1" dirty="0"/>
              <a:t>Input </a:t>
            </a:r>
            <a:endParaRPr lang="en-US" sz="2400" dirty="0">
              <a:solidFill>
                <a:srgbClr val="0066CC"/>
              </a:solidFill>
            </a:endParaRPr>
          </a:p>
        </p:txBody>
      </p:sp>
    </p:spTree>
    <p:extLst>
      <p:ext uri="{BB962C8B-B14F-4D97-AF65-F5344CB8AC3E}">
        <p14:creationId xmlns:p14="http://schemas.microsoft.com/office/powerpoint/2010/main" val="42904261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5BA2E-52B6-4B2F-9F2A-D6C811D1C43F}"/>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F7FEC5D5-29DA-452B-BBD8-D1B0E1796A6B}"/>
              </a:ext>
            </a:extLst>
          </p:cNvPr>
          <p:cNvSpPr>
            <a:spLocks noGrp="1"/>
          </p:cNvSpPr>
          <p:nvPr>
            <p:ph idx="1"/>
          </p:nvPr>
        </p:nvSpPr>
        <p:spPr/>
        <p:txBody>
          <a:bodyPr/>
          <a:lstStyle/>
          <a:p>
            <a:pPr marL="0" indent="0" algn="just">
              <a:buNone/>
            </a:pPr>
            <a:r>
              <a:rPr lang="en-GB" sz="2400" b="1" dirty="0"/>
              <a:t>b. Planet carrier clamped</a:t>
            </a:r>
            <a:r>
              <a:rPr lang="en-GB" sz="2400" dirty="0"/>
              <a:t> - The input is applied to the ring gear and the output is taken from the sun gear.</a:t>
            </a:r>
          </a:p>
          <a:p>
            <a:pPr marL="360363" indent="-360363" algn="just"/>
            <a:r>
              <a:rPr lang="en-GB" sz="2400" dirty="0"/>
              <a:t>	Ring Gear - </a:t>
            </a:r>
            <a:r>
              <a:rPr lang="en-GB" sz="2400" b="1" dirty="0"/>
              <a:t>Input </a:t>
            </a:r>
            <a:endParaRPr lang="en-GB" sz="2400" dirty="0"/>
          </a:p>
          <a:p>
            <a:pPr marL="360363" indent="-360363" algn="just"/>
            <a:r>
              <a:rPr lang="en-GB" sz="2400" dirty="0"/>
              <a:t>	Planet Carrier - </a:t>
            </a:r>
            <a:r>
              <a:rPr lang="en-GB" sz="2400" b="1" dirty="0"/>
              <a:t>Clamped</a:t>
            </a:r>
            <a:endParaRPr lang="en-US" sz="2400" dirty="0">
              <a:solidFill>
                <a:srgbClr val="0066CC"/>
              </a:solidFill>
            </a:endParaRPr>
          </a:p>
          <a:p>
            <a:pPr marL="360363" indent="-360363" algn="just"/>
            <a:r>
              <a:rPr lang="en-GB" sz="2400" dirty="0"/>
              <a:t>	Sun Gear - </a:t>
            </a:r>
            <a:r>
              <a:rPr lang="en-GB" sz="2400" b="1" dirty="0"/>
              <a:t>Output</a:t>
            </a:r>
            <a:endParaRPr lang="en-US" sz="2400" b="1" dirty="0"/>
          </a:p>
          <a:p>
            <a:pPr marL="0" indent="0" algn="just">
              <a:buNone/>
            </a:pPr>
            <a:r>
              <a:rPr lang="en-GB" sz="2400" dirty="0"/>
              <a:t>In both cases, the output will turn in the opposite direction from the input</a:t>
            </a:r>
            <a:endParaRPr lang="en-TZ" dirty="0"/>
          </a:p>
          <a:p>
            <a:endParaRPr lang="en-TZ" dirty="0"/>
          </a:p>
        </p:txBody>
      </p:sp>
    </p:spTree>
    <p:extLst>
      <p:ext uri="{BB962C8B-B14F-4D97-AF65-F5344CB8AC3E}">
        <p14:creationId xmlns:p14="http://schemas.microsoft.com/office/powerpoint/2010/main" val="30087079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EA6900-3A99-4ACF-8930-BF66CC1CAFA2}"/>
              </a:ext>
            </a:extLst>
          </p:cNvPr>
          <p:cNvPicPr>
            <a:picLocks noGrp="1" noChangeAspect="1"/>
          </p:cNvPicPr>
          <p:nvPr>
            <p:ph idx="1"/>
          </p:nvPr>
        </p:nvPicPr>
        <p:blipFill>
          <a:blip r:embed="rId2"/>
          <a:stretch>
            <a:fillRect/>
          </a:stretch>
        </p:blipFill>
        <p:spPr>
          <a:xfrm>
            <a:off x="1828800" y="571500"/>
            <a:ext cx="5334000" cy="5715000"/>
          </a:xfrm>
        </p:spPr>
      </p:pic>
    </p:spTree>
    <p:extLst>
      <p:ext uri="{BB962C8B-B14F-4D97-AF65-F5344CB8AC3E}">
        <p14:creationId xmlns:p14="http://schemas.microsoft.com/office/powerpoint/2010/main" val="40257553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12D46-0D72-44B8-99B5-42E6FD3545A2}"/>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6832EF35-3412-4309-A552-C032B21079FD}"/>
              </a:ext>
            </a:extLst>
          </p:cNvPr>
          <p:cNvSpPr>
            <a:spLocks noGrp="1"/>
          </p:cNvSpPr>
          <p:nvPr>
            <p:ph idx="1"/>
          </p:nvPr>
        </p:nvSpPr>
        <p:spPr/>
        <p:txBody>
          <a:bodyPr>
            <a:normAutofit lnSpcReduction="10000"/>
          </a:bodyPr>
          <a:lstStyle/>
          <a:p>
            <a:pPr marL="0" indent="0">
              <a:buNone/>
            </a:pPr>
            <a:r>
              <a:rPr lang="en-US" sz="2400" b="1" dirty="0"/>
              <a:t>Direct Drive</a:t>
            </a:r>
          </a:p>
          <a:p>
            <a:pPr algn="just"/>
            <a:r>
              <a:rPr lang="en-GB" sz="2400" dirty="0"/>
              <a:t>If two gears are locked together, the third gear is directly driven by the other two. This is known as direct drive.</a:t>
            </a:r>
            <a:endParaRPr lang="en-US" sz="2400" dirty="0"/>
          </a:p>
          <a:p>
            <a:pPr algn="just"/>
            <a:r>
              <a:rPr lang="en-GB" sz="2400" dirty="0"/>
              <a:t>In the diagram </a:t>
            </a:r>
            <a:r>
              <a:rPr lang="en-GB" dirty="0"/>
              <a:t>below</a:t>
            </a:r>
            <a:r>
              <a:rPr lang="en-GB" sz="2400" dirty="0"/>
              <a:t>, the sun gear and planet carrier are locked together.</a:t>
            </a:r>
            <a:endParaRPr lang="en-US" sz="2400" dirty="0">
              <a:solidFill>
                <a:srgbClr val="0066CC"/>
              </a:solidFill>
            </a:endParaRPr>
          </a:p>
          <a:p>
            <a:pPr algn="just"/>
            <a:r>
              <a:rPr lang="en-GB" sz="2400" dirty="0"/>
              <a:t>The ring gear is forced to rotate at the same speed as the locked gears.</a:t>
            </a:r>
            <a:endParaRPr lang="en-US" sz="2400" dirty="0"/>
          </a:p>
          <a:p>
            <a:endParaRPr lang="en-TZ" dirty="0"/>
          </a:p>
        </p:txBody>
      </p:sp>
    </p:spTree>
    <p:extLst>
      <p:ext uri="{BB962C8B-B14F-4D97-AF65-F5344CB8AC3E}">
        <p14:creationId xmlns:p14="http://schemas.microsoft.com/office/powerpoint/2010/main" val="2327765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3" descr="directDriveSupport">
            <a:extLst>
              <a:ext uri="{FF2B5EF4-FFF2-40B4-BE49-F238E27FC236}">
                <a16:creationId xmlns:a16="http://schemas.microsoft.com/office/drawing/2014/main" id="{C7687AFC-034C-4817-8007-41F9287703B0}"/>
              </a:ext>
            </a:extLst>
          </p:cNvPr>
          <p:cNvPicPr>
            <a:picLocks noGrp="1" noChangeAspect="1" noChangeArrowheads="1"/>
          </p:cNvPicPr>
          <p:nvPr>
            <p:ph idx="1"/>
          </p:nvPr>
        </p:nvPicPr>
        <p:blipFill>
          <a:blip r:embed="rId2"/>
          <a:srcRect/>
          <a:stretch>
            <a:fillRect/>
          </a:stretch>
        </p:blipFill>
        <p:spPr bwMode="auto">
          <a:xfrm>
            <a:off x="1937338" y="685800"/>
            <a:ext cx="5269323" cy="5448300"/>
          </a:xfrm>
          <a:prstGeom prst="rect">
            <a:avLst/>
          </a:prstGeom>
          <a:noFill/>
        </p:spPr>
      </p:pic>
    </p:spTree>
    <p:extLst>
      <p:ext uri="{BB962C8B-B14F-4D97-AF65-F5344CB8AC3E}">
        <p14:creationId xmlns:p14="http://schemas.microsoft.com/office/powerpoint/2010/main" val="1033111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AD9F5-3C16-4862-BB38-10858B560C91}"/>
              </a:ext>
            </a:extLst>
          </p:cNvPr>
          <p:cNvSpPr>
            <a:spLocks noGrp="1"/>
          </p:cNvSpPr>
          <p:nvPr>
            <p:ph type="title"/>
          </p:nvPr>
        </p:nvSpPr>
        <p:spPr/>
        <p:txBody>
          <a:bodyPr>
            <a:normAutofit fontScale="90000"/>
          </a:bodyPr>
          <a:lstStyle/>
          <a:p>
            <a:r>
              <a:rPr lang="en-GB" sz="4000" b="1" dirty="0">
                <a:solidFill>
                  <a:srgbClr val="FF0000"/>
                </a:solidFill>
              </a:rPr>
              <a:t>IV. Planetary (Epicyclic) Gearsets</a:t>
            </a:r>
            <a:r>
              <a:rPr lang="en-GB" sz="4000" dirty="0">
                <a:solidFill>
                  <a:srgbClr val="FF0000"/>
                </a:solidFill>
              </a:rPr>
              <a:t> </a:t>
            </a:r>
            <a:r>
              <a:rPr lang="en-GB" sz="40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BE513E26-E764-4420-9BA2-36A2F7B322AD}"/>
              </a:ext>
            </a:extLst>
          </p:cNvPr>
          <p:cNvSpPr>
            <a:spLocks noGrp="1"/>
          </p:cNvSpPr>
          <p:nvPr>
            <p:ph idx="1"/>
          </p:nvPr>
        </p:nvSpPr>
        <p:spPr/>
        <p:txBody>
          <a:bodyPr>
            <a:normAutofit fontScale="92500" lnSpcReduction="20000"/>
          </a:bodyPr>
          <a:lstStyle/>
          <a:p>
            <a:pPr marL="0" indent="0" algn="l">
              <a:buNone/>
            </a:pPr>
            <a:r>
              <a:rPr lang="en-US" b="1" dirty="0">
                <a:solidFill>
                  <a:schemeClr val="tx1"/>
                </a:solidFill>
                <a:effectLst/>
                <a:latin typeface="+mj-lt"/>
              </a:rPr>
              <a:t>Rules of Planetary Gears</a:t>
            </a:r>
          </a:p>
          <a:p>
            <a:pPr marL="0" indent="0" algn="l">
              <a:buNone/>
            </a:pPr>
            <a:r>
              <a:rPr lang="en-US" b="0" i="0" dirty="0">
                <a:solidFill>
                  <a:schemeClr val="tx1"/>
                </a:solidFill>
                <a:effectLst/>
                <a:latin typeface="+mj-lt"/>
              </a:rPr>
              <a:t>To determine the gear condition in a simple planetary gear set always look at what the carrier is doing.</a:t>
            </a:r>
          </a:p>
          <a:p>
            <a:pPr algn="l">
              <a:buFont typeface="Arial" panose="020B0604020202020204" pitchFamily="34" charset="0"/>
              <a:buChar char="•"/>
            </a:pPr>
            <a:r>
              <a:rPr lang="en-US" b="0" i="0" dirty="0">
                <a:solidFill>
                  <a:schemeClr val="tx1"/>
                </a:solidFill>
                <a:effectLst/>
                <a:latin typeface="+mj-lt"/>
              </a:rPr>
              <a:t>If ever the carrier is an output in a simple planetary gear set, the condition will be a forward reduction.</a:t>
            </a:r>
          </a:p>
          <a:p>
            <a:pPr algn="l">
              <a:buFont typeface="Arial" panose="020B0604020202020204" pitchFamily="34" charset="0"/>
              <a:buChar char="•"/>
            </a:pPr>
            <a:r>
              <a:rPr lang="en-US" b="0" i="0" dirty="0">
                <a:solidFill>
                  <a:schemeClr val="tx1"/>
                </a:solidFill>
                <a:effectLst/>
                <a:latin typeface="+mj-lt"/>
              </a:rPr>
              <a:t>If ever the carrier is held in a simple planetary gear set, the condition will be reversed.</a:t>
            </a:r>
          </a:p>
          <a:p>
            <a:pPr algn="l">
              <a:buFont typeface="Arial" panose="020B0604020202020204" pitchFamily="34" charset="0"/>
              <a:buChar char="•"/>
            </a:pPr>
            <a:r>
              <a:rPr lang="en-US" b="0" i="0" dirty="0">
                <a:solidFill>
                  <a:schemeClr val="tx1"/>
                </a:solidFill>
                <a:effectLst/>
                <a:latin typeface="+mj-lt"/>
              </a:rPr>
              <a:t>If ever the carrier is input in a simple planetary gear set, the condition will be overdrive</a:t>
            </a:r>
          </a:p>
          <a:p>
            <a:endParaRPr lang="en-TZ" dirty="0">
              <a:solidFill>
                <a:srgbClr val="FF0000"/>
              </a:solidFill>
              <a:latin typeface="+mj-lt"/>
            </a:endParaRPr>
          </a:p>
        </p:txBody>
      </p:sp>
    </p:spTree>
    <p:extLst>
      <p:ext uri="{BB962C8B-B14F-4D97-AF65-F5344CB8AC3E}">
        <p14:creationId xmlns:p14="http://schemas.microsoft.com/office/powerpoint/2010/main" val="9704843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9CD7-7D5E-49B3-AD1A-76C1D7BA0B27}"/>
              </a:ext>
            </a:extLst>
          </p:cNvPr>
          <p:cNvSpPr>
            <a:spLocks noGrp="1"/>
          </p:cNvSpPr>
          <p:nvPr>
            <p:ph type="title"/>
          </p:nvPr>
        </p:nvSpPr>
        <p:spPr/>
        <p:txBody>
          <a:bodyPr/>
          <a:lstStyle/>
          <a:p>
            <a:r>
              <a:rPr lang="en-GB" b="1" dirty="0">
                <a:solidFill>
                  <a:srgbClr val="FF0000"/>
                </a:solidFill>
              </a:rPr>
              <a:t>V. Transmission</a:t>
            </a:r>
            <a:r>
              <a:rPr lang="en-GB" sz="4400" b="1" dirty="0">
                <a:solidFill>
                  <a:srgbClr val="FF0000"/>
                </a:solidFill>
              </a:rPr>
              <a:t> Shafts</a:t>
            </a:r>
            <a:r>
              <a:rPr lang="en-GB" sz="4400" dirty="0">
                <a:solidFill>
                  <a:srgbClr val="FF0000"/>
                </a:solidFill>
              </a:rPr>
              <a:t> </a:t>
            </a:r>
            <a:endParaRPr lang="en-US" dirty="0">
              <a:solidFill>
                <a:srgbClr val="FF0000"/>
              </a:solidFill>
            </a:endParaRPr>
          </a:p>
        </p:txBody>
      </p:sp>
      <p:sp>
        <p:nvSpPr>
          <p:cNvPr id="3" name="Content Placeholder 2">
            <a:extLst>
              <a:ext uri="{FF2B5EF4-FFF2-40B4-BE49-F238E27FC236}">
                <a16:creationId xmlns:a16="http://schemas.microsoft.com/office/drawing/2014/main" id="{5D8C9B69-6250-40CA-B878-B0894F4D14B6}"/>
              </a:ext>
            </a:extLst>
          </p:cNvPr>
          <p:cNvSpPr>
            <a:spLocks noGrp="1"/>
          </p:cNvSpPr>
          <p:nvPr>
            <p:ph idx="1"/>
          </p:nvPr>
        </p:nvSpPr>
        <p:spPr/>
        <p:txBody>
          <a:bodyPr>
            <a:normAutofit lnSpcReduction="10000"/>
          </a:bodyPr>
          <a:lstStyle/>
          <a:p>
            <a:pPr marL="0" indent="0" algn="just">
              <a:buNone/>
            </a:pPr>
            <a:r>
              <a:rPr lang="en-GB" sz="2800" dirty="0"/>
              <a:t>In AT there is no direct connection between input shaft and output shaft, so there is intermediate shaft between the two- Transfers torque to the drive shaft</a:t>
            </a:r>
          </a:p>
          <a:p>
            <a:pPr marL="0" indent="0" algn="just">
              <a:buNone/>
            </a:pPr>
            <a:r>
              <a:rPr lang="en-GB" sz="2800" dirty="0"/>
              <a:t>Input shaft</a:t>
            </a:r>
          </a:p>
          <a:p>
            <a:pPr marL="0" indent="0" algn="just">
              <a:buNone/>
            </a:pPr>
            <a:r>
              <a:rPr lang="en-GB" sz="2800" dirty="0"/>
              <a:t>Intermediate shaft</a:t>
            </a:r>
          </a:p>
          <a:p>
            <a:pPr marL="0" indent="0" algn="just">
              <a:buNone/>
            </a:pPr>
            <a:r>
              <a:rPr lang="en-GB" sz="2800" dirty="0"/>
              <a:t>Output shaft</a:t>
            </a:r>
            <a:endParaRPr lang="en-US" sz="2800" dirty="0"/>
          </a:p>
          <a:p>
            <a:pPr marL="0" indent="0" algn="just">
              <a:buNone/>
            </a:pPr>
            <a:endParaRPr lang="en-US" dirty="0"/>
          </a:p>
        </p:txBody>
      </p:sp>
    </p:spTree>
    <p:extLst>
      <p:ext uri="{BB962C8B-B14F-4D97-AF65-F5344CB8AC3E}">
        <p14:creationId xmlns:p14="http://schemas.microsoft.com/office/powerpoint/2010/main" val="2630823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6281D-8595-457A-A140-F8A6F9AEDE1F}"/>
              </a:ext>
            </a:extLst>
          </p:cNvPr>
          <p:cNvSpPr>
            <a:spLocks noGrp="1"/>
          </p:cNvSpPr>
          <p:nvPr>
            <p:ph type="title"/>
          </p:nvPr>
        </p:nvSpPr>
        <p:spPr/>
        <p:txBody>
          <a:bodyPr>
            <a:normAutofit/>
          </a:bodyPr>
          <a:lstStyle/>
          <a:p>
            <a:r>
              <a:rPr lang="en-US" b="1" dirty="0">
                <a:solidFill>
                  <a:srgbClr val="FF0000"/>
                </a:solidFill>
              </a:rPr>
              <a:t>VI. Bands  and clutches</a:t>
            </a:r>
            <a:r>
              <a:rPr lang="en-GB" sz="4400" b="1" dirty="0">
                <a:solidFill>
                  <a:srgbClr val="FF0000"/>
                </a:solidFill>
              </a:rPr>
              <a:t> </a:t>
            </a:r>
            <a:endParaRPr lang="en-US" dirty="0">
              <a:solidFill>
                <a:srgbClr val="FF0000"/>
              </a:solidFill>
            </a:endParaRPr>
          </a:p>
        </p:txBody>
      </p:sp>
      <p:sp>
        <p:nvSpPr>
          <p:cNvPr id="3" name="Content Placeholder 2">
            <a:extLst>
              <a:ext uri="{FF2B5EF4-FFF2-40B4-BE49-F238E27FC236}">
                <a16:creationId xmlns:a16="http://schemas.microsoft.com/office/drawing/2014/main" id="{AD3DF4FB-83F9-4E2A-982D-818B166F7F6B}"/>
              </a:ext>
            </a:extLst>
          </p:cNvPr>
          <p:cNvSpPr>
            <a:spLocks noGrp="1"/>
          </p:cNvSpPr>
          <p:nvPr>
            <p:ph idx="1"/>
          </p:nvPr>
        </p:nvSpPr>
        <p:spPr>
          <a:xfrm>
            <a:off x="1176865" y="2490135"/>
            <a:ext cx="6798736" cy="3682065"/>
          </a:xfrm>
        </p:spPr>
        <p:txBody>
          <a:bodyPr>
            <a:normAutofit/>
          </a:bodyPr>
          <a:lstStyle/>
          <a:p>
            <a:pPr algn="just"/>
            <a:r>
              <a:rPr lang="en-US" b="0" i="0" dirty="0">
                <a:solidFill>
                  <a:schemeClr val="tx1"/>
                </a:solidFill>
                <a:effectLst/>
                <a:latin typeface="+mj-lt"/>
              </a:rPr>
              <a:t>In order for the automatic transmission to change gears, various parts of the planetary gear set must be connected to the input shaft (from the engine) while others must be held stationary. </a:t>
            </a:r>
          </a:p>
          <a:p>
            <a:pPr algn="just"/>
            <a:r>
              <a:rPr lang="en-US" b="0" i="0" dirty="0">
                <a:solidFill>
                  <a:schemeClr val="tx1"/>
                </a:solidFill>
                <a:effectLst/>
                <a:latin typeface="+mj-lt"/>
              </a:rPr>
              <a:t>This is done through the use of bands and clutches.</a:t>
            </a:r>
          </a:p>
          <a:p>
            <a:pPr algn="just"/>
            <a:r>
              <a:rPr lang="en-US" b="1" i="0" dirty="0">
                <a:solidFill>
                  <a:schemeClr val="tx1"/>
                </a:solidFill>
                <a:effectLst/>
                <a:latin typeface="+mj-lt"/>
              </a:rPr>
              <a:t>Bands</a:t>
            </a:r>
            <a:r>
              <a:rPr lang="en-US" b="0" i="0" dirty="0">
                <a:solidFill>
                  <a:schemeClr val="tx1"/>
                </a:solidFill>
                <a:effectLst/>
                <a:latin typeface="+mj-lt"/>
              </a:rPr>
              <a:t> are steel straps with friction material on the inside that are wrapped around a planetary gear set to hold a part of the gear train assembly from turning in order to achieve a particular gear ratio.. </a:t>
            </a:r>
          </a:p>
        </p:txBody>
      </p:sp>
    </p:spTree>
    <p:extLst>
      <p:ext uri="{BB962C8B-B14F-4D97-AF65-F5344CB8AC3E}">
        <p14:creationId xmlns:p14="http://schemas.microsoft.com/office/powerpoint/2010/main" val="3747382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211B2-2D84-4C2A-8F96-12965102B7C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F2F89-A3EF-F154-9235-5151B3B909F3}"/>
              </a:ext>
            </a:extLst>
          </p:cNvPr>
          <p:cNvSpPr>
            <a:spLocks noGrp="1"/>
          </p:cNvSpPr>
          <p:nvPr>
            <p:ph idx="1"/>
          </p:nvPr>
        </p:nvSpPr>
        <p:spPr/>
        <p:txBody>
          <a:bodyPr/>
          <a:lstStyle/>
          <a:p>
            <a:r>
              <a:rPr lang="en-US" b="0" i="0" dirty="0">
                <a:solidFill>
                  <a:schemeClr val="tx1"/>
                </a:solidFill>
                <a:effectLst/>
                <a:latin typeface="+mj-lt"/>
              </a:rPr>
              <a:t>The band is tightened by the use of a hydraulic piston called a servo. </a:t>
            </a:r>
          </a:p>
          <a:p>
            <a:pPr algn="l"/>
            <a:r>
              <a:rPr lang="en-US" b="1" i="0" dirty="0">
                <a:solidFill>
                  <a:schemeClr val="tx1"/>
                </a:solidFill>
                <a:effectLst/>
                <a:latin typeface="+mj-lt"/>
              </a:rPr>
              <a:t>Clutch: </a:t>
            </a:r>
            <a:r>
              <a:rPr lang="en-US" b="0" i="0" dirty="0">
                <a:solidFill>
                  <a:schemeClr val="tx1"/>
                </a:solidFill>
                <a:effectLst/>
                <a:latin typeface="+mj-lt"/>
              </a:rPr>
              <a:t>A device used to lock two (2) components together in order to transmit motion. Primarily used for engaging the input shaft to the gear assembly.</a:t>
            </a:r>
          </a:p>
          <a:p>
            <a:r>
              <a:rPr lang="en-US" i="0" dirty="0">
                <a:solidFill>
                  <a:schemeClr val="tx1"/>
                </a:solidFill>
                <a:effectLst/>
                <a:latin typeface="+mj-lt"/>
              </a:rPr>
              <a:t>Clutches</a:t>
            </a:r>
            <a:r>
              <a:rPr lang="en-US" b="1" i="0" dirty="0">
                <a:solidFill>
                  <a:schemeClr val="tx1"/>
                </a:solidFill>
                <a:effectLst/>
                <a:latin typeface="+mj-lt"/>
              </a:rPr>
              <a:t> </a:t>
            </a:r>
            <a:r>
              <a:rPr lang="en-US" b="0" i="0" dirty="0">
                <a:solidFill>
                  <a:schemeClr val="tx1"/>
                </a:solidFill>
                <a:effectLst/>
                <a:latin typeface="+mj-lt"/>
              </a:rPr>
              <a:t>use multiple discs which are squeezed together by a large ring-type piston. </a:t>
            </a:r>
          </a:p>
          <a:p>
            <a:endParaRPr lang="en-TZ" dirty="0">
              <a:solidFill>
                <a:srgbClr val="FF0000"/>
              </a:solidFill>
              <a:latin typeface="+mj-lt"/>
            </a:endParaRPr>
          </a:p>
        </p:txBody>
      </p:sp>
      <p:sp>
        <p:nvSpPr>
          <p:cNvPr id="5" name="Title 1">
            <a:extLst>
              <a:ext uri="{FF2B5EF4-FFF2-40B4-BE49-F238E27FC236}">
                <a16:creationId xmlns:a16="http://schemas.microsoft.com/office/drawing/2014/main" id="{5149B3CC-F804-D928-1799-48514DFA6F9E}"/>
              </a:ext>
            </a:extLst>
          </p:cNvPr>
          <p:cNvSpPr>
            <a:spLocks noGrp="1"/>
          </p:cNvSpPr>
          <p:nvPr>
            <p:ph type="title"/>
          </p:nvPr>
        </p:nvSpPr>
        <p:spPr>
          <a:xfrm>
            <a:off x="1176866" y="915337"/>
            <a:ext cx="6798734" cy="1303867"/>
          </a:xfrm>
        </p:spPr>
        <p:txBody>
          <a:bodyPr>
            <a:normAutofit fontScale="90000"/>
          </a:bodyPr>
          <a:lstStyle/>
          <a:p>
            <a:r>
              <a:rPr lang="en-US" b="1" dirty="0">
                <a:solidFill>
                  <a:srgbClr val="FF0000"/>
                </a:solidFill>
              </a:rPr>
              <a:t>VI. Band brake and clutch</a:t>
            </a:r>
            <a:r>
              <a:rPr lang="en-GB" sz="4400" b="1" dirty="0">
                <a:solidFill>
                  <a:srgbClr val="FF0000"/>
                </a:solidFill>
              </a:rPr>
              <a:t> </a:t>
            </a:r>
            <a:r>
              <a:rPr lang="en-GB" sz="4400" b="1" dirty="0">
                <a:solidFill>
                  <a:srgbClr val="0070C0"/>
                </a:solidFill>
              </a:rPr>
              <a:t>cont..</a:t>
            </a:r>
            <a:endParaRPr lang="en-TZ" dirty="0">
              <a:solidFill>
                <a:srgbClr val="0070C0"/>
              </a:solidFill>
            </a:endParaRPr>
          </a:p>
        </p:txBody>
      </p:sp>
    </p:spTree>
    <p:extLst>
      <p:ext uri="{BB962C8B-B14F-4D97-AF65-F5344CB8AC3E}">
        <p14:creationId xmlns:p14="http://schemas.microsoft.com/office/powerpoint/2010/main" val="3653414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5F046-A27E-4030-8573-5963C26BA864}"/>
              </a:ext>
            </a:extLst>
          </p:cNvPr>
          <p:cNvSpPr>
            <a:spLocks noGrp="1"/>
          </p:cNvSpPr>
          <p:nvPr>
            <p:ph type="title"/>
          </p:nvPr>
        </p:nvSpPr>
        <p:spPr/>
        <p:txBody>
          <a:bodyPr>
            <a:normAutofit fontScale="90000"/>
          </a:bodyPr>
          <a:lstStyle/>
          <a:p>
            <a:r>
              <a:rPr lang="en-US" b="1" dirty="0">
                <a:solidFill>
                  <a:srgbClr val="FF0000"/>
                </a:solidFill>
              </a:rPr>
              <a:t>VI. Band brake and clutch</a:t>
            </a:r>
            <a:r>
              <a:rPr lang="en-GB" sz="4400" b="1" dirty="0">
                <a:solidFill>
                  <a:srgbClr val="FF0000"/>
                </a:solidFill>
              </a:rPr>
              <a:t> </a:t>
            </a:r>
            <a:r>
              <a:rPr lang="en-GB" sz="4400" b="1" dirty="0">
                <a:solidFill>
                  <a:srgbClr val="0070C0"/>
                </a:solidFill>
              </a:rPr>
              <a:t>cont..</a:t>
            </a:r>
            <a:endParaRPr lang="en-TZ" dirty="0"/>
          </a:p>
        </p:txBody>
      </p:sp>
      <p:sp>
        <p:nvSpPr>
          <p:cNvPr id="3" name="Content Placeholder 2">
            <a:extLst>
              <a:ext uri="{FF2B5EF4-FFF2-40B4-BE49-F238E27FC236}">
                <a16:creationId xmlns:a16="http://schemas.microsoft.com/office/drawing/2014/main" id="{ABE46789-96C0-4641-AA32-182A52E9EAB0}"/>
              </a:ext>
            </a:extLst>
          </p:cNvPr>
          <p:cNvSpPr>
            <a:spLocks noGrp="1"/>
          </p:cNvSpPr>
          <p:nvPr>
            <p:ph idx="1"/>
          </p:nvPr>
        </p:nvSpPr>
        <p:spPr/>
        <p:txBody>
          <a:bodyPr>
            <a:normAutofit lnSpcReduction="10000"/>
          </a:bodyPr>
          <a:lstStyle/>
          <a:p>
            <a:pPr algn="l"/>
            <a:r>
              <a:rPr lang="en-US" b="0" i="0" dirty="0">
                <a:solidFill>
                  <a:schemeClr val="tx1"/>
                </a:solidFill>
                <a:effectLst/>
                <a:latin typeface="+mj-lt"/>
              </a:rPr>
              <a:t>The clutch casing is usually driven by the input shaft. When fluid is directed from the pump to the clutch, the fluid forces the piston forward clamping the discs together so that they all rotate as one along with the component that is connected to the clutch.</a:t>
            </a:r>
          </a:p>
          <a:p>
            <a:pPr algn="l"/>
            <a:r>
              <a:rPr lang="en-US" b="0" i="0" dirty="0">
                <a:solidFill>
                  <a:schemeClr val="tx1"/>
                </a:solidFill>
                <a:effectLst/>
                <a:latin typeface="+mj-lt"/>
              </a:rPr>
              <a:t>The high-pressure fluid from the pump is circulated and directed by a series of valves referred to as the valve body in order to change gears as well as lubricate the transmission.</a:t>
            </a:r>
          </a:p>
          <a:p>
            <a:endParaRPr lang="en-TZ" dirty="0"/>
          </a:p>
        </p:txBody>
      </p:sp>
    </p:spTree>
    <p:extLst>
      <p:ext uri="{BB962C8B-B14F-4D97-AF65-F5344CB8AC3E}">
        <p14:creationId xmlns:p14="http://schemas.microsoft.com/office/powerpoint/2010/main" val="31583178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38971C-7ACE-4E2F-8D51-13BDB101D172}"/>
              </a:ext>
            </a:extLst>
          </p:cNvPr>
          <p:cNvSpPr>
            <a:spLocks noGrp="1"/>
          </p:cNvSpPr>
          <p:nvPr>
            <p:ph sz="half" idx="1"/>
          </p:nvPr>
        </p:nvSpPr>
        <p:spPr/>
        <p:txBody>
          <a:bodyPr>
            <a:normAutofit fontScale="70000" lnSpcReduction="20000"/>
          </a:bodyPr>
          <a:lstStyle/>
          <a:p>
            <a:r>
              <a:rPr lang="en-US" sz="3200" b="1" dirty="0"/>
              <a:t>Clutch Operation</a:t>
            </a:r>
          </a:p>
          <a:p>
            <a:pPr marL="0" indent="0" algn="just">
              <a:buNone/>
            </a:pPr>
            <a:r>
              <a:rPr lang="en-GB" sz="3200" dirty="0">
                <a:solidFill>
                  <a:srgbClr val="000000"/>
                </a:solidFill>
              </a:rPr>
              <a:t>With no hydraulic pressure applied, the release springs hold the driving and driven discs disengaged and free to revolve independently of each other </a:t>
            </a:r>
            <a:r>
              <a:rPr lang="en-GB" sz="3200" b="1" dirty="0"/>
              <a:t>(A)</a:t>
            </a:r>
            <a:r>
              <a:rPr lang="en-GB" sz="3200" dirty="0"/>
              <a:t>.</a:t>
            </a:r>
            <a:r>
              <a:rPr lang="en-GB" sz="3200" dirty="0">
                <a:solidFill>
                  <a:srgbClr val="000000"/>
                </a:solidFill>
              </a:rPr>
              <a:t> The input shaft drives the clutch hub, but not the drum or output shaft</a:t>
            </a:r>
            <a:r>
              <a:rPr lang="en-US" sz="3200" dirty="0">
                <a:solidFill>
                  <a:srgbClr val="000000"/>
                </a:solidFill>
              </a:rPr>
              <a:t>. </a:t>
            </a:r>
          </a:p>
          <a:p>
            <a:endParaRPr lang="en-US" dirty="0"/>
          </a:p>
        </p:txBody>
      </p:sp>
      <p:pic>
        <p:nvPicPr>
          <p:cNvPr id="7" name="Content Placeholder 6">
            <a:extLst>
              <a:ext uri="{FF2B5EF4-FFF2-40B4-BE49-F238E27FC236}">
                <a16:creationId xmlns:a16="http://schemas.microsoft.com/office/drawing/2014/main" id="{38B6805C-17A1-4300-B79D-D42C413C8D7D}"/>
              </a:ext>
            </a:extLst>
          </p:cNvPr>
          <p:cNvPicPr>
            <a:picLocks noGrp="1" noChangeAspect="1"/>
          </p:cNvPicPr>
          <p:nvPr>
            <p:ph sz="half" idx="2"/>
          </p:nvPr>
        </p:nvPicPr>
        <p:blipFill>
          <a:blip r:embed="rId2"/>
          <a:stretch>
            <a:fillRect/>
          </a:stretch>
        </p:blipFill>
        <p:spPr>
          <a:xfrm>
            <a:off x="4756150" y="2986881"/>
            <a:ext cx="3114675" cy="2447925"/>
          </a:xfrm>
        </p:spPr>
      </p:pic>
    </p:spTree>
    <p:extLst>
      <p:ext uri="{BB962C8B-B14F-4D97-AF65-F5344CB8AC3E}">
        <p14:creationId xmlns:p14="http://schemas.microsoft.com/office/powerpoint/2010/main" val="20072940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D723B4-5755-4403-9238-30329BDC1BEF}"/>
              </a:ext>
            </a:extLst>
          </p:cNvPr>
          <p:cNvSpPr>
            <a:spLocks noGrp="1"/>
          </p:cNvSpPr>
          <p:nvPr>
            <p:ph sz="half" idx="1"/>
          </p:nvPr>
        </p:nvSpPr>
        <p:spPr>
          <a:xfrm>
            <a:off x="762000" y="2487168"/>
            <a:ext cx="3752426" cy="3447288"/>
          </a:xfrm>
        </p:spPr>
        <p:txBody>
          <a:bodyPr>
            <a:normAutofit fontScale="85000" lnSpcReduction="10000"/>
          </a:bodyPr>
          <a:lstStyle/>
          <a:p>
            <a:pPr marL="0" indent="0" algn="just">
              <a:buNone/>
            </a:pPr>
            <a:r>
              <a:rPr lang="en-GB" sz="3200" dirty="0">
                <a:solidFill>
                  <a:srgbClr val="000000"/>
                </a:solidFill>
              </a:rPr>
              <a:t>When hydraulic pressure is applied, the piston forces the driving discs and the driven discs together to clamp the hub to the drum so that they turn together </a:t>
            </a:r>
            <a:r>
              <a:rPr lang="en-GB" sz="3200" b="1" dirty="0"/>
              <a:t>(B)</a:t>
            </a:r>
            <a:r>
              <a:rPr lang="en-GB" sz="3200" dirty="0">
                <a:solidFill>
                  <a:srgbClr val="000000"/>
                </a:solidFill>
              </a:rPr>
              <a:t> as one unit</a:t>
            </a:r>
            <a:r>
              <a:rPr lang="en-GB" sz="3200" dirty="0"/>
              <a:t>.</a:t>
            </a:r>
            <a:endParaRPr lang="en-US" sz="3200" dirty="0"/>
          </a:p>
          <a:p>
            <a:endParaRPr lang="en-US" dirty="0"/>
          </a:p>
        </p:txBody>
      </p:sp>
      <p:pic>
        <p:nvPicPr>
          <p:cNvPr id="7" name="Content Placeholder 6">
            <a:extLst>
              <a:ext uri="{FF2B5EF4-FFF2-40B4-BE49-F238E27FC236}">
                <a16:creationId xmlns:a16="http://schemas.microsoft.com/office/drawing/2014/main" id="{2E032FE0-FCF3-4F06-95D1-9747F5DB38D8}"/>
              </a:ext>
            </a:extLst>
          </p:cNvPr>
          <p:cNvPicPr>
            <a:picLocks noGrp="1" noChangeAspect="1"/>
          </p:cNvPicPr>
          <p:nvPr>
            <p:ph sz="half" idx="2"/>
          </p:nvPr>
        </p:nvPicPr>
        <p:blipFill>
          <a:blip r:embed="rId2"/>
          <a:stretch>
            <a:fillRect/>
          </a:stretch>
        </p:blipFill>
        <p:spPr>
          <a:xfrm>
            <a:off x="4927600" y="2991644"/>
            <a:ext cx="2771775" cy="2438400"/>
          </a:xfrm>
        </p:spPr>
      </p:pic>
    </p:spTree>
    <p:extLst>
      <p:ext uri="{BB962C8B-B14F-4D97-AF65-F5344CB8AC3E}">
        <p14:creationId xmlns:p14="http://schemas.microsoft.com/office/powerpoint/2010/main" val="15481213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DBD191E4-33A9-471D-8609-2CD5D9D5F4A0}"/>
              </a:ext>
            </a:extLst>
          </p:cNvPr>
          <p:cNvPicPr>
            <a:picLocks noChangeAspect="1"/>
          </p:cNvPicPr>
          <p:nvPr/>
        </p:nvPicPr>
        <p:blipFill>
          <a:blip r:embed="rId2"/>
          <a:stretch>
            <a:fillRect/>
          </a:stretch>
        </p:blipFill>
        <p:spPr>
          <a:xfrm>
            <a:off x="762000" y="952500"/>
            <a:ext cx="4800600" cy="4953000"/>
          </a:xfrm>
          <a:prstGeom prst="rect">
            <a:avLst/>
          </a:prstGeom>
        </p:spPr>
      </p:pic>
      <p:pic>
        <p:nvPicPr>
          <p:cNvPr id="3" name="Content Placeholder 4">
            <a:extLst>
              <a:ext uri="{FF2B5EF4-FFF2-40B4-BE49-F238E27FC236}">
                <a16:creationId xmlns:a16="http://schemas.microsoft.com/office/drawing/2014/main" id="{8C97E501-3E4C-4156-B0E4-FAD205D4805E}"/>
              </a:ext>
            </a:extLst>
          </p:cNvPr>
          <p:cNvPicPr>
            <a:picLocks noGrp="1" noChangeAspect="1"/>
          </p:cNvPicPr>
          <p:nvPr>
            <p:ph idx="1"/>
          </p:nvPr>
        </p:nvPicPr>
        <p:blipFill>
          <a:blip r:embed="rId3"/>
          <a:stretch>
            <a:fillRect/>
          </a:stretch>
        </p:blipFill>
        <p:spPr>
          <a:xfrm>
            <a:off x="5562600" y="952500"/>
            <a:ext cx="3048000" cy="4953000"/>
          </a:xfrm>
        </p:spPr>
      </p:pic>
    </p:spTree>
    <p:extLst>
      <p:ext uri="{BB962C8B-B14F-4D97-AF65-F5344CB8AC3E}">
        <p14:creationId xmlns:p14="http://schemas.microsoft.com/office/powerpoint/2010/main" val="25913960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B4EF5-70E5-6740-D0EA-33638D22751A}"/>
              </a:ext>
            </a:extLst>
          </p:cNvPr>
          <p:cNvSpPr>
            <a:spLocks noGrp="1"/>
          </p:cNvSpPr>
          <p:nvPr>
            <p:ph type="title"/>
          </p:nvPr>
        </p:nvSpPr>
        <p:spPr/>
        <p:txBody>
          <a:bodyPr>
            <a:normAutofit fontScale="90000"/>
          </a:bodyPr>
          <a:lstStyle/>
          <a:p>
            <a:r>
              <a:rPr lang="en-US" b="1" dirty="0">
                <a:solidFill>
                  <a:srgbClr val="FF0000"/>
                </a:solidFill>
              </a:rPr>
              <a:t>VI. Band brake and clutch</a:t>
            </a:r>
            <a:r>
              <a:rPr lang="en-GB" sz="4400" b="1" dirty="0">
                <a:solidFill>
                  <a:srgbClr val="FF0000"/>
                </a:solidFill>
              </a:rPr>
              <a:t> </a:t>
            </a:r>
            <a:r>
              <a:rPr lang="en-GB" sz="4400" b="1" dirty="0">
                <a:solidFill>
                  <a:srgbClr val="0070C0"/>
                </a:solidFill>
              </a:rPr>
              <a:t>cont..</a:t>
            </a:r>
            <a:endParaRPr lang="en-US" dirty="0"/>
          </a:p>
        </p:txBody>
      </p:sp>
      <p:sp>
        <p:nvSpPr>
          <p:cNvPr id="3" name="Content Placeholder 2">
            <a:extLst>
              <a:ext uri="{FF2B5EF4-FFF2-40B4-BE49-F238E27FC236}">
                <a16:creationId xmlns:a16="http://schemas.microsoft.com/office/drawing/2014/main" id="{5CAA178B-93CD-A947-4E0B-90272318D148}"/>
              </a:ext>
            </a:extLst>
          </p:cNvPr>
          <p:cNvSpPr>
            <a:spLocks noGrp="1"/>
          </p:cNvSpPr>
          <p:nvPr>
            <p:ph idx="1"/>
          </p:nvPr>
        </p:nvSpPr>
        <p:spPr>
          <a:xfrm>
            <a:off x="1176865" y="2362201"/>
            <a:ext cx="6798736" cy="3886200"/>
          </a:xfrm>
        </p:spPr>
        <p:txBody>
          <a:bodyPr>
            <a:normAutofit fontScale="92500" lnSpcReduction="10000"/>
          </a:bodyPr>
          <a:lstStyle/>
          <a:p>
            <a:r>
              <a:rPr lang="en-US" sz="2600" b="0" i="0" dirty="0">
                <a:solidFill>
                  <a:srgbClr val="000000"/>
                </a:solidFill>
                <a:effectLst/>
                <a:latin typeface="Garamond (Headings)"/>
              </a:rPr>
              <a:t>The input shaft is connected to the ring gear. </a:t>
            </a:r>
          </a:p>
          <a:p>
            <a:r>
              <a:rPr lang="en-US" sz="2600" b="0" i="0" dirty="0">
                <a:solidFill>
                  <a:srgbClr val="000000"/>
                </a:solidFill>
                <a:effectLst/>
                <a:latin typeface="Garamond (Headings)"/>
              </a:rPr>
              <a:t>The Output shaft is connected to the planet carrier, which is also connected to a Multi-disk clutch pack. </a:t>
            </a:r>
          </a:p>
          <a:p>
            <a:r>
              <a:rPr lang="en-US" sz="2600" b="0" i="0" dirty="0">
                <a:solidFill>
                  <a:srgbClr val="000000"/>
                </a:solidFill>
                <a:effectLst/>
                <a:latin typeface="Garamond (Headings)"/>
              </a:rPr>
              <a:t>The sun gear is connected to a drum that is also connected to the other half of the clutch pack. </a:t>
            </a:r>
          </a:p>
          <a:p>
            <a:r>
              <a:rPr lang="en-US" sz="2600" b="0" i="0" dirty="0">
                <a:solidFill>
                  <a:srgbClr val="000000"/>
                </a:solidFill>
                <a:effectLst/>
                <a:latin typeface="Garamond (Headings)"/>
              </a:rPr>
              <a:t>Surrounding the outside of the drum is a band that can be tightened around the drum when required to prevent the drum with the attached sun gear from turning. </a:t>
            </a:r>
          </a:p>
          <a:p>
            <a:pPr lvl="1"/>
            <a:endParaRPr lang="en-US" sz="140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7536819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EE5299B-9C0B-DC02-6064-5EE34BD2ED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266700"/>
            <a:ext cx="8382000" cy="6324600"/>
          </a:xfrm>
        </p:spPr>
      </p:pic>
    </p:spTree>
    <p:extLst>
      <p:ext uri="{BB962C8B-B14F-4D97-AF65-F5344CB8AC3E}">
        <p14:creationId xmlns:p14="http://schemas.microsoft.com/office/powerpoint/2010/main" val="16694238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B0210-9A4E-4EED-DA14-805184B0C4AA}"/>
              </a:ext>
            </a:extLst>
          </p:cNvPr>
          <p:cNvSpPr>
            <a:spLocks noGrp="1"/>
          </p:cNvSpPr>
          <p:nvPr>
            <p:ph type="title"/>
          </p:nvPr>
        </p:nvSpPr>
        <p:spPr/>
        <p:txBody>
          <a:bodyPr>
            <a:normAutofit fontScale="90000"/>
          </a:bodyPr>
          <a:lstStyle/>
          <a:p>
            <a:r>
              <a:rPr lang="en-US" b="1" dirty="0">
                <a:solidFill>
                  <a:srgbClr val="FF0000"/>
                </a:solidFill>
              </a:rPr>
              <a:t>VI. Band brake and clutch</a:t>
            </a:r>
            <a:r>
              <a:rPr lang="en-GB" sz="4400" b="1" dirty="0">
                <a:solidFill>
                  <a:srgbClr val="FF0000"/>
                </a:solidFill>
              </a:rPr>
              <a:t> </a:t>
            </a:r>
            <a:r>
              <a:rPr lang="en-GB" sz="4400" b="1" dirty="0">
                <a:solidFill>
                  <a:srgbClr val="0070C0"/>
                </a:solidFill>
              </a:rPr>
              <a:t>cont..</a:t>
            </a:r>
            <a:endParaRPr lang="en-US" dirty="0"/>
          </a:p>
        </p:txBody>
      </p:sp>
      <p:sp>
        <p:nvSpPr>
          <p:cNvPr id="3" name="Content Placeholder 2">
            <a:extLst>
              <a:ext uri="{FF2B5EF4-FFF2-40B4-BE49-F238E27FC236}">
                <a16:creationId xmlns:a16="http://schemas.microsoft.com/office/drawing/2014/main" id="{54F69381-79AB-6A67-ED50-15DB1148BA6C}"/>
              </a:ext>
            </a:extLst>
          </p:cNvPr>
          <p:cNvSpPr>
            <a:spLocks noGrp="1"/>
          </p:cNvSpPr>
          <p:nvPr>
            <p:ph idx="1"/>
          </p:nvPr>
        </p:nvSpPr>
        <p:spPr/>
        <p:txBody>
          <a:bodyPr>
            <a:normAutofit lnSpcReduction="10000"/>
          </a:bodyPr>
          <a:lstStyle/>
          <a:p>
            <a:r>
              <a:rPr lang="en-US" sz="2400" b="0" i="0" dirty="0">
                <a:solidFill>
                  <a:srgbClr val="000000"/>
                </a:solidFill>
                <a:effectLst/>
                <a:latin typeface="Garamond (Headings)"/>
              </a:rPr>
              <a:t>The clutch pack is used, to lock the planet carrier with the sun gear forcing both to turn at the same speed. </a:t>
            </a:r>
          </a:p>
          <a:p>
            <a:r>
              <a:rPr lang="en-US" sz="2400" b="0" i="0" dirty="0">
                <a:solidFill>
                  <a:srgbClr val="000000"/>
                </a:solidFill>
                <a:effectLst/>
                <a:latin typeface="Garamond (Headings)"/>
              </a:rPr>
              <a:t>If both the clutch pack and the band were released, the system would be in neutral. </a:t>
            </a:r>
          </a:p>
          <a:p>
            <a:r>
              <a:rPr lang="en-US" sz="2400" b="0" i="0" dirty="0">
                <a:solidFill>
                  <a:srgbClr val="000000"/>
                </a:solidFill>
                <a:effectLst/>
                <a:latin typeface="Garamond (Headings)"/>
              </a:rPr>
              <a:t>Turning the input shaft would turn the planet gears against the sun gear, but since nothing is holding the sun gear, it will spin free and have no effect on the output shaft.</a:t>
            </a:r>
            <a:r>
              <a:rPr lang="en-US" dirty="0">
                <a:latin typeface="Garamond (Headings)"/>
              </a:rPr>
              <a:t> </a:t>
            </a:r>
          </a:p>
          <a:p>
            <a:endParaRPr lang="en-US" dirty="0"/>
          </a:p>
        </p:txBody>
      </p:sp>
    </p:spTree>
    <p:extLst>
      <p:ext uri="{BB962C8B-B14F-4D97-AF65-F5344CB8AC3E}">
        <p14:creationId xmlns:p14="http://schemas.microsoft.com/office/powerpoint/2010/main" val="15995889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2A387-3ED4-4F62-8DC9-580E22161B49}"/>
              </a:ext>
            </a:extLst>
          </p:cNvPr>
          <p:cNvSpPr>
            <a:spLocks noGrp="1"/>
          </p:cNvSpPr>
          <p:nvPr>
            <p:ph type="title"/>
          </p:nvPr>
        </p:nvSpPr>
        <p:spPr/>
        <p:txBody>
          <a:bodyPr/>
          <a:lstStyle/>
          <a:p>
            <a:r>
              <a:rPr lang="en-GB" b="1" dirty="0">
                <a:solidFill>
                  <a:srgbClr val="FF0000"/>
                </a:solidFill>
              </a:rPr>
              <a:t>VII. Valve body</a:t>
            </a:r>
            <a:r>
              <a:rPr lang="en-GB" sz="4400" b="1" dirty="0">
                <a:solidFill>
                  <a:srgbClr val="FF0000"/>
                </a:solidFill>
              </a:rPr>
              <a:t> </a:t>
            </a:r>
            <a:endParaRPr lang="en-US" dirty="0">
              <a:solidFill>
                <a:srgbClr val="FF0000"/>
              </a:solidFill>
            </a:endParaRPr>
          </a:p>
        </p:txBody>
      </p:sp>
      <p:sp>
        <p:nvSpPr>
          <p:cNvPr id="3" name="Content Placeholder 2">
            <a:extLst>
              <a:ext uri="{FF2B5EF4-FFF2-40B4-BE49-F238E27FC236}">
                <a16:creationId xmlns:a16="http://schemas.microsoft.com/office/drawing/2014/main" id="{990244BB-4676-40A4-8A4A-5678E9CF901F}"/>
              </a:ext>
            </a:extLst>
          </p:cNvPr>
          <p:cNvSpPr>
            <a:spLocks noGrp="1"/>
          </p:cNvSpPr>
          <p:nvPr>
            <p:ph idx="1"/>
          </p:nvPr>
        </p:nvSpPr>
        <p:spPr/>
        <p:txBody>
          <a:bodyPr>
            <a:normAutofit fontScale="62500" lnSpcReduction="20000"/>
          </a:bodyPr>
          <a:lstStyle/>
          <a:p>
            <a:pPr algn="just"/>
            <a:r>
              <a:rPr lang="en-US" sz="3400" b="0" i="0" dirty="0">
                <a:effectLst/>
              </a:rPr>
              <a:t>All automatic transmission systems have a </a:t>
            </a:r>
            <a:r>
              <a:rPr lang="en-US" sz="3400" i="0" dirty="0">
                <a:effectLst/>
              </a:rPr>
              <a:t>valve body </a:t>
            </a:r>
            <a:r>
              <a:rPr lang="en-US" sz="3400" b="0" i="0" dirty="0">
                <a:effectLst/>
              </a:rPr>
              <a:t>which serves as the “brain” of the transmission.</a:t>
            </a:r>
          </a:p>
          <a:p>
            <a:pPr algn="just"/>
            <a:r>
              <a:rPr lang="en-US" sz="3400" b="0" i="0" dirty="0">
                <a:effectLst/>
              </a:rPr>
              <a:t>It's essentially a maze-like </a:t>
            </a:r>
            <a:r>
              <a:rPr lang="en-US" sz="3400" dirty="0"/>
              <a:t>and has</a:t>
            </a:r>
            <a:r>
              <a:rPr lang="en-US" sz="3400" b="0" i="0" dirty="0">
                <a:effectLst/>
              </a:rPr>
              <a:t> dozens of various passages and channels within the valve body which direct the flow of pressurized hydraulic fluid to different valves in order to activate the right clutch pack or band and shift to the most appropriate gear based on the current driving situation</a:t>
            </a:r>
          </a:p>
          <a:p>
            <a:pPr algn="just"/>
            <a:r>
              <a:rPr lang="en-US" sz="3400" dirty="0"/>
              <a:t>The valve body contains a manual valve, which is directly connected to the gear shift handle. It covers and uncovers various passages, depending upon handle position.</a:t>
            </a:r>
          </a:p>
          <a:p>
            <a:pPr algn="l"/>
            <a:endParaRPr lang="en-US" b="0" i="0" dirty="0">
              <a:solidFill>
                <a:srgbClr val="3A3A3A"/>
              </a:solidFill>
              <a:effectLst/>
              <a:latin typeface="Tahoma" panose="020B0604030504040204" pitchFamily="34" charset="0"/>
            </a:endParaRPr>
          </a:p>
          <a:p>
            <a:endParaRPr lang="en-US" dirty="0"/>
          </a:p>
        </p:txBody>
      </p:sp>
    </p:spTree>
    <p:extLst>
      <p:ext uri="{BB962C8B-B14F-4D97-AF65-F5344CB8AC3E}">
        <p14:creationId xmlns:p14="http://schemas.microsoft.com/office/powerpoint/2010/main" val="454182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657872-B6EF-472F-9AAD-3850657C6C7E}"/>
              </a:ext>
            </a:extLst>
          </p:cNvPr>
          <p:cNvSpPr>
            <a:spLocks noGrp="1"/>
          </p:cNvSpPr>
          <p:nvPr>
            <p:ph idx="1"/>
          </p:nvPr>
        </p:nvSpPr>
        <p:spPr/>
        <p:txBody>
          <a:bodyPr/>
          <a:lstStyle/>
          <a:p>
            <a:r>
              <a:rPr lang="en-US" b="1" i="0" dirty="0">
                <a:effectLst/>
              </a:rPr>
              <a:t>Types of Valve Body</a:t>
            </a:r>
          </a:p>
          <a:p>
            <a:pPr marL="0" indent="0">
              <a:buNone/>
            </a:pPr>
            <a:r>
              <a:rPr lang="en-US" b="0" i="0" dirty="0">
                <a:effectLst/>
              </a:rPr>
              <a:t>There are two main types of valve body</a:t>
            </a:r>
          </a:p>
          <a:p>
            <a:r>
              <a:rPr lang="en-US" i="0" dirty="0">
                <a:effectLst/>
              </a:rPr>
              <a:t>Electronic Valve Body</a:t>
            </a:r>
          </a:p>
          <a:p>
            <a:r>
              <a:rPr lang="en-US" i="0" dirty="0">
                <a:effectLst/>
              </a:rPr>
              <a:t>Hydraulic Valve Body</a:t>
            </a:r>
            <a:endParaRPr lang="en-US" dirty="0"/>
          </a:p>
        </p:txBody>
      </p:sp>
      <p:sp>
        <p:nvSpPr>
          <p:cNvPr id="4" name="TextBox 3">
            <a:extLst>
              <a:ext uri="{FF2B5EF4-FFF2-40B4-BE49-F238E27FC236}">
                <a16:creationId xmlns:a16="http://schemas.microsoft.com/office/drawing/2014/main" id="{7879C7E4-29ED-C472-62E2-900E61FE9401}"/>
              </a:ext>
            </a:extLst>
          </p:cNvPr>
          <p:cNvSpPr txBox="1"/>
          <p:nvPr/>
        </p:nvSpPr>
        <p:spPr>
          <a:xfrm>
            <a:off x="1524000" y="1219200"/>
            <a:ext cx="5344390" cy="707886"/>
          </a:xfrm>
          <a:prstGeom prst="rect">
            <a:avLst/>
          </a:prstGeom>
          <a:noFill/>
        </p:spPr>
        <p:txBody>
          <a:bodyPr wrap="square">
            <a:spAutoFit/>
          </a:bodyPr>
          <a:lstStyle/>
          <a:p>
            <a:r>
              <a:rPr lang="en-GB" sz="3600" b="1" dirty="0">
                <a:solidFill>
                  <a:srgbClr val="FF0000"/>
                </a:solidFill>
              </a:rPr>
              <a:t>VII. Valve body</a:t>
            </a:r>
            <a:r>
              <a:rPr lang="en-GB" sz="4000" b="1" dirty="0">
                <a:solidFill>
                  <a:srgbClr val="FF0000"/>
                </a:solidFill>
              </a:rPr>
              <a:t> </a:t>
            </a:r>
            <a:endParaRPr lang="en-US" sz="3600" dirty="0"/>
          </a:p>
        </p:txBody>
      </p:sp>
    </p:spTree>
    <p:extLst>
      <p:ext uri="{BB962C8B-B14F-4D97-AF65-F5344CB8AC3E}">
        <p14:creationId xmlns:p14="http://schemas.microsoft.com/office/powerpoint/2010/main" val="9356417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4 Symptoms of a Bad Transmission Valve Body and Replacement Cost">
            <a:extLst>
              <a:ext uri="{FF2B5EF4-FFF2-40B4-BE49-F238E27FC236}">
                <a16:creationId xmlns:a16="http://schemas.microsoft.com/office/drawing/2014/main" id="{3659E260-1476-4A0F-9FD6-8C1DEF9388C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3247" y="1119187"/>
            <a:ext cx="4343401" cy="46196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Valve body in automatic transmissions. Principles of operation. Problems  and repair procedures. Valve body Testing Equipment">
            <a:extLst>
              <a:ext uri="{FF2B5EF4-FFF2-40B4-BE49-F238E27FC236}">
                <a16:creationId xmlns:a16="http://schemas.microsoft.com/office/drawing/2014/main" id="{6282E939-5558-4173-BA34-BC04CB5873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1119187"/>
            <a:ext cx="4038600" cy="461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2277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3AAB110-3AE7-48E4-8937-7DE76339C8BB}"/>
              </a:ext>
            </a:extLst>
          </p:cNvPr>
          <p:cNvSpPr>
            <a:spLocks noGrp="1"/>
          </p:cNvSpPr>
          <p:nvPr>
            <p:ph type="title"/>
          </p:nvPr>
        </p:nvSpPr>
        <p:spPr/>
        <p:txBody>
          <a:bodyPr>
            <a:noAutofit/>
          </a:bodyPr>
          <a:lstStyle/>
          <a:p>
            <a:r>
              <a:rPr lang="en-US" sz="3600" b="1" i="0" dirty="0">
                <a:solidFill>
                  <a:srgbClr val="2C2823"/>
                </a:solidFill>
                <a:effectLst/>
                <a:latin typeface="vollkorn"/>
              </a:rPr>
              <a:t>How an Automatic Transmission Works</a:t>
            </a:r>
            <a:endParaRPr lang="en-US" sz="3600" dirty="0"/>
          </a:p>
        </p:txBody>
      </p:sp>
      <p:sp>
        <p:nvSpPr>
          <p:cNvPr id="5" name="Content Placeholder 4">
            <a:extLst>
              <a:ext uri="{FF2B5EF4-FFF2-40B4-BE49-F238E27FC236}">
                <a16:creationId xmlns:a16="http://schemas.microsoft.com/office/drawing/2014/main" id="{8B2EEB62-5DBB-455C-AF32-83D2021B9D0A}"/>
              </a:ext>
            </a:extLst>
          </p:cNvPr>
          <p:cNvSpPr>
            <a:spLocks noGrp="1"/>
          </p:cNvSpPr>
          <p:nvPr>
            <p:ph idx="1"/>
          </p:nvPr>
        </p:nvSpPr>
        <p:spPr/>
        <p:txBody>
          <a:bodyPr>
            <a:normAutofit fontScale="92500" lnSpcReduction="20000"/>
          </a:bodyPr>
          <a:lstStyle/>
          <a:p>
            <a:pPr marL="0" indent="0" algn="just">
              <a:buNone/>
            </a:pPr>
            <a:r>
              <a:rPr lang="en-US" b="1" dirty="0">
                <a:solidFill>
                  <a:srgbClr val="2C2823"/>
                </a:solidFill>
              </a:rPr>
              <a:t>After starting the engine</a:t>
            </a:r>
            <a:endParaRPr lang="en-US" b="1" i="0" dirty="0">
              <a:solidFill>
                <a:srgbClr val="2C2823"/>
              </a:solidFill>
              <a:effectLst/>
            </a:endParaRPr>
          </a:p>
          <a:p>
            <a:pPr algn="just"/>
            <a:r>
              <a:rPr lang="en-US" b="0" dirty="0">
                <a:solidFill>
                  <a:srgbClr val="2C2823"/>
                </a:solidFill>
                <a:effectLst/>
              </a:rPr>
              <a:t>The engine sends power to the torque convertor’s pump(impeller)</a:t>
            </a:r>
          </a:p>
          <a:p>
            <a:pPr algn="just"/>
            <a:r>
              <a:rPr lang="en-US" b="0" dirty="0">
                <a:solidFill>
                  <a:srgbClr val="2C2823"/>
                </a:solidFill>
                <a:effectLst/>
              </a:rPr>
              <a:t>The pump sends power to the torque converter’s turbine via transmission fluid</a:t>
            </a:r>
          </a:p>
          <a:p>
            <a:pPr algn="just"/>
            <a:r>
              <a:rPr lang="en-US" b="0" dirty="0">
                <a:solidFill>
                  <a:srgbClr val="2C2823"/>
                </a:solidFill>
                <a:effectLst/>
              </a:rPr>
              <a:t>The turbine is connected to a central shaft that connects to the transmission. </a:t>
            </a:r>
          </a:p>
          <a:p>
            <a:pPr algn="just"/>
            <a:r>
              <a:rPr lang="en-US" b="0" dirty="0">
                <a:solidFill>
                  <a:srgbClr val="2C2823"/>
                </a:solidFill>
                <a:effectLst/>
              </a:rPr>
              <a:t>As the turbine spins, the shaft spins, sending power to the first planetary gear set of the transmission.</a:t>
            </a:r>
          </a:p>
          <a:p>
            <a:endParaRPr lang="en-US" dirty="0"/>
          </a:p>
        </p:txBody>
      </p:sp>
    </p:spTree>
    <p:extLst>
      <p:ext uri="{BB962C8B-B14F-4D97-AF65-F5344CB8AC3E}">
        <p14:creationId xmlns:p14="http://schemas.microsoft.com/office/powerpoint/2010/main" val="16357175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B7A554-DB44-4995-99E8-76FB46166DE7}"/>
              </a:ext>
            </a:extLst>
          </p:cNvPr>
          <p:cNvSpPr>
            <a:spLocks noGrp="1"/>
          </p:cNvSpPr>
          <p:nvPr>
            <p:ph idx="1"/>
          </p:nvPr>
        </p:nvSpPr>
        <p:spPr>
          <a:xfrm>
            <a:off x="1176865" y="2490135"/>
            <a:ext cx="6798736" cy="3682065"/>
          </a:xfrm>
        </p:spPr>
        <p:txBody>
          <a:bodyPr>
            <a:normAutofit fontScale="25000" lnSpcReduction="20000"/>
          </a:bodyPr>
          <a:lstStyle/>
          <a:p>
            <a:pPr algn="just"/>
            <a:r>
              <a:rPr lang="en-US" sz="8000" b="0" dirty="0">
                <a:effectLst/>
              </a:rPr>
              <a:t>Depending on which multiple disc clutch or brake band is engaged in the transmission, the power from the torque converter will either cause the sun gear, the planetary carrier, or the ring gear of the planetary gear system to move or stay stationary.</a:t>
            </a:r>
          </a:p>
          <a:p>
            <a:pPr algn="just"/>
            <a:r>
              <a:rPr lang="en-US" sz="8000" b="0" dirty="0">
                <a:effectLst/>
              </a:rPr>
              <a:t>Depending on which parts of the planetary gear system are moving or not determines the gear ratio. Whatever planetary gear arrangement it have, will determine the amount of power the transmission sends to the rest of the drive train.</a:t>
            </a:r>
          </a:p>
          <a:p>
            <a:pPr algn="just"/>
            <a:r>
              <a:rPr lang="en-US" sz="8000" b="0" dirty="0">
                <a:effectLst/>
              </a:rPr>
              <a:t>That, broadly speaking, is how an automatic transmission works. There are sensors and valves that regulate and modify things, but that’s the basic gist of it.</a:t>
            </a:r>
          </a:p>
          <a:p>
            <a:endParaRPr lang="en-US" dirty="0"/>
          </a:p>
        </p:txBody>
      </p:sp>
    </p:spTree>
    <p:extLst>
      <p:ext uri="{BB962C8B-B14F-4D97-AF65-F5344CB8AC3E}">
        <p14:creationId xmlns:p14="http://schemas.microsoft.com/office/powerpoint/2010/main" val="39471409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Transmission Transaxle – Auto Repair Help">
            <a:extLst>
              <a:ext uri="{FF2B5EF4-FFF2-40B4-BE49-F238E27FC236}">
                <a16:creationId xmlns:a16="http://schemas.microsoft.com/office/drawing/2014/main" id="{A45B86ED-D082-4087-8415-97287A386A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00100" y="990600"/>
            <a:ext cx="7543800" cy="518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49146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11608-C1A4-4953-BF2E-DAB8EF5D75B0}"/>
              </a:ext>
            </a:extLst>
          </p:cNvPr>
          <p:cNvSpPr>
            <a:spLocks noGrp="1"/>
          </p:cNvSpPr>
          <p:nvPr>
            <p:ph type="title"/>
          </p:nvPr>
        </p:nvSpPr>
        <p:spPr/>
        <p:txBody>
          <a:bodyPr>
            <a:normAutofit/>
          </a:bodyPr>
          <a:lstStyle/>
          <a:p>
            <a:pPr algn="l"/>
            <a:r>
              <a:rPr lang="en-US" sz="3600" b="1" i="0" dirty="0">
                <a:solidFill>
                  <a:srgbClr val="12323F"/>
                </a:solidFill>
                <a:effectLst/>
                <a:latin typeface="+mn-lt"/>
              </a:rPr>
              <a:t>Common Symptoms in Automatic Transmission Problems </a:t>
            </a:r>
            <a:endParaRPr lang="en-US" dirty="0"/>
          </a:p>
        </p:txBody>
      </p:sp>
      <p:sp>
        <p:nvSpPr>
          <p:cNvPr id="3" name="Content Placeholder 2">
            <a:extLst>
              <a:ext uri="{FF2B5EF4-FFF2-40B4-BE49-F238E27FC236}">
                <a16:creationId xmlns:a16="http://schemas.microsoft.com/office/drawing/2014/main" id="{19DA1D05-D251-4116-A3D8-E6A6A724451F}"/>
              </a:ext>
            </a:extLst>
          </p:cNvPr>
          <p:cNvSpPr>
            <a:spLocks noGrp="1"/>
          </p:cNvSpPr>
          <p:nvPr>
            <p:ph idx="1"/>
          </p:nvPr>
        </p:nvSpPr>
        <p:spPr/>
        <p:txBody>
          <a:bodyPr>
            <a:normAutofit lnSpcReduction="10000"/>
          </a:bodyPr>
          <a:lstStyle/>
          <a:p>
            <a:r>
              <a:rPr lang="en-US" i="0" dirty="0">
                <a:effectLst/>
              </a:rPr>
              <a:t>Harsh or delayed “garage shifts</a:t>
            </a:r>
          </a:p>
          <a:p>
            <a:r>
              <a:rPr lang="en-US" i="0" dirty="0">
                <a:effectLst/>
              </a:rPr>
              <a:t>Incorrect up or down shifting</a:t>
            </a:r>
          </a:p>
          <a:p>
            <a:r>
              <a:rPr lang="en-US" i="0" dirty="0">
                <a:effectLst/>
              </a:rPr>
              <a:t>Banging or knocking sounds</a:t>
            </a:r>
          </a:p>
          <a:p>
            <a:r>
              <a:rPr lang="en-US" i="0" dirty="0">
                <a:effectLst/>
              </a:rPr>
              <a:t>Gear slippage</a:t>
            </a:r>
          </a:p>
          <a:p>
            <a:r>
              <a:rPr lang="en-US" i="0" dirty="0">
                <a:effectLst/>
              </a:rPr>
              <a:t>Check engine light on</a:t>
            </a:r>
          </a:p>
          <a:p>
            <a:r>
              <a:rPr lang="en-US" u="none" strike="noStrike" dirty="0">
                <a:solidFill>
                  <a:srgbClr val="252525"/>
                </a:solidFill>
                <a:effectLst/>
                <a:latin typeface="+mj-lt"/>
              </a:rPr>
              <a:t>Smells like its burning</a:t>
            </a:r>
          </a:p>
          <a:p>
            <a:r>
              <a:rPr lang="en-US" u="none" strike="noStrike" dirty="0">
                <a:solidFill>
                  <a:srgbClr val="252525"/>
                </a:solidFill>
                <a:effectLst/>
                <a:latin typeface="+mj-lt"/>
              </a:rPr>
              <a:t>Low or Leaking Transmission Fluid</a:t>
            </a:r>
          </a:p>
          <a:p>
            <a:endParaRPr lang="en-US" u="none" strike="noStrike" dirty="0">
              <a:solidFill>
                <a:srgbClr val="252525"/>
              </a:solidFill>
              <a:effectLst/>
              <a:latin typeface="+mj-lt"/>
            </a:endParaRPr>
          </a:p>
          <a:p>
            <a:endParaRPr lang="en-US" i="0" dirty="0">
              <a:effectLst/>
            </a:endParaRPr>
          </a:p>
          <a:p>
            <a:endParaRPr lang="en-US" dirty="0"/>
          </a:p>
        </p:txBody>
      </p:sp>
    </p:spTree>
    <p:extLst>
      <p:ext uri="{BB962C8B-B14F-4D97-AF65-F5344CB8AC3E}">
        <p14:creationId xmlns:p14="http://schemas.microsoft.com/office/powerpoint/2010/main" val="15295264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F1AC6E-44E2-47B0-9795-CB299D9AF7A1}"/>
              </a:ext>
            </a:extLst>
          </p:cNvPr>
          <p:cNvPicPr>
            <a:picLocks noGrp="1" noChangeAspect="1"/>
          </p:cNvPicPr>
          <p:nvPr>
            <p:ph idx="1"/>
          </p:nvPr>
        </p:nvPicPr>
        <p:blipFill>
          <a:blip r:embed="rId2"/>
          <a:stretch>
            <a:fillRect/>
          </a:stretch>
        </p:blipFill>
        <p:spPr>
          <a:xfrm>
            <a:off x="533400" y="685800"/>
            <a:ext cx="8229599" cy="5562600"/>
          </a:xfrm>
        </p:spPr>
      </p:pic>
    </p:spTree>
    <p:extLst>
      <p:ext uri="{BB962C8B-B14F-4D97-AF65-F5344CB8AC3E}">
        <p14:creationId xmlns:p14="http://schemas.microsoft.com/office/powerpoint/2010/main" val="3415304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838E770-9993-46D5-9FA3-DEB47FC23137}"/>
              </a:ext>
            </a:extLst>
          </p:cNvPr>
          <p:cNvPicPr>
            <a:picLocks noGrp="1" noChangeAspect="1"/>
          </p:cNvPicPr>
          <p:nvPr>
            <p:ph idx="1"/>
          </p:nvPr>
        </p:nvPicPr>
        <p:blipFill>
          <a:blip r:embed="rId2"/>
          <a:stretch>
            <a:fillRect/>
          </a:stretch>
        </p:blipFill>
        <p:spPr>
          <a:xfrm>
            <a:off x="571500" y="2133600"/>
            <a:ext cx="8001000" cy="2193925"/>
          </a:xfrm>
        </p:spPr>
      </p:pic>
    </p:spTree>
    <p:extLst>
      <p:ext uri="{BB962C8B-B14F-4D97-AF65-F5344CB8AC3E}">
        <p14:creationId xmlns:p14="http://schemas.microsoft.com/office/powerpoint/2010/main" val="26251454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4CF6A-26D1-41A5-B8D7-CD07B2AF410D}"/>
              </a:ext>
            </a:extLst>
          </p:cNvPr>
          <p:cNvSpPr>
            <a:spLocks noGrp="1"/>
          </p:cNvSpPr>
          <p:nvPr>
            <p:ph type="title"/>
          </p:nvPr>
        </p:nvSpPr>
        <p:spPr/>
        <p:txBody>
          <a:bodyPr>
            <a:noAutofit/>
          </a:bodyPr>
          <a:lstStyle/>
          <a:p>
            <a:pPr algn="l"/>
            <a:r>
              <a:rPr lang="en-US" sz="3600" b="1" i="0" dirty="0">
                <a:solidFill>
                  <a:srgbClr val="202124"/>
                </a:solidFill>
                <a:effectLst/>
              </a:rPr>
              <a:t>Transmission service </a:t>
            </a:r>
            <a:endParaRPr lang="en-US" sz="3600" dirty="0"/>
          </a:p>
        </p:txBody>
      </p:sp>
      <p:sp>
        <p:nvSpPr>
          <p:cNvPr id="3" name="Content Placeholder 2">
            <a:extLst>
              <a:ext uri="{FF2B5EF4-FFF2-40B4-BE49-F238E27FC236}">
                <a16:creationId xmlns:a16="http://schemas.microsoft.com/office/drawing/2014/main" id="{9C6AA1DB-1CB2-43AA-A45A-798B6C5880E4}"/>
              </a:ext>
            </a:extLst>
          </p:cNvPr>
          <p:cNvSpPr>
            <a:spLocks noGrp="1"/>
          </p:cNvSpPr>
          <p:nvPr>
            <p:ph idx="1"/>
          </p:nvPr>
        </p:nvSpPr>
        <p:spPr/>
        <p:txBody>
          <a:bodyPr>
            <a:normAutofit fontScale="92500"/>
          </a:bodyPr>
          <a:lstStyle/>
          <a:p>
            <a:pPr algn="l">
              <a:buFont typeface="Arial" panose="020B0604020202020204" pitchFamily="34" charset="0"/>
              <a:buChar char="•"/>
            </a:pPr>
            <a:r>
              <a:rPr lang="en-US" b="0" i="0" dirty="0">
                <a:solidFill>
                  <a:srgbClr val="202124"/>
                </a:solidFill>
                <a:effectLst/>
              </a:rPr>
              <a:t>Drain </a:t>
            </a:r>
            <a:r>
              <a:rPr lang="en-US" b="1" i="0" dirty="0">
                <a:solidFill>
                  <a:srgbClr val="202124"/>
                </a:solidFill>
                <a:effectLst/>
              </a:rPr>
              <a:t>transmission</a:t>
            </a:r>
            <a:r>
              <a:rPr lang="en-US" b="0" i="0" dirty="0">
                <a:solidFill>
                  <a:srgbClr val="202124"/>
                </a:solidFill>
                <a:effectLst/>
              </a:rPr>
              <a:t> fluid</a:t>
            </a:r>
          </a:p>
          <a:p>
            <a:pPr algn="l">
              <a:buFont typeface="Arial" panose="020B0604020202020204" pitchFamily="34" charset="0"/>
              <a:buChar char="•"/>
            </a:pPr>
            <a:r>
              <a:rPr lang="en-US" b="0" i="0" dirty="0">
                <a:solidFill>
                  <a:srgbClr val="202124"/>
                </a:solidFill>
                <a:effectLst/>
              </a:rPr>
              <a:t>Remove and clean the oil pan</a:t>
            </a:r>
          </a:p>
          <a:p>
            <a:pPr algn="l">
              <a:buFont typeface="Arial" panose="020B0604020202020204" pitchFamily="34" charset="0"/>
              <a:buChar char="•"/>
            </a:pPr>
            <a:r>
              <a:rPr lang="en-US" b="0" i="0" dirty="0">
                <a:solidFill>
                  <a:srgbClr val="202124"/>
                </a:solidFill>
                <a:effectLst/>
              </a:rPr>
              <a:t>Inspect the fluid condition, evidence of metal or clutch lining material in pan and any evidence of sludge.</a:t>
            </a:r>
          </a:p>
          <a:p>
            <a:pPr algn="l">
              <a:buFont typeface="Arial" panose="020B0604020202020204" pitchFamily="34" charset="0"/>
              <a:buChar char="•"/>
            </a:pPr>
            <a:r>
              <a:rPr lang="en-US" b="0" i="0" dirty="0">
                <a:solidFill>
                  <a:srgbClr val="202124"/>
                </a:solidFill>
                <a:effectLst/>
              </a:rPr>
              <a:t>Full </a:t>
            </a:r>
            <a:r>
              <a:rPr lang="en-US" b="1" i="0" dirty="0">
                <a:solidFill>
                  <a:srgbClr val="202124"/>
                </a:solidFill>
                <a:effectLst/>
              </a:rPr>
              <a:t>transmission</a:t>
            </a:r>
            <a:r>
              <a:rPr lang="en-US" b="0" i="0" dirty="0">
                <a:solidFill>
                  <a:srgbClr val="202124"/>
                </a:solidFill>
                <a:effectLst/>
              </a:rPr>
              <a:t> flush if needed</a:t>
            </a:r>
          </a:p>
          <a:p>
            <a:pPr algn="l">
              <a:buFont typeface="Arial" panose="020B0604020202020204" pitchFamily="34" charset="0"/>
              <a:buChar char="•"/>
            </a:pPr>
            <a:r>
              <a:rPr lang="en-US" b="0" i="0" dirty="0">
                <a:solidFill>
                  <a:srgbClr val="202124"/>
                </a:solidFill>
                <a:effectLst/>
              </a:rPr>
              <a:t>Remove, clean and replace the filter</a:t>
            </a:r>
          </a:p>
          <a:p>
            <a:pPr algn="l">
              <a:buFont typeface="Arial" panose="020B0604020202020204" pitchFamily="34" charset="0"/>
              <a:buChar char="•"/>
            </a:pPr>
            <a:r>
              <a:rPr lang="en-US" b="0" i="0" dirty="0">
                <a:solidFill>
                  <a:srgbClr val="202124"/>
                </a:solidFill>
                <a:effectLst/>
              </a:rPr>
              <a:t>Check and adjust the bands and controls</a:t>
            </a:r>
          </a:p>
          <a:p>
            <a:endParaRPr lang="en-US" dirty="0"/>
          </a:p>
        </p:txBody>
      </p:sp>
    </p:spTree>
    <p:extLst>
      <p:ext uri="{BB962C8B-B14F-4D97-AF65-F5344CB8AC3E}">
        <p14:creationId xmlns:p14="http://schemas.microsoft.com/office/powerpoint/2010/main" val="279110160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18585</TotalTime>
  <Words>2528</Words>
  <Application>Microsoft Office PowerPoint</Application>
  <PresentationFormat>On-screen Show (4:3)</PresentationFormat>
  <Paragraphs>200</Paragraphs>
  <Slides>57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Arial</vt:lpstr>
      <vt:lpstr>Garamond</vt:lpstr>
      <vt:lpstr>Garamond (Headings)</vt:lpstr>
      <vt:lpstr>Tahoma</vt:lpstr>
      <vt:lpstr>Times New Roman</vt:lpstr>
      <vt:lpstr>vollkorn</vt:lpstr>
      <vt:lpstr>Wingdings</vt:lpstr>
      <vt:lpstr>Organic</vt:lpstr>
      <vt:lpstr>Lecture 3;  Automatic  Gearbox</vt:lpstr>
      <vt:lpstr>This presentation will explore</vt:lpstr>
      <vt:lpstr>Introduction</vt:lpstr>
      <vt:lpstr>Introduction</vt:lpstr>
      <vt:lpstr>Automatic Gear Box Construction</vt:lpstr>
      <vt:lpstr>PowerPoint Presentation</vt:lpstr>
      <vt:lpstr>I. Torque Converter </vt:lpstr>
      <vt:lpstr>I. Torque Converter </vt:lpstr>
      <vt:lpstr>PowerPoint Presentation</vt:lpstr>
      <vt:lpstr>PowerPoint Presentation</vt:lpstr>
      <vt:lpstr>PowerPoint Presentation</vt:lpstr>
      <vt:lpstr>PowerPoint Presentation</vt:lpstr>
      <vt:lpstr>PowerPoint Presentation</vt:lpstr>
      <vt:lpstr>PowerPoint Presentation</vt:lpstr>
      <vt:lpstr>II. Oil Pump</vt:lpstr>
      <vt:lpstr>II. Oil Pump cont..</vt:lpstr>
      <vt:lpstr>PowerPoint Presentation</vt:lpstr>
      <vt:lpstr>III. Transmission housing</vt:lpstr>
      <vt:lpstr>Transmission housing cont.…</vt:lpstr>
      <vt:lpstr>PowerPoint Presentation</vt:lpstr>
      <vt:lpstr>IV. Planetary (Epicyclic) Gearsets </vt:lpstr>
      <vt:lpstr>IV. Planetary (Epicyclic) Gearsets Cont..</vt:lpstr>
      <vt:lpstr>PowerPoint Presentation</vt:lpstr>
      <vt:lpstr>IV. Planetary (Epicyclic) Gearsets Cont..</vt:lpstr>
      <vt:lpstr>PowerPoint Presentation</vt:lpstr>
      <vt:lpstr>IV. Planetary (Epicyclic) Gearsets Cont..</vt:lpstr>
      <vt:lpstr>IV. Planetary (Epicyclic) Gearsets Cont..</vt:lpstr>
      <vt:lpstr>PowerPoint Presentation</vt:lpstr>
      <vt:lpstr>IV. Planetary (Epicyclic) Gearsets Cont..</vt:lpstr>
      <vt:lpstr>IV. Planetary (Epicyclic) Gearsets Cont..</vt:lpstr>
      <vt:lpstr>PowerPoint Presentation</vt:lpstr>
      <vt:lpstr>IV. Planetary (Epicyclic) Gearsets Cont..</vt:lpstr>
      <vt:lpstr>IV. Planetary (Epicyclic) Gearsets Cont..</vt:lpstr>
      <vt:lpstr>PowerPoint Presentation</vt:lpstr>
      <vt:lpstr>IV. Planetary (Epicyclic) Gearsets Cont..</vt:lpstr>
      <vt:lpstr>PowerPoint Presentation</vt:lpstr>
      <vt:lpstr>IV. Planetary (Epicyclic) Gearsets Cont..</vt:lpstr>
      <vt:lpstr>V. Transmission Shafts </vt:lpstr>
      <vt:lpstr>VI. Bands  and clutches </vt:lpstr>
      <vt:lpstr>VI. Band brake and clutch cont..</vt:lpstr>
      <vt:lpstr>VI. Band brake and clutch cont..</vt:lpstr>
      <vt:lpstr>PowerPoint Presentation</vt:lpstr>
      <vt:lpstr>PowerPoint Presentation</vt:lpstr>
      <vt:lpstr>PowerPoint Presentation</vt:lpstr>
      <vt:lpstr>VI. Band brake and clutch cont..</vt:lpstr>
      <vt:lpstr>PowerPoint Presentation</vt:lpstr>
      <vt:lpstr>VI. Band brake and clutch cont..</vt:lpstr>
      <vt:lpstr>VII. Valve body </vt:lpstr>
      <vt:lpstr>PowerPoint Presentation</vt:lpstr>
      <vt:lpstr>PowerPoint Presentation</vt:lpstr>
      <vt:lpstr>How an Automatic Transmission Works</vt:lpstr>
      <vt:lpstr>PowerPoint Presentation</vt:lpstr>
      <vt:lpstr>PowerPoint Presentation</vt:lpstr>
      <vt:lpstr>Common Symptoms in Automatic Transmission Problems </vt:lpstr>
      <vt:lpstr>PowerPoint Presentation</vt:lpstr>
      <vt:lpstr>PowerPoint Presentation</vt:lpstr>
      <vt:lpstr>Transmission service </vt:lpstr>
    </vt:vector>
  </TitlesOfParts>
  <Company>Hackney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pwarren</dc:creator>
  <cp:lastModifiedBy>Shanel</cp:lastModifiedBy>
  <cp:revision>127</cp:revision>
  <dcterms:created xsi:type="dcterms:W3CDTF">2011-01-25T06:59:09Z</dcterms:created>
  <dcterms:modified xsi:type="dcterms:W3CDTF">2024-12-04T10:29:12Z</dcterms:modified>
</cp:coreProperties>
</file>