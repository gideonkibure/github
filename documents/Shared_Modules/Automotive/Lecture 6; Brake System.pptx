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8"/>
  </p:notesMasterIdLst>
  <p:sldIdLst>
    <p:sldId id="486" r:id="rId2"/>
    <p:sldId id="487" r:id="rId3"/>
    <p:sldId id="488" r:id="rId4"/>
    <p:sldId id="489" r:id="rId5"/>
    <p:sldId id="490" r:id="rId6"/>
    <p:sldId id="498" r:id="rId7"/>
    <p:sldId id="491" r:id="rId8"/>
    <p:sldId id="492" r:id="rId9"/>
    <p:sldId id="262" r:id="rId10"/>
    <p:sldId id="493" r:id="rId11"/>
    <p:sldId id="264" r:id="rId12"/>
    <p:sldId id="494" r:id="rId13"/>
    <p:sldId id="495" r:id="rId14"/>
    <p:sldId id="402" r:id="rId15"/>
    <p:sldId id="496" r:id="rId16"/>
    <p:sldId id="343" r:id="rId17"/>
    <p:sldId id="499" r:id="rId18"/>
    <p:sldId id="500" r:id="rId19"/>
    <p:sldId id="501" r:id="rId20"/>
    <p:sldId id="502" r:id="rId21"/>
    <p:sldId id="503" r:id="rId22"/>
    <p:sldId id="504" r:id="rId23"/>
    <p:sldId id="505" r:id="rId24"/>
    <p:sldId id="506" r:id="rId25"/>
    <p:sldId id="507" r:id="rId26"/>
    <p:sldId id="397" r:id="rId27"/>
    <p:sldId id="510" r:id="rId28"/>
    <p:sldId id="548" r:id="rId29"/>
    <p:sldId id="549" r:id="rId30"/>
    <p:sldId id="398" r:id="rId31"/>
    <p:sldId id="553" r:id="rId32"/>
    <p:sldId id="354" r:id="rId33"/>
    <p:sldId id="352" r:id="rId34"/>
    <p:sldId id="511" r:id="rId35"/>
    <p:sldId id="512" r:id="rId36"/>
    <p:sldId id="513" r:id="rId37"/>
    <p:sldId id="514" r:id="rId38"/>
    <p:sldId id="515" r:id="rId39"/>
    <p:sldId id="554" r:id="rId40"/>
    <p:sldId id="306" r:id="rId41"/>
    <p:sldId id="516" r:id="rId42"/>
    <p:sldId id="517" r:id="rId43"/>
    <p:sldId id="313" r:id="rId44"/>
    <p:sldId id="518" r:id="rId45"/>
    <p:sldId id="519" r:id="rId46"/>
    <p:sldId id="316" r:id="rId47"/>
    <p:sldId id="520" r:id="rId48"/>
    <p:sldId id="521" r:id="rId49"/>
    <p:sldId id="328" r:id="rId50"/>
    <p:sldId id="522" r:id="rId51"/>
    <p:sldId id="335" r:id="rId52"/>
    <p:sldId id="523" r:id="rId53"/>
    <p:sldId id="524" r:id="rId54"/>
    <p:sldId id="323" r:id="rId55"/>
    <p:sldId id="526" r:id="rId56"/>
    <p:sldId id="525" r:id="rId57"/>
    <p:sldId id="527" r:id="rId58"/>
    <p:sldId id="345" r:id="rId59"/>
    <p:sldId id="529" r:id="rId60"/>
    <p:sldId id="530" r:id="rId61"/>
    <p:sldId id="531" r:id="rId62"/>
    <p:sldId id="348" r:id="rId63"/>
    <p:sldId id="336" r:id="rId64"/>
    <p:sldId id="532" r:id="rId65"/>
    <p:sldId id="357" r:id="rId66"/>
    <p:sldId id="533" r:id="rId67"/>
    <p:sldId id="351" r:id="rId68"/>
    <p:sldId id="534" r:id="rId69"/>
    <p:sldId id="330" r:id="rId70"/>
    <p:sldId id="535" r:id="rId71"/>
    <p:sldId id="536" r:id="rId72"/>
    <p:sldId id="333" r:id="rId73"/>
    <p:sldId id="537" r:id="rId74"/>
    <p:sldId id="538" r:id="rId75"/>
    <p:sldId id="539" r:id="rId76"/>
    <p:sldId id="540" r:id="rId77"/>
    <p:sldId id="541" r:id="rId78"/>
    <p:sldId id="372" r:id="rId79"/>
    <p:sldId id="542" r:id="rId80"/>
    <p:sldId id="543" r:id="rId81"/>
    <p:sldId id="376" r:id="rId82"/>
    <p:sldId id="544" r:id="rId83"/>
    <p:sldId id="545" r:id="rId84"/>
    <p:sldId id="379" r:id="rId85"/>
    <p:sldId id="546" r:id="rId86"/>
    <p:sldId id="380" r:id="rId8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50" autoAdjust="0"/>
    <p:restoredTop sz="94660"/>
  </p:normalViewPr>
  <p:slideViewPr>
    <p:cSldViewPr snapToGrid="0">
      <p:cViewPr varScale="1">
        <p:scale>
          <a:sx n="70" d="100"/>
          <a:sy n="70" d="100"/>
        </p:scale>
        <p:origin x="79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41591A-68C6-4A39-81EB-6D5DC4363781}"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BCBDFB-D9F3-46A4-98AB-EE1E46181FF7}" type="slidenum">
              <a:rPr lang="en-US" smtClean="0"/>
              <a:t>‹#›</a:t>
            </a:fld>
            <a:endParaRPr lang="en-US"/>
          </a:p>
        </p:txBody>
      </p:sp>
    </p:spTree>
    <p:extLst>
      <p:ext uri="{BB962C8B-B14F-4D97-AF65-F5344CB8AC3E}">
        <p14:creationId xmlns:p14="http://schemas.microsoft.com/office/powerpoint/2010/main" val="4032162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3F6CE58-7A10-4C97-9203-CED8C6FF9A2B}" type="datetimeFigureOut">
              <a:rPr lang="en-US" smtClean="0"/>
              <a:t>1/22/2025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F0902401-AE60-46EC-AEBC-0E05D266A2D2}"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5485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F6CE58-7A10-4C97-9203-CED8C6FF9A2B}"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902401-AE60-46EC-AEBC-0E05D266A2D2}" type="slidenum">
              <a:rPr lang="en-US" smtClean="0"/>
              <a:t>‹#›</a:t>
            </a:fld>
            <a:endParaRPr lang="en-US"/>
          </a:p>
        </p:txBody>
      </p:sp>
    </p:spTree>
    <p:extLst>
      <p:ext uri="{BB962C8B-B14F-4D97-AF65-F5344CB8AC3E}">
        <p14:creationId xmlns:p14="http://schemas.microsoft.com/office/powerpoint/2010/main" val="1775475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F6CE58-7A10-4C97-9203-CED8C6FF9A2B}"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902401-AE60-46EC-AEBC-0E05D266A2D2}"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5072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F6CE58-7A10-4C97-9203-CED8C6FF9A2B}"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902401-AE60-46EC-AEBC-0E05D266A2D2}" type="slidenum">
              <a:rPr lang="en-US" smtClean="0"/>
              <a:t>‹#›</a:t>
            </a:fld>
            <a:endParaRPr lang="en-US"/>
          </a:p>
        </p:txBody>
      </p:sp>
    </p:spTree>
    <p:extLst>
      <p:ext uri="{BB962C8B-B14F-4D97-AF65-F5344CB8AC3E}">
        <p14:creationId xmlns:p14="http://schemas.microsoft.com/office/powerpoint/2010/main" val="82592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F6CE58-7A10-4C97-9203-CED8C6FF9A2B}"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902401-AE60-46EC-AEBC-0E05D266A2D2}"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2381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F6CE58-7A10-4C97-9203-CED8C6FF9A2B}"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902401-AE60-46EC-AEBC-0E05D266A2D2}"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0190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F6CE58-7A10-4C97-9203-CED8C6FF9A2B}"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902401-AE60-46EC-AEBC-0E05D266A2D2}" type="slidenum">
              <a:rPr lang="en-US" smtClean="0"/>
              <a:t>‹#›</a:t>
            </a:fld>
            <a:endParaRPr lang="en-US"/>
          </a:p>
        </p:txBody>
      </p:sp>
    </p:spTree>
    <p:extLst>
      <p:ext uri="{BB962C8B-B14F-4D97-AF65-F5344CB8AC3E}">
        <p14:creationId xmlns:p14="http://schemas.microsoft.com/office/powerpoint/2010/main" val="137078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F6CE58-7A10-4C97-9203-CED8C6FF9A2B}"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902401-AE60-46EC-AEBC-0E05D266A2D2}"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5557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F6CE58-7A10-4C97-9203-CED8C6FF9A2B}"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902401-AE60-46EC-AEBC-0E05D266A2D2}" type="slidenum">
              <a:rPr lang="en-US" smtClean="0"/>
              <a:t>‹#›</a:t>
            </a:fld>
            <a:endParaRPr lang="en-US"/>
          </a:p>
        </p:txBody>
      </p:sp>
    </p:spTree>
    <p:extLst>
      <p:ext uri="{BB962C8B-B14F-4D97-AF65-F5344CB8AC3E}">
        <p14:creationId xmlns:p14="http://schemas.microsoft.com/office/powerpoint/2010/main" val="1280082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F6CE58-7A10-4C97-9203-CED8C6FF9A2B}"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902401-AE60-46EC-AEBC-0E05D266A2D2}" type="slidenum">
              <a:rPr lang="en-US" smtClean="0"/>
              <a:t>‹#›</a:t>
            </a:fld>
            <a:endParaRPr lang="en-US"/>
          </a:p>
        </p:txBody>
      </p:sp>
    </p:spTree>
    <p:extLst>
      <p:ext uri="{BB962C8B-B14F-4D97-AF65-F5344CB8AC3E}">
        <p14:creationId xmlns:p14="http://schemas.microsoft.com/office/powerpoint/2010/main" val="764987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F6CE58-7A10-4C97-9203-CED8C6FF9A2B}"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902401-AE60-46EC-AEBC-0E05D266A2D2}"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6249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F6CE58-7A10-4C97-9203-CED8C6FF9A2B}"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902401-AE60-46EC-AEBC-0E05D266A2D2}"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218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F6CE58-7A10-4C97-9203-CED8C6FF9A2B}"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902401-AE60-46EC-AEBC-0E05D266A2D2}" type="slidenum">
              <a:rPr lang="en-US" smtClean="0"/>
              <a:t>‹#›</a:t>
            </a:fld>
            <a:endParaRPr lang="en-US"/>
          </a:p>
        </p:txBody>
      </p:sp>
    </p:spTree>
    <p:extLst>
      <p:ext uri="{BB962C8B-B14F-4D97-AF65-F5344CB8AC3E}">
        <p14:creationId xmlns:p14="http://schemas.microsoft.com/office/powerpoint/2010/main" val="11094085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F6CE58-7A10-4C97-9203-CED8C6FF9A2B}"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902401-AE60-46EC-AEBC-0E05D266A2D2}"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1922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F6CE58-7A10-4C97-9203-CED8C6FF9A2B}"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902401-AE60-46EC-AEBC-0E05D266A2D2}"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7693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F6CE58-7A10-4C97-9203-CED8C6FF9A2B}"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902401-AE60-46EC-AEBC-0E05D266A2D2}"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0185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F6CE58-7A10-4C97-9203-CED8C6FF9A2B}"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902401-AE60-46EC-AEBC-0E05D266A2D2}"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9782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3F6CE58-7A10-4C97-9203-CED8C6FF9A2B}" type="datetimeFigureOut">
              <a:rPr lang="en-US" smtClean="0"/>
              <a:t>1/22/2025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0902401-AE60-46EC-AEBC-0E05D266A2D2}" type="slidenum">
              <a:rPr lang="en-US" smtClean="0"/>
              <a:t>‹#›</a:t>
            </a:fld>
            <a:endParaRPr lang="en-US"/>
          </a:p>
        </p:txBody>
      </p:sp>
    </p:spTree>
    <p:extLst>
      <p:ext uri="{BB962C8B-B14F-4D97-AF65-F5344CB8AC3E}">
        <p14:creationId xmlns:p14="http://schemas.microsoft.com/office/powerpoint/2010/main" val="27279918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en.wikipedia.org/wiki/Traction_(engineering)" TargetMode="External"/><Relationship Id="rId2" Type="http://schemas.openxmlformats.org/officeDocument/2006/relationships/hyperlink" Target="http://en.wikipedia.org/wiki/Automobile_safety" TargetMode="External"/><Relationship Id="rId1" Type="http://schemas.openxmlformats.org/officeDocument/2006/relationships/slideLayout" Target="../slideLayouts/slideLayout2.xml"/><Relationship Id="rId4" Type="http://schemas.openxmlformats.org/officeDocument/2006/relationships/hyperlink" Target="http://en.wikipedia.org/wiki/Brake"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F4CC0D-477E-44C9-BBBC-9FE5CDBE0BB0}"/>
              </a:ext>
            </a:extLst>
          </p:cNvPr>
          <p:cNvSpPr>
            <a:spLocks noGrp="1"/>
          </p:cNvSpPr>
          <p:nvPr>
            <p:ph type="ctrTitle"/>
          </p:nvPr>
        </p:nvSpPr>
        <p:spPr/>
        <p:txBody>
          <a:bodyPr/>
          <a:lstStyle/>
          <a:p>
            <a:r>
              <a:rPr lang="en-US" sz="4400" b="1" dirty="0">
                <a:latin typeface="+mn-lt"/>
              </a:rPr>
              <a:t>Lecture 6: Braking System</a:t>
            </a:r>
            <a:endParaRPr lang="en-TZ" sz="4400" b="1" dirty="0">
              <a:latin typeface="+mn-lt"/>
            </a:endParaRPr>
          </a:p>
        </p:txBody>
      </p:sp>
    </p:spTree>
    <p:extLst>
      <p:ext uri="{BB962C8B-B14F-4D97-AF65-F5344CB8AC3E}">
        <p14:creationId xmlns:p14="http://schemas.microsoft.com/office/powerpoint/2010/main" val="4274460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EDDF0-F80D-4A19-B4DE-BD44D7EC5983}"/>
              </a:ext>
            </a:extLst>
          </p:cNvPr>
          <p:cNvSpPr>
            <a:spLocks noGrp="1"/>
          </p:cNvSpPr>
          <p:nvPr>
            <p:ph type="title"/>
          </p:nvPr>
        </p:nvSpPr>
        <p:spPr/>
        <p:txBody>
          <a:bodyPr/>
          <a:lstStyle/>
          <a:p>
            <a:r>
              <a:rPr lang="en-US" b="1" dirty="0">
                <a:latin typeface="+mn-lt"/>
              </a:rPr>
              <a:t>What to be learned</a:t>
            </a:r>
            <a:endParaRPr lang="en-TZ" dirty="0">
              <a:latin typeface="+mn-lt"/>
            </a:endParaRPr>
          </a:p>
        </p:txBody>
      </p:sp>
      <p:sp>
        <p:nvSpPr>
          <p:cNvPr id="3" name="Content Placeholder 2">
            <a:extLst>
              <a:ext uri="{FF2B5EF4-FFF2-40B4-BE49-F238E27FC236}">
                <a16:creationId xmlns:a16="http://schemas.microsoft.com/office/drawing/2014/main" id="{C445828B-CF70-4530-863A-9B3C370F4C5C}"/>
              </a:ext>
            </a:extLst>
          </p:cNvPr>
          <p:cNvSpPr>
            <a:spLocks noGrp="1"/>
          </p:cNvSpPr>
          <p:nvPr>
            <p:ph idx="1"/>
          </p:nvPr>
        </p:nvSpPr>
        <p:spPr/>
        <p:txBody>
          <a:bodyPr/>
          <a:lstStyle/>
          <a:p>
            <a:r>
              <a:rPr lang="en-US" dirty="0"/>
              <a:t>Define brake</a:t>
            </a:r>
          </a:p>
          <a:p>
            <a:r>
              <a:rPr lang="en-US" dirty="0"/>
              <a:t>Identify different types of the braking system</a:t>
            </a:r>
          </a:p>
          <a:p>
            <a:r>
              <a:rPr lang="en-US" dirty="0"/>
              <a:t>Describe different types of the braking system</a:t>
            </a:r>
          </a:p>
          <a:p>
            <a:r>
              <a:rPr lang="en-US" dirty="0"/>
              <a:t>Describe maintenance procedure for different types of the braking system</a:t>
            </a:r>
          </a:p>
          <a:p>
            <a:r>
              <a:rPr lang="en-US" dirty="0"/>
              <a:t>Perform maintenance on different types of the braking system</a:t>
            </a:r>
          </a:p>
          <a:p>
            <a:endParaRPr lang="en-TZ" dirty="0"/>
          </a:p>
        </p:txBody>
      </p:sp>
    </p:spTree>
    <p:extLst>
      <p:ext uri="{BB962C8B-B14F-4D97-AF65-F5344CB8AC3E}">
        <p14:creationId xmlns:p14="http://schemas.microsoft.com/office/powerpoint/2010/main" val="1204235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5E491-62C5-4054-BF7D-CCADBD16FA33}"/>
              </a:ext>
            </a:extLst>
          </p:cNvPr>
          <p:cNvSpPr>
            <a:spLocks noGrp="1"/>
          </p:cNvSpPr>
          <p:nvPr>
            <p:ph type="title"/>
          </p:nvPr>
        </p:nvSpPr>
        <p:spPr/>
        <p:txBody>
          <a:bodyPr/>
          <a:lstStyle/>
          <a:p>
            <a:r>
              <a:rPr lang="en-US" b="1" dirty="0">
                <a:latin typeface="+mn-lt"/>
              </a:rPr>
              <a:t>Introduction</a:t>
            </a:r>
            <a:endParaRPr lang="en-TZ" b="1" dirty="0">
              <a:latin typeface="+mn-lt"/>
            </a:endParaRPr>
          </a:p>
        </p:txBody>
      </p:sp>
      <p:sp>
        <p:nvSpPr>
          <p:cNvPr id="3" name="Content Placeholder 2">
            <a:extLst>
              <a:ext uri="{FF2B5EF4-FFF2-40B4-BE49-F238E27FC236}">
                <a16:creationId xmlns:a16="http://schemas.microsoft.com/office/drawing/2014/main" id="{1705DD18-1B89-456C-B3B8-792AEC9B65B2}"/>
              </a:ext>
            </a:extLst>
          </p:cNvPr>
          <p:cNvSpPr>
            <a:spLocks noGrp="1"/>
          </p:cNvSpPr>
          <p:nvPr>
            <p:ph idx="1"/>
          </p:nvPr>
        </p:nvSpPr>
        <p:spPr>
          <a:xfrm>
            <a:off x="1295401" y="2470485"/>
            <a:ext cx="9601196" cy="3737810"/>
          </a:xfrm>
        </p:spPr>
        <p:txBody>
          <a:bodyPr>
            <a:normAutofit fontScale="85000" lnSpcReduction="20000"/>
          </a:bodyPr>
          <a:lstStyle/>
          <a:p>
            <a:pPr marL="0" indent="0" algn="just">
              <a:buNone/>
            </a:pPr>
            <a:r>
              <a:rPr lang="en-GB" sz="2800" b="1" dirty="0"/>
              <a:t>Braking System </a:t>
            </a:r>
            <a:r>
              <a:rPr lang="en-GB" sz="2800" dirty="0"/>
              <a:t>is a mechanism in the motor vehicle which is used to slow down or stopping the vehicle to rest by converting the kinetic energy of the moving vehicle to heat energy</a:t>
            </a:r>
          </a:p>
          <a:p>
            <a:pPr marL="0" indent="0">
              <a:buNone/>
            </a:pPr>
            <a:r>
              <a:rPr lang="en-US" sz="2800" b="1" dirty="0"/>
              <a:t>Several factors can influence vehicle braking, they are</a:t>
            </a:r>
          </a:p>
          <a:p>
            <a:r>
              <a:rPr lang="en-US" sz="2800" dirty="0"/>
              <a:t>Road conditions</a:t>
            </a:r>
          </a:p>
          <a:p>
            <a:r>
              <a:rPr lang="en-US" sz="2800" dirty="0"/>
              <a:t> Weight of the vehicle</a:t>
            </a:r>
          </a:p>
          <a:p>
            <a:r>
              <a:rPr lang="en-US" sz="2800" dirty="0"/>
              <a:t> Load on the wheel during stopping</a:t>
            </a:r>
          </a:p>
          <a:p>
            <a:r>
              <a:rPr lang="en-US" sz="2800" dirty="0"/>
              <a:t> Driver maneuverability</a:t>
            </a:r>
          </a:p>
          <a:p>
            <a:r>
              <a:rPr lang="en-US" sz="2800" dirty="0"/>
              <a:t> Condition of the tires on the vehicle</a:t>
            </a:r>
          </a:p>
          <a:p>
            <a:endParaRPr lang="en-TZ" dirty="0"/>
          </a:p>
        </p:txBody>
      </p:sp>
    </p:spTree>
    <p:extLst>
      <p:ext uri="{BB962C8B-B14F-4D97-AF65-F5344CB8AC3E}">
        <p14:creationId xmlns:p14="http://schemas.microsoft.com/office/powerpoint/2010/main" val="737974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F227B-6333-4C7D-8D41-6B2F3639EF03}"/>
              </a:ext>
            </a:extLst>
          </p:cNvPr>
          <p:cNvSpPr>
            <a:spLocks noGrp="1"/>
          </p:cNvSpPr>
          <p:nvPr>
            <p:ph type="title"/>
          </p:nvPr>
        </p:nvSpPr>
        <p:spPr/>
        <p:txBody>
          <a:bodyPr/>
          <a:lstStyle/>
          <a:p>
            <a:r>
              <a:rPr lang="en-US" b="1" dirty="0"/>
              <a:t>Introduction</a:t>
            </a:r>
            <a:endParaRPr lang="en-TZ" dirty="0"/>
          </a:p>
        </p:txBody>
      </p:sp>
      <p:sp>
        <p:nvSpPr>
          <p:cNvPr id="3" name="Content Placeholder 2">
            <a:extLst>
              <a:ext uri="{FF2B5EF4-FFF2-40B4-BE49-F238E27FC236}">
                <a16:creationId xmlns:a16="http://schemas.microsoft.com/office/drawing/2014/main" id="{093947A7-D492-40CA-AA32-4C00654B49D0}"/>
              </a:ext>
            </a:extLst>
          </p:cNvPr>
          <p:cNvSpPr>
            <a:spLocks noGrp="1"/>
          </p:cNvSpPr>
          <p:nvPr>
            <p:ph idx="1"/>
          </p:nvPr>
        </p:nvSpPr>
        <p:spPr/>
        <p:txBody>
          <a:bodyPr>
            <a:normAutofit/>
          </a:bodyPr>
          <a:lstStyle/>
          <a:p>
            <a:pPr marL="0" indent="0" algn="just">
              <a:buNone/>
            </a:pPr>
            <a:r>
              <a:rPr lang="en-GB" b="1" dirty="0">
                <a:latin typeface="Times New Roman" pitchFamily="18" charset="0"/>
                <a:cs typeface="Times New Roman" pitchFamily="18" charset="0"/>
              </a:rPr>
              <a:t>Braking Performance</a:t>
            </a:r>
          </a:p>
          <a:p>
            <a:pPr marL="0" indent="0" algn="just">
              <a:buNone/>
            </a:pPr>
            <a:r>
              <a:rPr lang="en-GB" dirty="0"/>
              <a:t>When we talk about the performance of brake system, we refer mainly to the vehicle’s stopping distance.</a:t>
            </a:r>
          </a:p>
          <a:p>
            <a:pPr marL="0" indent="0" algn="just">
              <a:buNone/>
            </a:pPr>
            <a:r>
              <a:rPr lang="en-GB" dirty="0"/>
              <a:t>The </a:t>
            </a:r>
            <a:r>
              <a:rPr lang="en-GB" b="1" dirty="0"/>
              <a:t>stopping distance </a:t>
            </a:r>
            <a:r>
              <a:rPr lang="en-GB" dirty="0"/>
              <a:t>is the sum of distance covered during the reaction time and the metres it takes to stop the vehicle.</a:t>
            </a:r>
          </a:p>
          <a:p>
            <a:pPr marL="0" indent="0" algn="just">
              <a:buNone/>
            </a:pPr>
            <a:r>
              <a:rPr lang="en-GB" dirty="0"/>
              <a:t>The traditional way to measure brake performance of a vehicle is to measure its stopping distance.</a:t>
            </a:r>
          </a:p>
          <a:p>
            <a:endParaRPr lang="en-TZ" dirty="0"/>
          </a:p>
        </p:txBody>
      </p:sp>
    </p:spTree>
    <p:extLst>
      <p:ext uri="{BB962C8B-B14F-4D97-AF65-F5344CB8AC3E}">
        <p14:creationId xmlns:p14="http://schemas.microsoft.com/office/powerpoint/2010/main" val="2253054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CD7CD-E77B-47A2-A036-ADEF526522A1}"/>
              </a:ext>
            </a:extLst>
          </p:cNvPr>
          <p:cNvSpPr>
            <a:spLocks noGrp="1"/>
          </p:cNvSpPr>
          <p:nvPr>
            <p:ph type="title"/>
          </p:nvPr>
        </p:nvSpPr>
        <p:spPr/>
        <p:txBody>
          <a:bodyPr/>
          <a:lstStyle/>
          <a:p>
            <a:r>
              <a:rPr lang="en-US" b="1" dirty="0">
                <a:latin typeface="+mn-lt"/>
              </a:rPr>
              <a:t>Introduction</a:t>
            </a:r>
            <a:endParaRPr lang="en-TZ" dirty="0"/>
          </a:p>
        </p:txBody>
      </p:sp>
      <p:sp>
        <p:nvSpPr>
          <p:cNvPr id="3" name="Content Placeholder 2">
            <a:extLst>
              <a:ext uri="{FF2B5EF4-FFF2-40B4-BE49-F238E27FC236}">
                <a16:creationId xmlns:a16="http://schemas.microsoft.com/office/drawing/2014/main" id="{3D789E4E-6434-47AC-BBF5-E650D0369ED8}"/>
              </a:ext>
            </a:extLst>
          </p:cNvPr>
          <p:cNvSpPr>
            <a:spLocks noGrp="1"/>
          </p:cNvSpPr>
          <p:nvPr>
            <p:ph idx="1"/>
          </p:nvPr>
        </p:nvSpPr>
        <p:spPr>
          <a:xfrm>
            <a:off x="1295401" y="2556932"/>
            <a:ext cx="9601196" cy="3639152"/>
          </a:xfrm>
        </p:spPr>
        <p:txBody>
          <a:bodyPr>
            <a:normAutofit/>
          </a:bodyPr>
          <a:lstStyle/>
          <a:p>
            <a:pPr marL="0" indent="0" algn="just">
              <a:buNone/>
            </a:pPr>
            <a:r>
              <a:rPr lang="en-GB" b="1" dirty="0"/>
              <a:t>The stopping distance depends on numerous factors: </a:t>
            </a:r>
          </a:p>
          <a:p>
            <a:pPr algn="just"/>
            <a:r>
              <a:rPr lang="en-GB" dirty="0"/>
              <a:t>The speed of the vehicle when it starts to brake </a:t>
            </a:r>
          </a:p>
          <a:p>
            <a:pPr algn="just"/>
            <a:r>
              <a:rPr lang="en-GB" dirty="0"/>
              <a:t>The gradient and surface of the road</a:t>
            </a:r>
          </a:p>
          <a:p>
            <a:pPr algn="just"/>
            <a:r>
              <a:rPr lang="en-GB" dirty="0"/>
              <a:t>The air resistance</a:t>
            </a:r>
          </a:p>
          <a:p>
            <a:pPr algn="just"/>
            <a:r>
              <a:rPr lang="en-GB" dirty="0"/>
              <a:t>The efficiency of brake system  </a:t>
            </a:r>
          </a:p>
          <a:p>
            <a:pPr algn="just"/>
            <a:r>
              <a:rPr lang="en-GB" dirty="0"/>
              <a:t>The state of the driver</a:t>
            </a:r>
          </a:p>
          <a:p>
            <a:pPr algn="just"/>
            <a:r>
              <a:rPr lang="en-GB" dirty="0"/>
              <a:t>Condition of the tire</a:t>
            </a:r>
          </a:p>
          <a:p>
            <a:pPr marL="0" indent="0" algn="just">
              <a:buNone/>
            </a:pPr>
            <a:endParaRPr lang="en-GB" dirty="0"/>
          </a:p>
          <a:p>
            <a:endParaRPr lang="en-TZ" dirty="0"/>
          </a:p>
        </p:txBody>
      </p:sp>
    </p:spTree>
    <p:extLst>
      <p:ext uri="{BB962C8B-B14F-4D97-AF65-F5344CB8AC3E}">
        <p14:creationId xmlns:p14="http://schemas.microsoft.com/office/powerpoint/2010/main" val="3111755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0F1E3-8BDE-40D8-B48E-B4EC0B55EFF0}"/>
              </a:ext>
            </a:extLst>
          </p:cNvPr>
          <p:cNvSpPr>
            <a:spLocks noGrp="1"/>
          </p:cNvSpPr>
          <p:nvPr>
            <p:ph type="title"/>
          </p:nvPr>
        </p:nvSpPr>
        <p:spPr/>
        <p:txBody>
          <a:bodyPr/>
          <a:lstStyle/>
          <a:p>
            <a:r>
              <a:rPr lang="en-US" b="1" dirty="0">
                <a:latin typeface="+mn-lt"/>
              </a:rPr>
              <a:t>Introduction</a:t>
            </a:r>
            <a:endParaRPr lang="en-TZ" dirty="0"/>
          </a:p>
        </p:txBody>
      </p:sp>
      <p:sp>
        <p:nvSpPr>
          <p:cNvPr id="3" name="Content Placeholder 2">
            <a:extLst>
              <a:ext uri="{FF2B5EF4-FFF2-40B4-BE49-F238E27FC236}">
                <a16:creationId xmlns:a16="http://schemas.microsoft.com/office/drawing/2014/main" id="{6896D7C1-00C9-4EFE-ADA9-C1E47ACFBD6E}"/>
              </a:ext>
            </a:extLst>
          </p:cNvPr>
          <p:cNvSpPr>
            <a:spLocks noGrp="1"/>
          </p:cNvSpPr>
          <p:nvPr>
            <p:ph idx="1"/>
          </p:nvPr>
        </p:nvSpPr>
        <p:spPr/>
        <p:txBody>
          <a:bodyPr/>
          <a:lstStyle/>
          <a:p>
            <a:pPr marL="0" indent="0" algn="just">
              <a:buNone/>
            </a:pPr>
            <a:r>
              <a:rPr lang="en-US" b="1" dirty="0"/>
              <a:t>Note: </a:t>
            </a:r>
            <a:r>
              <a:rPr lang="en-US" dirty="0"/>
              <a:t>Heat always reduces the coefficient of friction between two objects. Hence, high temperatures may cause brakes to fail. </a:t>
            </a:r>
          </a:p>
          <a:p>
            <a:pPr marL="0" indent="0" algn="just">
              <a:buNone/>
            </a:pPr>
            <a:r>
              <a:rPr lang="en-US" b="1" dirty="0"/>
              <a:t>The loss of brake effectiveness due to heat created during prolonged hard braking is called brake fade.</a:t>
            </a:r>
          </a:p>
          <a:p>
            <a:pPr marL="0" indent="0" algn="just">
              <a:buNone/>
            </a:pPr>
            <a:r>
              <a:rPr lang="en-US" dirty="0"/>
              <a:t> If the brakes create more heat than they can dissipate, the friction coefficient reduces, which causes the brakes to fade.</a:t>
            </a:r>
          </a:p>
          <a:p>
            <a:endParaRPr lang="en-TZ" dirty="0"/>
          </a:p>
        </p:txBody>
      </p:sp>
    </p:spTree>
    <p:extLst>
      <p:ext uri="{BB962C8B-B14F-4D97-AF65-F5344CB8AC3E}">
        <p14:creationId xmlns:p14="http://schemas.microsoft.com/office/powerpoint/2010/main" val="3582123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9F227-AF58-493C-9262-DDCD8CC24810}"/>
              </a:ext>
            </a:extLst>
          </p:cNvPr>
          <p:cNvSpPr>
            <a:spLocks noGrp="1"/>
          </p:cNvSpPr>
          <p:nvPr>
            <p:ph type="title"/>
          </p:nvPr>
        </p:nvSpPr>
        <p:spPr/>
        <p:txBody>
          <a:bodyPr>
            <a:normAutofit/>
          </a:bodyPr>
          <a:lstStyle/>
          <a:p>
            <a:r>
              <a:rPr lang="en-US" b="1" dirty="0"/>
              <a:t>Types of brake system</a:t>
            </a:r>
            <a:endParaRPr lang="en-TZ" dirty="0"/>
          </a:p>
        </p:txBody>
      </p:sp>
      <p:sp>
        <p:nvSpPr>
          <p:cNvPr id="3" name="Content Placeholder 2">
            <a:extLst>
              <a:ext uri="{FF2B5EF4-FFF2-40B4-BE49-F238E27FC236}">
                <a16:creationId xmlns:a16="http://schemas.microsoft.com/office/drawing/2014/main" id="{A72495F2-3670-49BF-8513-7E458CC03F07}"/>
              </a:ext>
            </a:extLst>
          </p:cNvPr>
          <p:cNvSpPr>
            <a:spLocks noGrp="1"/>
          </p:cNvSpPr>
          <p:nvPr>
            <p:ph idx="1"/>
          </p:nvPr>
        </p:nvSpPr>
        <p:spPr>
          <a:xfrm>
            <a:off x="1295401" y="2556931"/>
            <a:ext cx="9601196" cy="3680095"/>
          </a:xfrm>
        </p:spPr>
        <p:txBody>
          <a:bodyPr>
            <a:normAutofit fontScale="85000" lnSpcReduction="20000"/>
          </a:bodyPr>
          <a:lstStyle/>
          <a:p>
            <a:pPr marL="0" indent="0">
              <a:buNone/>
            </a:pPr>
            <a:r>
              <a:rPr lang="en-US" dirty="0"/>
              <a:t>Braking system is categorized according to different criteria as</a:t>
            </a:r>
          </a:p>
          <a:p>
            <a:pPr marL="0" indent="0">
              <a:buNone/>
            </a:pPr>
            <a:r>
              <a:rPr lang="en-US" b="1" dirty="0"/>
              <a:t>According to Media of power transfer</a:t>
            </a:r>
          </a:p>
          <a:p>
            <a:r>
              <a:rPr lang="en-US" dirty="0"/>
              <a:t>Mechanical brakes</a:t>
            </a:r>
          </a:p>
          <a:p>
            <a:r>
              <a:rPr lang="en-US" dirty="0"/>
              <a:t>Hydraulic Brakes</a:t>
            </a:r>
          </a:p>
          <a:p>
            <a:r>
              <a:rPr lang="en-US" dirty="0"/>
              <a:t>Air Brakes</a:t>
            </a:r>
          </a:p>
          <a:p>
            <a:r>
              <a:rPr lang="en-US" dirty="0"/>
              <a:t>Air-Hydraulic Brakes </a:t>
            </a:r>
          </a:p>
          <a:p>
            <a:r>
              <a:rPr lang="en-US" dirty="0"/>
              <a:t>Vacuum Brakes </a:t>
            </a:r>
          </a:p>
          <a:p>
            <a:r>
              <a:rPr lang="en-US" dirty="0"/>
              <a:t>Electric Brakes</a:t>
            </a:r>
          </a:p>
          <a:p>
            <a:r>
              <a:rPr lang="en-US" dirty="0"/>
              <a:t>Electromagnetic brakes </a:t>
            </a:r>
          </a:p>
          <a:p>
            <a:endParaRPr lang="en-TZ" dirty="0"/>
          </a:p>
        </p:txBody>
      </p:sp>
    </p:spTree>
    <p:extLst>
      <p:ext uri="{BB962C8B-B14F-4D97-AF65-F5344CB8AC3E}">
        <p14:creationId xmlns:p14="http://schemas.microsoft.com/office/powerpoint/2010/main" val="732187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50E82-8C82-4E09-9229-3F72B49DA78E}"/>
              </a:ext>
            </a:extLst>
          </p:cNvPr>
          <p:cNvSpPr>
            <a:spLocks noGrp="1"/>
          </p:cNvSpPr>
          <p:nvPr>
            <p:ph type="title"/>
          </p:nvPr>
        </p:nvSpPr>
        <p:spPr/>
        <p:txBody>
          <a:bodyPr/>
          <a:lstStyle/>
          <a:p>
            <a:r>
              <a:rPr lang="en-US" b="1" dirty="0"/>
              <a:t>Types of brake system</a:t>
            </a:r>
            <a:endParaRPr lang="en-TZ" dirty="0"/>
          </a:p>
        </p:txBody>
      </p:sp>
      <p:sp>
        <p:nvSpPr>
          <p:cNvPr id="3" name="Content Placeholder 2">
            <a:extLst>
              <a:ext uri="{FF2B5EF4-FFF2-40B4-BE49-F238E27FC236}">
                <a16:creationId xmlns:a16="http://schemas.microsoft.com/office/drawing/2014/main" id="{25C2F916-5799-48C6-834E-28E6EB77E020}"/>
              </a:ext>
            </a:extLst>
          </p:cNvPr>
          <p:cNvSpPr>
            <a:spLocks noGrp="1"/>
          </p:cNvSpPr>
          <p:nvPr>
            <p:ph idx="1"/>
          </p:nvPr>
        </p:nvSpPr>
        <p:spPr/>
        <p:txBody>
          <a:bodyPr>
            <a:normAutofit/>
          </a:bodyPr>
          <a:lstStyle/>
          <a:p>
            <a:pPr marL="0" indent="0">
              <a:buNone/>
            </a:pPr>
            <a:r>
              <a:rPr lang="en-US" b="1" dirty="0"/>
              <a:t>According to mode of actuations on foundation brake</a:t>
            </a:r>
          </a:p>
          <a:p>
            <a:r>
              <a:rPr lang="en-US" dirty="0"/>
              <a:t>Disc brake</a:t>
            </a:r>
          </a:p>
          <a:p>
            <a:r>
              <a:rPr lang="en-US" dirty="0"/>
              <a:t>Drum brake</a:t>
            </a:r>
          </a:p>
          <a:p>
            <a:pPr marL="0" indent="0">
              <a:buNone/>
            </a:pPr>
            <a:r>
              <a:rPr lang="en-US" b="1" dirty="0"/>
              <a:t>According to  Service provided</a:t>
            </a:r>
          </a:p>
          <a:p>
            <a:r>
              <a:rPr lang="en-US" dirty="0"/>
              <a:t>Service brake</a:t>
            </a:r>
          </a:p>
          <a:p>
            <a:r>
              <a:rPr lang="en-US" dirty="0"/>
              <a:t>Emergency brake</a:t>
            </a:r>
          </a:p>
          <a:p>
            <a:endParaRPr lang="en-TZ" dirty="0"/>
          </a:p>
        </p:txBody>
      </p:sp>
    </p:spTree>
    <p:extLst>
      <p:ext uri="{BB962C8B-B14F-4D97-AF65-F5344CB8AC3E}">
        <p14:creationId xmlns:p14="http://schemas.microsoft.com/office/powerpoint/2010/main" val="3324309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mn-lt"/>
              </a:rPr>
              <a:t>Hydraulic Brakes</a:t>
            </a:r>
          </a:p>
        </p:txBody>
      </p:sp>
      <p:sp>
        <p:nvSpPr>
          <p:cNvPr id="3" name="Content Placeholder 2"/>
          <p:cNvSpPr>
            <a:spLocks noGrp="1"/>
          </p:cNvSpPr>
          <p:nvPr>
            <p:ph idx="1"/>
          </p:nvPr>
        </p:nvSpPr>
        <p:spPr/>
        <p:txBody>
          <a:bodyPr/>
          <a:lstStyle/>
          <a:p>
            <a:pPr marL="0" indent="0" algn="just">
              <a:buNone/>
            </a:pPr>
            <a:r>
              <a:rPr lang="en-US" dirty="0"/>
              <a:t>Hydraulics is the use of a liquid under pressure to transfer force or motion, or to increase an applied force.  </a:t>
            </a:r>
          </a:p>
          <a:p>
            <a:pPr marL="0" indent="0" algn="just">
              <a:buNone/>
            </a:pPr>
            <a:r>
              <a:rPr lang="en-US" dirty="0"/>
              <a:t>The pressure on a liquid is called </a:t>
            </a:r>
            <a:r>
              <a:rPr lang="en-US" b="1" dirty="0"/>
              <a:t>Hydraulic Pressure</a:t>
            </a:r>
            <a:r>
              <a:rPr lang="en-US" dirty="0"/>
              <a:t>. </a:t>
            </a:r>
          </a:p>
          <a:p>
            <a:pPr marL="0" indent="0" algn="just">
              <a:buNone/>
            </a:pPr>
            <a:r>
              <a:rPr lang="en-US" dirty="0"/>
              <a:t>And the brakes which are operated by means of hydraulic pressure are called </a:t>
            </a:r>
            <a:r>
              <a:rPr lang="en-US" b="1" dirty="0"/>
              <a:t>Hydraulic Brakes. </a:t>
            </a:r>
          </a:p>
          <a:p>
            <a:pPr marL="0" indent="0">
              <a:buNone/>
            </a:pPr>
            <a:r>
              <a:rPr lang="en-US" dirty="0"/>
              <a:t>These brakes are based on the principle of Pascal’s law. </a:t>
            </a:r>
          </a:p>
          <a:p>
            <a:pPr marL="0" indent="0" algn="just">
              <a:buNone/>
            </a:pP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2307709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651CC-5D68-4AAD-8EF1-E57054A3FBD3}"/>
              </a:ext>
            </a:extLst>
          </p:cNvPr>
          <p:cNvSpPr>
            <a:spLocks noGrp="1"/>
          </p:cNvSpPr>
          <p:nvPr>
            <p:ph type="title"/>
          </p:nvPr>
        </p:nvSpPr>
        <p:spPr/>
        <p:txBody>
          <a:bodyPr/>
          <a:lstStyle/>
          <a:p>
            <a:r>
              <a:rPr lang="en-US" b="1" dirty="0">
                <a:solidFill>
                  <a:srgbClr val="FF0000"/>
                </a:solidFill>
                <a:latin typeface="+mn-lt"/>
              </a:rPr>
              <a:t>Hydraulic Brakes</a:t>
            </a:r>
            <a:endParaRPr lang="en-TZ" dirty="0"/>
          </a:p>
        </p:txBody>
      </p:sp>
      <p:sp>
        <p:nvSpPr>
          <p:cNvPr id="3" name="Content Placeholder 2">
            <a:extLst>
              <a:ext uri="{FF2B5EF4-FFF2-40B4-BE49-F238E27FC236}">
                <a16:creationId xmlns:a16="http://schemas.microsoft.com/office/drawing/2014/main" id="{BA349E2C-FBD8-4F86-A3D0-22DA88CD8039}"/>
              </a:ext>
            </a:extLst>
          </p:cNvPr>
          <p:cNvSpPr>
            <a:spLocks noGrp="1"/>
          </p:cNvSpPr>
          <p:nvPr>
            <p:ph idx="1"/>
          </p:nvPr>
        </p:nvSpPr>
        <p:spPr/>
        <p:txBody>
          <a:bodyPr/>
          <a:lstStyle/>
          <a:p>
            <a:pPr marL="0" indent="0" algn="just">
              <a:buNone/>
            </a:pPr>
            <a:r>
              <a:rPr lang="en-US" b="1" dirty="0"/>
              <a:t>Pascal’s law</a:t>
            </a:r>
          </a:p>
          <a:p>
            <a:pPr marL="0" indent="0" algn="just">
              <a:buNone/>
            </a:pPr>
            <a:r>
              <a:rPr lang="en-US" dirty="0"/>
              <a:t>States that</a:t>
            </a:r>
          </a:p>
          <a:p>
            <a:pPr marL="0" indent="0" algn="just">
              <a:buNone/>
            </a:pPr>
            <a:r>
              <a:rPr lang="en-US" dirty="0"/>
              <a:t>“The pressure exerted anywhere in a mass of confined liquid is transmitted undiminished in all directions throughout the liquid.”</a:t>
            </a:r>
          </a:p>
          <a:p>
            <a:endParaRPr lang="en-TZ" dirty="0"/>
          </a:p>
        </p:txBody>
      </p:sp>
    </p:spTree>
    <p:extLst>
      <p:ext uri="{BB962C8B-B14F-4D97-AF65-F5344CB8AC3E}">
        <p14:creationId xmlns:p14="http://schemas.microsoft.com/office/powerpoint/2010/main" val="2179455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39636" y="803563"/>
            <a:ext cx="8589819" cy="5458691"/>
          </a:xfrm>
          <a:prstGeom prst="rect">
            <a:avLst/>
          </a:prstGeom>
        </p:spPr>
      </p:pic>
    </p:spTree>
    <p:extLst>
      <p:ext uri="{BB962C8B-B14F-4D97-AF65-F5344CB8AC3E}">
        <p14:creationId xmlns:p14="http://schemas.microsoft.com/office/powerpoint/2010/main" val="4201408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39ACE-9DC3-4777-A220-769064DDB25F}"/>
              </a:ext>
            </a:extLst>
          </p:cNvPr>
          <p:cNvSpPr>
            <a:spLocks noGrp="1"/>
          </p:cNvSpPr>
          <p:nvPr>
            <p:ph type="title"/>
          </p:nvPr>
        </p:nvSpPr>
        <p:spPr/>
        <p:txBody>
          <a:bodyPr/>
          <a:lstStyle/>
          <a:p>
            <a:r>
              <a:rPr lang="en-US" b="1" dirty="0">
                <a:solidFill>
                  <a:srgbClr val="FF0000"/>
                </a:solidFill>
                <a:latin typeface="+mn-lt"/>
              </a:rPr>
              <a:t>Hydraulic Brakes</a:t>
            </a:r>
            <a:endParaRPr lang="en-TZ" dirty="0"/>
          </a:p>
        </p:txBody>
      </p:sp>
      <p:sp>
        <p:nvSpPr>
          <p:cNvPr id="3" name="Content Placeholder 2">
            <a:extLst>
              <a:ext uri="{FF2B5EF4-FFF2-40B4-BE49-F238E27FC236}">
                <a16:creationId xmlns:a16="http://schemas.microsoft.com/office/drawing/2014/main" id="{D5AF68B4-8A5A-42EF-9494-814230FE5125}"/>
              </a:ext>
            </a:extLst>
          </p:cNvPr>
          <p:cNvSpPr>
            <a:spLocks noGrp="1"/>
          </p:cNvSpPr>
          <p:nvPr>
            <p:ph idx="1"/>
          </p:nvPr>
        </p:nvSpPr>
        <p:spPr>
          <a:xfrm>
            <a:off x="1295401" y="2556932"/>
            <a:ext cx="9601196" cy="3721038"/>
          </a:xfrm>
        </p:spPr>
        <p:txBody>
          <a:bodyPr>
            <a:normAutofit fontScale="85000" lnSpcReduction="20000"/>
          </a:bodyPr>
          <a:lstStyle/>
          <a:p>
            <a:pPr marL="0" indent="0" algn="just">
              <a:buNone/>
            </a:pPr>
            <a:r>
              <a:rPr lang="en-US" sz="2800" b="1" dirty="0"/>
              <a:t>Advantages of Hydraulic Brakes </a:t>
            </a:r>
            <a:endParaRPr lang="en-US" sz="2800" dirty="0"/>
          </a:p>
          <a:p>
            <a:pPr algn="just"/>
            <a:r>
              <a:rPr lang="en-US" sz="2800" dirty="0"/>
              <a:t>Equal braking effort to all the four wheels </a:t>
            </a:r>
          </a:p>
          <a:p>
            <a:pPr algn="just"/>
            <a:r>
              <a:rPr lang="en-US" sz="2800" dirty="0"/>
              <a:t>Less rate of wear (due to absence of joints compared to mechanical brakes) </a:t>
            </a:r>
          </a:p>
          <a:p>
            <a:pPr algn="just"/>
            <a:r>
              <a:rPr lang="en-US" sz="2800" dirty="0"/>
              <a:t>Force multiplication (or divisions) very easily just by changing the size of one piston and cylinder relative to other. </a:t>
            </a:r>
          </a:p>
          <a:p>
            <a:pPr marL="0" indent="0" algn="just">
              <a:buNone/>
            </a:pPr>
            <a:r>
              <a:rPr lang="en-US" sz="2800" b="1" dirty="0"/>
              <a:t>Disadvantages of Hydraulic Brakes </a:t>
            </a:r>
            <a:endParaRPr lang="en-US" sz="2800" dirty="0"/>
          </a:p>
          <a:p>
            <a:pPr algn="just"/>
            <a:r>
              <a:rPr lang="en-US" sz="2800" dirty="0"/>
              <a:t>Even slight leakage of air into the braking system makes it useless(poor performance). </a:t>
            </a:r>
          </a:p>
          <a:p>
            <a:pPr algn="just"/>
            <a:r>
              <a:rPr lang="en-US" sz="2800" dirty="0"/>
              <a:t>The brake shoes are liable to get ruined if the brake fluid leaks out. </a:t>
            </a:r>
          </a:p>
          <a:p>
            <a:endParaRPr lang="en-TZ" dirty="0"/>
          </a:p>
        </p:txBody>
      </p:sp>
    </p:spTree>
    <p:extLst>
      <p:ext uri="{BB962C8B-B14F-4D97-AF65-F5344CB8AC3E}">
        <p14:creationId xmlns:p14="http://schemas.microsoft.com/office/powerpoint/2010/main" val="26399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2CA38-1BE1-4836-9A5E-987EAE0D9AAC}"/>
              </a:ext>
            </a:extLst>
          </p:cNvPr>
          <p:cNvSpPr>
            <a:spLocks noGrp="1"/>
          </p:cNvSpPr>
          <p:nvPr>
            <p:ph type="title"/>
          </p:nvPr>
        </p:nvSpPr>
        <p:spPr/>
        <p:txBody>
          <a:bodyPr/>
          <a:lstStyle/>
          <a:p>
            <a:pPr algn="l"/>
            <a:r>
              <a:rPr lang="en-US" sz="4400" b="1" dirty="0"/>
              <a:t>Brake Split</a:t>
            </a:r>
          </a:p>
        </p:txBody>
      </p:sp>
      <p:sp>
        <p:nvSpPr>
          <p:cNvPr id="3" name="Content Placeholder 2">
            <a:extLst>
              <a:ext uri="{FF2B5EF4-FFF2-40B4-BE49-F238E27FC236}">
                <a16:creationId xmlns:a16="http://schemas.microsoft.com/office/drawing/2014/main" id="{49C775B0-693F-47B9-B337-5F550AA504B9}"/>
              </a:ext>
            </a:extLst>
          </p:cNvPr>
          <p:cNvSpPr>
            <a:spLocks noGrp="1"/>
          </p:cNvSpPr>
          <p:nvPr>
            <p:ph idx="1"/>
          </p:nvPr>
        </p:nvSpPr>
        <p:spPr/>
        <p:txBody>
          <a:bodyPr>
            <a:normAutofit fontScale="92500" lnSpcReduction="10000"/>
          </a:bodyPr>
          <a:lstStyle/>
          <a:p>
            <a:pPr marL="0" indent="0">
              <a:buNone/>
            </a:pPr>
            <a:r>
              <a:rPr lang="en-US" sz="2800" dirty="0"/>
              <a:t>Brake split is the configuration of brake pipes in hydraulic brake system.</a:t>
            </a:r>
          </a:p>
          <a:p>
            <a:pPr marL="0" indent="0">
              <a:buNone/>
            </a:pPr>
            <a:r>
              <a:rPr lang="en-US" sz="2800" dirty="0"/>
              <a:t>There are three layouts of hydraulic brake system used in cars and light trucks;</a:t>
            </a:r>
          </a:p>
          <a:p>
            <a:r>
              <a:rPr lang="en-US" sz="2800" dirty="0"/>
              <a:t>Front-to-rear</a:t>
            </a:r>
          </a:p>
          <a:p>
            <a:r>
              <a:rPr lang="en-US" sz="2800" dirty="0"/>
              <a:t>Diagonal arrangement</a:t>
            </a:r>
          </a:p>
          <a:p>
            <a:r>
              <a:rPr lang="en-US" sz="2800" dirty="0"/>
              <a:t>Triangular - split brake system</a:t>
            </a:r>
            <a:br>
              <a:rPr lang="en-US" sz="2400" dirty="0"/>
            </a:br>
            <a:endParaRPr lang="en-TZ" dirty="0"/>
          </a:p>
        </p:txBody>
      </p:sp>
    </p:spTree>
    <p:extLst>
      <p:ext uri="{BB962C8B-B14F-4D97-AF65-F5344CB8AC3E}">
        <p14:creationId xmlns:p14="http://schemas.microsoft.com/office/powerpoint/2010/main" val="1831216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9933" y="599045"/>
            <a:ext cx="8936181" cy="5430982"/>
          </a:xfrm>
        </p:spPr>
      </p:pic>
    </p:spTree>
    <p:extLst>
      <p:ext uri="{BB962C8B-B14F-4D97-AF65-F5344CB8AC3E}">
        <p14:creationId xmlns:p14="http://schemas.microsoft.com/office/powerpoint/2010/main" val="100091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9BFA1-0A10-4B83-A50B-CE290B5DCD1E}"/>
              </a:ext>
            </a:extLst>
          </p:cNvPr>
          <p:cNvSpPr>
            <a:spLocks noGrp="1"/>
          </p:cNvSpPr>
          <p:nvPr>
            <p:ph type="title"/>
          </p:nvPr>
        </p:nvSpPr>
        <p:spPr/>
        <p:txBody>
          <a:bodyPr>
            <a:normAutofit/>
          </a:bodyPr>
          <a:lstStyle/>
          <a:p>
            <a:pPr algn="l"/>
            <a:r>
              <a:rPr lang="en-US" b="1" dirty="0"/>
              <a:t>Brake Subsystems</a:t>
            </a:r>
            <a:endParaRPr lang="en-TZ" dirty="0"/>
          </a:p>
        </p:txBody>
      </p:sp>
      <p:sp>
        <p:nvSpPr>
          <p:cNvPr id="3" name="Content Placeholder 2">
            <a:extLst>
              <a:ext uri="{FF2B5EF4-FFF2-40B4-BE49-F238E27FC236}">
                <a16:creationId xmlns:a16="http://schemas.microsoft.com/office/drawing/2014/main" id="{7A7CD2E0-DD57-4D50-BECB-5AB14CA87727}"/>
              </a:ext>
            </a:extLst>
          </p:cNvPr>
          <p:cNvSpPr>
            <a:spLocks noGrp="1"/>
          </p:cNvSpPr>
          <p:nvPr>
            <p:ph idx="1"/>
          </p:nvPr>
        </p:nvSpPr>
        <p:spPr>
          <a:xfrm>
            <a:off x="1295401" y="2556932"/>
            <a:ext cx="9601196" cy="3639152"/>
          </a:xfrm>
        </p:spPr>
        <p:txBody>
          <a:bodyPr>
            <a:normAutofit fontScale="92500" lnSpcReduction="20000"/>
          </a:bodyPr>
          <a:lstStyle/>
          <a:p>
            <a:pPr marL="0" indent="0" algn="just">
              <a:buNone/>
            </a:pPr>
            <a:r>
              <a:rPr lang="en-US" sz="2600" dirty="0"/>
              <a:t>Automotive brake systems can be broken down into several different sub-systems:</a:t>
            </a:r>
          </a:p>
          <a:p>
            <a:pPr marL="0" indent="0" algn="just">
              <a:buNone/>
            </a:pPr>
            <a:r>
              <a:rPr lang="en-US" sz="2600" dirty="0"/>
              <a:t>• Apply system</a:t>
            </a:r>
          </a:p>
          <a:p>
            <a:pPr marL="0" indent="0" algn="just">
              <a:buNone/>
            </a:pPr>
            <a:r>
              <a:rPr lang="en-US" sz="2600" dirty="0"/>
              <a:t>• Boost system</a:t>
            </a:r>
          </a:p>
          <a:p>
            <a:pPr marL="0" indent="0" algn="just">
              <a:buNone/>
            </a:pPr>
            <a:r>
              <a:rPr lang="en-US" sz="2600" dirty="0"/>
              <a:t>• Hydraulic system</a:t>
            </a:r>
          </a:p>
          <a:p>
            <a:pPr marL="0" indent="0" algn="just">
              <a:buNone/>
            </a:pPr>
            <a:r>
              <a:rPr lang="en-US" sz="2600" dirty="0"/>
              <a:t>• Wheel/foundation brakes</a:t>
            </a:r>
          </a:p>
          <a:p>
            <a:pPr marL="0" indent="0" algn="just">
              <a:buNone/>
            </a:pPr>
            <a:r>
              <a:rPr lang="en-US" sz="2600" dirty="0"/>
              <a:t>• Balance control system</a:t>
            </a:r>
          </a:p>
          <a:p>
            <a:pPr marL="0" indent="0" algn="just">
              <a:buNone/>
            </a:pPr>
            <a:r>
              <a:rPr lang="en-US" sz="2600" dirty="0"/>
              <a:t>• Warning system</a:t>
            </a:r>
          </a:p>
          <a:p>
            <a:endParaRPr lang="en-TZ" dirty="0"/>
          </a:p>
        </p:txBody>
      </p:sp>
    </p:spTree>
    <p:extLst>
      <p:ext uri="{BB962C8B-B14F-4D97-AF65-F5344CB8AC3E}">
        <p14:creationId xmlns:p14="http://schemas.microsoft.com/office/powerpoint/2010/main" val="916611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77671" y="1"/>
            <a:ext cx="11354937" cy="6858000"/>
          </a:xfrm>
          <a:prstGeom prst="rect">
            <a:avLst/>
          </a:prstGeom>
        </p:spPr>
      </p:pic>
    </p:spTree>
    <p:extLst>
      <p:ext uri="{BB962C8B-B14F-4D97-AF65-F5344CB8AC3E}">
        <p14:creationId xmlns:p14="http://schemas.microsoft.com/office/powerpoint/2010/main" val="3755941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1E3C2-6068-463D-BFD5-5FE3EB4BB84F}"/>
              </a:ext>
            </a:extLst>
          </p:cNvPr>
          <p:cNvSpPr>
            <a:spLocks noGrp="1"/>
          </p:cNvSpPr>
          <p:nvPr>
            <p:ph type="title"/>
          </p:nvPr>
        </p:nvSpPr>
        <p:spPr/>
        <p:txBody>
          <a:bodyPr>
            <a:normAutofit/>
          </a:bodyPr>
          <a:lstStyle/>
          <a:p>
            <a:pPr algn="l"/>
            <a:r>
              <a:rPr lang="en-US" sz="4000" b="1" dirty="0"/>
              <a:t>Components of Hydraulic Brakes</a:t>
            </a:r>
            <a:endParaRPr lang="en-TZ" sz="4000" dirty="0"/>
          </a:p>
        </p:txBody>
      </p:sp>
      <p:sp>
        <p:nvSpPr>
          <p:cNvPr id="3" name="Content Placeholder 2">
            <a:extLst>
              <a:ext uri="{FF2B5EF4-FFF2-40B4-BE49-F238E27FC236}">
                <a16:creationId xmlns:a16="http://schemas.microsoft.com/office/drawing/2014/main" id="{BEFA898B-A8E7-477F-8620-CF293FBDAE11}"/>
              </a:ext>
            </a:extLst>
          </p:cNvPr>
          <p:cNvSpPr>
            <a:spLocks noGrp="1"/>
          </p:cNvSpPr>
          <p:nvPr>
            <p:ph idx="1"/>
          </p:nvPr>
        </p:nvSpPr>
        <p:spPr>
          <a:xfrm>
            <a:off x="1295401" y="2556932"/>
            <a:ext cx="9601196" cy="3625504"/>
          </a:xfrm>
        </p:spPr>
        <p:txBody>
          <a:bodyPr>
            <a:normAutofit/>
          </a:bodyPr>
          <a:lstStyle/>
          <a:p>
            <a:r>
              <a:rPr lang="en-US" sz="2800" dirty="0"/>
              <a:t>Pedal and linkages</a:t>
            </a:r>
          </a:p>
          <a:p>
            <a:r>
              <a:rPr lang="en-US" sz="2800" dirty="0"/>
              <a:t>Brake booster</a:t>
            </a:r>
          </a:p>
          <a:p>
            <a:r>
              <a:rPr lang="en-US" sz="2800" dirty="0"/>
              <a:t>Master cylinder</a:t>
            </a:r>
          </a:p>
          <a:p>
            <a:r>
              <a:rPr lang="en-US" sz="2800" dirty="0"/>
              <a:t>Hose and pipe</a:t>
            </a:r>
          </a:p>
          <a:p>
            <a:r>
              <a:rPr lang="en-US" sz="2800" dirty="0"/>
              <a:t>Regulating valves</a:t>
            </a:r>
          </a:p>
          <a:p>
            <a:r>
              <a:rPr lang="en-US" sz="2800" dirty="0"/>
              <a:t>Foundation brakes</a:t>
            </a:r>
          </a:p>
          <a:p>
            <a:endParaRPr lang="en-TZ" dirty="0"/>
          </a:p>
        </p:txBody>
      </p:sp>
    </p:spTree>
    <p:extLst>
      <p:ext uri="{BB962C8B-B14F-4D97-AF65-F5344CB8AC3E}">
        <p14:creationId xmlns:p14="http://schemas.microsoft.com/office/powerpoint/2010/main" val="795909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78DBF-F04A-449E-B50E-7CFFED60D01C}"/>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2CD330C4-9D88-40D0-879B-F8A1611C322C}"/>
              </a:ext>
            </a:extLst>
          </p:cNvPr>
          <p:cNvSpPr>
            <a:spLocks noGrp="1"/>
          </p:cNvSpPr>
          <p:nvPr>
            <p:ph sz="half" idx="1"/>
          </p:nvPr>
        </p:nvSpPr>
        <p:spPr/>
        <p:txBody>
          <a:bodyPr/>
          <a:lstStyle/>
          <a:p>
            <a:r>
              <a:rPr lang="en-US" b="1" dirty="0"/>
              <a:t>Pedal assembly</a:t>
            </a:r>
          </a:p>
          <a:p>
            <a:pPr marL="0" indent="0" algn="just">
              <a:buNone/>
            </a:pPr>
            <a:r>
              <a:rPr lang="en-US" dirty="0"/>
              <a:t>A brake pedal consists of an arm, pad and pivot attachments. </a:t>
            </a:r>
          </a:p>
          <a:p>
            <a:pPr marL="0" indent="0" algn="just">
              <a:buNone/>
            </a:pPr>
            <a:r>
              <a:rPr lang="en-US" dirty="0"/>
              <a:t>A linkage is connected to the pedal and this transmits both force and movement to the master cylinder</a:t>
            </a:r>
          </a:p>
          <a:p>
            <a:endParaRPr lang="en-TZ" dirty="0"/>
          </a:p>
        </p:txBody>
      </p:sp>
      <p:pic>
        <p:nvPicPr>
          <p:cNvPr id="5" name="Picture 2" descr="Image result for brake pedal&quot;">
            <a:extLst>
              <a:ext uri="{FF2B5EF4-FFF2-40B4-BE49-F238E27FC236}">
                <a16:creationId xmlns:a16="http://schemas.microsoft.com/office/drawing/2014/main" id="{39340831-95BD-4418-8D8B-07AFB598F69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81725" y="2642923"/>
            <a:ext cx="4718050" cy="3145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1518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E6D94-BE35-4B12-B435-10816B09E75D}"/>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3B1AD148-C807-45F8-969B-DD60EDA7544C}"/>
              </a:ext>
            </a:extLst>
          </p:cNvPr>
          <p:cNvSpPr>
            <a:spLocks noGrp="1"/>
          </p:cNvSpPr>
          <p:nvPr>
            <p:ph sz="half" idx="1"/>
          </p:nvPr>
        </p:nvSpPr>
        <p:spPr>
          <a:xfrm>
            <a:off x="1298448" y="2560320"/>
            <a:ext cx="4718304" cy="3731298"/>
          </a:xfrm>
        </p:spPr>
        <p:txBody>
          <a:bodyPr>
            <a:normAutofit/>
          </a:bodyPr>
          <a:lstStyle/>
          <a:p>
            <a:r>
              <a:rPr lang="en-US" b="1" dirty="0"/>
              <a:t>Brake booster</a:t>
            </a:r>
          </a:p>
          <a:p>
            <a:pPr marL="0" indent="0" algn="just">
              <a:buNone/>
            </a:pPr>
            <a:r>
              <a:rPr lang="en-US" dirty="0"/>
              <a:t>The brake booster serves to amplify the foot pressure generated when the brake pedal is depressed. </a:t>
            </a:r>
          </a:p>
          <a:p>
            <a:pPr marL="0" indent="0" algn="just">
              <a:buNone/>
            </a:pPr>
            <a:r>
              <a:rPr lang="en-US" dirty="0"/>
              <a:t>This has the effect of reducing the manual effort required for actuation. Boosters are invariably combined with the master cylinder assembly.</a:t>
            </a:r>
          </a:p>
          <a:p>
            <a:endParaRPr lang="en-TZ" dirty="0"/>
          </a:p>
        </p:txBody>
      </p:sp>
      <p:pic>
        <p:nvPicPr>
          <p:cNvPr id="5" name="Content Placeholder 3">
            <a:extLst>
              <a:ext uri="{FF2B5EF4-FFF2-40B4-BE49-F238E27FC236}">
                <a16:creationId xmlns:a16="http://schemas.microsoft.com/office/drawing/2014/main" id="{2E3428FD-6CA7-4777-8623-6331A201D845}"/>
              </a:ext>
            </a:extLst>
          </p:cNvPr>
          <p:cNvPicPr>
            <a:picLocks noGrp="1" noChangeAspect="1"/>
          </p:cNvPicPr>
          <p:nvPr>
            <p:ph sz="half" idx="2"/>
          </p:nvPr>
        </p:nvPicPr>
        <p:blipFill>
          <a:blip r:embed="rId2"/>
          <a:stretch>
            <a:fillRect/>
          </a:stretch>
        </p:blipFill>
        <p:spPr>
          <a:xfrm>
            <a:off x="6766271" y="2952648"/>
            <a:ext cx="3548958" cy="2525917"/>
          </a:xfrm>
          <a:prstGeom prst="rect">
            <a:avLst/>
          </a:prstGeom>
        </p:spPr>
      </p:pic>
    </p:spTree>
    <p:extLst>
      <p:ext uri="{BB962C8B-B14F-4D97-AF65-F5344CB8AC3E}">
        <p14:creationId xmlns:p14="http://schemas.microsoft.com/office/powerpoint/2010/main" val="522035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D7492-3C6D-4A93-9240-B7E83C753570}"/>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EC78B911-1C9A-439C-9367-E687BC168519}"/>
              </a:ext>
            </a:extLst>
          </p:cNvPr>
          <p:cNvSpPr>
            <a:spLocks noGrp="1"/>
          </p:cNvSpPr>
          <p:nvPr>
            <p:ph idx="1"/>
          </p:nvPr>
        </p:nvSpPr>
        <p:spPr>
          <a:xfrm>
            <a:off x="1295401" y="2556931"/>
            <a:ext cx="9601196" cy="3680095"/>
          </a:xfrm>
        </p:spPr>
        <p:txBody>
          <a:bodyPr>
            <a:normAutofit fontScale="92500" lnSpcReduction="20000"/>
          </a:bodyPr>
          <a:lstStyle/>
          <a:p>
            <a:r>
              <a:rPr lang="en-US" sz="2600" b="1" dirty="0"/>
              <a:t>Master Cylinder</a:t>
            </a:r>
          </a:p>
          <a:p>
            <a:pPr marL="0" indent="0" algn="just">
              <a:buNone/>
            </a:pPr>
            <a:r>
              <a:rPr lang="en-US" sz="2600" dirty="0"/>
              <a:t>The </a:t>
            </a:r>
            <a:r>
              <a:rPr lang="en-US" sz="2600" b="1" dirty="0"/>
              <a:t>master cylinder</a:t>
            </a:r>
            <a:r>
              <a:rPr lang="en-US" sz="2600" dirty="0"/>
              <a:t> is the heart of hydraulic brake system. </a:t>
            </a:r>
          </a:p>
          <a:p>
            <a:pPr marL="0" indent="0" algn="just">
              <a:buNone/>
            </a:pPr>
            <a:r>
              <a:rPr lang="en-US" sz="2600" dirty="0"/>
              <a:t>It converts the force exerted on the </a:t>
            </a:r>
            <a:r>
              <a:rPr lang="en-US" sz="2600" b="1" dirty="0"/>
              <a:t>brake</a:t>
            </a:r>
            <a:r>
              <a:rPr lang="en-US" sz="2600" dirty="0"/>
              <a:t> pedal into hydraulic pressure to apply the brakes. </a:t>
            </a:r>
          </a:p>
          <a:p>
            <a:pPr marL="0" indent="0" algn="just">
              <a:buNone/>
            </a:pPr>
            <a:r>
              <a:rPr lang="en-US" sz="2600" dirty="0"/>
              <a:t>The fluid inside acts like a liquid linkage between the </a:t>
            </a:r>
            <a:r>
              <a:rPr lang="en-US" sz="2600" b="1" dirty="0"/>
              <a:t>master cylinder's</a:t>
            </a:r>
            <a:r>
              <a:rPr lang="en-US" sz="2600" dirty="0"/>
              <a:t> pistons and the wheel </a:t>
            </a:r>
            <a:r>
              <a:rPr lang="en-US" sz="2600" b="1" dirty="0"/>
              <a:t>cylinders</a:t>
            </a:r>
            <a:r>
              <a:rPr lang="en-US" sz="2600" dirty="0"/>
              <a:t>.</a:t>
            </a:r>
          </a:p>
          <a:p>
            <a:pPr marL="0" indent="0" algn="just">
              <a:buNone/>
            </a:pPr>
            <a:r>
              <a:rPr lang="en-US" sz="2600" dirty="0"/>
              <a:t>The master cylinder is able to do its job because brake fluid is incompressible, that means no bubbles or air pockets in the brake lines, master cylinder or the wheel cylinders. </a:t>
            </a:r>
          </a:p>
          <a:p>
            <a:endParaRPr lang="en-TZ" dirty="0"/>
          </a:p>
        </p:txBody>
      </p:sp>
    </p:spTree>
    <p:extLst>
      <p:ext uri="{BB962C8B-B14F-4D97-AF65-F5344CB8AC3E}">
        <p14:creationId xmlns:p14="http://schemas.microsoft.com/office/powerpoint/2010/main" val="251504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313B0-1670-4064-BAD2-8AD28ABACE91}"/>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590A9FD6-5AAE-4638-91CD-31954CF8ED6B}"/>
              </a:ext>
            </a:extLst>
          </p:cNvPr>
          <p:cNvSpPr>
            <a:spLocks noGrp="1"/>
          </p:cNvSpPr>
          <p:nvPr>
            <p:ph idx="1"/>
          </p:nvPr>
        </p:nvSpPr>
        <p:spPr/>
        <p:txBody>
          <a:bodyPr/>
          <a:lstStyle/>
          <a:p>
            <a:r>
              <a:rPr lang="en-US" sz="2800" b="1" dirty="0"/>
              <a:t>Types of Master Cylinder</a:t>
            </a:r>
          </a:p>
          <a:p>
            <a:pPr marL="0" indent="0">
              <a:buNone/>
            </a:pPr>
            <a:r>
              <a:rPr lang="en-US" sz="2800" dirty="0"/>
              <a:t>Single Circuit Master Cylinder</a:t>
            </a:r>
          </a:p>
          <a:p>
            <a:pPr marL="0" indent="0">
              <a:buNone/>
            </a:pPr>
            <a:r>
              <a:rPr lang="en-US" sz="2800" dirty="0"/>
              <a:t>Tandem Master Cylinder or Dual Circuit Master Cylinder</a:t>
            </a:r>
          </a:p>
          <a:p>
            <a:endParaRPr lang="en-TZ" dirty="0"/>
          </a:p>
        </p:txBody>
      </p:sp>
    </p:spTree>
    <p:extLst>
      <p:ext uri="{BB962C8B-B14F-4D97-AF65-F5344CB8AC3E}">
        <p14:creationId xmlns:p14="http://schemas.microsoft.com/office/powerpoint/2010/main" val="4283468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0E4F9-3214-446B-B3C4-2B75BC021B3A}"/>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1563AEDA-9AD8-4E9F-B1BE-9F26BABEC272}"/>
              </a:ext>
            </a:extLst>
          </p:cNvPr>
          <p:cNvSpPr>
            <a:spLocks noGrp="1"/>
          </p:cNvSpPr>
          <p:nvPr>
            <p:ph idx="1"/>
          </p:nvPr>
        </p:nvSpPr>
        <p:spPr/>
        <p:txBody>
          <a:bodyPr/>
          <a:lstStyle/>
          <a:p>
            <a:pPr fontAlgn="base"/>
            <a:r>
              <a:rPr lang="en-US" b="1" dirty="0"/>
              <a:t>Single Circuit Master Cylinder</a:t>
            </a:r>
            <a:endParaRPr lang="en-US" dirty="0"/>
          </a:p>
          <a:p>
            <a:pPr marL="0" indent="0" algn="just" fontAlgn="base">
              <a:buNone/>
            </a:pPr>
            <a:r>
              <a:rPr lang="en-US" dirty="0"/>
              <a:t>It is the simple type of master cylinder just like a medical syringe, in this type of master cylinder single piston inside a cylinder is used to cause braking.</a:t>
            </a:r>
          </a:p>
          <a:p>
            <a:pPr marL="0" indent="0" algn="just" fontAlgn="base">
              <a:buNone/>
            </a:pPr>
            <a:r>
              <a:rPr lang="en-US" dirty="0"/>
              <a:t>Single circuit master cylinder distributes equal force in all the wheels due to the use of single cylinder single piston or circuit.</a:t>
            </a:r>
          </a:p>
          <a:p>
            <a:pPr marL="0" indent="0" algn="just" fontAlgn="base">
              <a:buNone/>
            </a:pPr>
            <a:r>
              <a:rPr lang="en-US" dirty="0"/>
              <a:t>This type of master cylinder is commonly used in many 3 wheelers and some light weight 4 wheelers</a:t>
            </a:r>
          </a:p>
          <a:p>
            <a:endParaRPr lang="en-TZ" dirty="0"/>
          </a:p>
        </p:txBody>
      </p:sp>
    </p:spTree>
    <p:extLst>
      <p:ext uri="{BB962C8B-B14F-4D97-AF65-F5344CB8AC3E}">
        <p14:creationId xmlns:p14="http://schemas.microsoft.com/office/powerpoint/2010/main" val="840955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C9EAD-927C-44BC-95D6-DE751E8009DC}"/>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C44A6951-E1E0-4BAB-BA2A-4F17B6098C81}"/>
              </a:ext>
            </a:extLst>
          </p:cNvPr>
          <p:cNvSpPr>
            <a:spLocks noGrp="1"/>
          </p:cNvSpPr>
          <p:nvPr>
            <p:ph idx="1"/>
          </p:nvPr>
        </p:nvSpPr>
        <p:spPr>
          <a:xfrm>
            <a:off x="1295401" y="2556932"/>
            <a:ext cx="9601196" cy="3748334"/>
          </a:xfrm>
        </p:spPr>
        <p:txBody>
          <a:bodyPr>
            <a:normAutofit fontScale="85000" lnSpcReduction="20000"/>
          </a:bodyPr>
          <a:lstStyle/>
          <a:p>
            <a:pPr fontAlgn="base"/>
            <a:r>
              <a:rPr lang="en-US" dirty="0"/>
              <a:t>It consist of 5 parts :-</a:t>
            </a:r>
          </a:p>
          <a:p>
            <a:pPr marL="0" indent="0" algn="just" fontAlgn="base">
              <a:buNone/>
            </a:pPr>
            <a:r>
              <a:rPr lang="en-US" b="1" dirty="0"/>
              <a:t>1</a:t>
            </a:r>
            <a:r>
              <a:rPr lang="en-US" dirty="0"/>
              <a:t>. </a:t>
            </a:r>
            <a:r>
              <a:rPr lang="en-US" b="1" dirty="0"/>
              <a:t>Reservoir</a:t>
            </a:r>
          </a:p>
          <a:p>
            <a:pPr marL="0" indent="0" algn="just" fontAlgn="base">
              <a:buNone/>
            </a:pPr>
            <a:r>
              <a:rPr lang="en-US" dirty="0"/>
              <a:t>It is the storage tank used for storing the brake fluid in hydraulic type of braking system, usually it is made up of plastic.</a:t>
            </a:r>
          </a:p>
          <a:p>
            <a:pPr marL="0" indent="0" algn="just" fontAlgn="base">
              <a:buNone/>
            </a:pPr>
            <a:r>
              <a:rPr lang="en-US" b="1" dirty="0"/>
              <a:t>2</a:t>
            </a:r>
            <a:r>
              <a:rPr lang="en-US" dirty="0"/>
              <a:t>. </a:t>
            </a:r>
            <a:r>
              <a:rPr lang="en-US" b="1" dirty="0"/>
              <a:t>Cylinder</a:t>
            </a:r>
          </a:p>
          <a:p>
            <a:pPr marL="0" indent="0" algn="just" fontAlgn="base">
              <a:buNone/>
            </a:pPr>
            <a:r>
              <a:rPr lang="en-US" dirty="0"/>
              <a:t>It is the air tight housing inside which the piston moves with the movement of brake pedal which in turn causes conversion and multiplication of force. Cylinder is usually made up of cast iron or aluminum.</a:t>
            </a:r>
          </a:p>
          <a:p>
            <a:pPr marL="0" indent="0" algn="just" fontAlgn="base">
              <a:buNone/>
            </a:pPr>
            <a:r>
              <a:rPr lang="en-US" dirty="0"/>
              <a:t>It is connected with the reservoir through inlet valve and also with brake lines through outlet valve.</a:t>
            </a:r>
          </a:p>
          <a:p>
            <a:pPr marL="0" indent="0" algn="just" fontAlgn="base">
              <a:buNone/>
            </a:pPr>
            <a:r>
              <a:rPr lang="en-US" dirty="0"/>
              <a:t>In single circuit master cylinder, there is only 1 compression chamber.</a:t>
            </a:r>
          </a:p>
          <a:p>
            <a:endParaRPr lang="en-TZ" dirty="0"/>
          </a:p>
        </p:txBody>
      </p:sp>
    </p:spTree>
    <p:extLst>
      <p:ext uri="{BB962C8B-B14F-4D97-AF65-F5344CB8AC3E}">
        <p14:creationId xmlns:p14="http://schemas.microsoft.com/office/powerpoint/2010/main" val="33463175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15853-9D22-4CD6-8C3F-0689CD1ECCB7}"/>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96479F7E-E6B9-43D5-9B4E-053BA9FABF8D}"/>
              </a:ext>
            </a:extLst>
          </p:cNvPr>
          <p:cNvSpPr>
            <a:spLocks noGrp="1"/>
          </p:cNvSpPr>
          <p:nvPr>
            <p:ph idx="1"/>
          </p:nvPr>
        </p:nvSpPr>
        <p:spPr/>
        <p:txBody>
          <a:bodyPr>
            <a:normAutofit fontScale="92500" lnSpcReduction="10000"/>
          </a:bodyPr>
          <a:lstStyle/>
          <a:p>
            <a:pPr marL="0" indent="0" algn="just" fontAlgn="base">
              <a:buNone/>
            </a:pPr>
            <a:r>
              <a:rPr lang="en-US" b="1" dirty="0"/>
              <a:t>3. Piston</a:t>
            </a:r>
          </a:p>
          <a:p>
            <a:pPr marL="0" indent="0" algn="just" fontAlgn="base">
              <a:buNone/>
            </a:pPr>
            <a:r>
              <a:rPr lang="en-US" dirty="0"/>
              <a:t>It is the reciprocating part of the master cylinder that reciprocates inside the cylinder due to the movement of brake pedal, the piston causes compression of brake fluid inside the cylinder which in turn generates high hydraulic pressure.</a:t>
            </a:r>
          </a:p>
          <a:p>
            <a:pPr marL="0" indent="0" algn="just" fontAlgn="base">
              <a:buNone/>
            </a:pPr>
            <a:r>
              <a:rPr lang="en-US" dirty="0"/>
              <a:t>In single circuit only 1 piston is used.</a:t>
            </a:r>
          </a:p>
          <a:p>
            <a:pPr marL="0" indent="0" algn="just" fontAlgn="base">
              <a:buNone/>
            </a:pPr>
            <a:r>
              <a:rPr lang="en-US" b="1" dirty="0"/>
              <a:t>4. Returning Spring</a:t>
            </a:r>
          </a:p>
          <a:p>
            <a:pPr marL="0" indent="0" algn="just" fontAlgn="base">
              <a:buNone/>
            </a:pPr>
            <a:r>
              <a:rPr lang="en-US" dirty="0"/>
              <a:t>It is the simple coil type of spring used inside the cylinder which helps the piston and brake pedal to retain its original position after brake pedal is released.</a:t>
            </a:r>
          </a:p>
          <a:p>
            <a:endParaRPr lang="en-TZ" dirty="0"/>
          </a:p>
        </p:txBody>
      </p:sp>
    </p:spTree>
    <p:extLst>
      <p:ext uri="{BB962C8B-B14F-4D97-AF65-F5344CB8AC3E}">
        <p14:creationId xmlns:p14="http://schemas.microsoft.com/office/powerpoint/2010/main" val="1033331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3F31A-DA77-4890-B3B3-A3C8CBEC2359}"/>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63C0BA49-2DF7-485B-9DEF-20A62C802B95}"/>
              </a:ext>
            </a:extLst>
          </p:cNvPr>
          <p:cNvSpPr>
            <a:spLocks noGrp="1"/>
          </p:cNvSpPr>
          <p:nvPr>
            <p:ph idx="1"/>
          </p:nvPr>
        </p:nvSpPr>
        <p:spPr/>
        <p:txBody>
          <a:bodyPr/>
          <a:lstStyle/>
          <a:p>
            <a:pPr marL="0" indent="0" algn="just" fontAlgn="base">
              <a:buNone/>
            </a:pPr>
            <a:r>
              <a:rPr lang="en-US" b="1" dirty="0"/>
              <a:t>5. Valve</a:t>
            </a:r>
          </a:p>
          <a:p>
            <a:pPr marL="0" indent="0" algn="just" fontAlgn="base">
              <a:buNone/>
            </a:pPr>
            <a:r>
              <a:rPr lang="en-US" dirty="0"/>
              <a:t>In single circuit master cylinder, it is the outlet valve through which the brake line is attached</a:t>
            </a:r>
          </a:p>
          <a:p>
            <a:pPr marL="0" indent="0" algn="just" fontAlgn="base">
              <a:buNone/>
            </a:pPr>
            <a:r>
              <a:rPr lang="en-US" dirty="0"/>
              <a:t>The compressed brake fluid is further transferred to the wheel cylinder through this valve</a:t>
            </a:r>
          </a:p>
          <a:p>
            <a:endParaRPr lang="en-TZ" dirty="0"/>
          </a:p>
        </p:txBody>
      </p:sp>
    </p:spTree>
    <p:extLst>
      <p:ext uri="{BB962C8B-B14F-4D97-AF65-F5344CB8AC3E}">
        <p14:creationId xmlns:p14="http://schemas.microsoft.com/office/powerpoint/2010/main" val="1274525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single master cylinder&qu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2228" y="127000"/>
            <a:ext cx="11727543" cy="660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9521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AEC04-CF4E-44FA-8154-92C47A0E8B4A}"/>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3E6D15C5-4954-4D60-A0FB-2A0ED0C441C9}"/>
              </a:ext>
            </a:extLst>
          </p:cNvPr>
          <p:cNvSpPr>
            <a:spLocks noGrp="1"/>
          </p:cNvSpPr>
          <p:nvPr>
            <p:ph idx="1"/>
          </p:nvPr>
        </p:nvSpPr>
        <p:spPr/>
        <p:txBody>
          <a:bodyPr>
            <a:normAutofit lnSpcReduction="10000"/>
          </a:bodyPr>
          <a:lstStyle/>
          <a:p>
            <a:pPr fontAlgn="base"/>
            <a:r>
              <a:rPr lang="en-US" b="1" dirty="0"/>
              <a:t>Tandem Master Cylinder or Dual Circuit Master Cylinder</a:t>
            </a:r>
          </a:p>
          <a:p>
            <a:pPr marL="0" indent="0" algn="just" fontAlgn="base">
              <a:buNone/>
            </a:pPr>
            <a:r>
              <a:rPr lang="en-US" dirty="0"/>
              <a:t>It is the modified type of single circuit master cylinder in which dual cylinder-dual piston or single cylinder dual piston along with dual circuit is used for independent braking between front and rear wheels.</a:t>
            </a:r>
          </a:p>
          <a:p>
            <a:pPr marL="0" indent="0" algn="just" fontAlgn="base">
              <a:buNone/>
            </a:pPr>
            <a:r>
              <a:rPr lang="en-US" dirty="0"/>
              <a:t>This type of master cylinder is used in almost all cars as it is more efficient than single circuit master cylinder.</a:t>
            </a:r>
          </a:p>
          <a:p>
            <a:pPr marL="0" indent="0" algn="just" fontAlgn="base">
              <a:buNone/>
            </a:pPr>
            <a:r>
              <a:rPr lang="en-US" dirty="0"/>
              <a:t>It provides the independency between front and rear wheels braking or diagonal type of braking which is the important safety feature for a vehicle</a:t>
            </a:r>
          </a:p>
          <a:p>
            <a:endParaRPr lang="en-TZ" dirty="0"/>
          </a:p>
        </p:txBody>
      </p:sp>
    </p:spTree>
    <p:extLst>
      <p:ext uri="{BB962C8B-B14F-4D97-AF65-F5344CB8AC3E}">
        <p14:creationId xmlns:p14="http://schemas.microsoft.com/office/powerpoint/2010/main" val="2335806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20814-1879-41EF-A2BE-B8243CD9B71F}"/>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74C588C3-E3EF-4549-BE26-AFEA347A4A9F}"/>
              </a:ext>
            </a:extLst>
          </p:cNvPr>
          <p:cNvSpPr>
            <a:spLocks noGrp="1"/>
          </p:cNvSpPr>
          <p:nvPr>
            <p:ph idx="1"/>
          </p:nvPr>
        </p:nvSpPr>
        <p:spPr/>
        <p:txBody>
          <a:bodyPr>
            <a:normAutofit fontScale="92500" lnSpcReduction="10000"/>
          </a:bodyPr>
          <a:lstStyle/>
          <a:p>
            <a:pPr fontAlgn="base"/>
            <a:r>
              <a:rPr lang="en-US" dirty="0"/>
              <a:t>It consists of:-</a:t>
            </a:r>
          </a:p>
          <a:p>
            <a:pPr marL="0" indent="0" algn="just" fontAlgn="base">
              <a:buNone/>
            </a:pPr>
            <a:r>
              <a:rPr lang="en-US" b="1" dirty="0"/>
              <a:t>1.Reservoir</a:t>
            </a:r>
          </a:p>
          <a:p>
            <a:pPr marL="0" indent="0" algn="just" fontAlgn="base">
              <a:buNone/>
            </a:pPr>
            <a:r>
              <a:rPr lang="en-US" dirty="0"/>
              <a:t>In tandem master cylinder instead of single reservoir 2 or dual chamber reservoir is used as a storage tank for brake fluid.</a:t>
            </a:r>
          </a:p>
          <a:p>
            <a:pPr marL="0" indent="0" algn="just" fontAlgn="base">
              <a:buNone/>
            </a:pPr>
            <a:r>
              <a:rPr lang="en-US" b="1" dirty="0"/>
              <a:t>2. Cylinder</a:t>
            </a:r>
          </a:p>
          <a:p>
            <a:pPr marL="0" indent="0" algn="just" fontAlgn="base">
              <a:buNone/>
            </a:pPr>
            <a:r>
              <a:rPr lang="en-US" dirty="0"/>
              <a:t>Same cylinder as in single circuit type is used with the little modification i.e. it is the housing of 2 pistons and also there are 2 outlet and 2 inlet valves.</a:t>
            </a:r>
          </a:p>
          <a:p>
            <a:pPr marL="0" indent="0" algn="just" fontAlgn="base">
              <a:buNone/>
            </a:pPr>
            <a:r>
              <a:rPr lang="en-US" dirty="0"/>
              <a:t>In tandem m c there are 2 compression chamber inside the cylinder.</a:t>
            </a:r>
          </a:p>
          <a:p>
            <a:endParaRPr lang="en-TZ" dirty="0"/>
          </a:p>
        </p:txBody>
      </p:sp>
    </p:spTree>
    <p:extLst>
      <p:ext uri="{BB962C8B-B14F-4D97-AF65-F5344CB8AC3E}">
        <p14:creationId xmlns:p14="http://schemas.microsoft.com/office/powerpoint/2010/main" val="1369977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B853E-4DC9-4779-A932-E246A376D448}"/>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46B7A187-5DCD-4C7E-80D2-337B03457DDB}"/>
              </a:ext>
            </a:extLst>
          </p:cNvPr>
          <p:cNvSpPr>
            <a:spLocks noGrp="1"/>
          </p:cNvSpPr>
          <p:nvPr>
            <p:ph idx="1"/>
          </p:nvPr>
        </p:nvSpPr>
        <p:spPr>
          <a:xfrm>
            <a:off x="1295401" y="2556931"/>
            <a:ext cx="9601196" cy="3611639"/>
          </a:xfrm>
        </p:spPr>
        <p:txBody>
          <a:bodyPr>
            <a:normAutofit fontScale="77500" lnSpcReduction="20000"/>
          </a:bodyPr>
          <a:lstStyle/>
          <a:p>
            <a:pPr marL="0" indent="0" fontAlgn="base">
              <a:buNone/>
            </a:pPr>
            <a:r>
              <a:rPr lang="en-US" b="1" dirty="0"/>
              <a:t>3. Piston</a:t>
            </a:r>
          </a:p>
          <a:p>
            <a:pPr marL="0" indent="0" algn="just" fontAlgn="base">
              <a:buNone/>
            </a:pPr>
            <a:r>
              <a:rPr lang="en-US" dirty="0"/>
              <a:t>Instead of one piston, 2 pistons that are primary piston and secondary piston are used in tandem </a:t>
            </a:r>
            <a:r>
              <a:rPr lang="en-US" b="1" dirty="0"/>
              <a:t>M C, </a:t>
            </a:r>
            <a:r>
              <a:rPr lang="en-US" dirty="0"/>
              <a:t>the actuation of secondary piston occurs after completion of the primary piston movement.</a:t>
            </a:r>
          </a:p>
          <a:p>
            <a:pPr marL="0" indent="0" algn="just" fontAlgn="base">
              <a:buNone/>
            </a:pPr>
            <a:r>
              <a:rPr lang="en-US" dirty="0"/>
              <a:t>Primary piston is connected to the brake pedal and secondary piston is placed just behind the returning spring of primary piston.</a:t>
            </a:r>
          </a:p>
          <a:p>
            <a:pPr marL="0" indent="0" algn="just" fontAlgn="base">
              <a:buNone/>
            </a:pPr>
            <a:r>
              <a:rPr lang="en-US" b="1" dirty="0"/>
              <a:t>4. Returning Spring</a:t>
            </a:r>
          </a:p>
          <a:p>
            <a:pPr marL="0" indent="0" algn="just" fontAlgn="base">
              <a:buNone/>
            </a:pPr>
            <a:r>
              <a:rPr lang="en-US" dirty="0"/>
              <a:t>In tandem </a:t>
            </a:r>
            <a:r>
              <a:rPr lang="en-US" b="1" dirty="0"/>
              <a:t>MC </a:t>
            </a:r>
            <a:r>
              <a:rPr lang="en-US" dirty="0"/>
              <a:t>2 returning springs are used one with the primary piston and second with the secondary piston.</a:t>
            </a:r>
          </a:p>
          <a:p>
            <a:pPr marL="0" indent="0" algn="just" fontAlgn="base">
              <a:buNone/>
            </a:pPr>
            <a:r>
              <a:rPr lang="en-US" b="1" dirty="0"/>
              <a:t>5. Valves</a:t>
            </a:r>
          </a:p>
          <a:p>
            <a:pPr marL="0" indent="0" algn="just" fontAlgn="base">
              <a:buNone/>
            </a:pPr>
            <a:r>
              <a:rPr lang="en-US" dirty="0"/>
              <a:t>In tandem master cylinder as it is the dual circuit </a:t>
            </a:r>
            <a:r>
              <a:rPr lang="en-US" b="1" dirty="0"/>
              <a:t>MC</a:t>
            </a:r>
            <a:r>
              <a:rPr lang="en-US" dirty="0"/>
              <a:t> , 2 inlet and 2 outlet valves are used .</a:t>
            </a:r>
          </a:p>
          <a:p>
            <a:endParaRPr lang="en-TZ" dirty="0"/>
          </a:p>
        </p:txBody>
      </p:sp>
    </p:spTree>
    <p:extLst>
      <p:ext uri="{BB962C8B-B14F-4D97-AF65-F5344CB8AC3E}">
        <p14:creationId xmlns:p14="http://schemas.microsoft.com/office/powerpoint/2010/main" val="3540183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single master cylinder&qu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7542" y="101600"/>
            <a:ext cx="11596915" cy="675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528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57EAB-B67C-42DE-A071-D532A274064F}"/>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33A2768E-904A-4331-B33A-3AC37B8B06AA}"/>
              </a:ext>
            </a:extLst>
          </p:cNvPr>
          <p:cNvSpPr>
            <a:spLocks noGrp="1"/>
          </p:cNvSpPr>
          <p:nvPr>
            <p:ph idx="1"/>
          </p:nvPr>
        </p:nvSpPr>
        <p:spPr>
          <a:xfrm>
            <a:off x="1295401" y="2556931"/>
            <a:ext cx="9601196" cy="3761981"/>
          </a:xfrm>
        </p:spPr>
        <p:txBody>
          <a:bodyPr>
            <a:normAutofit fontScale="92500" lnSpcReduction="20000"/>
          </a:bodyPr>
          <a:lstStyle/>
          <a:p>
            <a:pPr algn="just"/>
            <a:r>
              <a:rPr lang="en-US" sz="2800" b="1" dirty="0"/>
              <a:t>Brake Pipe and Hoses</a:t>
            </a:r>
          </a:p>
          <a:p>
            <a:pPr marL="0" indent="0" algn="just">
              <a:buNone/>
            </a:pPr>
            <a:r>
              <a:rPr lang="en-US" sz="2800" b="1" dirty="0"/>
              <a:t>Brake pipe</a:t>
            </a:r>
            <a:r>
              <a:rPr lang="en-US" sz="2800" dirty="0"/>
              <a:t> is a rigid (usually steel) </a:t>
            </a:r>
            <a:r>
              <a:rPr lang="en-US" sz="2800" b="1" dirty="0"/>
              <a:t>pipe</a:t>
            </a:r>
            <a:r>
              <a:rPr lang="en-US" sz="2800" dirty="0"/>
              <a:t> that transfers pressurized </a:t>
            </a:r>
            <a:r>
              <a:rPr lang="en-US" sz="2800" b="1" dirty="0"/>
              <a:t>brake</a:t>
            </a:r>
            <a:r>
              <a:rPr lang="en-US" sz="2800" dirty="0"/>
              <a:t> fluid from the master cylinder, where </a:t>
            </a:r>
            <a:r>
              <a:rPr lang="en-US" sz="2800" b="1" dirty="0"/>
              <a:t>brake</a:t>
            </a:r>
            <a:r>
              <a:rPr lang="en-US" sz="2800" dirty="0"/>
              <a:t> fluid is stored, to the </a:t>
            </a:r>
            <a:r>
              <a:rPr lang="en-US" sz="2800" b="1" dirty="0"/>
              <a:t>brake</a:t>
            </a:r>
            <a:r>
              <a:rPr lang="en-US" sz="2800" dirty="0"/>
              <a:t> hoses.</a:t>
            </a:r>
            <a:endParaRPr lang="en-US" sz="2800" b="1" dirty="0"/>
          </a:p>
          <a:p>
            <a:pPr marL="0" indent="0" algn="just">
              <a:buNone/>
            </a:pPr>
            <a:r>
              <a:rPr lang="en-US" sz="2800" b="1" dirty="0"/>
              <a:t>Brake hoses</a:t>
            </a:r>
            <a:r>
              <a:rPr lang="en-US" sz="2800" dirty="0"/>
              <a:t> are the flexible </a:t>
            </a:r>
            <a:r>
              <a:rPr lang="en-US" sz="2800" b="1" dirty="0"/>
              <a:t>hoses</a:t>
            </a:r>
            <a:r>
              <a:rPr lang="en-US" sz="2800" dirty="0"/>
              <a:t> that connected to the caliper or wheel cylinder. </a:t>
            </a:r>
          </a:p>
          <a:p>
            <a:pPr marL="0" indent="0" algn="just">
              <a:buNone/>
            </a:pPr>
            <a:r>
              <a:rPr lang="en-US" sz="2800" dirty="0"/>
              <a:t>They must be flexible in order to accommodate for the vehicle's suspension travel when turning the wheels and traveling over uneven surfaces</a:t>
            </a:r>
          </a:p>
        </p:txBody>
      </p:sp>
    </p:spTree>
    <p:extLst>
      <p:ext uri="{BB962C8B-B14F-4D97-AF65-F5344CB8AC3E}">
        <p14:creationId xmlns:p14="http://schemas.microsoft.com/office/powerpoint/2010/main" val="3278733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result for pipe in automotive hydraulic brak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55964" y="457200"/>
            <a:ext cx="10183090" cy="6052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62499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pipe in automotive hydraulic brak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43231" y="429491"/>
            <a:ext cx="10030691" cy="5999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0464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C6683-8486-474F-8170-2125AC9C8818}"/>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F13E80ED-F565-4D10-9B2F-F1E9630DC69E}"/>
              </a:ext>
            </a:extLst>
          </p:cNvPr>
          <p:cNvSpPr>
            <a:spLocks noGrp="1"/>
          </p:cNvSpPr>
          <p:nvPr>
            <p:ph idx="1"/>
          </p:nvPr>
        </p:nvSpPr>
        <p:spPr/>
        <p:txBody>
          <a:bodyPr/>
          <a:lstStyle/>
          <a:p>
            <a:r>
              <a:rPr lang="en-US" b="1" dirty="0"/>
              <a:t>Regulating valves</a:t>
            </a:r>
          </a:p>
          <a:p>
            <a:pPr marL="0" indent="0">
              <a:buNone/>
            </a:pPr>
            <a:r>
              <a:rPr lang="en-US" dirty="0"/>
              <a:t>This involves </a:t>
            </a:r>
          </a:p>
          <a:p>
            <a:pPr marL="0" indent="0">
              <a:buNone/>
            </a:pPr>
            <a:r>
              <a:rPr lang="en-US" dirty="0"/>
              <a:t>• The metering valve</a:t>
            </a:r>
          </a:p>
          <a:p>
            <a:pPr marL="0" indent="0">
              <a:buNone/>
            </a:pPr>
            <a:r>
              <a:rPr lang="en-US" dirty="0"/>
              <a:t>• The pressure differential switch and </a:t>
            </a:r>
          </a:p>
          <a:p>
            <a:pPr marL="0" indent="0">
              <a:buNone/>
            </a:pPr>
            <a:r>
              <a:rPr lang="en-US" dirty="0"/>
              <a:t>• The proportioning valve</a:t>
            </a:r>
          </a:p>
          <a:p>
            <a:endParaRPr lang="en-TZ" dirty="0"/>
          </a:p>
        </p:txBody>
      </p:sp>
    </p:spTree>
    <p:extLst>
      <p:ext uri="{BB962C8B-B14F-4D97-AF65-F5344CB8AC3E}">
        <p14:creationId xmlns:p14="http://schemas.microsoft.com/office/powerpoint/2010/main" val="26832994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7E647-2848-43C9-9627-21A909100675}"/>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285DD35C-41CA-486F-997B-C06B081CB255}"/>
              </a:ext>
            </a:extLst>
          </p:cNvPr>
          <p:cNvSpPr>
            <a:spLocks noGrp="1"/>
          </p:cNvSpPr>
          <p:nvPr>
            <p:ph idx="1"/>
          </p:nvPr>
        </p:nvSpPr>
        <p:spPr/>
        <p:txBody>
          <a:bodyPr/>
          <a:lstStyle/>
          <a:p>
            <a:pPr marL="0" indent="0" algn="just">
              <a:buNone/>
            </a:pPr>
            <a:r>
              <a:rPr lang="en-US" b="1" dirty="0"/>
              <a:t>Metering Valve </a:t>
            </a:r>
            <a:endParaRPr lang="en-US" dirty="0"/>
          </a:p>
          <a:p>
            <a:pPr marL="0" indent="0" algn="just">
              <a:buNone/>
            </a:pPr>
            <a:r>
              <a:rPr lang="en-US" dirty="0"/>
              <a:t>The metering valve section of the combination valve is required on cars that have disc brakes on the front wheels and drum brakes on the rear wheels. </a:t>
            </a:r>
          </a:p>
          <a:p>
            <a:pPr marL="0" indent="0" algn="just">
              <a:buNone/>
            </a:pPr>
            <a:r>
              <a:rPr lang="en-US" dirty="0"/>
              <a:t>This configuration requires that the disc brake pad is normally in contact with the disc, while the drum brake shoes are normally pulled away from the drum. Because of this, the disc brakes are in a position to engage before the drum brakes when you push the brake pedal down. </a:t>
            </a:r>
          </a:p>
          <a:p>
            <a:endParaRPr lang="en-TZ" dirty="0"/>
          </a:p>
        </p:txBody>
      </p:sp>
    </p:spTree>
    <p:extLst>
      <p:ext uri="{BB962C8B-B14F-4D97-AF65-F5344CB8AC3E}">
        <p14:creationId xmlns:p14="http://schemas.microsoft.com/office/powerpoint/2010/main" val="2016273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AE05C-01B1-4E03-9E8F-10968150C845}"/>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6EFF0B3E-AFAB-4FAF-87C2-DB756C043B68}"/>
              </a:ext>
            </a:extLst>
          </p:cNvPr>
          <p:cNvSpPr>
            <a:spLocks noGrp="1"/>
          </p:cNvSpPr>
          <p:nvPr>
            <p:ph idx="1"/>
          </p:nvPr>
        </p:nvSpPr>
        <p:spPr/>
        <p:txBody>
          <a:bodyPr>
            <a:normAutofit fontScale="85000" lnSpcReduction="20000"/>
          </a:bodyPr>
          <a:lstStyle/>
          <a:p>
            <a:pPr marL="0" indent="0">
              <a:buNone/>
            </a:pPr>
            <a:r>
              <a:rPr lang="en-US" b="1" dirty="0"/>
              <a:t>Metering Valve </a:t>
            </a:r>
            <a:r>
              <a:rPr lang="en-US" b="1" dirty="0">
                <a:solidFill>
                  <a:srgbClr val="0070C0"/>
                </a:solidFill>
              </a:rPr>
              <a:t>cont..</a:t>
            </a:r>
            <a:endParaRPr lang="en-US" dirty="0">
              <a:solidFill>
                <a:srgbClr val="0070C0"/>
              </a:solidFill>
            </a:endParaRPr>
          </a:p>
          <a:p>
            <a:pPr marL="0" indent="0">
              <a:buNone/>
            </a:pPr>
            <a:r>
              <a:rPr lang="en-US" dirty="0"/>
              <a:t>The metering valve compensates for this, making the drum brakes engage just before the disc brakes. </a:t>
            </a:r>
          </a:p>
          <a:p>
            <a:pPr marL="0" indent="0">
              <a:buNone/>
            </a:pPr>
            <a:r>
              <a:rPr lang="en-US" dirty="0"/>
              <a:t>The metering valve does not allow any pressure to the disc brakes until a threshold pressure has been reached. </a:t>
            </a:r>
          </a:p>
          <a:p>
            <a:pPr marL="0" indent="0">
              <a:buNone/>
            </a:pPr>
            <a:r>
              <a:rPr lang="en-US" dirty="0"/>
              <a:t>The threshold pressure is low compared to the maximum pressure in the braking system, so the drum brakes just barely engage before the disc brakes kick in. </a:t>
            </a:r>
          </a:p>
          <a:p>
            <a:pPr marL="0" indent="0">
              <a:buNone/>
            </a:pPr>
            <a:r>
              <a:rPr lang="en-US" dirty="0"/>
              <a:t>Having the rear brakes engage before the front brakes provides a lot more stability during braking. </a:t>
            </a:r>
          </a:p>
          <a:p>
            <a:pPr marL="0" indent="0">
              <a:buNone/>
            </a:pPr>
            <a:r>
              <a:rPr lang="en-US" dirty="0"/>
              <a:t>Applying the rear brakes first helps keep the car in a straight line</a:t>
            </a:r>
          </a:p>
          <a:p>
            <a:endParaRPr lang="en-TZ" dirty="0"/>
          </a:p>
        </p:txBody>
      </p:sp>
    </p:spTree>
    <p:extLst>
      <p:ext uri="{BB962C8B-B14F-4D97-AF65-F5344CB8AC3E}">
        <p14:creationId xmlns:p14="http://schemas.microsoft.com/office/powerpoint/2010/main" val="25262749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8C5B7-3482-4B65-A93F-27DDA74E3B18}"/>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8507129E-8325-41C2-AF14-10F2C491752A}"/>
              </a:ext>
            </a:extLst>
          </p:cNvPr>
          <p:cNvSpPr>
            <a:spLocks noGrp="1"/>
          </p:cNvSpPr>
          <p:nvPr>
            <p:ph idx="1"/>
          </p:nvPr>
        </p:nvSpPr>
        <p:spPr/>
        <p:txBody>
          <a:bodyPr>
            <a:normAutofit fontScale="85000" lnSpcReduction="20000"/>
          </a:bodyPr>
          <a:lstStyle/>
          <a:p>
            <a:pPr marL="0" indent="0">
              <a:buNone/>
            </a:pPr>
            <a:r>
              <a:rPr lang="en-US" b="1" dirty="0"/>
              <a:t>Pressure Differential Switch</a:t>
            </a:r>
          </a:p>
          <a:p>
            <a:pPr marL="0" indent="0" algn="just">
              <a:buNone/>
            </a:pPr>
            <a:r>
              <a:rPr lang="en-US" dirty="0"/>
              <a:t>The pressure differential valve is the device that alerts you if you have a leak in one of your brake circuits. </a:t>
            </a:r>
          </a:p>
          <a:p>
            <a:pPr marL="0" indent="0" algn="just">
              <a:buNone/>
            </a:pPr>
            <a:r>
              <a:rPr lang="en-US" dirty="0"/>
              <a:t>The valve contains a specially shaped piston in the middle of a cylinder. </a:t>
            </a:r>
          </a:p>
          <a:p>
            <a:pPr marL="0" indent="0" algn="just">
              <a:buNone/>
            </a:pPr>
            <a:r>
              <a:rPr lang="en-US" dirty="0"/>
              <a:t>Each side of the piston is exposed to the pressure in one of the two brake circuits. </a:t>
            </a:r>
          </a:p>
          <a:p>
            <a:pPr marL="0" indent="0" algn="just">
              <a:buNone/>
            </a:pPr>
            <a:r>
              <a:rPr lang="en-US" dirty="0"/>
              <a:t>As long as the pressure in both circuits is the same, the piston will stay centered in its cylinder. </a:t>
            </a:r>
          </a:p>
          <a:p>
            <a:pPr marL="0" indent="0" algn="just">
              <a:buNone/>
            </a:pPr>
            <a:r>
              <a:rPr lang="en-US" dirty="0"/>
              <a:t>But if one side develops a leak, the pressure will drop in that circuit, forcing the piston off-center. </a:t>
            </a:r>
          </a:p>
          <a:p>
            <a:pPr marL="0" indent="0" algn="just">
              <a:buNone/>
            </a:pPr>
            <a:r>
              <a:rPr lang="en-US" dirty="0"/>
              <a:t>This closes a switch, which turns on a light in the instrument panel of the car </a:t>
            </a:r>
          </a:p>
          <a:p>
            <a:endParaRPr lang="en-TZ" dirty="0"/>
          </a:p>
        </p:txBody>
      </p:sp>
    </p:spTree>
    <p:extLst>
      <p:ext uri="{BB962C8B-B14F-4D97-AF65-F5344CB8AC3E}">
        <p14:creationId xmlns:p14="http://schemas.microsoft.com/office/powerpoint/2010/main" val="11709185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74C95-3C9B-47B8-A10F-0033E0669331}"/>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C1CD3A73-6600-4D94-82F4-4D20DB50DC55}"/>
              </a:ext>
            </a:extLst>
          </p:cNvPr>
          <p:cNvSpPr>
            <a:spLocks noGrp="1"/>
          </p:cNvSpPr>
          <p:nvPr>
            <p:ph idx="1"/>
          </p:nvPr>
        </p:nvSpPr>
        <p:spPr/>
        <p:txBody>
          <a:bodyPr>
            <a:normAutofit fontScale="92500" lnSpcReduction="20000"/>
          </a:bodyPr>
          <a:lstStyle/>
          <a:p>
            <a:pPr marL="0" indent="0">
              <a:buNone/>
            </a:pPr>
            <a:r>
              <a:rPr lang="en-US" b="1" dirty="0"/>
              <a:t>Proportioning Valve </a:t>
            </a:r>
          </a:p>
          <a:p>
            <a:pPr marL="0" indent="0" algn="just">
              <a:buNone/>
            </a:pPr>
            <a:r>
              <a:rPr lang="en-US" dirty="0"/>
              <a:t>The proportioning valve reduces the pressure to the rear brakes. </a:t>
            </a:r>
          </a:p>
          <a:p>
            <a:pPr marL="0" indent="0" algn="just">
              <a:buNone/>
            </a:pPr>
            <a:r>
              <a:rPr lang="en-US" dirty="0"/>
              <a:t>Regardless of what type of brakes a car has, the rear brakes require less force than the front brakes. </a:t>
            </a:r>
          </a:p>
          <a:p>
            <a:pPr marL="0" indent="0" algn="just">
              <a:buNone/>
            </a:pPr>
            <a:r>
              <a:rPr lang="en-US" dirty="0"/>
              <a:t>The amount of brake force that can be applied to a wheel without locking it depends on the amount of weight on the wheel. </a:t>
            </a:r>
          </a:p>
          <a:p>
            <a:pPr marL="0" indent="0" algn="just">
              <a:buNone/>
            </a:pPr>
            <a:r>
              <a:rPr lang="en-US" dirty="0"/>
              <a:t>More weight means more brake force can be applied. </a:t>
            </a:r>
          </a:p>
          <a:p>
            <a:pPr marL="0" indent="0" algn="just">
              <a:buNone/>
            </a:pPr>
            <a:r>
              <a:rPr lang="en-US" dirty="0"/>
              <a:t>If you have ever slammed on your brakes, you know that an abrupt stop makes your car lean forward.. </a:t>
            </a:r>
          </a:p>
          <a:p>
            <a:endParaRPr lang="en-TZ" dirty="0"/>
          </a:p>
        </p:txBody>
      </p:sp>
    </p:spTree>
    <p:extLst>
      <p:ext uri="{BB962C8B-B14F-4D97-AF65-F5344CB8AC3E}">
        <p14:creationId xmlns:p14="http://schemas.microsoft.com/office/powerpoint/2010/main" val="2200032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3E080-147D-476B-8873-7671EC6BB698}"/>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3A9BD83F-CA65-4E32-8F97-4B78E8C6570D}"/>
              </a:ext>
            </a:extLst>
          </p:cNvPr>
          <p:cNvSpPr>
            <a:spLocks noGrp="1"/>
          </p:cNvSpPr>
          <p:nvPr>
            <p:ph idx="1"/>
          </p:nvPr>
        </p:nvSpPr>
        <p:spPr/>
        <p:txBody>
          <a:bodyPr>
            <a:normAutofit fontScale="92500" lnSpcReduction="20000"/>
          </a:bodyPr>
          <a:lstStyle/>
          <a:p>
            <a:pPr marL="0" indent="0" algn="just">
              <a:buNone/>
            </a:pPr>
            <a:r>
              <a:rPr lang="en-US" b="1" dirty="0"/>
              <a:t>Proportioning Valve </a:t>
            </a:r>
            <a:r>
              <a:rPr lang="en-US" b="1" dirty="0">
                <a:solidFill>
                  <a:srgbClr val="0070C0"/>
                </a:solidFill>
              </a:rPr>
              <a:t>cont..</a:t>
            </a:r>
          </a:p>
          <a:p>
            <a:pPr marL="0" indent="0" algn="just">
              <a:buNone/>
            </a:pPr>
            <a:r>
              <a:rPr lang="en-US" dirty="0"/>
              <a:t>The front gets lower and the back gets higher. </a:t>
            </a:r>
          </a:p>
          <a:p>
            <a:pPr marL="0" indent="0" algn="just">
              <a:buNone/>
            </a:pPr>
            <a:r>
              <a:rPr lang="en-US" dirty="0"/>
              <a:t>This is because a lot of weight is transferred to the front of the car when you stop. Also, most cars have more weight over the front wheels to start with because that is where the engine is located</a:t>
            </a:r>
          </a:p>
          <a:p>
            <a:pPr marL="0" indent="0" algn="just">
              <a:buNone/>
            </a:pPr>
            <a:r>
              <a:rPr lang="en-US" dirty="0"/>
              <a:t>If equal braking force were applied at all four wheels during a stop, the rear wheels would lock up before the front wheels. </a:t>
            </a:r>
          </a:p>
          <a:p>
            <a:pPr marL="0" indent="0" algn="just">
              <a:buNone/>
            </a:pPr>
            <a:r>
              <a:rPr lang="en-US" dirty="0"/>
              <a:t>The proportioning valve only lets a certain portion of the pressure through to the rear wheels so that the front wheels apply more braking force </a:t>
            </a:r>
          </a:p>
          <a:p>
            <a:endParaRPr lang="en-TZ" dirty="0"/>
          </a:p>
        </p:txBody>
      </p:sp>
    </p:spTree>
    <p:extLst>
      <p:ext uri="{BB962C8B-B14F-4D97-AF65-F5344CB8AC3E}">
        <p14:creationId xmlns:p14="http://schemas.microsoft.com/office/powerpoint/2010/main" val="2367366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43892" y="374073"/>
            <a:ext cx="9324108" cy="6054436"/>
          </a:xfrm>
          <a:prstGeom prst="rect">
            <a:avLst/>
          </a:prstGeom>
        </p:spPr>
      </p:pic>
    </p:spTree>
    <p:extLst>
      <p:ext uri="{BB962C8B-B14F-4D97-AF65-F5344CB8AC3E}">
        <p14:creationId xmlns:p14="http://schemas.microsoft.com/office/powerpoint/2010/main" val="2100928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4B781-8B69-49DD-8C18-4B4D6B8421FB}"/>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7CA0A697-76CB-4603-B3B7-D19C2906436B}"/>
              </a:ext>
            </a:extLst>
          </p:cNvPr>
          <p:cNvSpPr>
            <a:spLocks noGrp="1"/>
          </p:cNvSpPr>
          <p:nvPr>
            <p:ph idx="1"/>
          </p:nvPr>
        </p:nvSpPr>
        <p:spPr>
          <a:xfrm>
            <a:off x="1295401" y="2556931"/>
            <a:ext cx="9601196" cy="3785811"/>
          </a:xfrm>
        </p:spPr>
        <p:txBody>
          <a:bodyPr>
            <a:normAutofit fontScale="92500" lnSpcReduction="20000"/>
          </a:bodyPr>
          <a:lstStyle/>
          <a:p>
            <a:r>
              <a:rPr lang="en-US" b="1" dirty="0"/>
              <a:t>Foundation brakes</a:t>
            </a:r>
          </a:p>
          <a:p>
            <a:pPr marL="0" indent="0" algn="just">
              <a:buNone/>
            </a:pPr>
            <a:r>
              <a:rPr lang="en-US" dirty="0"/>
              <a:t>Foundation, or wheel brakes, divide into two distinct classes, namely </a:t>
            </a:r>
          </a:p>
          <a:p>
            <a:pPr marL="514350" indent="-514350" algn="just">
              <a:buFont typeface="+mj-lt"/>
              <a:buAutoNum type="alphaLcParenR"/>
            </a:pPr>
            <a:r>
              <a:rPr lang="en-US" dirty="0"/>
              <a:t>Disc and </a:t>
            </a:r>
          </a:p>
          <a:p>
            <a:pPr marL="514350" indent="-514350" algn="just">
              <a:buFont typeface="+mj-lt"/>
              <a:buAutoNum type="alphaLcParenR"/>
            </a:pPr>
            <a:r>
              <a:rPr lang="en-US" dirty="0"/>
              <a:t>Drum(radial) brakes.</a:t>
            </a:r>
          </a:p>
          <a:p>
            <a:pPr marL="0" indent="0" algn="just">
              <a:buNone/>
            </a:pPr>
            <a:r>
              <a:rPr lang="en-US" dirty="0"/>
              <a:t>The foundation brake consists of</a:t>
            </a:r>
          </a:p>
          <a:p>
            <a:pPr algn="just"/>
            <a:r>
              <a:rPr lang="en-US" dirty="0"/>
              <a:t>Brake drum/rotor</a:t>
            </a:r>
          </a:p>
          <a:p>
            <a:pPr algn="just"/>
            <a:r>
              <a:rPr lang="en-US" dirty="0"/>
              <a:t>Backing plate</a:t>
            </a:r>
          </a:p>
          <a:p>
            <a:pPr algn="just"/>
            <a:r>
              <a:rPr lang="en-US" dirty="0"/>
              <a:t>Brake shoes/Caliper with pads</a:t>
            </a:r>
          </a:p>
          <a:p>
            <a:pPr algn="just"/>
            <a:r>
              <a:rPr lang="en-US" dirty="0"/>
              <a:t>Wheel cylinder</a:t>
            </a:r>
          </a:p>
          <a:p>
            <a:endParaRPr lang="en-TZ" dirty="0"/>
          </a:p>
        </p:txBody>
      </p:sp>
    </p:spTree>
    <p:extLst>
      <p:ext uri="{BB962C8B-B14F-4D97-AF65-F5344CB8AC3E}">
        <p14:creationId xmlns:p14="http://schemas.microsoft.com/office/powerpoint/2010/main" val="29415619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20207-2947-450D-8E97-7C6D3F67E0ED}"/>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9AA89BAC-D3CA-4283-8AEF-001E8CCA2F71}"/>
              </a:ext>
            </a:extLst>
          </p:cNvPr>
          <p:cNvSpPr>
            <a:spLocks noGrp="1"/>
          </p:cNvSpPr>
          <p:nvPr>
            <p:ph idx="1"/>
          </p:nvPr>
        </p:nvSpPr>
        <p:spPr/>
        <p:txBody>
          <a:bodyPr/>
          <a:lstStyle/>
          <a:p>
            <a:pPr marL="0" indent="0">
              <a:buNone/>
            </a:pPr>
            <a:r>
              <a:rPr lang="en-US" b="1" dirty="0"/>
              <a:t>A. Disc Brake </a:t>
            </a:r>
            <a:endParaRPr lang="en-US" dirty="0"/>
          </a:p>
          <a:p>
            <a:pPr marL="0" indent="0">
              <a:buNone/>
            </a:pPr>
            <a:r>
              <a:rPr lang="en-US" dirty="0"/>
              <a:t>The main components of a disc brake are</a:t>
            </a:r>
          </a:p>
          <a:p>
            <a:r>
              <a:rPr lang="en-US" dirty="0"/>
              <a:t>Brake pads </a:t>
            </a:r>
          </a:p>
          <a:p>
            <a:r>
              <a:rPr lang="en-US" dirty="0"/>
              <a:t>Caliper, which contains a piston and </a:t>
            </a:r>
          </a:p>
          <a:p>
            <a:r>
              <a:rPr lang="en-US" dirty="0"/>
              <a:t>Rotor, which is mounted to the hub. </a:t>
            </a:r>
          </a:p>
          <a:p>
            <a:endParaRPr lang="en-TZ" dirty="0"/>
          </a:p>
        </p:txBody>
      </p:sp>
    </p:spTree>
    <p:extLst>
      <p:ext uri="{BB962C8B-B14F-4D97-AF65-F5344CB8AC3E}">
        <p14:creationId xmlns:p14="http://schemas.microsoft.com/office/powerpoint/2010/main" val="3350969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02971" y="232229"/>
            <a:ext cx="7806047" cy="5974607"/>
          </a:xfrm>
          <a:prstGeom prst="rect">
            <a:avLst/>
          </a:prstGeom>
        </p:spPr>
      </p:pic>
    </p:spTree>
    <p:extLst>
      <p:ext uri="{BB962C8B-B14F-4D97-AF65-F5344CB8AC3E}">
        <p14:creationId xmlns:p14="http://schemas.microsoft.com/office/powerpoint/2010/main" val="18626437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68B78-3F85-49D3-AA92-5FD4865BDA09}"/>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A453DE88-46C2-40E2-BF32-222CEB74DCA5}"/>
              </a:ext>
            </a:extLst>
          </p:cNvPr>
          <p:cNvSpPr>
            <a:spLocks noGrp="1"/>
          </p:cNvSpPr>
          <p:nvPr>
            <p:ph idx="1"/>
          </p:nvPr>
        </p:nvSpPr>
        <p:spPr/>
        <p:txBody>
          <a:bodyPr/>
          <a:lstStyle/>
          <a:p>
            <a:pPr marL="0" indent="0" algn="just">
              <a:buNone/>
            </a:pPr>
            <a:r>
              <a:rPr lang="en-US" b="1" dirty="0"/>
              <a:t>A. Disc Brake </a:t>
            </a:r>
            <a:r>
              <a:rPr lang="en-US" b="1" dirty="0">
                <a:solidFill>
                  <a:schemeClr val="accent3"/>
                </a:solidFill>
              </a:rPr>
              <a:t>Cont..</a:t>
            </a:r>
            <a:endParaRPr lang="en-US" dirty="0">
              <a:solidFill>
                <a:schemeClr val="accent3"/>
              </a:solidFill>
            </a:endParaRPr>
          </a:p>
          <a:p>
            <a:pPr marL="0" indent="0" algn="just">
              <a:buNone/>
            </a:pPr>
            <a:r>
              <a:rPr lang="en-US" dirty="0"/>
              <a:t>The disc brake is a lot like the brakes on a bicycle. </a:t>
            </a:r>
          </a:p>
          <a:p>
            <a:pPr marL="0" indent="0" algn="just">
              <a:buNone/>
            </a:pPr>
            <a:r>
              <a:rPr lang="en-US" dirty="0"/>
              <a:t>Bicycle brakes have a caliper, which squeezes the brake pads against the wheel. In a disc brake, the brake pads squeeze the rotor instead of the wheel, and the force is transmitted hydraulically instead of through a cable. </a:t>
            </a:r>
          </a:p>
          <a:p>
            <a:pPr marL="0" indent="0" algn="just">
              <a:buNone/>
            </a:pPr>
            <a:r>
              <a:rPr lang="en-US" dirty="0"/>
              <a:t>Friction between the pads and the disc slows the disc down </a:t>
            </a:r>
          </a:p>
        </p:txBody>
      </p:sp>
    </p:spTree>
    <p:extLst>
      <p:ext uri="{BB962C8B-B14F-4D97-AF65-F5344CB8AC3E}">
        <p14:creationId xmlns:p14="http://schemas.microsoft.com/office/powerpoint/2010/main" val="15321267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59AD8-70ED-4BB1-B453-09AF7F23EA2A}"/>
              </a:ext>
            </a:extLst>
          </p:cNvPr>
          <p:cNvSpPr>
            <a:spLocks noGrp="1"/>
          </p:cNvSpPr>
          <p:nvPr>
            <p:ph type="title"/>
          </p:nvPr>
        </p:nvSpPr>
        <p:spPr/>
        <p:txBody>
          <a:bodyPr>
            <a:normAutofit/>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EA2D8EB9-C418-4B0C-9FF1-4E796CACB249}"/>
              </a:ext>
            </a:extLst>
          </p:cNvPr>
          <p:cNvSpPr>
            <a:spLocks noGrp="1"/>
          </p:cNvSpPr>
          <p:nvPr>
            <p:ph idx="1"/>
          </p:nvPr>
        </p:nvSpPr>
        <p:spPr/>
        <p:txBody>
          <a:bodyPr/>
          <a:lstStyle/>
          <a:p>
            <a:pPr marL="0" indent="0" algn="just">
              <a:buNone/>
            </a:pPr>
            <a:r>
              <a:rPr lang="en-US" b="1" dirty="0"/>
              <a:t>A. Disc Brake </a:t>
            </a:r>
            <a:r>
              <a:rPr lang="en-US" b="1" dirty="0">
                <a:solidFill>
                  <a:schemeClr val="accent3"/>
                </a:solidFill>
              </a:rPr>
              <a:t>Cont..</a:t>
            </a:r>
            <a:endParaRPr lang="en-US" dirty="0">
              <a:solidFill>
                <a:schemeClr val="accent3"/>
              </a:solidFill>
            </a:endParaRPr>
          </a:p>
          <a:p>
            <a:pPr marL="0" indent="0" algn="just">
              <a:buNone/>
            </a:pPr>
            <a:r>
              <a:rPr lang="en-US" dirty="0"/>
              <a:t>The disc/rotor on disc brake can be</a:t>
            </a:r>
          </a:p>
          <a:p>
            <a:pPr algn="just"/>
            <a:r>
              <a:rPr lang="en-US" dirty="0"/>
              <a:t>Solid or </a:t>
            </a:r>
          </a:p>
          <a:p>
            <a:pPr algn="just"/>
            <a:r>
              <a:rPr lang="en-US" dirty="0"/>
              <a:t>Vented</a:t>
            </a:r>
          </a:p>
          <a:p>
            <a:pPr marL="0" indent="0" algn="just">
              <a:buNone/>
            </a:pPr>
            <a:r>
              <a:rPr lang="en-US" dirty="0"/>
              <a:t>Vented disc brakes have a set of vanes, between the two sides of the disc that pumps air through the disc to provide cooling. </a:t>
            </a:r>
          </a:p>
          <a:p>
            <a:endParaRPr lang="en-TZ" dirty="0"/>
          </a:p>
        </p:txBody>
      </p:sp>
    </p:spTree>
    <p:extLst>
      <p:ext uri="{BB962C8B-B14F-4D97-AF65-F5344CB8AC3E}">
        <p14:creationId xmlns:p14="http://schemas.microsoft.com/office/powerpoint/2010/main" val="33278833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solid and ventilated disc brak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728" y="0"/>
            <a:ext cx="11313994"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23212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EDD4-AD47-4021-8C96-696FC1FD17C5}"/>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289376CA-4452-46E6-823C-CB0B46B4F2C7}"/>
              </a:ext>
            </a:extLst>
          </p:cNvPr>
          <p:cNvSpPr>
            <a:spLocks noGrp="1"/>
          </p:cNvSpPr>
          <p:nvPr>
            <p:ph idx="1"/>
          </p:nvPr>
        </p:nvSpPr>
        <p:spPr/>
        <p:txBody>
          <a:bodyPr/>
          <a:lstStyle/>
          <a:p>
            <a:pPr marL="0" indent="0">
              <a:buNone/>
            </a:pPr>
            <a:r>
              <a:rPr lang="en-US" sz="3200" b="1" dirty="0"/>
              <a:t>A. Disc Brake </a:t>
            </a:r>
            <a:r>
              <a:rPr lang="en-US" sz="3200" b="1" dirty="0">
                <a:solidFill>
                  <a:schemeClr val="accent3"/>
                </a:solidFill>
              </a:rPr>
              <a:t>Cont..</a:t>
            </a:r>
            <a:endParaRPr lang="en-US" sz="3200" dirty="0">
              <a:solidFill>
                <a:schemeClr val="accent3"/>
              </a:solidFill>
            </a:endParaRPr>
          </a:p>
          <a:p>
            <a:pPr marL="0" indent="0">
              <a:buNone/>
            </a:pPr>
            <a:r>
              <a:rPr lang="en-US" sz="3200" dirty="0"/>
              <a:t>Brake caliper can be</a:t>
            </a:r>
          </a:p>
          <a:p>
            <a:pPr marL="0" indent="0">
              <a:buNone/>
            </a:pPr>
            <a:r>
              <a:rPr lang="en-US" sz="3200" dirty="0"/>
              <a:t>a. Floating caliper </a:t>
            </a:r>
          </a:p>
          <a:p>
            <a:pPr marL="0" indent="0">
              <a:buNone/>
            </a:pPr>
            <a:r>
              <a:rPr lang="en-US" sz="3200" dirty="0"/>
              <a:t>b. Fixed caliper </a:t>
            </a:r>
          </a:p>
          <a:p>
            <a:endParaRPr lang="en-TZ" dirty="0"/>
          </a:p>
        </p:txBody>
      </p:sp>
    </p:spTree>
    <p:extLst>
      <p:ext uri="{BB962C8B-B14F-4D97-AF65-F5344CB8AC3E}">
        <p14:creationId xmlns:p14="http://schemas.microsoft.com/office/powerpoint/2010/main" val="5941604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53A85-D9E3-4B9A-809F-98CCC8CD8840}"/>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07C14071-1674-4422-93AA-FC893548B5BD}"/>
              </a:ext>
            </a:extLst>
          </p:cNvPr>
          <p:cNvSpPr>
            <a:spLocks noGrp="1"/>
          </p:cNvSpPr>
          <p:nvPr>
            <p:ph idx="1"/>
          </p:nvPr>
        </p:nvSpPr>
        <p:spPr>
          <a:xfrm>
            <a:off x="1295401" y="2556932"/>
            <a:ext cx="9601196" cy="3748334"/>
          </a:xfrm>
        </p:spPr>
        <p:txBody>
          <a:bodyPr>
            <a:normAutofit fontScale="92500" lnSpcReduction="20000"/>
          </a:bodyPr>
          <a:lstStyle/>
          <a:p>
            <a:pPr marL="0" indent="0" algn="just">
              <a:buNone/>
            </a:pPr>
            <a:r>
              <a:rPr lang="en-US" b="1" dirty="0"/>
              <a:t>a. Floating caliper </a:t>
            </a:r>
          </a:p>
          <a:p>
            <a:pPr marL="0" indent="0" algn="just">
              <a:buNone/>
            </a:pPr>
            <a:r>
              <a:rPr lang="en-US" dirty="0"/>
              <a:t>The single-piston floating-caliper disc brake is self-centering and self-adjusting. </a:t>
            </a:r>
          </a:p>
          <a:p>
            <a:pPr marL="0" indent="0" algn="just">
              <a:buNone/>
            </a:pPr>
            <a:r>
              <a:rPr lang="en-US" dirty="0"/>
              <a:t>The caliper is able to slide from side to side so it will move to the center each time the brakes are applied. </a:t>
            </a:r>
          </a:p>
          <a:p>
            <a:pPr marL="0" indent="0" algn="just">
              <a:buNone/>
            </a:pPr>
            <a:r>
              <a:rPr lang="en-US" dirty="0"/>
              <a:t>Also, since there is no spring to pull the pads away from the disc, the pads always stay in light contact with the rotor. </a:t>
            </a:r>
          </a:p>
          <a:p>
            <a:pPr marL="0" indent="0" algn="just">
              <a:buNone/>
            </a:pPr>
            <a:r>
              <a:rPr lang="en-US" dirty="0"/>
              <a:t>This is important because the pistons in the brakes are much larger in diameter than the ones in the master cylinder. </a:t>
            </a:r>
          </a:p>
          <a:p>
            <a:pPr marL="0" indent="0" algn="just">
              <a:buNone/>
            </a:pPr>
            <a:r>
              <a:rPr lang="en-US" dirty="0"/>
              <a:t>If the brake pistons retracted into their cylinders, it might take several applications of the brake pedal to pump enough fluid into the brake cylinder to engage the brake pads. </a:t>
            </a:r>
          </a:p>
          <a:p>
            <a:endParaRPr lang="en-TZ" dirty="0"/>
          </a:p>
        </p:txBody>
      </p:sp>
    </p:spTree>
    <p:extLst>
      <p:ext uri="{BB962C8B-B14F-4D97-AF65-F5344CB8AC3E}">
        <p14:creationId xmlns:p14="http://schemas.microsoft.com/office/powerpoint/2010/main" val="22246942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64457" y="0"/>
            <a:ext cx="11292113" cy="6858000"/>
          </a:xfrm>
          <a:prstGeom prst="rect">
            <a:avLst/>
          </a:prstGeom>
        </p:spPr>
      </p:pic>
    </p:spTree>
    <p:extLst>
      <p:ext uri="{BB962C8B-B14F-4D97-AF65-F5344CB8AC3E}">
        <p14:creationId xmlns:p14="http://schemas.microsoft.com/office/powerpoint/2010/main" val="19059903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A0104-9F57-4ABF-81AE-E34484F6FA45}"/>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79F8ED09-DA0A-484A-912C-A2C744468903}"/>
              </a:ext>
            </a:extLst>
          </p:cNvPr>
          <p:cNvSpPr>
            <a:spLocks noGrp="1"/>
          </p:cNvSpPr>
          <p:nvPr>
            <p:ph idx="1"/>
          </p:nvPr>
        </p:nvSpPr>
        <p:spPr/>
        <p:txBody>
          <a:bodyPr>
            <a:normAutofit fontScale="92500" lnSpcReduction="10000"/>
          </a:bodyPr>
          <a:lstStyle/>
          <a:p>
            <a:pPr marL="0" indent="0" algn="just">
              <a:buNone/>
            </a:pPr>
            <a:r>
              <a:rPr lang="en-US" sz="3200" b="1" dirty="0"/>
              <a:t>b. Fixed caliper </a:t>
            </a:r>
          </a:p>
          <a:p>
            <a:pPr marL="0" indent="0" algn="just">
              <a:buNone/>
            </a:pPr>
            <a:r>
              <a:rPr lang="en-US" sz="3200" dirty="0"/>
              <a:t>This type has dual or four-pistons. </a:t>
            </a:r>
          </a:p>
          <a:p>
            <a:pPr marL="0" indent="0" algn="just">
              <a:buNone/>
            </a:pPr>
            <a:r>
              <a:rPr lang="en-US" sz="3200" dirty="0"/>
              <a:t>A piston (or two) on each side of the rotor pushed the pad on that side. </a:t>
            </a:r>
          </a:p>
          <a:p>
            <a:pPr marL="0" indent="0" algn="just">
              <a:buNone/>
            </a:pPr>
            <a:r>
              <a:rPr lang="en-US" sz="3200" dirty="0"/>
              <a:t>This design has been largely eliminated because single-piston designs are cheaper and more reliable. </a:t>
            </a:r>
          </a:p>
          <a:p>
            <a:endParaRPr lang="en-TZ" dirty="0"/>
          </a:p>
        </p:txBody>
      </p:sp>
    </p:spTree>
    <p:extLst>
      <p:ext uri="{BB962C8B-B14F-4D97-AF65-F5344CB8AC3E}">
        <p14:creationId xmlns:p14="http://schemas.microsoft.com/office/powerpoint/2010/main" val="38970984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49943" y="94343"/>
            <a:ext cx="11582400" cy="6669314"/>
          </a:xfrm>
          <a:prstGeom prst="rect">
            <a:avLst/>
          </a:prstGeom>
        </p:spPr>
      </p:pic>
    </p:spTree>
    <p:extLst>
      <p:ext uri="{BB962C8B-B14F-4D97-AF65-F5344CB8AC3E}">
        <p14:creationId xmlns:p14="http://schemas.microsoft.com/office/powerpoint/2010/main" val="17743090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0E92C-BECA-44CC-8D5F-0772FEF255ED}"/>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FFB02BC5-0C07-4189-BDED-23D6E60682AD}"/>
              </a:ext>
            </a:extLst>
          </p:cNvPr>
          <p:cNvSpPr>
            <a:spLocks noGrp="1"/>
          </p:cNvSpPr>
          <p:nvPr>
            <p:ph idx="1"/>
          </p:nvPr>
        </p:nvSpPr>
        <p:spPr/>
        <p:txBody>
          <a:bodyPr/>
          <a:lstStyle/>
          <a:p>
            <a:pPr algn="just"/>
            <a:r>
              <a:rPr lang="en-US" sz="2800" b="1" dirty="0"/>
              <a:t>Hand/Emergency Brakes in Disc Brake</a:t>
            </a:r>
          </a:p>
          <a:p>
            <a:pPr marL="0" indent="0" algn="just">
              <a:buNone/>
            </a:pPr>
            <a:r>
              <a:rPr lang="en-US" sz="2800" dirty="0"/>
              <a:t>In cars with disc brakes, an emergency/hand brake has to be actuated by a separate mechanism than the primary brakes in case of a total primary brake failure. </a:t>
            </a:r>
          </a:p>
          <a:p>
            <a:pPr marL="0" indent="0" algn="just">
              <a:buNone/>
            </a:pPr>
            <a:r>
              <a:rPr lang="en-US" sz="2800" dirty="0"/>
              <a:t>Most cars use a cable to actuate the emergency hand brake. </a:t>
            </a:r>
          </a:p>
          <a:p>
            <a:endParaRPr lang="en-TZ" dirty="0"/>
          </a:p>
        </p:txBody>
      </p:sp>
    </p:spTree>
    <p:extLst>
      <p:ext uri="{BB962C8B-B14F-4D97-AF65-F5344CB8AC3E}">
        <p14:creationId xmlns:p14="http://schemas.microsoft.com/office/powerpoint/2010/main" val="36637501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2F141-4862-45A1-AD83-7C2341F5A9E2}"/>
              </a:ext>
            </a:extLst>
          </p:cNvPr>
          <p:cNvSpPr>
            <a:spLocks noGrp="1"/>
          </p:cNvSpPr>
          <p:nvPr>
            <p:ph type="title"/>
          </p:nvPr>
        </p:nvSpPr>
        <p:spPr/>
        <p:txBody>
          <a:bodyPr>
            <a:normAutofit/>
          </a:bodyPr>
          <a:lstStyle/>
          <a:p>
            <a:r>
              <a:rPr lang="en-US" b="1" dirty="0"/>
              <a:t>Servicing Disc Brakes </a:t>
            </a:r>
            <a:endParaRPr lang="en-TZ" dirty="0"/>
          </a:p>
        </p:txBody>
      </p:sp>
      <p:sp>
        <p:nvSpPr>
          <p:cNvPr id="3" name="Content Placeholder 2">
            <a:extLst>
              <a:ext uri="{FF2B5EF4-FFF2-40B4-BE49-F238E27FC236}">
                <a16:creationId xmlns:a16="http://schemas.microsoft.com/office/drawing/2014/main" id="{B8C95B08-0C8E-4D8A-8EE0-E7C2888F0B86}"/>
              </a:ext>
            </a:extLst>
          </p:cNvPr>
          <p:cNvSpPr>
            <a:spLocks noGrp="1"/>
          </p:cNvSpPr>
          <p:nvPr>
            <p:ph idx="1"/>
          </p:nvPr>
        </p:nvSpPr>
        <p:spPr/>
        <p:txBody>
          <a:bodyPr/>
          <a:lstStyle/>
          <a:p>
            <a:pPr marL="0" indent="0" algn="just">
              <a:buNone/>
            </a:pPr>
            <a:r>
              <a:rPr lang="en-US" sz="2800" dirty="0"/>
              <a:t>The most common type of service required for brakes is changing the pads. Brake pads usually have a piece of metal on them called a </a:t>
            </a:r>
            <a:r>
              <a:rPr lang="en-US" sz="2800" b="1" dirty="0">
                <a:solidFill>
                  <a:srgbClr val="FF0000"/>
                </a:solidFill>
              </a:rPr>
              <a:t>wear indicator </a:t>
            </a:r>
          </a:p>
          <a:p>
            <a:pPr marL="0" indent="0" algn="just">
              <a:buNone/>
            </a:pPr>
            <a:r>
              <a:rPr lang="en-US" sz="2800" dirty="0"/>
              <a:t>When enough of the friction material is worn away, the wear indicator will contact the disc and make a squealing sound. </a:t>
            </a:r>
          </a:p>
          <a:p>
            <a:pPr marL="0" indent="0" algn="just">
              <a:buNone/>
            </a:pPr>
            <a:r>
              <a:rPr lang="en-US" sz="2800" dirty="0"/>
              <a:t>This means it is time for new brake pads. </a:t>
            </a:r>
          </a:p>
          <a:p>
            <a:endParaRPr lang="en-TZ" dirty="0"/>
          </a:p>
        </p:txBody>
      </p:sp>
    </p:spTree>
    <p:extLst>
      <p:ext uri="{BB962C8B-B14F-4D97-AF65-F5344CB8AC3E}">
        <p14:creationId xmlns:p14="http://schemas.microsoft.com/office/powerpoint/2010/main" val="31420375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64024" y="0"/>
            <a:ext cx="11341289" cy="6858000"/>
          </a:xfrm>
          <a:prstGeom prst="rect">
            <a:avLst/>
          </a:prstGeom>
        </p:spPr>
      </p:pic>
    </p:spTree>
    <p:extLst>
      <p:ext uri="{BB962C8B-B14F-4D97-AF65-F5344CB8AC3E}">
        <p14:creationId xmlns:p14="http://schemas.microsoft.com/office/powerpoint/2010/main" val="14940865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E090F-3342-4E9F-BBD8-21DE4782E05C}"/>
              </a:ext>
            </a:extLst>
          </p:cNvPr>
          <p:cNvSpPr>
            <a:spLocks noGrp="1"/>
          </p:cNvSpPr>
          <p:nvPr>
            <p:ph type="title"/>
          </p:nvPr>
        </p:nvSpPr>
        <p:spPr/>
        <p:txBody>
          <a:bodyPr/>
          <a:lstStyle/>
          <a:p>
            <a:r>
              <a:rPr lang="en-US" b="1" dirty="0"/>
              <a:t>Servicing Disc Brakes </a:t>
            </a:r>
            <a:endParaRPr lang="en-TZ" dirty="0"/>
          </a:p>
        </p:txBody>
      </p:sp>
      <p:sp>
        <p:nvSpPr>
          <p:cNvPr id="3" name="Content Placeholder 2">
            <a:extLst>
              <a:ext uri="{FF2B5EF4-FFF2-40B4-BE49-F238E27FC236}">
                <a16:creationId xmlns:a16="http://schemas.microsoft.com/office/drawing/2014/main" id="{7EAD6AB9-994E-473F-B06D-61F0207E31BB}"/>
              </a:ext>
            </a:extLst>
          </p:cNvPr>
          <p:cNvSpPr>
            <a:spLocks noGrp="1"/>
          </p:cNvSpPr>
          <p:nvPr>
            <p:ph idx="1"/>
          </p:nvPr>
        </p:nvSpPr>
        <p:spPr>
          <a:xfrm>
            <a:off x="1295401" y="2556932"/>
            <a:ext cx="9601196" cy="3639152"/>
          </a:xfrm>
        </p:spPr>
        <p:txBody>
          <a:bodyPr>
            <a:normAutofit fontScale="92500" lnSpcReduction="10000"/>
          </a:bodyPr>
          <a:lstStyle/>
          <a:p>
            <a:pPr marL="0" indent="0" algn="just">
              <a:buNone/>
            </a:pPr>
            <a:r>
              <a:rPr lang="en-US" dirty="0"/>
              <a:t>There is also an inspection opening in the caliper so you can see how much friction material is left on your brake pads. Sometimes, deep scores get worn into brake rotors. </a:t>
            </a:r>
          </a:p>
          <a:p>
            <a:pPr marL="0" indent="0" algn="just">
              <a:buNone/>
            </a:pPr>
            <a:r>
              <a:rPr lang="en-US" dirty="0"/>
              <a:t>This can happen if a worn-out brake pad is left on the car for too long. </a:t>
            </a:r>
          </a:p>
          <a:p>
            <a:pPr marL="0" indent="0" algn="just">
              <a:buNone/>
            </a:pPr>
            <a:r>
              <a:rPr lang="en-US" dirty="0"/>
              <a:t>Brake rotors can also warp; that is, lose their flatness. </a:t>
            </a:r>
          </a:p>
          <a:p>
            <a:pPr marL="0" indent="0" algn="just">
              <a:buNone/>
            </a:pPr>
            <a:r>
              <a:rPr lang="en-US" dirty="0"/>
              <a:t>If this happens, the brakes may shudder or vibrate when you stop. </a:t>
            </a:r>
          </a:p>
          <a:p>
            <a:pPr marL="0" indent="0" algn="just">
              <a:buNone/>
            </a:pPr>
            <a:r>
              <a:rPr lang="en-US" dirty="0"/>
              <a:t>Both of these problems can sometimes be fixed by refinishing (also called turning or machining) the rotors. </a:t>
            </a:r>
          </a:p>
          <a:p>
            <a:pPr marL="0" indent="0" algn="just">
              <a:buNone/>
            </a:pPr>
            <a:r>
              <a:rPr lang="en-US" dirty="0"/>
              <a:t>Some material is removed from both sides of the rotors to restore the flat, smooth surface. </a:t>
            </a:r>
          </a:p>
          <a:p>
            <a:endParaRPr lang="en-TZ" dirty="0"/>
          </a:p>
        </p:txBody>
      </p:sp>
    </p:spTree>
    <p:extLst>
      <p:ext uri="{BB962C8B-B14F-4D97-AF65-F5344CB8AC3E}">
        <p14:creationId xmlns:p14="http://schemas.microsoft.com/office/powerpoint/2010/main" val="3641828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6B94-8E4E-45E9-AB20-09F358D000D8}"/>
              </a:ext>
            </a:extLst>
          </p:cNvPr>
          <p:cNvSpPr>
            <a:spLocks noGrp="1"/>
          </p:cNvSpPr>
          <p:nvPr>
            <p:ph type="title"/>
          </p:nvPr>
        </p:nvSpPr>
        <p:spPr/>
        <p:txBody>
          <a:bodyPr/>
          <a:lstStyle/>
          <a:p>
            <a:r>
              <a:rPr lang="en-US" b="1" dirty="0"/>
              <a:t>Servicing Disc Brakes </a:t>
            </a:r>
            <a:endParaRPr lang="en-TZ" dirty="0"/>
          </a:p>
        </p:txBody>
      </p:sp>
      <p:sp>
        <p:nvSpPr>
          <p:cNvPr id="3" name="Content Placeholder 2">
            <a:extLst>
              <a:ext uri="{FF2B5EF4-FFF2-40B4-BE49-F238E27FC236}">
                <a16:creationId xmlns:a16="http://schemas.microsoft.com/office/drawing/2014/main" id="{026EDEDC-CC46-4F7D-8647-7A7A766E1C5B}"/>
              </a:ext>
            </a:extLst>
          </p:cNvPr>
          <p:cNvSpPr>
            <a:spLocks noGrp="1"/>
          </p:cNvSpPr>
          <p:nvPr>
            <p:ph idx="1"/>
          </p:nvPr>
        </p:nvSpPr>
        <p:spPr>
          <a:xfrm>
            <a:off x="1295401" y="2556931"/>
            <a:ext cx="9601196" cy="3693743"/>
          </a:xfrm>
        </p:spPr>
        <p:txBody>
          <a:bodyPr>
            <a:normAutofit/>
          </a:bodyPr>
          <a:lstStyle/>
          <a:p>
            <a:pPr marL="0" indent="0">
              <a:buNone/>
            </a:pPr>
            <a:r>
              <a:rPr lang="en-US" dirty="0"/>
              <a:t>Refinishing is not required every time your brake pads are replaced. </a:t>
            </a:r>
          </a:p>
          <a:p>
            <a:pPr marL="0" indent="0">
              <a:buNone/>
            </a:pPr>
            <a:r>
              <a:rPr lang="en-US" dirty="0"/>
              <a:t>You need it only if they are warped or badly scored. </a:t>
            </a:r>
          </a:p>
          <a:p>
            <a:pPr marL="0" indent="0">
              <a:buNone/>
            </a:pPr>
            <a:r>
              <a:rPr lang="en-US" dirty="0"/>
              <a:t>In fact, refinishing the rotors more often than is necessary will reduce their life. Because the process removes material, brake rotors get thinner every time they are refinished. </a:t>
            </a:r>
          </a:p>
          <a:p>
            <a:pPr marL="0" indent="0">
              <a:buNone/>
            </a:pPr>
            <a:r>
              <a:rPr lang="en-US" dirty="0"/>
              <a:t>All brake rotors have a specification for the minimum allowable thickness before they need to be replaced. </a:t>
            </a:r>
          </a:p>
          <a:p>
            <a:pPr marL="0" indent="0">
              <a:buNone/>
            </a:pPr>
            <a:r>
              <a:rPr lang="en-US" dirty="0"/>
              <a:t>This specification can be found in the manufacturer’s manual for each vehicle. </a:t>
            </a:r>
          </a:p>
          <a:p>
            <a:endParaRPr lang="en-TZ" dirty="0"/>
          </a:p>
        </p:txBody>
      </p:sp>
    </p:spTree>
    <p:extLst>
      <p:ext uri="{BB962C8B-B14F-4D97-AF65-F5344CB8AC3E}">
        <p14:creationId xmlns:p14="http://schemas.microsoft.com/office/powerpoint/2010/main" val="24422333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88457-16C2-416B-8F6C-2FEE59F95EE5}"/>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604A2D3A-7DAC-4607-9801-2F6A332484D1}"/>
              </a:ext>
            </a:extLst>
          </p:cNvPr>
          <p:cNvSpPr>
            <a:spLocks noGrp="1"/>
          </p:cNvSpPr>
          <p:nvPr>
            <p:ph idx="1"/>
          </p:nvPr>
        </p:nvSpPr>
        <p:spPr/>
        <p:txBody>
          <a:bodyPr/>
          <a:lstStyle/>
          <a:p>
            <a:pPr marL="0" indent="0">
              <a:buNone/>
            </a:pPr>
            <a:r>
              <a:rPr lang="en-US" b="1" dirty="0"/>
              <a:t>B. Drum Brakes</a:t>
            </a:r>
          </a:p>
          <a:p>
            <a:pPr marL="0" indent="0" algn="just">
              <a:buNone/>
            </a:pPr>
            <a:r>
              <a:rPr lang="en-US" dirty="0"/>
              <a:t>Drum brakes are a brake system with brake drums which rotate with the wheels. </a:t>
            </a:r>
          </a:p>
          <a:p>
            <a:pPr marL="0" indent="0" algn="just">
              <a:buNone/>
            </a:pPr>
            <a:r>
              <a:rPr lang="en-US" dirty="0"/>
              <a:t>Inside each drum are brake shoes fitted with brake linings (friction material). Pistons (pressure mechanism) press against the drums from the inside to generate braking force, thus making is possible to decelerate and stop the vehicle. </a:t>
            </a:r>
          </a:p>
          <a:p>
            <a:endParaRPr lang="en-TZ" dirty="0"/>
          </a:p>
        </p:txBody>
      </p:sp>
    </p:spTree>
    <p:extLst>
      <p:ext uri="{BB962C8B-B14F-4D97-AF65-F5344CB8AC3E}">
        <p14:creationId xmlns:p14="http://schemas.microsoft.com/office/powerpoint/2010/main" val="7934945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14400" y="748145"/>
            <a:ext cx="10640291" cy="5527963"/>
          </a:xfrm>
          <a:prstGeom prst="rect">
            <a:avLst/>
          </a:prstGeom>
        </p:spPr>
      </p:pic>
    </p:spTree>
    <p:extLst>
      <p:ext uri="{BB962C8B-B14F-4D97-AF65-F5344CB8AC3E}">
        <p14:creationId xmlns:p14="http://schemas.microsoft.com/office/powerpoint/2010/main" val="25504444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18DD5-0EB2-4BEE-A6AF-1D947E5E9F14}"/>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1A57E5E8-F1A9-4484-9A08-2078507BE1F0}"/>
              </a:ext>
            </a:extLst>
          </p:cNvPr>
          <p:cNvSpPr>
            <a:spLocks noGrp="1"/>
          </p:cNvSpPr>
          <p:nvPr>
            <p:ph idx="1"/>
          </p:nvPr>
        </p:nvSpPr>
        <p:spPr/>
        <p:txBody>
          <a:bodyPr/>
          <a:lstStyle/>
          <a:p>
            <a:pPr marL="0" indent="0">
              <a:buNone/>
            </a:pPr>
            <a:r>
              <a:rPr lang="en-US" dirty="0"/>
              <a:t>There are three types of drum brakes depending on how the brake shoes are pressed on to the drums</a:t>
            </a:r>
          </a:p>
          <a:p>
            <a:pPr marL="514350" indent="-514350">
              <a:buAutoNum type="alphaLcPeriod"/>
            </a:pPr>
            <a:r>
              <a:rPr lang="en-US" dirty="0"/>
              <a:t>Leading and trailing shoes</a:t>
            </a:r>
          </a:p>
          <a:p>
            <a:pPr marL="514350" indent="-514350">
              <a:buAutoNum type="alphaLcPeriod"/>
            </a:pPr>
            <a:r>
              <a:rPr lang="en-US" dirty="0"/>
              <a:t>Twin leading shoes</a:t>
            </a:r>
          </a:p>
          <a:p>
            <a:pPr marL="514350" indent="-514350">
              <a:buAutoNum type="alphaLcPeriod"/>
            </a:pPr>
            <a:r>
              <a:rPr lang="en-US" dirty="0"/>
              <a:t>Duo-servo</a:t>
            </a:r>
          </a:p>
          <a:p>
            <a:endParaRPr lang="en-TZ" dirty="0"/>
          </a:p>
        </p:txBody>
      </p:sp>
    </p:spTree>
    <p:extLst>
      <p:ext uri="{BB962C8B-B14F-4D97-AF65-F5344CB8AC3E}">
        <p14:creationId xmlns:p14="http://schemas.microsoft.com/office/powerpoint/2010/main" val="19252678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AAC7F-9BBB-40F7-8F88-75A12A8F284C}"/>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9EE827F7-6C87-4947-A165-349FD46F051C}"/>
              </a:ext>
            </a:extLst>
          </p:cNvPr>
          <p:cNvSpPr>
            <a:spLocks noGrp="1"/>
          </p:cNvSpPr>
          <p:nvPr>
            <p:ph idx="1"/>
          </p:nvPr>
        </p:nvSpPr>
        <p:spPr>
          <a:xfrm>
            <a:off x="1295401" y="2556932"/>
            <a:ext cx="9601196" cy="3707390"/>
          </a:xfrm>
        </p:spPr>
        <p:txBody>
          <a:bodyPr>
            <a:normAutofit fontScale="92500" lnSpcReduction="20000"/>
          </a:bodyPr>
          <a:lstStyle/>
          <a:p>
            <a:pPr marL="0" indent="0">
              <a:buNone/>
            </a:pPr>
            <a:r>
              <a:rPr lang="en-US" sz="2600" b="1" dirty="0"/>
              <a:t>a. Leading and trailing shoes</a:t>
            </a:r>
          </a:p>
          <a:p>
            <a:pPr marL="0" indent="0" algn="just">
              <a:buNone/>
            </a:pPr>
            <a:r>
              <a:rPr lang="en-US" sz="2600" dirty="0"/>
              <a:t>Leading (or primary) shoe" is a term referring to the shoe that moves in the direction of rotation when it is being pressed against the drum. </a:t>
            </a:r>
          </a:p>
          <a:p>
            <a:pPr marL="0" indent="0" algn="just">
              <a:buNone/>
            </a:pPr>
            <a:r>
              <a:rPr lang="en-US" sz="2600" dirty="0"/>
              <a:t>The other shoe is called the “trailing (secondary) shoe.” </a:t>
            </a:r>
          </a:p>
          <a:p>
            <a:pPr marL="0" indent="0" algn="just">
              <a:buNone/>
            </a:pPr>
            <a:r>
              <a:rPr lang="en-US" sz="2600" dirty="0"/>
              <a:t>The leading shoe is pressed in the same direction as the rotation of the drums, and this rotation helps to press the shoes against the drum with greater pressure for stronger braking force. </a:t>
            </a:r>
          </a:p>
          <a:p>
            <a:pPr marL="0" indent="0" algn="just">
              <a:buNone/>
            </a:pPr>
            <a:r>
              <a:rPr lang="en-US" sz="2600" dirty="0"/>
              <a:t>This is called the servo effect (self-boosting effect) which realizes the powerful braking forces of drum brakes.</a:t>
            </a:r>
          </a:p>
          <a:p>
            <a:endParaRPr lang="en-TZ" dirty="0"/>
          </a:p>
        </p:txBody>
      </p:sp>
    </p:spTree>
    <p:extLst>
      <p:ext uri="{BB962C8B-B14F-4D97-AF65-F5344CB8AC3E}">
        <p14:creationId xmlns:p14="http://schemas.microsoft.com/office/powerpoint/2010/main" val="20167733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DBD29-A107-41D7-8C71-BEB7A44A44D4}"/>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A590E366-27DE-41C8-A755-1BCAB8CDF014}"/>
              </a:ext>
            </a:extLst>
          </p:cNvPr>
          <p:cNvSpPr>
            <a:spLocks noGrp="1"/>
          </p:cNvSpPr>
          <p:nvPr>
            <p:ph idx="1"/>
          </p:nvPr>
        </p:nvSpPr>
        <p:spPr/>
        <p:txBody>
          <a:bodyPr>
            <a:normAutofit fontScale="92500" lnSpcReduction="20000"/>
          </a:bodyPr>
          <a:lstStyle/>
          <a:p>
            <a:pPr marL="0" indent="0" algn="just">
              <a:buNone/>
            </a:pPr>
            <a:r>
              <a:rPr lang="en-US" b="1" dirty="0"/>
              <a:t>a. Leading and trailing shoes </a:t>
            </a:r>
            <a:r>
              <a:rPr lang="en-US" b="1" dirty="0">
                <a:solidFill>
                  <a:srgbClr val="0070C0"/>
                </a:solidFill>
              </a:rPr>
              <a:t>Cont..</a:t>
            </a:r>
          </a:p>
          <a:p>
            <a:pPr marL="0" indent="0" algn="just">
              <a:buNone/>
            </a:pPr>
            <a:r>
              <a:rPr lang="en-US" dirty="0"/>
              <a:t>Structurally, it has a wheel cylinder(double acting) housing a piston with which hydraulic pressure is generated to push the two shoes against the drum’s inner surface.</a:t>
            </a:r>
          </a:p>
          <a:p>
            <a:pPr marL="0" indent="0" algn="just">
              <a:buNone/>
            </a:pPr>
            <a:r>
              <a:rPr lang="en-US" dirty="0"/>
              <a:t>The two shoes function in a way they both become either the trailing shoe or leading shoe depending on whether the vehicle is travelling forward or backward. </a:t>
            </a:r>
          </a:p>
          <a:p>
            <a:pPr marL="0" indent="0" algn="just">
              <a:buNone/>
            </a:pPr>
            <a:r>
              <a:rPr lang="en-US" dirty="0"/>
              <a:t>Drum brakes generate consistent braking force whether the vehicle travels forward or backward. </a:t>
            </a:r>
          </a:p>
          <a:p>
            <a:pPr marL="0" indent="0" algn="just">
              <a:buNone/>
            </a:pPr>
            <a:r>
              <a:rPr lang="en-US" dirty="0"/>
              <a:t>This is because drum brakes generate the same braking force in either direction. </a:t>
            </a:r>
          </a:p>
          <a:p>
            <a:pPr marL="0" indent="0" algn="just">
              <a:buNone/>
            </a:pPr>
            <a:r>
              <a:rPr lang="en-US" dirty="0"/>
              <a:t>Generally, this type is used for the rear brakes of passenger cars.</a:t>
            </a:r>
          </a:p>
          <a:p>
            <a:endParaRPr lang="en-TZ" dirty="0"/>
          </a:p>
        </p:txBody>
      </p:sp>
    </p:spTree>
    <p:extLst>
      <p:ext uri="{BB962C8B-B14F-4D97-AF65-F5344CB8AC3E}">
        <p14:creationId xmlns:p14="http://schemas.microsoft.com/office/powerpoint/2010/main" val="36060432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dual twin leading shoe typ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9771" y="207819"/>
            <a:ext cx="8326868" cy="6442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8137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17714" y="159657"/>
            <a:ext cx="11814629" cy="6574972"/>
          </a:xfrm>
          <a:prstGeom prst="rect">
            <a:avLst/>
          </a:prstGeom>
        </p:spPr>
      </p:pic>
    </p:spTree>
    <p:extLst>
      <p:ext uri="{BB962C8B-B14F-4D97-AF65-F5344CB8AC3E}">
        <p14:creationId xmlns:p14="http://schemas.microsoft.com/office/powerpoint/2010/main" val="4449879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C2B99-55E4-4A66-AEC2-4DE04CAB79E2}"/>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4CD5AC55-FBF5-4D8D-86D4-805B50BEC56C}"/>
              </a:ext>
            </a:extLst>
          </p:cNvPr>
          <p:cNvSpPr>
            <a:spLocks noGrp="1"/>
          </p:cNvSpPr>
          <p:nvPr>
            <p:ph idx="1"/>
          </p:nvPr>
        </p:nvSpPr>
        <p:spPr>
          <a:xfrm>
            <a:off x="1295401" y="2556932"/>
            <a:ext cx="9601196" cy="3625504"/>
          </a:xfrm>
        </p:spPr>
        <p:txBody>
          <a:bodyPr>
            <a:normAutofit/>
          </a:bodyPr>
          <a:lstStyle/>
          <a:p>
            <a:pPr marL="0" indent="0">
              <a:buNone/>
            </a:pPr>
            <a:r>
              <a:rPr lang="en-US" b="1" dirty="0"/>
              <a:t>b. Twin/two leading shoes</a:t>
            </a:r>
          </a:p>
          <a:p>
            <a:pPr marL="0" indent="0" algn="just">
              <a:buNone/>
            </a:pPr>
            <a:r>
              <a:rPr lang="en-US" dirty="0"/>
              <a:t>This type of drum brake has two-wheel cylinders and two leading shoes. </a:t>
            </a:r>
          </a:p>
          <a:p>
            <a:pPr marL="0" indent="0" algn="just">
              <a:buNone/>
            </a:pPr>
            <a:r>
              <a:rPr lang="en-US" dirty="0"/>
              <a:t>Each wheel cylinder presses on one shoe, so that both shoes act as leading ones when the vehicle moves forward, providing superior braking force.</a:t>
            </a:r>
          </a:p>
          <a:p>
            <a:pPr marL="0" indent="0" algn="just">
              <a:buNone/>
            </a:pPr>
            <a:r>
              <a:rPr lang="en-US" dirty="0"/>
              <a:t>Each of the pistons housed in the wheel cylinders displace in one direction, so when the vehicle is in reverse both shoes act as trailing ones. </a:t>
            </a:r>
          </a:p>
          <a:p>
            <a:pPr marL="0" indent="0" algn="just">
              <a:buNone/>
            </a:pPr>
            <a:r>
              <a:rPr lang="en-US" dirty="0"/>
              <a:t>This type is used mainly for the front brakes of small-to-mid-sized trucks</a:t>
            </a:r>
          </a:p>
          <a:p>
            <a:endParaRPr lang="en-TZ" dirty="0"/>
          </a:p>
        </p:txBody>
      </p:sp>
    </p:spTree>
    <p:extLst>
      <p:ext uri="{BB962C8B-B14F-4D97-AF65-F5344CB8AC3E}">
        <p14:creationId xmlns:p14="http://schemas.microsoft.com/office/powerpoint/2010/main" val="40969923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Image result for Twin/two leading sho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46514" y="0"/>
            <a:ext cx="818605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1283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BCDD0-613F-45D9-AC3E-764657FDAEAC}"/>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FCB93EF1-7515-4DB9-8504-8AF5080D37B2}"/>
              </a:ext>
            </a:extLst>
          </p:cNvPr>
          <p:cNvSpPr>
            <a:spLocks noGrp="1"/>
          </p:cNvSpPr>
          <p:nvPr>
            <p:ph idx="1"/>
          </p:nvPr>
        </p:nvSpPr>
        <p:spPr>
          <a:xfrm>
            <a:off x="1295401" y="2556931"/>
            <a:ext cx="9601196" cy="3680095"/>
          </a:xfrm>
        </p:spPr>
        <p:txBody>
          <a:bodyPr>
            <a:normAutofit fontScale="92500" lnSpcReduction="10000"/>
          </a:bodyPr>
          <a:lstStyle/>
          <a:p>
            <a:pPr marL="0" indent="0">
              <a:buNone/>
            </a:pPr>
            <a:r>
              <a:rPr lang="en-US" sz="2600" b="1" dirty="0"/>
              <a:t>c. Duo Servo</a:t>
            </a:r>
          </a:p>
          <a:p>
            <a:pPr marL="0" indent="0" algn="just">
              <a:buNone/>
            </a:pPr>
            <a:r>
              <a:rPr lang="en-US" sz="2600" dirty="0"/>
              <a:t>Duo-servo drum brake systems have a pair of brake shoes called the primary shoe and secondary shoe linked by a hydraulic wheel cylinder near the top and linked by an adjuster at the bottom. </a:t>
            </a:r>
          </a:p>
          <a:p>
            <a:pPr marL="0" indent="0" algn="just">
              <a:buNone/>
            </a:pPr>
            <a:r>
              <a:rPr lang="en-US" sz="2600" dirty="0"/>
              <a:t>Strong pressure from the servo effect (self-boosting effect) of the primary shoe is transmitted to the linked secondary shoe, thus generated a very large braking force.</a:t>
            </a:r>
          </a:p>
          <a:p>
            <a:pPr marL="0" indent="0" algn="just">
              <a:buNone/>
            </a:pPr>
            <a:r>
              <a:rPr lang="en-US" sz="2600" dirty="0"/>
              <a:t>The uppermost ends of the shoes rest against an anchor pin above the wheel cylinder.</a:t>
            </a:r>
          </a:p>
          <a:p>
            <a:endParaRPr lang="en-TZ" dirty="0"/>
          </a:p>
        </p:txBody>
      </p:sp>
    </p:spTree>
    <p:extLst>
      <p:ext uri="{BB962C8B-B14F-4D97-AF65-F5344CB8AC3E}">
        <p14:creationId xmlns:p14="http://schemas.microsoft.com/office/powerpoint/2010/main" val="11523041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assets.hemmings.com/blog/wp-content/uploads/2018/08/480191.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399" y="0"/>
            <a:ext cx="8643257" cy="6734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3121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0BA77-A4CD-449B-96FA-12AC4989A156}"/>
              </a:ext>
            </a:extLst>
          </p:cNvPr>
          <p:cNvSpPr>
            <a:spLocks noGrp="1"/>
          </p:cNvSpPr>
          <p:nvPr>
            <p:ph type="title"/>
          </p:nvPr>
        </p:nvSpPr>
        <p:spPr/>
        <p:txBody>
          <a:bodyPr/>
          <a:lstStyle/>
          <a:p>
            <a:r>
              <a:rPr lang="en-US" sz="4400" b="1" dirty="0"/>
              <a:t>Components of Hydraulic Brakes</a:t>
            </a:r>
            <a:endParaRPr lang="en-TZ" dirty="0"/>
          </a:p>
        </p:txBody>
      </p:sp>
      <p:sp>
        <p:nvSpPr>
          <p:cNvPr id="3" name="Content Placeholder 2">
            <a:extLst>
              <a:ext uri="{FF2B5EF4-FFF2-40B4-BE49-F238E27FC236}">
                <a16:creationId xmlns:a16="http://schemas.microsoft.com/office/drawing/2014/main" id="{4E3CA367-9F55-4F14-B2F3-F51ABA5070DA}"/>
              </a:ext>
            </a:extLst>
          </p:cNvPr>
          <p:cNvSpPr>
            <a:spLocks noGrp="1"/>
          </p:cNvSpPr>
          <p:nvPr>
            <p:ph idx="1"/>
          </p:nvPr>
        </p:nvSpPr>
        <p:spPr/>
        <p:txBody>
          <a:bodyPr>
            <a:normAutofit fontScale="92500" lnSpcReduction="20000"/>
          </a:bodyPr>
          <a:lstStyle/>
          <a:p>
            <a:r>
              <a:rPr lang="en-US" b="1" dirty="0"/>
              <a:t>The Emergency Hand Brake in Drum Brake</a:t>
            </a:r>
          </a:p>
          <a:p>
            <a:pPr marL="0" indent="0" algn="just">
              <a:buNone/>
            </a:pPr>
            <a:r>
              <a:rPr lang="en-US" dirty="0"/>
              <a:t>The emergency hand brake on a car has to be actuated by a different power source than the primary braking system. </a:t>
            </a:r>
          </a:p>
          <a:p>
            <a:pPr marL="0" indent="0" algn="just">
              <a:buNone/>
            </a:pPr>
            <a:r>
              <a:rPr lang="en-US" dirty="0"/>
              <a:t>The drum brake design allows for a simple cable actuation mechanism. </a:t>
            </a:r>
          </a:p>
          <a:p>
            <a:pPr marL="0" indent="0" algn="just">
              <a:buNone/>
            </a:pPr>
            <a:r>
              <a:rPr lang="en-US" dirty="0"/>
              <a:t>When the emergency brake is actuated, a cable pulls on the lever, which forces the two shoes apart </a:t>
            </a:r>
            <a:r>
              <a:rPr lang="en-US" b="1" dirty="0"/>
              <a:t> </a:t>
            </a:r>
            <a:endParaRPr lang="en-US" dirty="0"/>
          </a:p>
          <a:p>
            <a:pPr marL="0" indent="0">
              <a:buNone/>
            </a:pPr>
            <a:r>
              <a:rPr lang="en-US" b="1" dirty="0"/>
              <a:t>NOTE</a:t>
            </a:r>
          </a:p>
          <a:p>
            <a:pPr marL="0" indent="0">
              <a:buNone/>
            </a:pPr>
            <a:r>
              <a:rPr lang="en-US" dirty="0"/>
              <a:t>Other vehicle the parking brake mechanism is placed in propeller shaft due to length of the vehicle</a:t>
            </a:r>
          </a:p>
          <a:p>
            <a:endParaRPr lang="en-TZ" dirty="0"/>
          </a:p>
        </p:txBody>
      </p:sp>
    </p:spTree>
    <p:extLst>
      <p:ext uri="{BB962C8B-B14F-4D97-AF65-F5344CB8AC3E}">
        <p14:creationId xmlns:p14="http://schemas.microsoft.com/office/powerpoint/2010/main" val="33763071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35429" y="119744"/>
            <a:ext cx="7373259" cy="6382656"/>
          </a:xfrm>
          <a:prstGeom prst="rect">
            <a:avLst/>
          </a:prstGeom>
        </p:spPr>
      </p:pic>
      <p:pic>
        <p:nvPicPr>
          <p:cNvPr id="1026" name="Picture 2" descr="The limitations and dangers of Cardan Shaft Parking Brakes - Issuu">
            <a:extLst>
              <a:ext uri="{FF2B5EF4-FFF2-40B4-BE49-F238E27FC236}">
                <a16:creationId xmlns:a16="http://schemas.microsoft.com/office/drawing/2014/main" id="{55C7D16E-9E1B-4C18-9588-038C693680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9143" y="119744"/>
            <a:ext cx="6079673" cy="6382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21723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1F5D7-E902-421A-89D5-1F8568E140C0}"/>
              </a:ext>
            </a:extLst>
          </p:cNvPr>
          <p:cNvSpPr>
            <a:spLocks noGrp="1"/>
          </p:cNvSpPr>
          <p:nvPr>
            <p:ph type="title"/>
          </p:nvPr>
        </p:nvSpPr>
        <p:spPr/>
        <p:txBody>
          <a:bodyPr>
            <a:normAutofit/>
          </a:bodyPr>
          <a:lstStyle/>
          <a:p>
            <a:r>
              <a:rPr lang="en-US" b="1" dirty="0"/>
              <a:t>Servicing Drum Brake</a:t>
            </a:r>
            <a:endParaRPr lang="en-TZ" dirty="0"/>
          </a:p>
        </p:txBody>
      </p:sp>
      <p:sp>
        <p:nvSpPr>
          <p:cNvPr id="3" name="Content Placeholder 2">
            <a:extLst>
              <a:ext uri="{FF2B5EF4-FFF2-40B4-BE49-F238E27FC236}">
                <a16:creationId xmlns:a16="http://schemas.microsoft.com/office/drawing/2014/main" id="{F2343DCE-C121-483E-9287-47E68960AA7C}"/>
              </a:ext>
            </a:extLst>
          </p:cNvPr>
          <p:cNvSpPr>
            <a:spLocks noGrp="1"/>
          </p:cNvSpPr>
          <p:nvPr>
            <p:ph idx="1"/>
          </p:nvPr>
        </p:nvSpPr>
        <p:spPr/>
        <p:txBody>
          <a:bodyPr>
            <a:normAutofit/>
          </a:bodyPr>
          <a:lstStyle/>
          <a:p>
            <a:pPr marL="0" indent="0" algn="just">
              <a:buNone/>
            </a:pPr>
            <a:r>
              <a:rPr lang="en-US" dirty="0"/>
              <a:t>The most common service required for drum brakes is </a:t>
            </a:r>
            <a:r>
              <a:rPr lang="en-US" b="1" dirty="0"/>
              <a:t>adjusting and changing the brake shoes. </a:t>
            </a:r>
          </a:p>
          <a:p>
            <a:pPr marL="0" indent="0" algn="just">
              <a:buNone/>
            </a:pPr>
            <a:r>
              <a:rPr lang="en-US" dirty="0"/>
              <a:t>Some drum brakes provide an inspection hole on the back side, where you can see how much material is left on the shoe. </a:t>
            </a:r>
          </a:p>
          <a:p>
            <a:pPr marL="0" indent="0" algn="just">
              <a:buNone/>
            </a:pPr>
            <a:r>
              <a:rPr lang="en-US" dirty="0"/>
              <a:t>Brake shoes should be replaced when the friction material has worn</a:t>
            </a:r>
          </a:p>
          <a:p>
            <a:pPr marL="0" indent="0" algn="just">
              <a:buNone/>
            </a:pPr>
            <a:r>
              <a:rPr lang="en-US" dirty="0"/>
              <a:t>If the friction material is bonded (no rivets), then the shoes should be replaced when they have only 1.6 mm of material left. </a:t>
            </a:r>
          </a:p>
          <a:p>
            <a:endParaRPr lang="en-TZ" dirty="0"/>
          </a:p>
        </p:txBody>
      </p:sp>
    </p:spTree>
    <p:extLst>
      <p:ext uri="{BB962C8B-B14F-4D97-AF65-F5344CB8AC3E}">
        <p14:creationId xmlns:p14="http://schemas.microsoft.com/office/powerpoint/2010/main" val="30838966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3ACBA-9B0B-4486-8600-265F115632FA}"/>
              </a:ext>
            </a:extLst>
          </p:cNvPr>
          <p:cNvSpPr>
            <a:spLocks noGrp="1"/>
          </p:cNvSpPr>
          <p:nvPr>
            <p:ph type="title"/>
          </p:nvPr>
        </p:nvSpPr>
        <p:spPr/>
        <p:txBody>
          <a:bodyPr/>
          <a:lstStyle/>
          <a:p>
            <a:r>
              <a:rPr lang="en-US" b="1" dirty="0"/>
              <a:t>Servicing Drum Brake</a:t>
            </a:r>
            <a:endParaRPr lang="en-TZ" dirty="0"/>
          </a:p>
        </p:txBody>
      </p:sp>
      <p:sp>
        <p:nvSpPr>
          <p:cNvPr id="3" name="Content Placeholder 2">
            <a:extLst>
              <a:ext uri="{FF2B5EF4-FFF2-40B4-BE49-F238E27FC236}">
                <a16:creationId xmlns:a16="http://schemas.microsoft.com/office/drawing/2014/main" id="{F57FAACF-8D6C-4AFB-BB01-AA4CB9317C8C}"/>
              </a:ext>
            </a:extLst>
          </p:cNvPr>
          <p:cNvSpPr>
            <a:spLocks noGrp="1"/>
          </p:cNvSpPr>
          <p:nvPr>
            <p:ph idx="1"/>
          </p:nvPr>
        </p:nvSpPr>
        <p:spPr>
          <a:xfrm>
            <a:off x="1295401" y="2556932"/>
            <a:ext cx="9601196" cy="3639152"/>
          </a:xfrm>
        </p:spPr>
        <p:txBody>
          <a:bodyPr>
            <a:normAutofit lnSpcReduction="10000"/>
          </a:bodyPr>
          <a:lstStyle/>
          <a:p>
            <a:pPr marL="0" indent="0" algn="just">
              <a:buNone/>
            </a:pPr>
            <a:r>
              <a:rPr lang="en-US" dirty="0"/>
              <a:t>Just as in disc brakes, deep scores sometimes get worn into brake drums. </a:t>
            </a:r>
          </a:p>
          <a:p>
            <a:pPr marL="0" indent="0" algn="just">
              <a:buNone/>
            </a:pPr>
            <a:r>
              <a:rPr lang="en-US" dirty="0"/>
              <a:t>If a worn-out brake shoe is used for too long, the rivets that hold the friction material to the backing can wear grooves into the drum. </a:t>
            </a:r>
          </a:p>
          <a:p>
            <a:pPr marL="0" indent="0" algn="just">
              <a:buNone/>
            </a:pPr>
            <a:r>
              <a:rPr lang="en-US" dirty="0"/>
              <a:t>A badly scored drum can sometimes be repaired by refinishing. </a:t>
            </a:r>
          </a:p>
          <a:p>
            <a:pPr marL="0" indent="0" algn="just">
              <a:buNone/>
            </a:pPr>
            <a:r>
              <a:rPr lang="en-US" dirty="0"/>
              <a:t>Where disc brakes have a minimum allowable thickness, drum brakes have a maximum allowable diameter. </a:t>
            </a:r>
          </a:p>
          <a:p>
            <a:pPr marL="0" indent="0" algn="just">
              <a:buNone/>
            </a:pPr>
            <a:r>
              <a:rPr lang="en-US" dirty="0"/>
              <a:t>Since the contact surface is the inside of the drum, as you remove material from the drum brake the diameter gets bigger </a:t>
            </a:r>
          </a:p>
          <a:p>
            <a:endParaRPr lang="en-TZ" dirty="0"/>
          </a:p>
        </p:txBody>
      </p:sp>
    </p:spTree>
    <p:extLst>
      <p:ext uri="{BB962C8B-B14F-4D97-AF65-F5344CB8AC3E}">
        <p14:creationId xmlns:p14="http://schemas.microsoft.com/office/powerpoint/2010/main" val="38061808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61258" y="203200"/>
            <a:ext cx="11785600" cy="6328229"/>
          </a:xfrm>
          <a:prstGeom prst="rect">
            <a:avLst/>
          </a:prstGeom>
        </p:spPr>
      </p:pic>
    </p:spTree>
    <p:extLst>
      <p:ext uri="{BB962C8B-B14F-4D97-AF65-F5344CB8AC3E}">
        <p14:creationId xmlns:p14="http://schemas.microsoft.com/office/powerpoint/2010/main" val="31891342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19318-D666-4578-A235-965B0312EECB}"/>
              </a:ext>
            </a:extLst>
          </p:cNvPr>
          <p:cNvSpPr>
            <a:spLocks noGrp="1"/>
          </p:cNvSpPr>
          <p:nvPr>
            <p:ph type="title"/>
          </p:nvPr>
        </p:nvSpPr>
        <p:spPr/>
        <p:txBody>
          <a:bodyPr/>
          <a:lstStyle/>
          <a:p>
            <a:r>
              <a:rPr lang="en-US" b="1" dirty="0"/>
              <a:t>Servicing Drum Brake</a:t>
            </a:r>
            <a:endParaRPr lang="en-TZ" dirty="0"/>
          </a:p>
        </p:txBody>
      </p:sp>
      <p:sp>
        <p:nvSpPr>
          <p:cNvPr id="3" name="Content Placeholder 2">
            <a:extLst>
              <a:ext uri="{FF2B5EF4-FFF2-40B4-BE49-F238E27FC236}">
                <a16:creationId xmlns:a16="http://schemas.microsoft.com/office/drawing/2014/main" id="{FBACF254-644E-4A1A-847D-BD6043ACDF00}"/>
              </a:ext>
            </a:extLst>
          </p:cNvPr>
          <p:cNvSpPr>
            <a:spLocks noGrp="1"/>
          </p:cNvSpPr>
          <p:nvPr>
            <p:ph idx="1"/>
          </p:nvPr>
        </p:nvSpPr>
        <p:spPr/>
        <p:txBody>
          <a:bodyPr>
            <a:normAutofit lnSpcReduction="10000"/>
          </a:bodyPr>
          <a:lstStyle/>
          <a:p>
            <a:r>
              <a:rPr lang="en-US" b="1" dirty="0"/>
              <a:t>Bake bleeding </a:t>
            </a:r>
          </a:p>
          <a:p>
            <a:pPr marL="0" indent="0" algn="just">
              <a:buNone/>
            </a:pPr>
            <a:r>
              <a:rPr lang="en-US" b="1" dirty="0"/>
              <a:t>Bake bleeding </a:t>
            </a:r>
            <a:r>
              <a:rPr lang="en-US" dirty="0"/>
              <a:t>is the procedure performed on hydraulic brake system where by the brake lines are purged of any air bubbles</a:t>
            </a:r>
          </a:p>
          <a:p>
            <a:pPr marL="0" indent="0" algn="just">
              <a:buNone/>
            </a:pPr>
            <a:r>
              <a:rPr lang="en-US" dirty="0"/>
              <a:t>This is necessary because while the brake fluid is an incompressible liquid, air bubbles are compressible gas and their presence in the brake system greatly reduces the hydraulic pressure that can be developed within the system </a:t>
            </a:r>
          </a:p>
          <a:p>
            <a:pPr marL="0" indent="0" algn="just">
              <a:buNone/>
            </a:pPr>
            <a:r>
              <a:rPr lang="en-US" dirty="0"/>
              <a:t>The process is performed by forcing clean, bubbles free brake fluid through the entire system usually from master cylinder to wheel cylinders</a:t>
            </a:r>
          </a:p>
          <a:p>
            <a:endParaRPr lang="en-TZ" dirty="0"/>
          </a:p>
        </p:txBody>
      </p:sp>
    </p:spTree>
    <p:extLst>
      <p:ext uri="{BB962C8B-B14F-4D97-AF65-F5344CB8AC3E}">
        <p14:creationId xmlns:p14="http://schemas.microsoft.com/office/powerpoint/2010/main" val="32944036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3E178-833E-406F-A157-224DE53A6E21}"/>
              </a:ext>
            </a:extLst>
          </p:cNvPr>
          <p:cNvSpPr>
            <a:spLocks noGrp="1"/>
          </p:cNvSpPr>
          <p:nvPr>
            <p:ph type="title"/>
          </p:nvPr>
        </p:nvSpPr>
        <p:spPr/>
        <p:txBody>
          <a:bodyPr/>
          <a:lstStyle/>
          <a:p>
            <a:r>
              <a:rPr lang="en-US" b="1" dirty="0"/>
              <a:t>Servicing Drum Brake</a:t>
            </a:r>
            <a:endParaRPr lang="en-TZ" dirty="0"/>
          </a:p>
        </p:txBody>
      </p:sp>
      <p:sp>
        <p:nvSpPr>
          <p:cNvPr id="3" name="Content Placeholder 2">
            <a:extLst>
              <a:ext uri="{FF2B5EF4-FFF2-40B4-BE49-F238E27FC236}">
                <a16:creationId xmlns:a16="http://schemas.microsoft.com/office/drawing/2014/main" id="{4433DE5E-A24A-458F-8403-9BDE5C733BB7}"/>
              </a:ext>
            </a:extLst>
          </p:cNvPr>
          <p:cNvSpPr>
            <a:spLocks noGrp="1"/>
          </p:cNvSpPr>
          <p:nvPr>
            <p:ph idx="1"/>
          </p:nvPr>
        </p:nvSpPr>
        <p:spPr>
          <a:xfrm>
            <a:off x="1295402" y="2556931"/>
            <a:ext cx="9601196" cy="3568097"/>
          </a:xfrm>
        </p:spPr>
        <p:txBody>
          <a:bodyPr>
            <a:normAutofit fontScale="92500" lnSpcReduction="10000"/>
          </a:bodyPr>
          <a:lstStyle/>
          <a:p>
            <a:pPr marL="0" indent="0">
              <a:buNone/>
            </a:pPr>
            <a:r>
              <a:rPr lang="en-US" b="1" dirty="0"/>
              <a:t>Bake bleeding </a:t>
            </a:r>
            <a:r>
              <a:rPr lang="en-US" b="1" dirty="0">
                <a:solidFill>
                  <a:srgbClr val="0070C0"/>
                </a:solidFill>
              </a:rPr>
              <a:t>Cont..</a:t>
            </a:r>
          </a:p>
          <a:p>
            <a:pPr marL="0" indent="0">
              <a:buNone/>
            </a:pPr>
            <a:r>
              <a:rPr lang="en-US" dirty="0"/>
              <a:t>A brake bleed screw is normally mounted at the highest point on each cylinder or caliper</a:t>
            </a:r>
          </a:p>
          <a:p>
            <a:pPr marL="0" indent="0">
              <a:buNone/>
            </a:pPr>
            <a:r>
              <a:rPr lang="en-US" dirty="0"/>
              <a:t>There are various methods of brake bleeding as follows</a:t>
            </a:r>
          </a:p>
          <a:p>
            <a:r>
              <a:rPr lang="en-US" dirty="0"/>
              <a:t>The pump and hold method</a:t>
            </a:r>
          </a:p>
          <a:p>
            <a:r>
              <a:rPr lang="en-US" dirty="0"/>
              <a:t>By using vacuum pump method</a:t>
            </a:r>
          </a:p>
          <a:p>
            <a:r>
              <a:rPr lang="en-US" dirty="0"/>
              <a:t>By using pressure pump</a:t>
            </a:r>
          </a:p>
          <a:p>
            <a:r>
              <a:rPr lang="en-US" dirty="0"/>
              <a:t>Gravity</a:t>
            </a:r>
          </a:p>
          <a:p>
            <a:endParaRPr lang="en-TZ" dirty="0"/>
          </a:p>
        </p:txBody>
      </p:sp>
      <p:pic>
        <p:nvPicPr>
          <p:cNvPr id="2052" name="Picture 4" descr="Brake bleeding - Wikiwand">
            <a:extLst>
              <a:ext uri="{FF2B5EF4-FFF2-40B4-BE49-F238E27FC236}">
                <a16:creationId xmlns:a16="http://schemas.microsoft.com/office/drawing/2014/main" id="{9F7C33AF-079E-491C-A3EF-8F73BE385F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4654" y="3429000"/>
            <a:ext cx="2873829" cy="2696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50294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65E99-269F-45AE-9BF7-6658268E0D66}"/>
              </a:ext>
            </a:extLst>
          </p:cNvPr>
          <p:cNvSpPr>
            <a:spLocks noGrp="1"/>
          </p:cNvSpPr>
          <p:nvPr>
            <p:ph type="title"/>
          </p:nvPr>
        </p:nvSpPr>
        <p:spPr/>
        <p:txBody>
          <a:bodyPr>
            <a:normAutofit/>
          </a:bodyPr>
          <a:lstStyle/>
          <a:p>
            <a:r>
              <a:rPr lang="en-US" b="1" dirty="0">
                <a:solidFill>
                  <a:schemeClr val="tx1">
                    <a:lumMod val="95000"/>
                    <a:lumOff val="5000"/>
                  </a:schemeClr>
                </a:solidFill>
              </a:rPr>
              <a:t>Anti-locking brake system</a:t>
            </a:r>
            <a:endParaRPr lang="en-TZ" dirty="0"/>
          </a:p>
        </p:txBody>
      </p:sp>
      <p:sp>
        <p:nvSpPr>
          <p:cNvPr id="3" name="Content Placeholder 2">
            <a:extLst>
              <a:ext uri="{FF2B5EF4-FFF2-40B4-BE49-F238E27FC236}">
                <a16:creationId xmlns:a16="http://schemas.microsoft.com/office/drawing/2014/main" id="{DAA8786F-7C75-4E4F-921C-156CB02A3072}"/>
              </a:ext>
            </a:extLst>
          </p:cNvPr>
          <p:cNvSpPr>
            <a:spLocks noGrp="1"/>
          </p:cNvSpPr>
          <p:nvPr>
            <p:ph idx="1"/>
          </p:nvPr>
        </p:nvSpPr>
        <p:spPr>
          <a:xfrm>
            <a:off x="1295401" y="2556932"/>
            <a:ext cx="9601196" cy="3721038"/>
          </a:xfrm>
        </p:spPr>
        <p:txBody>
          <a:bodyPr>
            <a:normAutofit fontScale="92500"/>
          </a:bodyPr>
          <a:lstStyle/>
          <a:p>
            <a:pPr marL="0" indent="0" algn="just">
              <a:buNone/>
            </a:pPr>
            <a:r>
              <a:rPr lang="en-US" sz="3200" dirty="0">
                <a:solidFill>
                  <a:schemeClr val="tx1"/>
                </a:solidFill>
                <a:latin typeface="+mj-lt"/>
                <a:cs typeface="Times New Roman" panose="02020603050405020304" pitchFamily="18" charset="0"/>
              </a:rPr>
              <a:t>Anti-lock braking system (ABS) is an </a:t>
            </a:r>
            <a:r>
              <a:rPr lang="en-US" sz="3200" dirty="0">
                <a:solidFill>
                  <a:schemeClr val="tx1"/>
                </a:solidFill>
                <a:latin typeface="+mj-lt"/>
                <a:cs typeface="Times New Roman" panose="02020603050405020304" pitchFamily="18" charset="0"/>
                <a:hlinkClick r:id="rId2" tooltip="Automobile safety">
                  <a:extLst>
                    <a:ext uri="{A12FA001-AC4F-418D-AE19-62706E023703}">
                      <ahyp:hlinkClr xmlns:ahyp="http://schemas.microsoft.com/office/drawing/2018/hyperlinkcolor" val="tx"/>
                    </a:ext>
                  </a:extLst>
                </a:hlinkClick>
              </a:rPr>
              <a:t>automobile safety</a:t>
            </a:r>
            <a:r>
              <a:rPr lang="en-US" sz="3200" dirty="0">
                <a:solidFill>
                  <a:schemeClr val="tx1"/>
                </a:solidFill>
                <a:latin typeface="+mj-lt"/>
                <a:cs typeface="Times New Roman" panose="02020603050405020304" pitchFamily="18" charset="0"/>
              </a:rPr>
              <a:t> system that allows the wheels on a motor vehicle to maintain </a:t>
            </a:r>
            <a:r>
              <a:rPr lang="en-US" sz="3200" dirty="0">
                <a:solidFill>
                  <a:schemeClr val="tx1"/>
                </a:solidFill>
                <a:latin typeface="+mj-lt"/>
                <a:cs typeface="Times New Roman" panose="02020603050405020304" pitchFamily="18" charset="0"/>
                <a:hlinkClick r:id="rId3" tooltip="Traction (engineering)">
                  <a:extLst>
                    <a:ext uri="{A12FA001-AC4F-418D-AE19-62706E023703}">
                      <ahyp:hlinkClr xmlns:ahyp="http://schemas.microsoft.com/office/drawing/2018/hyperlinkcolor" val="tx"/>
                    </a:ext>
                  </a:extLst>
                </a:hlinkClick>
              </a:rPr>
              <a:t>tractive</a:t>
            </a:r>
            <a:r>
              <a:rPr lang="en-US" sz="3200" dirty="0">
                <a:solidFill>
                  <a:schemeClr val="tx1"/>
                </a:solidFill>
                <a:latin typeface="+mj-lt"/>
                <a:cs typeface="Times New Roman" panose="02020603050405020304" pitchFamily="18" charset="0"/>
              </a:rPr>
              <a:t> contact with the road surface according to driver inputs while </a:t>
            </a:r>
            <a:r>
              <a:rPr lang="en-US" sz="3200" dirty="0">
                <a:solidFill>
                  <a:schemeClr val="tx1"/>
                </a:solidFill>
                <a:latin typeface="+mj-lt"/>
                <a:cs typeface="Times New Roman" panose="02020603050405020304" pitchFamily="18" charset="0"/>
                <a:hlinkClick r:id="rId4" tooltip="Brake">
                  <a:extLst>
                    <a:ext uri="{A12FA001-AC4F-418D-AE19-62706E023703}">
                      <ahyp:hlinkClr xmlns:ahyp="http://schemas.microsoft.com/office/drawing/2018/hyperlinkcolor" val="tx"/>
                    </a:ext>
                  </a:extLst>
                </a:hlinkClick>
              </a:rPr>
              <a:t>braking</a:t>
            </a:r>
            <a:r>
              <a:rPr lang="en-US" sz="3200" dirty="0">
                <a:solidFill>
                  <a:schemeClr val="tx1"/>
                </a:solidFill>
                <a:latin typeface="+mj-lt"/>
                <a:cs typeface="Times New Roman" panose="02020603050405020304" pitchFamily="18" charset="0"/>
              </a:rPr>
              <a:t>, preventing the wheels from locking up (ceasing rotation) and avoiding uncontrolled skidding. </a:t>
            </a:r>
          </a:p>
          <a:p>
            <a:pPr marL="0" indent="0" algn="just">
              <a:buNone/>
            </a:pPr>
            <a:r>
              <a:rPr lang="en-US" sz="3200" dirty="0">
                <a:solidFill>
                  <a:schemeClr val="tx1"/>
                </a:solidFill>
                <a:latin typeface="+mj-lt"/>
                <a:cs typeface="Times New Roman" panose="02020603050405020304" pitchFamily="18" charset="0"/>
              </a:rPr>
              <a:t>It does this at a much faster rate and with better control than a driver could manage</a:t>
            </a:r>
          </a:p>
        </p:txBody>
      </p:sp>
    </p:spTree>
    <p:extLst>
      <p:ext uri="{BB962C8B-B14F-4D97-AF65-F5344CB8AC3E}">
        <p14:creationId xmlns:p14="http://schemas.microsoft.com/office/powerpoint/2010/main" val="26702620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CA8AD-E3A9-49E6-9E7B-F2FBDD96BF5A}"/>
              </a:ext>
            </a:extLst>
          </p:cNvPr>
          <p:cNvSpPr>
            <a:spLocks noGrp="1"/>
          </p:cNvSpPr>
          <p:nvPr>
            <p:ph type="title"/>
          </p:nvPr>
        </p:nvSpPr>
        <p:spPr/>
        <p:txBody>
          <a:bodyPr/>
          <a:lstStyle/>
          <a:p>
            <a:r>
              <a:rPr lang="en-US" b="1" dirty="0">
                <a:solidFill>
                  <a:schemeClr val="tx1">
                    <a:lumMod val="95000"/>
                    <a:lumOff val="5000"/>
                  </a:schemeClr>
                </a:solidFill>
              </a:rPr>
              <a:t>Anti-locking brake system</a:t>
            </a:r>
            <a:endParaRPr lang="en-TZ" dirty="0"/>
          </a:p>
        </p:txBody>
      </p:sp>
      <p:sp>
        <p:nvSpPr>
          <p:cNvPr id="3" name="Content Placeholder 2">
            <a:extLst>
              <a:ext uri="{FF2B5EF4-FFF2-40B4-BE49-F238E27FC236}">
                <a16:creationId xmlns:a16="http://schemas.microsoft.com/office/drawing/2014/main" id="{322809E9-5F05-4017-BE8B-F45C9088AC0B}"/>
              </a:ext>
            </a:extLst>
          </p:cNvPr>
          <p:cNvSpPr>
            <a:spLocks noGrp="1"/>
          </p:cNvSpPr>
          <p:nvPr>
            <p:ph idx="1"/>
          </p:nvPr>
        </p:nvSpPr>
        <p:spPr/>
        <p:txBody>
          <a:bodyPr/>
          <a:lstStyle/>
          <a:p>
            <a:pPr marL="0" indent="0" algn="just">
              <a:buNone/>
            </a:pPr>
            <a:r>
              <a:rPr lang="en-US" b="1" dirty="0">
                <a:latin typeface="+mj-lt"/>
              </a:rPr>
              <a:t>Purposes of ABS</a:t>
            </a:r>
          </a:p>
          <a:p>
            <a:pPr algn="just"/>
            <a:r>
              <a:rPr lang="en-US" dirty="0">
                <a:latin typeface="+mj-lt"/>
                <a:cs typeface="Times New Roman" panose="02020603050405020304" pitchFamily="18" charset="0"/>
              </a:rPr>
              <a:t>Offers improved vehicle control  </a:t>
            </a:r>
          </a:p>
          <a:p>
            <a:pPr algn="just"/>
            <a:r>
              <a:rPr lang="en-US" dirty="0">
                <a:latin typeface="+mj-lt"/>
                <a:cs typeface="Times New Roman" panose="02020603050405020304" pitchFamily="18" charset="0"/>
              </a:rPr>
              <a:t>Decreases stopping distances on dry and slippery surfaces </a:t>
            </a:r>
          </a:p>
          <a:p>
            <a:pPr algn="just"/>
            <a:r>
              <a:rPr lang="en-US" dirty="0">
                <a:latin typeface="+mj-lt"/>
                <a:cs typeface="Times New Roman" panose="02020603050405020304" pitchFamily="18" charset="0"/>
              </a:rPr>
              <a:t>On loose surfaces like gravel or snow-covered pavement, ABS can significantly increase braking distance, although still improving vehicle control</a:t>
            </a:r>
          </a:p>
          <a:p>
            <a:endParaRPr lang="en-TZ" dirty="0">
              <a:latin typeface="+mj-lt"/>
            </a:endParaRPr>
          </a:p>
        </p:txBody>
      </p:sp>
    </p:spTree>
    <p:extLst>
      <p:ext uri="{BB962C8B-B14F-4D97-AF65-F5344CB8AC3E}">
        <p14:creationId xmlns:p14="http://schemas.microsoft.com/office/powerpoint/2010/main" val="14056013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9C836-894A-4EB8-A046-6CD0E3D7D56C}"/>
              </a:ext>
            </a:extLst>
          </p:cNvPr>
          <p:cNvSpPr>
            <a:spLocks noGrp="1"/>
          </p:cNvSpPr>
          <p:nvPr>
            <p:ph type="title"/>
          </p:nvPr>
        </p:nvSpPr>
        <p:spPr/>
        <p:txBody>
          <a:bodyPr/>
          <a:lstStyle/>
          <a:p>
            <a:r>
              <a:rPr lang="en-US" b="1" dirty="0">
                <a:solidFill>
                  <a:schemeClr val="tx1">
                    <a:lumMod val="95000"/>
                    <a:lumOff val="5000"/>
                  </a:schemeClr>
                </a:solidFill>
              </a:rPr>
              <a:t>Anti-locking brake system</a:t>
            </a:r>
            <a:endParaRPr lang="en-TZ" dirty="0"/>
          </a:p>
        </p:txBody>
      </p:sp>
      <p:sp>
        <p:nvSpPr>
          <p:cNvPr id="3" name="Content Placeholder 2">
            <a:extLst>
              <a:ext uri="{FF2B5EF4-FFF2-40B4-BE49-F238E27FC236}">
                <a16:creationId xmlns:a16="http://schemas.microsoft.com/office/drawing/2014/main" id="{4CD5DE51-54D9-4A3E-A58B-0638FB86A085}"/>
              </a:ext>
            </a:extLst>
          </p:cNvPr>
          <p:cNvSpPr>
            <a:spLocks noGrp="1"/>
          </p:cNvSpPr>
          <p:nvPr>
            <p:ph idx="1"/>
          </p:nvPr>
        </p:nvSpPr>
        <p:spPr>
          <a:xfrm>
            <a:off x="1295401" y="2556931"/>
            <a:ext cx="9601196" cy="3814839"/>
          </a:xfrm>
        </p:spPr>
        <p:txBody>
          <a:bodyPr>
            <a:normAutofit fontScale="92500" lnSpcReduction="20000"/>
          </a:bodyPr>
          <a:lstStyle/>
          <a:p>
            <a:pPr marL="0" indent="0">
              <a:buNone/>
            </a:pPr>
            <a:r>
              <a:rPr lang="en-US" b="1" dirty="0"/>
              <a:t>Components of ABS</a:t>
            </a:r>
          </a:p>
          <a:p>
            <a:pPr algn="just"/>
            <a:r>
              <a:rPr lang="en-US" dirty="0"/>
              <a:t>Wheel speed sensor</a:t>
            </a:r>
          </a:p>
          <a:p>
            <a:pPr marL="0" indent="0" algn="just">
              <a:buNone/>
            </a:pPr>
            <a:r>
              <a:rPr lang="en-US" dirty="0"/>
              <a:t>Used to determine the acceleration or deceleration of the wheel. </a:t>
            </a:r>
          </a:p>
          <a:p>
            <a:pPr algn="just"/>
            <a:r>
              <a:rPr lang="en-US" dirty="0"/>
              <a:t>Controller/ECU</a:t>
            </a:r>
          </a:p>
          <a:p>
            <a:pPr marL="0" indent="0" algn="just">
              <a:buNone/>
            </a:pPr>
            <a:r>
              <a:rPr lang="en-US" dirty="0"/>
              <a:t>Control the system (receives signal from sensors and actuates pump/valves)</a:t>
            </a:r>
          </a:p>
          <a:p>
            <a:pPr algn="just"/>
            <a:r>
              <a:rPr lang="en-US" dirty="0"/>
              <a:t>Pump </a:t>
            </a:r>
          </a:p>
          <a:p>
            <a:pPr marL="0" indent="0" algn="just">
              <a:buNone/>
            </a:pPr>
            <a:r>
              <a:rPr lang="en-US" dirty="0"/>
              <a:t>Used to restore the pressure to the hydraulic brakes after the valves have released it</a:t>
            </a:r>
          </a:p>
          <a:p>
            <a:pPr algn="just"/>
            <a:r>
              <a:rPr lang="en-US" dirty="0"/>
              <a:t>ABS malfunction indicator lamps</a:t>
            </a:r>
          </a:p>
          <a:p>
            <a:pPr marL="0" indent="0" algn="just">
              <a:buNone/>
            </a:pPr>
            <a:r>
              <a:rPr lang="en-US" dirty="0"/>
              <a:t>Indicates if there is fault or problem in ABS system</a:t>
            </a:r>
          </a:p>
          <a:p>
            <a:endParaRPr lang="en-TZ" dirty="0"/>
          </a:p>
        </p:txBody>
      </p:sp>
    </p:spTree>
    <p:extLst>
      <p:ext uri="{BB962C8B-B14F-4D97-AF65-F5344CB8AC3E}">
        <p14:creationId xmlns:p14="http://schemas.microsoft.com/office/powerpoint/2010/main" val="2673926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39091"/>
            <a:ext cx="10515600" cy="5320146"/>
          </a:xfrm>
        </p:spPr>
        <p:txBody>
          <a:bodyPr/>
          <a:lstStyle/>
          <a:p>
            <a:pPr marL="0" indent="0">
              <a:buNone/>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ea typeface="Times New Roman" panose="02020603050405020304" pitchFamily="18" charset="0"/>
                <a:cs typeface="Times New Roman" panose="02020603050405020304" pitchFamily="18" charset="0"/>
              </a:rPr>
              <a:t>Wheel speed sensor (A), ABS control module (B), </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hydraulic motor and pressure release valves (C), Brake pipe leading to caliper (D) </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Content Placeholder 3" descr="ABS system"/>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7772" y="498763"/>
            <a:ext cx="10116456" cy="4305997"/>
          </a:xfrm>
          <a:prstGeom prst="rect">
            <a:avLst/>
          </a:prstGeom>
          <a:noFill/>
          <a:ln>
            <a:noFill/>
          </a:ln>
        </p:spPr>
      </p:pic>
    </p:spTree>
    <p:extLst>
      <p:ext uri="{BB962C8B-B14F-4D97-AF65-F5344CB8AC3E}">
        <p14:creationId xmlns:p14="http://schemas.microsoft.com/office/powerpoint/2010/main" val="41294717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253BA-CA31-4A32-89BA-A3C405C51753}"/>
              </a:ext>
            </a:extLst>
          </p:cNvPr>
          <p:cNvSpPr>
            <a:spLocks noGrp="1"/>
          </p:cNvSpPr>
          <p:nvPr>
            <p:ph type="title"/>
          </p:nvPr>
        </p:nvSpPr>
        <p:spPr/>
        <p:txBody>
          <a:bodyPr/>
          <a:lstStyle/>
          <a:p>
            <a:r>
              <a:rPr lang="en-US" b="1" dirty="0">
                <a:solidFill>
                  <a:schemeClr val="tx1">
                    <a:lumMod val="95000"/>
                    <a:lumOff val="5000"/>
                  </a:schemeClr>
                </a:solidFill>
              </a:rPr>
              <a:t>Anti-locking brake system(ABS)</a:t>
            </a:r>
            <a:endParaRPr lang="en-TZ" dirty="0"/>
          </a:p>
        </p:txBody>
      </p:sp>
      <p:sp>
        <p:nvSpPr>
          <p:cNvPr id="3" name="Content Placeholder 2">
            <a:extLst>
              <a:ext uri="{FF2B5EF4-FFF2-40B4-BE49-F238E27FC236}">
                <a16:creationId xmlns:a16="http://schemas.microsoft.com/office/drawing/2014/main" id="{4813EC8F-E71E-4465-BB71-967435BC9BBF}"/>
              </a:ext>
            </a:extLst>
          </p:cNvPr>
          <p:cNvSpPr>
            <a:spLocks noGrp="1"/>
          </p:cNvSpPr>
          <p:nvPr>
            <p:ph idx="1"/>
          </p:nvPr>
        </p:nvSpPr>
        <p:spPr>
          <a:xfrm>
            <a:off x="1295401" y="2556931"/>
            <a:ext cx="9601196" cy="3693743"/>
          </a:xfrm>
        </p:spPr>
        <p:txBody>
          <a:bodyPr>
            <a:normAutofit/>
          </a:bodyPr>
          <a:lstStyle/>
          <a:p>
            <a:pPr marL="0" indent="0">
              <a:buNone/>
            </a:pPr>
            <a:r>
              <a:rPr lang="en-US" b="1" dirty="0">
                <a:latin typeface="+mj-lt"/>
              </a:rPr>
              <a:t>Operation Of ABS</a:t>
            </a:r>
          </a:p>
          <a:p>
            <a:pPr marL="0" indent="0" algn="just">
              <a:buNone/>
            </a:pPr>
            <a:r>
              <a:rPr lang="en-US" dirty="0">
                <a:latin typeface="+mj-lt"/>
                <a:cs typeface="Times New Roman" panose="02020603050405020304" pitchFamily="18" charset="0"/>
              </a:rPr>
              <a:t>Typically, ABS includes a central electronic control unit (ECU), four-wheel speed sensors, and hydraulic valves within the brake hydraulics. </a:t>
            </a:r>
          </a:p>
          <a:p>
            <a:pPr marL="0" indent="0" algn="just">
              <a:buNone/>
            </a:pPr>
            <a:r>
              <a:rPr lang="en-US" dirty="0">
                <a:latin typeface="+mj-lt"/>
                <a:cs typeface="Times New Roman" panose="02020603050405020304" pitchFamily="18" charset="0"/>
              </a:rPr>
              <a:t>The ECU constantly monitors the rotational speed of each wheel. </a:t>
            </a:r>
          </a:p>
          <a:p>
            <a:pPr marL="0" indent="0" algn="just">
              <a:buNone/>
            </a:pPr>
            <a:r>
              <a:rPr lang="en-US" dirty="0">
                <a:latin typeface="+mj-lt"/>
                <a:cs typeface="Times New Roman" panose="02020603050405020304" pitchFamily="18" charset="0"/>
              </a:rPr>
              <a:t>If it detects a wheel rotating significantly slower than the others, a condition indicative of impending wheel lock, it actuates the valves to reduce hydraulic pressure to the brake at the affected wheel, thus reducing the braking force on that wheel, the wheel then turns faster</a:t>
            </a:r>
          </a:p>
          <a:p>
            <a:endParaRPr lang="en-TZ" dirty="0">
              <a:latin typeface="+mj-lt"/>
            </a:endParaRPr>
          </a:p>
        </p:txBody>
      </p:sp>
    </p:spTree>
    <p:extLst>
      <p:ext uri="{BB962C8B-B14F-4D97-AF65-F5344CB8AC3E}">
        <p14:creationId xmlns:p14="http://schemas.microsoft.com/office/powerpoint/2010/main" val="12579680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C3E36-2272-404F-A093-B497DEE8C40D}"/>
              </a:ext>
            </a:extLst>
          </p:cNvPr>
          <p:cNvSpPr>
            <a:spLocks noGrp="1"/>
          </p:cNvSpPr>
          <p:nvPr>
            <p:ph type="title"/>
          </p:nvPr>
        </p:nvSpPr>
        <p:spPr/>
        <p:txBody>
          <a:bodyPr/>
          <a:lstStyle/>
          <a:p>
            <a:r>
              <a:rPr lang="en-US" b="1" dirty="0">
                <a:solidFill>
                  <a:schemeClr val="tx1">
                    <a:lumMod val="95000"/>
                    <a:lumOff val="5000"/>
                  </a:schemeClr>
                </a:solidFill>
              </a:rPr>
              <a:t>Anti-locking brake system</a:t>
            </a:r>
            <a:endParaRPr lang="en-TZ" dirty="0"/>
          </a:p>
        </p:txBody>
      </p:sp>
      <p:sp>
        <p:nvSpPr>
          <p:cNvPr id="3" name="Content Placeholder 2">
            <a:extLst>
              <a:ext uri="{FF2B5EF4-FFF2-40B4-BE49-F238E27FC236}">
                <a16:creationId xmlns:a16="http://schemas.microsoft.com/office/drawing/2014/main" id="{90047DD2-BA85-4EFF-9CCD-E860E527FE01}"/>
              </a:ext>
            </a:extLst>
          </p:cNvPr>
          <p:cNvSpPr>
            <a:spLocks noGrp="1"/>
          </p:cNvSpPr>
          <p:nvPr>
            <p:ph idx="1"/>
          </p:nvPr>
        </p:nvSpPr>
        <p:spPr>
          <a:xfrm>
            <a:off x="1295401" y="2556932"/>
            <a:ext cx="9601196" cy="3539068"/>
          </a:xfrm>
        </p:spPr>
        <p:txBody>
          <a:bodyPr>
            <a:normAutofit fontScale="92500" lnSpcReduction="10000"/>
          </a:bodyPr>
          <a:lstStyle/>
          <a:p>
            <a:pPr marL="0" indent="0">
              <a:buNone/>
            </a:pPr>
            <a:r>
              <a:rPr lang="en-US" b="1" dirty="0">
                <a:latin typeface="+mj-lt"/>
              </a:rPr>
              <a:t>Operation Of ABS </a:t>
            </a:r>
            <a:r>
              <a:rPr lang="en-US" b="1" dirty="0">
                <a:solidFill>
                  <a:schemeClr val="accent3"/>
                </a:solidFill>
                <a:latin typeface="+mj-lt"/>
              </a:rPr>
              <a:t>Cont..</a:t>
            </a:r>
          </a:p>
          <a:p>
            <a:pPr marL="0" indent="0">
              <a:buNone/>
            </a:pPr>
            <a:r>
              <a:rPr lang="en-US" dirty="0">
                <a:latin typeface="+mj-lt"/>
                <a:cs typeface="Times New Roman" panose="02020603050405020304" pitchFamily="18" charset="0"/>
              </a:rPr>
              <a:t>Conversely, if the ECU detects a wheel turning significantly faster than the others, brake hydraulic pressure to the wheel is increased so the braking force is reapplied, slowing down the wheel. </a:t>
            </a:r>
          </a:p>
          <a:p>
            <a:pPr marL="0" indent="0">
              <a:buNone/>
            </a:pPr>
            <a:r>
              <a:rPr lang="en-US" dirty="0">
                <a:latin typeface="+mj-lt"/>
                <a:cs typeface="Times New Roman" panose="02020603050405020304" pitchFamily="18" charset="0"/>
              </a:rPr>
              <a:t>This process is repeated continuously and can be detected by the driver via brake pedal pulsation. </a:t>
            </a:r>
          </a:p>
          <a:p>
            <a:pPr marL="0" indent="0">
              <a:buNone/>
            </a:pPr>
            <a:r>
              <a:rPr lang="en-US" dirty="0">
                <a:latin typeface="+mj-lt"/>
                <a:cs typeface="Times New Roman" panose="02020603050405020304" pitchFamily="18" charset="0"/>
              </a:rPr>
              <a:t>Some anti-lock systems can apply or release braking pressure 15 times per second. </a:t>
            </a:r>
          </a:p>
          <a:p>
            <a:pPr marL="0" indent="0">
              <a:buNone/>
            </a:pPr>
            <a:r>
              <a:rPr lang="en-US" dirty="0">
                <a:latin typeface="+mj-lt"/>
                <a:cs typeface="Times New Roman" panose="02020603050405020304" pitchFamily="18" charset="0"/>
              </a:rPr>
              <a:t>Because of this, the wheels of cars equipped with ABS are practically impossible to lock even during panic braking in extreme conditions</a:t>
            </a:r>
          </a:p>
          <a:p>
            <a:endParaRPr lang="en-TZ" dirty="0">
              <a:latin typeface="+mj-lt"/>
            </a:endParaRPr>
          </a:p>
        </p:txBody>
      </p:sp>
    </p:spTree>
    <p:extLst>
      <p:ext uri="{BB962C8B-B14F-4D97-AF65-F5344CB8AC3E}">
        <p14:creationId xmlns:p14="http://schemas.microsoft.com/office/powerpoint/2010/main" val="19319572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Users\Manala\Desktop\484620d1159921200-how-anti-lock-braking-system-works-anti-lock-brake1_ryh_pakwheels-com-.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8686" y="0"/>
            <a:ext cx="11814628" cy="6858000"/>
          </a:xfrm>
          <a:prstGeom prst="rect">
            <a:avLst/>
          </a:prstGeom>
          <a:noFill/>
          <a:ln>
            <a:noFill/>
          </a:ln>
        </p:spPr>
      </p:pic>
    </p:spTree>
    <p:extLst>
      <p:ext uri="{BB962C8B-B14F-4D97-AF65-F5344CB8AC3E}">
        <p14:creationId xmlns:p14="http://schemas.microsoft.com/office/powerpoint/2010/main" val="11565637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1D831-ECAC-4F9F-83A8-C0EA3F1E9B9B}"/>
              </a:ext>
            </a:extLst>
          </p:cNvPr>
          <p:cNvSpPr>
            <a:spLocks noGrp="1"/>
          </p:cNvSpPr>
          <p:nvPr>
            <p:ph type="title"/>
          </p:nvPr>
        </p:nvSpPr>
        <p:spPr/>
        <p:txBody>
          <a:bodyPr/>
          <a:lstStyle/>
          <a:p>
            <a:r>
              <a:rPr lang="en-US" b="1" dirty="0">
                <a:solidFill>
                  <a:schemeClr val="tx1">
                    <a:lumMod val="95000"/>
                    <a:lumOff val="5000"/>
                  </a:schemeClr>
                </a:solidFill>
              </a:rPr>
              <a:t>Anti-locking brake system</a:t>
            </a:r>
            <a:endParaRPr lang="en-TZ" dirty="0"/>
          </a:p>
        </p:txBody>
      </p:sp>
      <p:sp>
        <p:nvSpPr>
          <p:cNvPr id="3" name="Content Placeholder 2">
            <a:extLst>
              <a:ext uri="{FF2B5EF4-FFF2-40B4-BE49-F238E27FC236}">
                <a16:creationId xmlns:a16="http://schemas.microsoft.com/office/drawing/2014/main" id="{299969E1-A57F-4D3B-A91B-31F2B4899D81}"/>
              </a:ext>
            </a:extLst>
          </p:cNvPr>
          <p:cNvSpPr>
            <a:spLocks noGrp="1"/>
          </p:cNvSpPr>
          <p:nvPr>
            <p:ph idx="1"/>
          </p:nvPr>
        </p:nvSpPr>
        <p:spPr/>
        <p:txBody>
          <a:bodyPr/>
          <a:lstStyle/>
          <a:p>
            <a:pPr marL="0" indent="0">
              <a:buNone/>
            </a:pPr>
            <a:r>
              <a:rPr lang="en-US" b="1" dirty="0">
                <a:latin typeface="+mj-lt"/>
              </a:rPr>
              <a:t>Types of ABS Channels</a:t>
            </a:r>
          </a:p>
          <a:p>
            <a:pPr marL="0" indent="0">
              <a:buNone/>
            </a:pPr>
            <a:r>
              <a:rPr lang="en-US" dirty="0">
                <a:latin typeface="+mj-lt"/>
                <a:cs typeface="Times New Roman" panose="02020603050405020304" pitchFamily="18" charset="0"/>
              </a:rPr>
              <a:t>There are two main types of modern ABS systems:</a:t>
            </a:r>
          </a:p>
          <a:p>
            <a:pPr marL="0" indent="0">
              <a:buNone/>
            </a:pPr>
            <a:r>
              <a:rPr lang="en-US" dirty="0">
                <a:latin typeface="+mj-lt"/>
                <a:cs typeface="Times New Roman" panose="02020603050405020304" pitchFamily="18" charset="0"/>
              </a:rPr>
              <a:t>1.Three channel</a:t>
            </a:r>
          </a:p>
          <a:p>
            <a:pPr marL="0" indent="0">
              <a:buNone/>
            </a:pPr>
            <a:r>
              <a:rPr lang="en-US" dirty="0">
                <a:latin typeface="+mj-lt"/>
                <a:cs typeface="Times New Roman" panose="02020603050405020304" pitchFamily="18" charset="0"/>
              </a:rPr>
              <a:t>2. Four channel. </a:t>
            </a:r>
          </a:p>
          <a:p>
            <a:endParaRPr lang="en-TZ" dirty="0">
              <a:latin typeface="+mj-lt"/>
            </a:endParaRPr>
          </a:p>
        </p:txBody>
      </p:sp>
    </p:spTree>
    <p:extLst>
      <p:ext uri="{BB962C8B-B14F-4D97-AF65-F5344CB8AC3E}">
        <p14:creationId xmlns:p14="http://schemas.microsoft.com/office/powerpoint/2010/main" val="42526898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963DF-B3F3-4842-973A-BFA76010C61C}"/>
              </a:ext>
            </a:extLst>
          </p:cNvPr>
          <p:cNvSpPr>
            <a:spLocks noGrp="1"/>
          </p:cNvSpPr>
          <p:nvPr>
            <p:ph type="title"/>
          </p:nvPr>
        </p:nvSpPr>
        <p:spPr/>
        <p:txBody>
          <a:bodyPr/>
          <a:lstStyle/>
          <a:p>
            <a:r>
              <a:rPr lang="en-US" b="1" dirty="0">
                <a:solidFill>
                  <a:schemeClr val="tx1">
                    <a:lumMod val="95000"/>
                    <a:lumOff val="5000"/>
                  </a:schemeClr>
                </a:solidFill>
              </a:rPr>
              <a:t>Anti-locking brake system</a:t>
            </a:r>
            <a:endParaRPr lang="en-TZ" dirty="0"/>
          </a:p>
        </p:txBody>
      </p:sp>
      <p:sp>
        <p:nvSpPr>
          <p:cNvPr id="3" name="Content Placeholder 2">
            <a:extLst>
              <a:ext uri="{FF2B5EF4-FFF2-40B4-BE49-F238E27FC236}">
                <a16:creationId xmlns:a16="http://schemas.microsoft.com/office/drawing/2014/main" id="{65403A7A-0D10-40C9-9BAF-7E852721EAAA}"/>
              </a:ext>
            </a:extLst>
          </p:cNvPr>
          <p:cNvSpPr>
            <a:spLocks noGrp="1"/>
          </p:cNvSpPr>
          <p:nvPr>
            <p:ph idx="1"/>
          </p:nvPr>
        </p:nvSpPr>
        <p:spPr/>
        <p:txBody>
          <a:bodyPr/>
          <a:lstStyle/>
          <a:p>
            <a:pPr marL="0" indent="0">
              <a:buNone/>
            </a:pPr>
            <a:r>
              <a:rPr lang="en-US" b="1" dirty="0">
                <a:latin typeface="+mj-lt"/>
                <a:cs typeface="Times New Roman" panose="02020603050405020304" pitchFamily="18" charset="0"/>
              </a:rPr>
              <a:t>Three channel systems </a:t>
            </a:r>
          </a:p>
          <a:p>
            <a:pPr marL="0" indent="0">
              <a:buNone/>
            </a:pPr>
            <a:r>
              <a:rPr lang="en-US" dirty="0">
                <a:latin typeface="+mj-lt"/>
                <a:cs typeface="Times New Roman" panose="02020603050405020304" pitchFamily="18" charset="0"/>
              </a:rPr>
              <a:t>Control the braking pressure on both front wheels independently, but control the rear wheels together as a single unit. </a:t>
            </a:r>
          </a:p>
          <a:p>
            <a:endParaRPr lang="en-TZ" dirty="0"/>
          </a:p>
        </p:txBody>
      </p:sp>
    </p:spTree>
    <p:extLst>
      <p:ext uri="{BB962C8B-B14F-4D97-AF65-F5344CB8AC3E}">
        <p14:creationId xmlns:p14="http://schemas.microsoft.com/office/powerpoint/2010/main" val="15949997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Users\Manala\Desktop\484620d1159921200-how-anti-lock-braking-system-works-anti-lock-brake1_ryh_pakwheels-com-.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143" y="0"/>
            <a:ext cx="11800114" cy="6858000"/>
          </a:xfrm>
          <a:prstGeom prst="rect">
            <a:avLst/>
          </a:prstGeom>
          <a:noFill/>
          <a:ln>
            <a:noFill/>
          </a:ln>
        </p:spPr>
      </p:pic>
    </p:spTree>
    <p:extLst>
      <p:ext uri="{BB962C8B-B14F-4D97-AF65-F5344CB8AC3E}">
        <p14:creationId xmlns:p14="http://schemas.microsoft.com/office/powerpoint/2010/main" val="11298370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2ACFC-EA66-4EDF-9BCD-3AB9941B7386}"/>
              </a:ext>
            </a:extLst>
          </p:cNvPr>
          <p:cNvSpPr>
            <a:spLocks noGrp="1"/>
          </p:cNvSpPr>
          <p:nvPr>
            <p:ph type="title"/>
          </p:nvPr>
        </p:nvSpPr>
        <p:spPr/>
        <p:txBody>
          <a:bodyPr/>
          <a:lstStyle/>
          <a:p>
            <a:r>
              <a:rPr lang="en-US" b="1" dirty="0">
                <a:solidFill>
                  <a:schemeClr val="tx1">
                    <a:lumMod val="95000"/>
                    <a:lumOff val="5000"/>
                  </a:schemeClr>
                </a:solidFill>
              </a:rPr>
              <a:t>Anti-locking brake system</a:t>
            </a:r>
            <a:endParaRPr lang="en-TZ" dirty="0"/>
          </a:p>
        </p:txBody>
      </p:sp>
      <p:sp>
        <p:nvSpPr>
          <p:cNvPr id="3" name="Content Placeholder 2">
            <a:extLst>
              <a:ext uri="{FF2B5EF4-FFF2-40B4-BE49-F238E27FC236}">
                <a16:creationId xmlns:a16="http://schemas.microsoft.com/office/drawing/2014/main" id="{090BD7DA-5D53-42B5-8903-94D33068ABB4}"/>
              </a:ext>
            </a:extLst>
          </p:cNvPr>
          <p:cNvSpPr>
            <a:spLocks noGrp="1"/>
          </p:cNvSpPr>
          <p:nvPr>
            <p:ph idx="1"/>
          </p:nvPr>
        </p:nvSpPr>
        <p:spPr/>
        <p:txBody>
          <a:bodyPr/>
          <a:lstStyle/>
          <a:p>
            <a:pPr marL="0" indent="0">
              <a:buNone/>
            </a:pPr>
            <a:r>
              <a:rPr lang="en-US" b="1" dirty="0">
                <a:latin typeface="+mj-lt"/>
                <a:cs typeface="Times New Roman" panose="02020603050405020304" pitchFamily="18" charset="0"/>
              </a:rPr>
              <a:t>Four channel systems</a:t>
            </a:r>
          </a:p>
          <a:p>
            <a:pPr marL="0" indent="0">
              <a:buNone/>
            </a:pPr>
            <a:r>
              <a:rPr lang="en-US" dirty="0">
                <a:latin typeface="+mj-lt"/>
                <a:cs typeface="Times New Roman" panose="02020603050405020304" pitchFamily="18" charset="0"/>
              </a:rPr>
              <a:t>Control the brake force on each wheel independently (assuming you're in a four wheeled vehicle)</a:t>
            </a:r>
          </a:p>
          <a:p>
            <a:endParaRPr lang="en-TZ" dirty="0">
              <a:latin typeface="+mj-lt"/>
            </a:endParaRPr>
          </a:p>
        </p:txBody>
      </p:sp>
    </p:spTree>
    <p:extLst>
      <p:ext uri="{BB962C8B-B14F-4D97-AF65-F5344CB8AC3E}">
        <p14:creationId xmlns:p14="http://schemas.microsoft.com/office/powerpoint/2010/main" val="316094322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Users\Manala\Desktop\ABS-Sys.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171" y="0"/>
            <a:ext cx="11669485" cy="6858000"/>
          </a:xfrm>
          <a:prstGeom prst="rect">
            <a:avLst/>
          </a:prstGeom>
          <a:noFill/>
          <a:ln>
            <a:noFill/>
          </a:ln>
        </p:spPr>
      </p:pic>
    </p:spTree>
    <p:extLst>
      <p:ext uri="{BB962C8B-B14F-4D97-AF65-F5344CB8AC3E}">
        <p14:creationId xmlns:p14="http://schemas.microsoft.com/office/powerpoint/2010/main" val="336447905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10240</TotalTime>
  <Words>4109</Words>
  <Application>Microsoft Office PowerPoint</Application>
  <PresentationFormat>Widescreen</PresentationFormat>
  <Paragraphs>371</Paragraphs>
  <Slides>86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86</vt:i4>
      </vt:variant>
    </vt:vector>
  </HeadingPairs>
  <TitlesOfParts>
    <vt:vector size="91" baseType="lpstr">
      <vt:lpstr>Arial</vt:lpstr>
      <vt:lpstr>Calibri</vt:lpstr>
      <vt:lpstr>Garamond</vt:lpstr>
      <vt:lpstr>Times New Roman</vt:lpstr>
      <vt:lpstr>Organic</vt:lpstr>
      <vt:lpstr>Lecture 6: Braking System</vt:lpstr>
      <vt:lpstr>What to be learned</vt:lpstr>
      <vt:lpstr>Introduction</vt:lpstr>
      <vt:lpstr>Introduction</vt:lpstr>
      <vt:lpstr>Introduction</vt:lpstr>
      <vt:lpstr>Introduction</vt:lpstr>
      <vt:lpstr>Types of brake system</vt:lpstr>
      <vt:lpstr>Types of brake system</vt:lpstr>
      <vt:lpstr>Hydraulic Brakes</vt:lpstr>
      <vt:lpstr>Hydraulic Brakes</vt:lpstr>
      <vt:lpstr>PowerPoint Presentation</vt:lpstr>
      <vt:lpstr>Hydraulic Brakes</vt:lpstr>
      <vt:lpstr>Brake Split</vt:lpstr>
      <vt:lpstr>PowerPoint Presentation</vt:lpstr>
      <vt:lpstr>Brake Subsystems</vt:lpstr>
      <vt:lpstr>PowerPoint Presentation</vt:lpstr>
      <vt:lpstr>Components of Hydraulic Brakes</vt:lpstr>
      <vt:lpstr>Components of Hydraulic Brakes</vt:lpstr>
      <vt:lpstr>Components of Hydraulic Brakes</vt:lpstr>
      <vt:lpstr>Components of Hydraulic Brakes</vt:lpstr>
      <vt:lpstr>Components of Hydraulic Brakes</vt:lpstr>
      <vt:lpstr>Components of Hydraulic Brakes</vt:lpstr>
      <vt:lpstr>Components of Hydraulic Brakes</vt:lpstr>
      <vt:lpstr>Components of Hydraulic Brakes</vt:lpstr>
      <vt:lpstr>Components of Hydraulic Brakes</vt:lpstr>
      <vt:lpstr>PowerPoint Presentation</vt:lpstr>
      <vt:lpstr>Components of Hydraulic Brakes</vt:lpstr>
      <vt:lpstr>Components of Hydraulic Brakes</vt:lpstr>
      <vt:lpstr>Components of Hydraulic Brakes</vt:lpstr>
      <vt:lpstr>PowerPoint Presentation</vt:lpstr>
      <vt:lpstr>Components of Hydraulic Brakes</vt:lpstr>
      <vt:lpstr>PowerPoint Presentation</vt:lpstr>
      <vt:lpstr>PowerPoint Presentation</vt:lpstr>
      <vt:lpstr>Components of Hydraulic Brakes</vt:lpstr>
      <vt:lpstr>Components of Hydraulic Brakes</vt:lpstr>
      <vt:lpstr>Components of Hydraulic Brakes</vt:lpstr>
      <vt:lpstr>Components of Hydraulic Brakes</vt:lpstr>
      <vt:lpstr>Components of Hydraulic Brakes</vt:lpstr>
      <vt:lpstr>Components of Hydraulic Brakes</vt:lpstr>
      <vt:lpstr>PowerPoint Presentation</vt:lpstr>
      <vt:lpstr>Components of Hydraulic Brakes</vt:lpstr>
      <vt:lpstr>Components of Hydraulic Brakes</vt:lpstr>
      <vt:lpstr>PowerPoint Presentation</vt:lpstr>
      <vt:lpstr>Components of Hydraulic Brakes</vt:lpstr>
      <vt:lpstr>Components of Hydraulic Brakes</vt:lpstr>
      <vt:lpstr>PowerPoint Presentation</vt:lpstr>
      <vt:lpstr>Components of Hydraulic Brakes</vt:lpstr>
      <vt:lpstr>Components of Hydraulic Brakes</vt:lpstr>
      <vt:lpstr>PowerPoint Presentation</vt:lpstr>
      <vt:lpstr>Components of Hydraulic Brakes</vt:lpstr>
      <vt:lpstr>PowerPoint Presentation</vt:lpstr>
      <vt:lpstr>Components of Hydraulic Brakes</vt:lpstr>
      <vt:lpstr>Servicing Disc Brakes </vt:lpstr>
      <vt:lpstr>PowerPoint Presentation</vt:lpstr>
      <vt:lpstr>Servicing Disc Brakes </vt:lpstr>
      <vt:lpstr>Servicing Disc Brakes </vt:lpstr>
      <vt:lpstr>Components of Hydraulic Brakes</vt:lpstr>
      <vt:lpstr>PowerPoint Presentation</vt:lpstr>
      <vt:lpstr>Components of Hydraulic Brakes</vt:lpstr>
      <vt:lpstr>Components of Hydraulic Brakes</vt:lpstr>
      <vt:lpstr>Components of Hydraulic Brakes</vt:lpstr>
      <vt:lpstr>PowerPoint Presentation</vt:lpstr>
      <vt:lpstr>PowerPoint Presentation</vt:lpstr>
      <vt:lpstr>Components of Hydraulic Brakes</vt:lpstr>
      <vt:lpstr>PowerPoint Presentation</vt:lpstr>
      <vt:lpstr>Components of Hydraulic Brakes</vt:lpstr>
      <vt:lpstr>PowerPoint Presentation</vt:lpstr>
      <vt:lpstr>Components of Hydraulic Brakes</vt:lpstr>
      <vt:lpstr>PowerPoint Presentation</vt:lpstr>
      <vt:lpstr>Servicing Drum Brake</vt:lpstr>
      <vt:lpstr>Servicing Drum Brake</vt:lpstr>
      <vt:lpstr>PowerPoint Presentation</vt:lpstr>
      <vt:lpstr>Servicing Drum Brake</vt:lpstr>
      <vt:lpstr>Servicing Drum Brake</vt:lpstr>
      <vt:lpstr>Anti-locking brake system</vt:lpstr>
      <vt:lpstr>Anti-locking brake system</vt:lpstr>
      <vt:lpstr>Anti-locking brake system</vt:lpstr>
      <vt:lpstr>PowerPoint Presentation</vt:lpstr>
      <vt:lpstr>Anti-locking brake system(ABS)</vt:lpstr>
      <vt:lpstr>Anti-locking brake system</vt:lpstr>
      <vt:lpstr>PowerPoint Presentation</vt:lpstr>
      <vt:lpstr>Anti-locking brake system</vt:lpstr>
      <vt:lpstr>Anti-locking brake system</vt:lpstr>
      <vt:lpstr>PowerPoint Presentation</vt:lpstr>
      <vt:lpstr>Anti-locking brake system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SHANEL</dc:creator>
  <cp:lastModifiedBy>Shanel</cp:lastModifiedBy>
  <cp:revision>254</cp:revision>
  <dcterms:created xsi:type="dcterms:W3CDTF">2020-01-06T20:29:23Z</dcterms:created>
  <dcterms:modified xsi:type="dcterms:W3CDTF">2025-01-22T09:17:19Z</dcterms:modified>
</cp:coreProperties>
</file>