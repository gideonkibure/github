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28" r:id="rId3"/>
    <p:sldId id="260" r:id="rId4"/>
    <p:sldId id="335" r:id="rId5"/>
    <p:sldId id="344" r:id="rId6"/>
    <p:sldId id="259" r:id="rId7"/>
    <p:sldId id="345" r:id="rId8"/>
    <p:sldId id="263" r:id="rId9"/>
    <p:sldId id="268" r:id="rId10"/>
    <p:sldId id="336" r:id="rId11"/>
    <p:sldId id="337" r:id="rId12"/>
    <p:sldId id="273" r:id="rId13"/>
    <p:sldId id="338" r:id="rId14"/>
    <p:sldId id="339" r:id="rId15"/>
    <p:sldId id="340" r:id="rId16"/>
    <p:sldId id="359" r:id="rId17"/>
    <p:sldId id="357" r:id="rId18"/>
    <p:sldId id="341" r:id="rId19"/>
    <p:sldId id="287" r:id="rId20"/>
    <p:sldId id="360" r:id="rId21"/>
    <p:sldId id="342" r:id="rId22"/>
    <p:sldId id="343" r:id="rId23"/>
    <p:sldId id="334" r:id="rId24"/>
    <p:sldId id="331" r:id="rId25"/>
    <p:sldId id="311" r:id="rId26"/>
    <p:sldId id="310" r:id="rId27"/>
    <p:sldId id="351" r:id="rId28"/>
    <p:sldId id="312" r:id="rId29"/>
    <p:sldId id="313" r:id="rId30"/>
    <p:sldId id="333" r:id="rId31"/>
    <p:sldId id="286" r:id="rId32"/>
    <p:sldId id="288" r:id="rId33"/>
    <p:sldId id="332" r:id="rId34"/>
    <p:sldId id="299" r:id="rId35"/>
    <p:sldId id="289" r:id="rId36"/>
    <p:sldId id="290" r:id="rId37"/>
    <p:sldId id="300" r:id="rId38"/>
    <p:sldId id="291" r:id="rId39"/>
    <p:sldId id="293" r:id="rId40"/>
    <p:sldId id="346" r:id="rId41"/>
    <p:sldId id="347" r:id="rId42"/>
    <p:sldId id="316" r:id="rId43"/>
    <p:sldId id="352" r:id="rId44"/>
    <p:sldId id="353" r:id="rId45"/>
    <p:sldId id="348" r:id="rId46"/>
    <p:sldId id="349" r:id="rId47"/>
    <p:sldId id="320" r:id="rId48"/>
    <p:sldId id="355" r:id="rId49"/>
    <p:sldId id="356" r:id="rId50"/>
    <p:sldId id="321" r:id="rId51"/>
    <p:sldId id="350" r:id="rId52"/>
    <p:sldId id="361" r:id="rId53"/>
    <p:sldId id="303" r:id="rId54"/>
    <p:sldId id="323" r:id="rId55"/>
    <p:sldId id="326" r:id="rId56"/>
    <p:sldId id="362" r:id="rId57"/>
    <p:sldId id="327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947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798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947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66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610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20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61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715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81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04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256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3477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2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3402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3963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5693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464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22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0800000" flipV="1">
            <a:off x="1921934" y="1447800"/>
            <a:ext cx="5308866" cy="19812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Comic Sans MS" panose="030F0702030302020204" pitchFamily="66" charset="0"/>
              </a:rPr>
              <a:t>Lecture 4; Drive System</a:t>
            </a:r>
            <a:endParaRPr lang="en-GB" sz="32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743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CEA53-1933-4A84-AE29-EA442678F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What to be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41F85-FBFB-4A2A-BF7E-1732CF8B7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Comic Sans MS" panose="030F0702030302020204" pitchFamily="66" charset="0"/>
              </a:rPr>
              <a:t>Define propeller shaft and Half shaft</a:t>
            </a:r>
          </a:p>
          <a:p>
            <a:pPr algn="just"/>
            <a:r>
              <a:rPr lang="en-US" dirty="0">
                <a:latin typeface="Comic Sans MS" panose="030F0702030302020204" pitchFamily="66" charset="0"/>
              </a:rPr>
              <a:t>Distinguish between propeller shaft and  Axle shaft(Half Shaft)</a:t>
            </a:r>
          </a:p>
          <a:p>
            <a:pPr algn="just"/>
            <a:r>
              <a:rPr lang="en-US" dirty="0">
                <a:latin typeface="Comic Sans MS" panose="030F0702030302020204" pitchFamily="66" charset="0"/>
              </a:rPr>
              <a:t>Describe propeller shaft and drive Axle shaft</a:t>
            </a:r>
          </a:p>
          <a:p>
            <a:pPr algn="just"/>
            <a:r>
              <a:rPr lang="en-US" dirty="0">
                <a:latin typeface="Comic Sans MS" panose="030F0702030302020204" pitchFamily="66" charset="0"/>
              </a:rPr>
              <a:t>Perform maintenance on propeller shaft and drive Axle shaft</a:t>
            </a:r>
            <a:endParaRPr lang="en-GB" dirty="0">
              <a:latin typeface="Comic Sans MS" panose="030F0702030302020204" pitchFamily="66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512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mic Sans MS" panose="030F0702030302020204" pitchFamily="66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GB" sz="3200" b="1" dirty="0">
                <a:latin typeface="Comic Sans MS" panose="030F0702030302020204" pitchFamily="66" charset="0"/>
              </a:rPr>
              <a:t>A shaft </a:t>
            </a:r>
            <a:r>
              <a:rPr lang="en-GB" sz="3200" dirty="0">
                <a:latin typeface="Comic Sans MS" panose="030F0702030302020204" pitchFamily="66" charset="0"/>
              </a:rPr>
              <a:t>is a rotating machine element which is used to transmit power from one place to another</a:t>
            </a:r>
          </a:p>
          <a:p>
            <a:pPr marL="0" indent="0" algn="just">
              <a:buNone/>
            </a:pPr>
            <a:r>
              <a:rPr lang="en-GB" sz="3200" dirty="0">
                <a:latin typeface="Comic Sans MS" panose="030F0702030302020204" pitchFamily="66" charset="0"/>
              </a:rPr>
              <a:t>In order to transfer the power from one shaft to another, the various members such as pulleys, gears etc., are mounted on it</a:t>
            </a:r>
          </a:p>
        </p:txBody>
      </p:sp>
    </p:spTree>
    <p:extLst>
      <p:ext uri="{BB962C8B-B14F-4D97-AF65-F5344CB8AC3E}">
        <p14:creationId xmlns:p14="http://schemas.microsoft.com/office/powerpoint/2010/main" val="3908098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0F952-718C-4FED-A733-7B98BFFE7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mic Sans MS" panose="030F0702030302020204" pitchFamily="66" charset="0"/>
              </a:rPr>
              <a:t>Introduction</a:t>
            </a:r>
            <a:endParaRPr lang="en-TZ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984DB-99E9-4A79-BD8B-8182B219D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5" y="2490135"/>
            <a:ext cx="6798736" cy="3834465"/>
          </a:xfrm>
        </p:spPr>
        <p:txBody>
          <a:bodyPr/>
          <a:lstStyle/>
          <a:p>
            <a:pPr marL="0" indent="0" algn="just">
              <a:buNone/>
            </a:pPr>
            <a:r>
              <a:rPr lang="en-GB" sz="2800" dirty="0">
                <a:latin typeface="Comic Sans MS" panose="030F0702030302020204" pitchFamily="66" charset="0"/>
              </a:rPr>
              <a:t>The shafts are usually cylindrical, but may be square in section. </a:t>
            </a:r>
          </a:p>
          <a:p>
            <a:pPr marL="0" indent="0" algn="just">
              <a:buNone/>
            </a:pPr>
            <a:r>
              <a:rPr lang="en-GB" sz="2800" dirty="0">
                <a:latin typeface="Comic Sans MS" panose="030F0702030302020204" pitchFamily="66" charset="0"/>
              </a:rPr>
              <a:t>They are solid in cross-section but sometimes hollow shafts are also used.</a:t>
            </a:r>
          </a:p>
          <a:p>
            <a:pPr marL="0" indent="0" algn="just">
              <a:buNone/>
            </a:pPr>
            <a:r>
              <a:rPr lang="en-US" sz="2800" dirty="0">
                <a:latin typeface="Comic Sans MS" panose="030F0702030302020204" pitchFamily="66" charset="0"/>
              </a:rPr>
              <a:t>Also, must be absolutely straight and in balance so that it does not generate vibration at operating speed. </a:t>
            </a:r>
            <a:r>
              <a:rPr lang="en-US" dirty="0"/>
              <a:t>	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483297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17267-AA55-47C3-AA2E-DC6301804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mic Sans MS" panose="030F0702030302020204" pitchFamily="66" charset="0"/>
              </a:rPr>
              <a:t>Introduction</a:t>
            </a:r>
            <a:endParaRPr lang="en-TZ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1E6EA-0658-4672-80C6-B979BBD3C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b="1" dirty="0">
                <a:latin typeface="Comic Sans MS" panose="030F0702030302020204" pitchFamily="66" charset="0"/>
              </a:rPr>
              <a:t>Types of Shafts</a:t>
            </a: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There are two types of shafts which are</a:t>
            </a:r>
          </a:p>
          <a:p>
            <a:r>
              <a:rPr lang="en-GB" sz="3200" b="1" dirty="0">
                <a:latin typeface="Comic Sans MS" panose="030F0702030302020204" pitchFamily="66" charset="0"/>
              </a:rPr>
              <a:t>Transmission shafts</a:t>
            </a:r>
          </a:p>
          <a:p>
            <a:r>
              <a:rPr lang="en-GB" sz="3200" b="1" dirty="0">
                <a:latin typeface="Comic Sans MS" panose="030F0702030302020204" pitchFamily="66" charset="0"/>
              </a:rPr>
              <a:t>Machine shafts</a:t>
            </a:r>
            <a:endParaRPr lang="en-TZ" sz="32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968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mic Sans MS" panose="030F0702030302020204" pitchFamily="66" charset="0"/>
              </a:rPr>
              <a:t>Introduction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GB" sz="2800" b="1" dirty="0">
                <a:latin typeface="Comic Sans MS" panose="030F0702030302020204" pitchFamily="66" charset="0"/>
              </a:rPr>
              <a:t>Types of Shafts</a:t>
            </a:r>
          </a:p>
          <a:p>
            <a:pPr marL="457200" indent="-457200" algn="just">
              <a:buAutoNum type="alphaLcPeriod"/>
            </a:pPr>
            <a:r>
              <a:rPr lang="en-GB" sz="2800" b="1" dirty="0">
                <a:latin typeface="Comic Sans MS" panose="030F0702030302020204" pitchFamily="66" charset="0"/>
              </a:rPr>
              <a:t>Transmission shafts</a:t>
            </a:r>
          </a:p>
          <a:p>
            <a:pPr marL="0" indent="0" algn="just">
              <a:buNone/>
            </a:pPr>
            <a:r>
              <a:rPr lang="en-GB" sz="2800" dirty="0">
                <a:latin typeface="Comic Sans MS" panose="030F0702030302020204" pitchFamily="66" charset="0"/>
              </a:rPr>
              <a:t>These shafts transmit power between the source and the machines absorbing power. </a:t>
            </a:r>
          </a:p>
          <a:p>
            <a:pPr marL="0" indent="0" algn="just">
              <a:buNone/>
            </a:pPr>
            <a:r>
              <a:rPr lang="en-GB" sz="2800" dirty="0">
                <a:latin typeface="Comic Sans MS" panose="030F0702030302020204" pitchFamily="66" charset="0"/>
              </a:rPr>
              <a:t>The counter shafts, propeller shaft, half shaft and all factory shaft are transmission shafts. </a:t>
            </a:r>
          </a:p>
        </p:txBody>
      </p:sp>
    </p:spTree>
    <p:extLst>
      <p:ext uri="{BB962C8B-B14F-4D97-AF65-F5344CB8AC3E}">
        <p14:creationId xmlns:p14="http://schemas.microsoft.com/office/powerpoint/2010/main" val="439269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866BB-87DF-45EC-B20B-87BFDB33F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mic Sans MS" panose="030F0702030302020204" pitchFamily="66" charset="0"/>
              </a:rPr>
              <a:t>Introduction</a:t>
            </a:r>
            <a:endParaRPr lang="en-TZ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34ED0-582C-4865-A4DD-9FC2D6C23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800" b="1" dirty="0">
                <a:latin typeface="Comic Sans MS" panose="030F0702030302020204" pitchFamily="66" charset="0"/>
              </a:rPr>
              <a:t>Types of Shafts</a:t>
            </a:r>
          </a:p>
          <a:p>
            <a:pPr marL="0" indent="0">
              <a:buNone/>
            </a:pPr>
            <a:r>
              <a:rPr lang="en-GB" sz="2800" b="1" dirty="0">
                <a:latin typeface="Comic Sans MS" panose="030F0702030302020204" pitchFamily="66" charset="0"/>
              </a:rPr>
              <a:t>b. Machine shafts</a:t>
            </a:r>
          </a:p>
          <a:p>
            <a:pPr marL="0" indent="0">
              <a:buNone/>
            </a:pPr>
            <a:r>
              <a:rPr lang="en-GB" sz="2800" dirty="0">
                <a:latin typeface="Comic Sans MS" panose="030F0702030302020204" pitchFamily="66" charset="0"/>
              </a:rPr>
              <a:t>These shafts form an integral part of the machine itself. </a:t>
            </a:r>
          </a:p>
          <a:p>
            <a:pPr marL="0" indent="0">
              <a:buNone/>
            </a:pPr>
            <a:r>
              <a:rPr lang="en-GB" sz="2800" dirty="0">
                <a:latin typeface="Comic Sans MS" panose="030F0702030302020204" pitchFamily="66" charset="0"/>
              </a:rPr>
              <a:t>The </a:t>
            </a:r>
            <a:r>
              <a:rPr lang="en-GB" sz="2800" b="1" dirty="0">
                <a:latin typeface="Comic Sans MS" panose="030F0702030302020204" pitchFamily="66" charset="0"/>
              </a:rPr>
              <a:t>crank shaft </a:t>
            </a:r>
            <a:r>
              <a:rPr lang="en-GB" sz="2800" dirty="0">
                <a:latin typeface="Comic Sans MS" panose="030F0702030302020204" pitchFamily="66" charset="0"/>
              </a:rPr>
              <a:t>is an example of machine shaft.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33639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mic Sans MS" panose="030F0702030302020204" pitchFamily="66" charset="0"/>
              </a:rPr>
              <a:t>Propeller Shaft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800" b="1" dirty="0">
                <a:latin typeface="Comic Sans MS" panose="030F0702030302020204" pitchFamily="66" charset="0"/>
              </a:rPr>
              <a:t>Propeller shaft </a:t>
            </a:r>
            <a:r>
              <a:rPr lang="en-GB" sz="2800" dirty="0">
                <a:latin typeface="Comic Sans MS" panose="030F0702030302020204" pitchFamily="66" charset="0"/>
              </a:rPr>
              <a:t>is the hollow cylindrical shaft that transmit turning power from the gearbox output to the differential which then to final drive and driving axle.</a:t>
            </a:r>
          </a:p>
          <a:p>
            <a:pPr marL="0" indent="0">
              <a:buNone/>
            </a:pPr>
            <a:r>
              <a:rPr lang="en-GB" sz="2800" dirty="0">
                <a:latin typeface="Comic Sans MS" panose="030F0702030302020204" pitchFamily="66" charset="0"/>
              </a:rPr>
              <a:t>It is sometimes called prop shaft or drive shaft</a:t>
            </a:r>
          </a:p>
        </p:txBody>
      </p:sp>
    </p:spTree>
    <p:extLst>
      <p:ext uri="{BB962C8B-B14F-4D97-AF65-F5344CB8AC3E}">
        <p14:creationId xmlns:p14="http://schemas.microsoft.com/office/powerpoint/2010/main" val="4195262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 algn="just">
              <a:buNone/>
            </a:pPr>
            <a:r>
              <a:rPr lang="en-GB" b="1" dirty="0">
                <a:solidFill>
                  <a:srgbClr val="FF0000"/>
                </a:solidFill>
                <a:latin typeface="Comic Sans MS" panose="030F0702030302020204" pitchFamily="66" charset="0"/>
              </a:rPr>
              <a:t>Propeller Shaft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GB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One-piece propeller shaft</a:t>
            </a:r>
          </a:p>
          <a:p>
            <a:pPr marL="0" indent="0" algn="just">
              <a:buNone/>
            </a:pPr>
            <a:r>
              <a:rPr lang="en-GB" dirty="0">
                <a:latin typeface="Comic Sans MS" panose="030F0702030302020204" pitchFamily="66" charset="0"/>
              </a:rPr>
              <a:t>The construction of one-piece prop shaft consists</a:t>
            </a:r>
            <a:r>
              <a:rPr lang="en-GB" b="1" dirty="0">
                <a:latin typeface="Comic Sans MS" panose="030F0702030302020204" pitchFamily="66" charset="0"/>
              </a:rPr>
              <a:t>;-</a:t>
            </a:r>
          </a:p>
          <a:p>
            <a:pPr marL="0" indent="0" algn="just">
              <a:buNone/>
            </a:pPr>
            <a:r>
              <a:rPr lang="en-GB" b="1" dirty="0">
                <a:latin typeface="Comic Sans MS" panose="030F0702030302020204" pitchFamily="66" charset="0"/>
              </a:rPr>
              <a:t>Shaft</a:t>
            </a:r>
          </a:p>
          <a:p>
            <a:pPr marL="0" indent="0" algn="just">
              <a:buNone/>
            </a:pPr>
            <a:r>
              <a:rPr lang="en-GB" dirty="0">
                <a:latin typeface="Comic Sans MS" panose="030F0702030302020204" pitchFamily="66" charset="0"/>
              </a:rPr>
              <a:t>The main body of the propeller shaft comprises a steel tube into the ends of which are welded steel stub portions forming part of the end joints.</a:t>
            </a:r>
          </a:p>
        </p:txBody>
      </p:sp>
    </p:spTree>
    <p:extLst>
      <p:ext uri="{BB962C8B-B14F-4D97-AF65-F5344CB8AC3E}">
        <p14:creationId xmlns:p14="http://schemas.microsoft.com/office/powerpoint/2010/main" val="2229303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BB221-20D4-4CD4-9C89-DD4E900A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FF0000"/>
                </a:solidFill>
                <a:latin typeface="Comic Sans MS" panose="030F0702030302020204" pitchFamily="66" charset="0"/>
              </a:rPr>
              <a:t>Propeller Shaft Construction </a:t>
            </a:r>
            <a:r>
              <a:rPr lang="en-GB" b="1" dirty="0">
                <a:solidFill>
                  <a:schemeClr val="accent3"/>
                </a:solidFill>
                <a:latin typeface="Comic Sans MS" panose="030F0702030302020204" pitchFamily="66" charset="0"/>
              </a:rPr>
              <a:t>cont..</a:t>
            </a:r>
            <a:endParaRPr lang="en-TZ" dirty="0">
              <a:solidFill>
                <a:schemeClr val="accent3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6BCB8-B3FC-4C9A-9588-7124B4FE3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One-piece propeller shafts</a:t>
            </a:r>
          </a:p>
          <a:p>
            <a:pPr marL="0" indent="0" algn="just">
              <a:buNone/>
            </a:pPr>
            <a:r>
              <a:rPr lang="en-GB" b="1" dirty="0">
                <a:latin typeface="Comic Sans MS" panose="030F0702030302020204" pitchFamily="66" charset="0"/>
              </a:rPr>
              <a:t>Fixed joint</a:t>
            </a:r>
          </a:p>
          <a:p>
            <a:pPr marL="0" indent="0" algn="just">
              <a:buNone/>
            </a:pPr>
            <a:r>
              <a:rPr lang="en-GB" dirty="0">
                <a:latin typeface="Comic Sans MS" panose="030F0702030302020204" pitchFamily="66" charset="0"/>
              </a:rPr>
              <a:t>Each end of the propeller shaft is provided with a hinged joint of the universal type. </a:t>
            </a:r>
          </a:p>
          <a:p>
            <a:pPr marL="0" indent="0" algn="just">
              <a:buNone/>
            </a:pPr>
            <a:r>
              <a:rPr lang="en-GB" dirty="0">
                <a:latin typeface="Comic Sans MS" panose="030F0702030302020204" pitchFamily="66" charset="0"/>
              </a:rPr>
              <a:t>The hinged joints allow the shaft to adjust its position to the changing angle of the drive line at all times as it rotates.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766851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7F651-E529-4839-B435-9B8FB53BF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FF0000"/>
                </a:solidFill>
                <a:latin typeface="Comic Sans MS" panose="030F0702030302020204" pitchFamily="66" charset="0"/>
              </a:rPr>
              <a:t>Propeller Shaft Construction </a:t>
            </a:r>
            <a:r>
              <a:rPr lang="en-GB" b="1" dirty="0">
                <a:solidFill>
                  <a:schemeClr val="accent3"/>
                </a:solidFill>
                <a:latin typeface="Comic Sans MS" panose="030F0702030302020204" pitchFamily="66" charset="0"/>
              </a:rPr>
              <a:t>cont..</a:t>
            </a:r>
            <a:endParaRPr lang="en-TZ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02763-0126-442C-B9DD-EC72981C8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5" y="2490135"/>
            <a:ext cx="6798736" cy="368206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GB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One-piece propeller shafts</a:t>
            </a:r>
          </a:p>
          <a:p>
            <a:pPr marL="0" indent="0" algn="just">
              <a:buNone/>
            </a:pPr>
            <a:r>
              <a:rPr lang="en-GB" b="1" dirty="0">
                <a:latin typeface="Comic Sans MS" panose="030F0702030302020204" pitchFamily="66" charset="0"/>
              </a:rPr>
              <a:t>Sliding joint</a:t>
            </a:r>
          </a:p>
          <a:p>
            <a:pPr marL="0" indent="0" algn="just">
              <a:buNone/>
            </a:pPr>
            <a:r>
              <a:rPr lang="en-GB" dirty="0">
                <a:latin typeface="Comic Sans MS" panose="030F0702030302020204" pitchFamily="66" charset="0"/>
              </a:rPr>
              <a:t>Some form of sliding or telescopic joint is required in the propeller shaft assembly, so that it can accommodate itself to small variations in effective length of the drive line. </a:t>
            </a:r>
          </a:p>
          <a:p>
            <a:pPr marL="0" indent="0" algn="just">
              <a:buNone/>
            </a:pPr>
            <a:r>
              <a:rPr lang="en-GB" dirty="0">
                <a:latin typeface="Comic Sans MS" panose="030F0702030302020204" pitchFamily="66" charset="0"/>
              </a:rPr>
              <a:t>A splined coupling is therefore typically incorporated between the front universal joint and either the main body of the propeller shaft  or the tail shaft of the gearbox.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019607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295400"/>
            <a:ext cx="6587837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7367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47738-A5C9-406F-B48E-170ED39BD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FF0000"/>
                </a:solidFill>
                <a:latin typeface="Comic Sans MS" panose="030F0702030302020204" pitchFamily="66" charset="0"/>
              </a:rPr>
              <a:t>Propeller Shaft Construction </a:t>
            </a:r>
            <a:r>
              <a:rPr lang="en-GB" b="1" dirty="0">
                <a:solidFill>
                  <a:schemeClr val="accent3"/>
                </a:solidFill>
                <a:latin typeface="Comic Sans MS" panose="030F0702030302020204" pitchFamily="66" charset="0"/>
              </a:rPr>
              <a:t>cont..</a:t>
            </a:r>
            <a:endParaRPr lang="en-TZ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CBE81-5983-463F-80AF-782FF6320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GB" sz="28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Two-piece propeller shafts</a:t>
            </a:r>
          </a:p>
          <a:p>
            <a:pPr marL="0" indent="0" algn="just">
              <a:buNone/>
            </a:pPr>
            <a:r>
              <a:rPr lang="en-GB" sz="2800" b="1" dirty="0">
                <a:latin typeface="Comic Sans MS" panose="030F0702030302020204" pitchFamily="66" charset="0"/>
              </a:rPr>
              <a:t>A two-piece or divided propeller shaft </a:t>
            </a:r>
            <a:r>
              <a:rPr lang="en-GB" sz="2800" dirty="0">
                <a:latin typeface="Comic Sans MS" panose="030F0702030302020204" pitchFamily="66" charset="0"/>
              </a:rPr>
              <a:t>is often employed in the drive lines of front-engine RWD vehicles</a:t>
            </a:r>
          </a:p>
          <a:p>
            <a:pPr marL="0" indent="0" algn="just">
              <a:buNone/>
            </a:pPr>
            <a:r>
              <a:rPr lang="en-GB" sz="2800" dirty="0">
                <a:latin typeface="Comic Sans MS" panose="030F0702030302020204" pitchFamily="66" charset="0"/>
              </a:rPr>
              <a:t>This type of assembly comprises the following basic components: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4077082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50246-A467-4700-B956-BCBA4E549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FF0000"/>
                </a:solidFill>
                <a:latin typeface="Comic Sans MS" panose="030F0702030302020204" pitchFamily="66" charset="0"/>
              </a:rPr>
              <a:t>Propeller Shaft Construction </a:t>
            </a:r>
            <a:r>
              <a:rPr lang="en-GB" b="1" dirty="0">
                <a:solidFill>
                  <a:schemeClr val="accent3"/>
                </a:solidFill>
                <a:latin typeface="Comic Sans MS" panose="030F0702030302020204" pitchFamily="66" charset="0"/>
              </a:rPr>
              <a:t>cont..</a:t>
            </a:r>
            <a:endParaRPr lang="en-TZ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9F48D-7AC8-4094-A24F-E24B6CC4A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5" y="2362201"/>
            <a:ext cx="6798736" cy="3886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800" b="1" dirty="0">
                <a:latin typeface="Comic Sans MS" panose="030F0702030302020204" pitchFamily="66" charset="0"/>
              </a:rPr>
              <a:t>Primary shaft </a:t>
            </a:r>
          </a:p>
          <a:p>
            <a:pPr marL="0" indent="0" algn="just">
              <a:buNone/>
            </a:pPr>
            <a:r>
              <a:rPr lang="en-GB" sz="2800" dirty="0">
                <a:latin typeface="Comic Sans MS" panose="030F0702030302020204" pitchFamily="66" charset="0"/>
              </a:rPr>
              <a:t>This forms the front section of the propeller shaft, its forward end connecting to the universal joint behind the gearbox. </a:t>
            </a:r>
          </a:p>
          <a:p>
            <a:pPr marL="0" indent="0" algn="just">
              <a:buNone/>
            </a:pPr>
            <a:r>
              <a:rPr lang="en-GB" sz="2800" dirty="0">
                <a:latin typeface="Comic Sans MS" panose="030F0702030302020204" pitchFamily="66" charset="0"/>
              </a:rPr>
              <a:t>At its other end, the primary shaft is shouldered to accept a support bearing. 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944385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57D5F-D50F-4DEC-B39B-4E211FA1B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FF0000"/>
                </a:solidFill>
                <a:latin typeface="Comic Sans MS" panose="030F0702030302020204" pitchFamily="66" charset="0"/>
              </a:rPr>
              <a:t>Propeller Shaft Construction </a:t>
            </a:r>
            <a:r>
              <a:rPr lang="en-GB" b="1" dirty="0">
                <a:solidFill>
                  <a:schemeClr val="accent3"/>
                </a:solidFill>
                <a:latin typeface="Comic Sans MS" panose="030F0702030302020204" pitchFamily="66" charset="0"/>
              </a:rPr>
              <a:t>cont..</a:t>
            </a:r>
            <a:endParaRPr lang="en-TZ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A436A-D011-40AE-AFBC-E6B807143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800" b="1" dirty="0">
                <a:latin typeface="Comic Sans MS" panose="030F0702030302020204" pitchFamily="66" charset="0"/>
              </a:rPr>
              <a:t>Centre bearing </a:t>
            </a:r>
          </a:p>
          <a:p>
            <a:pPr marL="0" indent="0">
              <a:buNone/>
            </a:pPr>
            <a:r>
              <a:rPr lang="en-GB" sz="2800" dirty="0">
                <a:latin typeface="Comic Sans MS" panose="030F0702030302020204" pitchFamily="66" charset="0"/>
              </a:rPr>
              <a:t>Through being located on the rear end of the primary shaft, this bearing serves as an intermediate support for the propeller shaft assembly. 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503574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Toyota Hilux, Center Bearing - Land Cruiser Spare Parts">
            <a:extLst>
              <a:ext uri="{FF2B5EF4-FFF2-40B4-BE49-F238E27FC236}">
                <a16:creationId xmlns:a16="http://schemas.microsoft.com/office/drawing/2014/main" id="{977EB56D-BA2A-4ACA-88D5-6C3ECC98EF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685800"/>
            <a:ext cx="6781799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892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The prop shaft center bearing functions">
            <a:extLst>
              <a:ext uri="{FF2B5EF4-FFF2-40B4-BE49-F238E27FC236}">
                <a16:creationId xmlns:a16="http://schemas.microsoft.com/office/drawing/2014/main" id="{67D6D016-45E7-4294-B2A2-C3F261A506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40631"/>
            <a:ext cx="43434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Prop Shaft Centre Bearing Nut">
            <a:extLst>
              <a:ext uri="{FF2B5EF4-FFF2-40B4-BE49-F238E27FC236}">
                <a16:creationId xmlns:a16="http://schemas.microsoft.com/office/drawing/2014/main" id="{476BE6F4-E5DF-4217-8880-5FBA3DB39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412" y="1235868"/>
            <a:ext cx="40386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2572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788AD-59E0-494D-AC34-BAE55043B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FF0000"/>
                </a:solidFill>
                <a:latin typeface="Comic Sans MS" panose="030F0702030302020204" pitchFamily="66" charset="0"/>
              </a:rPr>
              <a:t>Propeller Shaft Construction </a:t>
            </a:r>
            <a:r>
              <a:rPr lang="en-GB" b="1" dirty="0">
                <a:solidFill>
                  <a:schemeClr val="accent3"/>
                </a:solidFill>
                <a:latin typeface="Comic Sans MS" panose="030F0702030302020204" pitchFamily="66" charset="0"/>
              </a:rPr>
              <a:t>cont..</a:t>
            </a:r>
            <a:endParaRPr lang="en-TZ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127C8-8356-4290-97E1-B8D1B6320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GB" b="1" dirty="0">
                <a:latin typeface="Comic Sans MS" panose="030F0702030302020204" pitchFamily="66" charset="0"/>
              </a:rPr>
              <a:t>Secondary shaft</a:t>
            </a:r>
          </a:p>
          <a:p>
            <a:pPr marL="0" indent="0" algn="just">
              <a:buNone/>
            </a:pPr>
            <a:r>
              <a:rPr lang="en-GB" dirty="0">
                <a:latin typeface="Comic Sans MS" panose="030F0702030302020204" pitchFamily="66" charset="0"/>
              </a:rPr>
              <a:t>This forms the rear section of the propeller shaft and connects to the final drive. </a:t>
            </a:r>
          </a:p>
          <a:p>
            <a:pPr marL="0" indent="0" algn="just">
              <a:buNone/>
            </a:pPr>
            <a:r>
              <a:rPr lang="en-GB" dirty="0">
                <a:latin typeface="Comic Sans MS" panose="030F0702030302020204" pitchFamily="66" charset="0"/>
              </a:rPr>
              <a:t>It is provided with two universal joints, one at each end. </a:t>
            </a:r>
          </a:p>
          <a:p>
            <a:pPr marL="0" indent="0" algn="just">
              <a:buNone/>
            </a:pPr>
            <a:r>
              <a:rPr lang="en-GB" dirty="0">
                <a:latin typeface="Comic Sans MS" panose="030F0702030302020204" pitchFamily="66" charset="0"/>
              </a:rPr>
              <a:t>A sliding joint is provided between the main body of the secondary shaft and either the front or, less commonly, the rear universal joint. 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172184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447800"/>
            <a:ext cx="6934200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 descr="https://i.stack.imgur.com/xHxv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114800"/>
            <a:ext cx="7010400" cy="201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420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onventional two-piece drive shaft arrangement for rear wheel vehicle... |  Download Scientific Diagram">
            <a:extLst>
              <a:ext uri="{FF2B5EF4-FFF2-40B4-BE49-F238E27FC236}">
                <a16:creationId xmlns:a16="http://schemas.microsoft.com/office/drawing/2014/main" id="{89BDC4D7-111E-4C95-BA28-CCB0C8E426C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90600"/>
            <a:ext cx="75438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914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56BB-A73F-477A-B025-EF61BAB48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FF0000"/>
                </a:solidFill>
                <a:latin typeface="Comic Sans MS" panose="030F0702030302020204" pitchFamily="66" charset="0"/>
              </a:rPr>
              <a:t>Propeller Shaft Construction </a:t>
            </a:r>
            <a:r>
              <a:rPr lang="en-GB" b="1" dirty="0">
                <a:solidFill>
                  <a:schemeClr val="accent3"/>
                </a:solidFill>
                <a:latin typeface="Comic Sans MS" panose="030F0702030302020204" pitchFamily="66" charset="0"/>
              </a:rPr>
              <a:t>cont..</a:t>
            </a:r>
            <a:endParaRPr lang="en-TZ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BE1E9-BC6A-49CD-8B5E-37B3AE210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GB" sz="32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A three-pieces propeller shaft</a:t>
            </a:r>
            <a:endParaRPr lang="en-GB" sz="3200" dirty="0">
              <a:solidFill>
                <a:schemeClr val="accent1"/>
              </a:solidFill>
              <a:latin typeface="Comic Sans MS" panose="030F0702030302020204" pitchFamily="66" charset="0"/>
            </a:endParaRPr>
          </a:p>
          <a:p>
            <a:pPr marL="0" indent="0" algn="just">
              <a:buNone/>
            </a:pPr>
            <a:r>
              <a:rPr lang="en-GB" sz="3200" dirty="0">
                <a:latin typeface="Comic Sans MS" panose="030F0702030302020204" pitchFamily="66" charset="0"/>
              </a:rPr>
              <a:t>There some times three pieces of shaft are used but it has the same part as two propeller shaft except this has two centre bearing and three pieces of shafts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344440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8C084-C139-4314-AA5E-D9B5D1B18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FF0000"/>
                </a:solidFill>
                <a:latin typeface="Comic Sans MS" panose="030F0702030302020204" pitchFamily="66" charset="0"/>
              </a:rPr>
              <a:t>Propeller Shaft Construction </a:t>
            </a:r>
            <a:r>
              <a:rPr lang="en-GB" b="1" dirty="0">
                <a:solidFill>
                  <a:schemeClr val="accent3"/>
                </a:solidFill>
                <a:latin typeface="Comic Sans MS" panose="030F0702030302020204" pitchFamily="66" charset="0"/>
              </a:rPr>
              <a:t>cont..</a:t>
            </a:r>
            <a:endParaRPr lang="en-TZ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D6FFA-BAF7-4566-B22D-13772318E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200" b="1" dirty="0">
                <a:latin typeface="Comic Sans MS" panose="030F0702030302020204" pitchFamily="66" charset="0"/>
              </a:rPr>
              <a:t>Inter-axle or coupling shaft </a:t>
            </a:r>
          </a:p>
          <a:p>
            <a:pPr marL="0" indent="0">
              <a:buNone/>
            </a:pPr>
            <a:r>
              <a:rPr lang="en-GB" sz="3200" dirty="0">
                <a:latin typeface="Comic Sans MS" panose="030F0702030302020204" pitchFamily="66" charset="0"/>
              </a:rPr>
              <a:t>It</a:t>
            </a:r>
            <a:r>
              <a:rPr lang="en-GB" sz="3200" b="1" dirty="0">
                <a:latin typeface="Comic Sans MS" panose="030F0702030302020204" pitchFamily="66" charset="0"/>
              </a:rPr>
              <a:t> </a:t>
            </a:r>
            <a:r>
              <a:rPr lang="en-GB" sz="3200" dirty="0">
                <a:latin typeface="Comic Sans MS" panose="030F0702030302020204" pitchFamily="66" charset="0"/>
              </a:rPr>
              <a:t>is required to transmit the drive from one differential to the other 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433664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8E01B14-2C8B-4F44-B703-E9BC9919EE9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14400"/>
            <a:ext cx="7251177" cy="502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92955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896D-25FA-4B53-A810-21373F380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latin typeface="Comic Sans MS" panose="030F0702030302020204" pitchFamily="66" charset="0"/>
              </a:rPr>
              <a:t>   Universal Joint</a:t>
            </a:r>
            <a:endParaRPr lang="en-US" sz="4000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B1305-35A7-40E3-8CAA-C9641AA10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Comic Sans MS" panose="030F0702030302020204" pitchFamily="66" charset="0"/>
              </a:rPr>
              <a:t>U-Joint (sometimes called a </a:t>
            </a:r>
            <a:r>
              <a:rPr lang="en-US" sz="2800" b="1" dirty="0">
                <a:latin typeface="Comic Sans MS" panose="030F0702030302020204" pitchFamily="66" charset="0"/>
              </a:rPr>
              <a:t>Cardan </a:t>
            </a:r>
            <a:r>
              <a:rPr lang="en-US" sz="2800" dirty="0">
                <a:latin typeface="Comic Sans MS" panose="030F0702030302020204" pitchFamily="66" charset="0"/>
              </a:rPr>
              <a:t>or </a:t>
            </a:r>
            <a:r>
              <a:rPr lang="en-US" sz="2800" b="1" dirty="0">
                <a:latin typeface="Comic Sans MS" panose="030F0702030302020204" pitchFamily="66" charset="0"/>
              </a:rPr>
              <a:t>Hooke’s </a:t>
            </a:r>
            <a:r>
              <a:rPr lang="en-US" sz="2800" dirty="0">
                <a:latin typeface="Comic Sans MS" panose="030F0702030302020204" pitchFamily="66" charset="0"/>
              </a:rPr>
              <a:t>joint) is a pivoting coupling made up of a four-way center </a:t>
            </a:r>
            <a:r>
              <a:rPr lang="en-US" sz="2800" b="1" dirty="0">
                <a:latin typeface="Comic Sans MS" panose="030F0702030302020204" pitchFamily="66" charset="0"/>
              </a:rPr>
              <a:t>crosspiece </a:t>
            </a:r>
            <a:r>
              <a:rPr lang="en-US" sz="2800" dirty="0">
                <a:latin typeface="Comic Sans MS" panose="030F0702030302020204" pitchFamily="66" charset="0"/>
              </a:rPr>
              <a:t>mounted between two yokes. </a:t>
            </a:r>
          </a:p>
          <a:p>
            <a:pPr marL="0" indent="0">
              <a:buNone/>
            </a:pPr>
            <a:r>
              <a:rPr lang="en-US" sz="2800" dirty="0">
                <a:latin typeface="Comic Sans MS" panose="030F0702030302020204" pitchFamily="66" charset="0"/>
              </a:rPr>
              <a:t>This crosspiece (sometimes called a </a:t>
            </a:r>
            <a:r>
              <a:rPr lang="en-US" sz="2800" b="1" dirty="0">
                <a:latin typeface="Comic Sans MS" panose="030F0702030302020204" pitchFamily="66" charset="0"/>
              </a:rPr>
              <a:t>spider</a:t>
            </a:r>
            <a:r>
              <a:rPr lang="en-US" sz="2800" dirty="0">
                <a:latin typeface="Comic Sans MS" panose="030F0702030302020204" pitchFamily="66" charset="0"/>
              </a:rPr>
              <a:t>) is the heart of the U-Joint.</a:t>
            </a:r>
          </a:p>
        </p:txBody>
      </p:sp>
    </p:spTree>
    <p:extLst>
      <p:ext uri="{BB962C8B-B14F-4D97-AF65-F5344CB8AC3E}">
        <p14:creationId xmlns:p14="http://schemas.microsoft.com/office/powerpoint/2010/main" val="2453205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latin typeface="Comic Sans MS" panose="030F0702030302020204" pitchFamily="66" charset="0"/>
              </a:rPr>
              <a:t>There is a precision-machined journal called a </a:t>
            </a:r>
            <a:r>
              <a:rPr lang="en-US" sz="2800" b="1" dirty="0">
                <a:latin typeface="Comic Sans MS" panose="030F0702030302020204" pitchFamily="66" charset="0"/>
              </a:rPr>
              <a:t>trunnion </a:t>
            </a:r>
            <a:r>
              <a:rPr lang="en-US" sz="2800" dirty="0">
                <a:latin typeface="Comic Sans MS" panose="030F0702030302020204" pitchFamily="66" charset="0"/>
              </a:rPr>
              <a:t>at each of the crosspiece's four ends. </a:t>
            </a:r>
          </a:p>
          <a:p>
            <a:pPr marL="0" indent="0">
              <a:buNone/>
            </a:pPr>
            <a:r>
              <a:rPr lang="en-US" sz="2800" dirty="0">
                <a:latin typeface="Comic Sans MS" panose="030F0702030302020204" pitchFamily="66" charset="0"/>
              </a:rPr>
              <a:t>A </a:t>
            </a:r>
            <a:r>
              <a:rPr lang="en-US" sz="2800" b="1" dirty="0">
                <a:latin typeface="Comic Sans MS" panose="030F0702030302020204" pitchFamily="66" charset="0"/>
              </a:rPr>
              <a:t>bearing cup </a:t>
            </a:r>
            <a:r>
              <a:rPr lang="en-US" sz="2800" dirty="0">
                <a:latin typeface="Comic Sans MS" panose="030F0702030302020204" pitchFamily="66" charset="0"/>
              </a:rPr>
              <a:t>assembly fits over each trunnion and contains a row of </a:t>
            </a:r>
            <a:r>
              <a:rPr lang="en-US" sz="2800" b="1" dirty="0">
                <a:latin typeface="Comic Sans MS" panose="030F0702030302020204" pitchFamily="66" charset="0"/>
              </a:rPr>
              <a:t>needle bearings </a:t>
            </a:r>
            <a:r>
              <a:rPr lang="en-US" sz="2800" dirty="0">
                <a:latin typeface="Comic Sans MS" panose="030F0702030302020204" pitchFamily="66" charset="0"/>
              </a:rPr>
              <a:t>that roll on the trunnion surface. 	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AF6DF-BA14-7A97-B9C6-159647855E79}"/>
              </a:ext>
            </a:extLst>
          </p:cNvPr>
          <p:cNvSpPr txBox="1"/>
          <p:nvPr/>
        </p:nvSpPr>
        <p:spPr>
          <a:xfrm>
            <a:off x="1752600" y="1143000"/>
            <a:ext cx="51174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Comic Sans MS" panose="030F0702030302020204" pitchFamily="66" charset="0"/>
              </a:rPr>
              <a:t>Universal Joint</a:t>
            </a:r>
            <a:endParaRPr lang="en-US" sz="4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3995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647700"/>
            <a:ext cx="68580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3878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versal Joint Assemblies (Standard Series): 3/4'' x 3/4'' I.D.(Inner  Diameter), 1000 RPM, 800 Lbs, 5&quot; Overall Length, 3/16'' Keyway, 133014:  Amazon.com: Industrial &amp; Scientific">
            <a:extLst>
              <a:ext uri="{FF2B5EF4-FFF2-40B4-BE49-F238E27FC236}">
                <a16:creationId xmlns:a16="http://schemas.microsoft.com/office/drawing/2014/main" id="{F8A72EE1-0D24-4159-991B-D2BA3683BC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524000"/>
            <a:ext cx="6629399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3042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>
                <a:latin typeface="+mn-lt"/>
              </a:rPr>
            </a:br>
            <a:br>
              <a:rPr lang="en-US" sz="4900" b="1" dirty="0">
                <a:latin typeface="+mn-lt"/>
              </a:rPr>
            </a:br>
            <a:r>
              <a:rPr lang="en-US" b="1" dirty="0">
                <a:latin typeface="+mn-lt"/>
              </a:rPr>
              <a:t>	</a:t>
            </a:r>
            <a:br>
              <a:rPr lang="en-US" b="1" dirty="0">
                <a:latin typeface="+mn-lt"/>
              </a:rPr>
            </a:b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6798736" cy="375826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Why can't propeller shafts be solid or of a fixed length</a:t>
            </a:r>
            <a:r>
              <a:rPr lang="en-US" sz="2800" b="1" dirty="0">
                <a:latin typeface="Comic Sans MS" panose="030F0702030302020204" pitchFamily="66" charset="0"/>
              </a:rPr>
              <a:t>? </a:t>
            </a:r>
          </a:p>
          <a:p>
            <a:pPr marL="0" indent="0" algn="just">
              <a:buNone/>
            </a:pPr>
            <a:r>
              <a:rPr lang="en-US" dirty="0">
                <a:latin typeface="Comic Sans MS" panose="030F0702030302020204" pitchFamily="66" charset="0"/>
              </a:rPr>
              <a:t>When the vehicle is driven, the rear axle assembly moves up and down on the vehicle's suspension. </a:t>
            </a:r>
          </a:p>
          <a:p>
            <a:pPr marL="0" indent="0" algn="just">
              <a:buNone/>
            </a:pPr>
            <a:r>
              <a:rPr lang="en-US" dirty="0">
                <a:latin typeface="Comic Sans MS" panose="030F0702030302020204" pitchFamily="66" charset="0"/>
              </a:rPr>
              <a:t>This movement requires the drive shaft to have the ability to flex and change length as the axle moves </a:t>
            </a:r>
            <a:r>
              <a:rPr lang="en-US" dirty="0"/>
              <a:t>	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034C6B-9FDD-642E-ECB0-496F078A5513}"/>
              </a:ext>
            </a:extLst>
          </p:cNvPr>
          <p:cNvSpPr txBox="1"/>
          <p:nvPr/>
        </p:nvSpPr>
        <p:spPr>
          <a:xfrm>
            <a:off x="1752600" y="1143000"/>
            <a:ext cx="51174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Comic Sans MS" panose="030F0702030302020204" pitchFamily="66" charset="0"/>
              </a:rPr>
              <a:t>Universal Joint</a:t>
            </a:r>
            <a:endParaRPr lang="en-US" sz="4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3084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514600"/>
            <a:ext cx="7696200" cy="3733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Comic Sans MS" panose="030F0702030302020204" pitchFamily="66" charset="0"/>
              </a:rPr>
              <a:t>Slip yoke </a:t>
            </a:r>
            <a:r>
              <a:rPr lang="en-US" dirty="0">
                <a:latin typeface="Comic Sans MS" panose="030F0702030302020204" pitchFamily="66" charset="0"/>
              </a:rPr>
              <a:t>is designed to accommodate this required change in driveshaft length by sliding in and out of the transmission tailshaft housing. </a:t>
            </a:r>
          </a:p>
          <a:p>
            <a:pPr marL="0" indent="0" algn="just">
              <a:buNone/>
            </a:pPr>
            <a:r>
              <a:rPr lang="en-US" dirty="0">
                <a:latin typeface="Comic Sans MS" panose="030F0702030302020204" pitchFamily="66" charset="0"/>
              </a:rPr>
              <a:t>The slip yoke and transmission tail-shaft are coupled using </a:t>
            </a:r>
            <a:r>
              <a:rPr lang="en-US" b="1" dirty="0">
                <a:latin typeface="Comic Sans MS" panose="030F0702030302020204" pitchFamily="66" charset="0"/>
              </a:rPr>
              <a:t>splines </a:t>
            </a:r>
            <a:r>
              <a:rPr lang="en-US" dirty="0">
                <a:latin typeface="Comic Sans MS" panose="030F0702030302020204" pitchFamily="66" charset="0"/>
              </a:rPr>
              <a:t>which allow the slip yoke to slide while receiving power from the tail-shaft. 	</a:t>
            </a:r>
          </a:p>
          <a:p>
            <a:pPr marL="0" indent="0" algn="just">
              <a:buNone/>
            </a:pPr>
            <a:r>
              <a:rPr lang="en-US" dirty="0">
                <a:latin typeface="Comic Sans MS" panose="030F0702030302020204" pitchFamily="66" charset="0"/>
              </a:rPr>
              <a:t>The slip yoke in most instances is coupled to the driveshaft via a </a:t>
            </a:r>
            <a:r>
              <a:rPr lang="en-US" b="1" dirty="0">
                <a:latin typeface="Comic Sans MS" panose="030F0702030302020204" pitchFamily="66" charset="0"/>
              </a:rPr>
              <a:t>universal joint</a:t>
            </a:r>
            <a:r>
              <a:rPr lang="en-US" dirty="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0B926C-18BC-7BDF-96AC-0652DCF068A4}"/>
              </a:ext>
            </a:extLst>
          </p:cNvPr>
          <p:cNvSpPr txBox="1"/>
          <p:nvPr/>
        </p:nvSpPr>
        <p:spPr>
          <a:xfrm>
            <a:off x="1752600" y="1143000"/>
            <a:ext cx="51174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Comic Sans MS" panose="030F0702030302020204" pitchFamily="66" charset="0"/>
              </a:rPr>
              <a:t>Universal Joint</a:t>
            </a:r>
            <a:endParaRPr lang="en-US" sz="4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6660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D07BB2-D8EF-4F76-82E7-411D9299FA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228600"/>
            <a:ext cx="8382000" cy="2933700"/>
          </a:xfrm>
          <a:prstGeom prst="rect">
            <a:avLst/>
          </a:prstGeom>
        </p:spPr>
      </p:pic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D781333A-D434-09F6-D02A-E661E8493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819400"/>
            <a:ext cx="8382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491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latin typeface="Comic Sans MS" panose="030F0702030302020204" pitchFamily="66" charset="0"/>
              </a:rPr>
              <a:t>Drive Axle Shaft(Half shaft)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GB" sz="2800" b="1" dirty="0">
                <a:latin typeface="Comic Sans MS" panose="030F0702030302020204" pitchFamily="66" charset="0"/>
              </a:rPr>
              <a:t>Drive Axle shaft (Halfshaft) </a:t>
            </a:r>
            <a:r>
              <a:rPr lang="en-GB" sz="2800" dirty="0">
                <a:latin typeface="Comic Sans MS" panose="030F0702030302020204" pitchFamily="66" charset="0"/>
              </a:rPr>
              <a:t>is shafts that transmit turning power directly between the </a:t>
            </a:r>
            <a:r>
              <a:rPr lang="en-US" sz="2800" dirty="0">
                <a:latin typeface="Comic Sans MS" panose="030F0702030302020204" pitchFamily="66" charset="0"/>
              </a:rPr>
              <a:t>transaxle</a:t>
            </a:r>
            <a:r>
              <a:rPr lang="en-US" sz="2800" b="1" dirty="0">
                <a:latin typeface="Comic Sans MS" panose="030F0702030302020204" pitchFamily="66" charset="0"/>
              </a:rPr>
              <a:t> </a:t>
            </a:r>
            <a:r>
              <a:rPr lang="en-GB" sz="2800" dirty="0">
                <a:latin typeface="Comic Sans MS" panose="030F0702030302020204" pitchFamily="66" charset="0"/>
              </a:rPr>
              <a:t>and the road wheels.</a:t>
            </a:r>
          </a:p>
          <a:p>
            <a:pPr marL="0" indent="0" algn="just">
              <a:buNone/>
            </a:pPr>
            <a:r>
              <a:rPr lang="en-GB" sz="2800" dirty="0">
                <a:latin typeface="Comic Sans MS" panose="030F0702030302020204" pitchFamily="66" charset="0"/>
              </a:rPr>
              <a:t>It used for front engine   and it can be;-</a:t>
            </a:r>
          </a:p>
          <a:p>
            <a:pPr marL="0" indent="0" algn="just">
              <a:buNone/>
            </a:pPr>
            <a:r>
              <a:rPr lang="en-GB" sz="2800" dirty="0">
                <a:latin typeface="Comic Sans MS" panose="030F0702030302020204" pitchFamily="66" charset="0"/>
              </a:rPr>
              <a:t>a. Equal length drive Axle shafts  </a:t>
            </a:r>
          </a:p>
          <a:p>
            <a:pPr marL="0" indent="0" algn="just">
              <a:buNone/>
            </a:pPr>
            <a:r>
              <a:rPr lang="en-GB" sz="2800" dirty="0">
                <a:latin typeface="Comic Sans MS" panose="030F0702030302020204" pitchFamily="66" charset="0"/>
              </a:rPr>
              <a:t>b. Unequal length drive axle shafts</a:t>
            </a:r>
          </a:p>
        </p:txBody>
      </p:sp>
    </p:spTree>
    <p:extLst>
      <p:ext uri="{BB962C8B-B14F-4D97-AF65-F5344CB8AC3E}">
        <p14:creationId xmlns:p14="http://schemas.microsoft.com/office/powerpoint/2010/main" val="3711114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latin typeface="Comic Sans MS" panose="030F0702030302020204" pitchFamily="66" charset="0"/>
              </a:rPr>
              <a:t>Drive Axle Shaft(Half shaft) </a:t>
            </a:r>
            <a:r>
              <a:rPr lang="en-GB" b="1" dirty="0">
                <a:solidFill>
                  <a:schemeClr val="accent3"/>
                </a:solidFill>
                <a:latin typeface="Comic Sans MS" panose="030F0702030302020204" pitchFamily="66" charset="0"/>
              </a:rPr>
              <a:t>cont..</a:t>
            </a:r>
            <a:endParaRPr lang="en-GB" dirty="0">
              <a:solidFill>
                <a:schemeClr val="accent3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AutoNum type="alphaLcPeriod"/>
            </a:pPr>
            <a:r>
              <a:rPr lang="en-GB" sz="2800" b="1" dirty="0">
                <a:latin typeface="Comic Sans MS" panose="030F0702030302020204" pitchFamily="66" charset="0"/>
              </a:rPr>
              <a:t>Equal length drive Axle shafts</a:t>
            </a:r>
          </a:p>
          <a:p>
            <a:pPr marL="0" indent="0" algn="just">
              <a:buNone/>
            </a:pPr>
            <a:r>
              <a:rPr lang="en-GB" sz="2800" dirty="0">
                <a:latin typeface="Comic Sans MS" panose="030F0702030302020204" pitchFamily="66" charset="0"/>
              </a:rPr>
              <a:t>In all front-wheel-drive cars with fore-and-aft mounted engines and transaxles, the drive Axle  shafts can obviously be made equal in length</a:t>
            </a:r>
            <a:r>
              <a:rPr lang="en-GB" dirty="0"/>
              <a:t>.</a:t>
            </a:r>
          </a:p>
          <a:p>
            <a:pPr marL="0" indent="0" algn="just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66305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046C51F7-7724-48BE-95FA-0730A72EB2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685800"/>
            <a:ext cx="73914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69187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528" y="1295400"/>
            <a:ext cx="6788944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93420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latin typeface="Comic Sans MS" panose="030F0702030302020204" pitchFamily="66" charset="0"/>
              </a:rPr>
              <a:t>Drive Axle Shaft(Half shaft) </a:t>
            </a:r>
            <a:r>
              <a:rPr lang="en-GB" b="1" dirty="0">
                <a:solidFill>
                  <a:schemeClr val="accent3"/>
                </a:solidFill>
                <a:latin typeface="Comic Sans MS" panose="030F0702030302020204" pitchFamily="66" charset="0"/>
              </a:rPr>
              <a:t>cont..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b="1" dirty="0">
                <a:latin typeface="Comic Sans MS" panose="030F0702030302020204" pitchFamily="66" charset="0"/>
              </a:rPr>
              <a:t>b. Unequal length drive axle shafts</a:t>
            </a:r>
          </a:p>
          <a:p>
            <a:pPr marL="0" indent="0" algn="just">
              <a:buNone/>
            </a:pPr>
            <a:r>
              <a:rPr lang="en-GB" dirty="0">
                <a:latin typeface="Comic Sans MS" panose="030F0702030302020204" pitchFamily="66" charset="0"/>
              </a:rPr>
              <a:t>For front-wheel-drive cars with transversely mounted engines and transmissions, the final drive housing can be offset appreciably from the mid-track of the wheels, such that the difference in lengths between the long and short drive shafts can be typically in the ratio of 3:2.</a:t>
            </a:r>
          </a:p>
        </p:txBody>
      </p:sp>
    </p:spTree>
    <p:extLst>
      <p:ext uri="{BB962C8B-B14F-4D97-AF65-F5344CB8AC3E}">
        <p14:creationId xmlns:p14="http://schemas.microsoft.com/office/powerpoint/2010/main" val="18411202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dirty="0">
                <a:latin typeface="Comic Sans MS" panose="030F0702030302020204" pitchFamily="66" charset="0"/>
              </a:rPr>
              <a:t>If the long and short shafts are made the same diameter then power is supplied to one wheel momentarily before the other. </a:t>
            </a:r>
          </a:p>
          <a:p>
            <a:pPr marL="0" indent="0" algn="just">
              <a:buNone/>
            </a:pPr>
            <a:r>
              <a:rPr lang="en-GB" dirty="0">
                <a:latin typeface="Comic Sans MS" panose="030F0702030302020204" pitchFamily="66" charset="0"/>
              </a:rPr>
              <a:t>To minimize this effect the longer shaft is stiffened by making it of larger-diameter tubular construction, while the shorter shaft remains of smaller-diameter solid construction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34C33-2CEB-BA27-2481-BBB8D45EE9E1}"/>
              </a:ext>
            </a:extLst>
          </p:cNvPr>
          <p:cNvSpPr txBox="1"/>
          <p:nvPr/>
        </p:nvSpPr>
        <p:spPr>
          <a:xfrm>
            <a:off x="762000" y="922868"/>
            <a:ext cx="7467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latin typeface="Comic Sans MS" panose="030F0702030302020204" pitchFamily="66" charset="0"/>
              </a:rPr>
              <a:t>Drive Axle Shaft(Half shaft) </a:t>
            </a:r>
            <a:r>
              <a:rPr lang="en-GB" sz="3600" b="1" dirty="0">
                <a:solidFill>
                  <a:schemeClr val="accent3"/>
                </a:solidFill>
                <a:latin typeface="Comic Sans MS" panose="030F0702030302020204" pitchFamily="66" charset="0"/>
              </a:rPr>
              <a:t>cont..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538909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194" name="Picture 2" descr="https://www.aa1car.com/library/halfshaft_unequal_length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82132"/>
            <a:ext cx="807720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65516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990600"/>
            <a:ext cx="7010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44494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Constant Velocity (CV) Joint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GB" b="1" dirty="0">
                <a:latin typeface="Comic Sans MS" panose="030F0702030302020204" pitchFamily="66" charset="0"/>
              </a:rPr>
              <a:t>Constant Velocity (CV) Joint</a:t>
            </a:r>
            <a:r>
              <a:rPr lang="en-US" b="1" dirty="0">
                <a:latin typeface="Comic Sans MS" panose="030F0702030302020204" pitchFamily="66" charset="0"/>
              </a:rPr>
              <a:t>s</a:t>
            </a:r>
            <a:r>
              <a:rPr lang="en-US" dirty="0">
                <a:latin typeface="Comic Sans MS" panose="030F0702030302020204" pitchFamily="66" charset="0"/>
              </a:rPr>
              <a:t> are designed to allow the halfshaft to transmit power and motion through a variable angle at constant rotational speed. 	</a:t>
            </a:r>
          </a:p>
          <a:p>
            <a:pPr marL="0" indent="0" algn="just">
              <a:buNone/>
            </a:pPr>
            <a:r>
              <a:rPr lang="en-GB" dirty="0">
                <a:latin typeface="Comic Sans MS" panose="030F0702030302020204" pitchFamily="66" charset="0"/>
              </a:rPr>
              <a:t>CV joints has got different designs which are</a:t>
            </a:r>
          </a:p>
          <a:p>
            <a:pPr marL="457200" indent="-457200" algn="just">
              <a:buFont typeface="+mj-lt"/>
              <a:buAutoNum type="alphaLcPeriod"/>
            </a:pPr>
            <a:r>
              <a:rPr lang="en-US" b="1" dirty="0">
                <a:latin typeface="Comic Sans MS" panose="030F0702030302020204" pitchFamily="66" charset="0"/>
              </a:rPr>
              <a:t>Rzeppa-Style Joint Design </a:t>
            </a:r>
          </a:p>
          <a:p>
            <a:pPr marL="457200" indent="-457200" algn="just">
              <a:buFont typeface="+mj-lt"/>
              <a:buAutoNum type="alphaLcPeriod"/>
            </a:pPr>
            <a:r>
              <a:rPr lang="en-US" b="1" dirty="0">
                <a:latin typeface="Comic Sans MS" panose="030F0702030302020204" pitchFamily="66" charset="0"/>
              </a:rPr>
              <a:t>Tripod-Style Joint Design    </a:t>
            </a:r>
          </a:p>
          <a:p>
            <a:pPr marL="0" indent="0" algn="just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38491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B3159-F2E3-4EB6-A3CE-9D338A197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Constant Velocity (CV) Joint </a:t>
            </a:r>
            <a:r>
              <a:rPr lang="en-GB" sz="4000" b="1" dirty="0">
                <a:solidFill>
                  <a:schemeClr val="accent3"/>
                </a:solidFill>
                <a:latin typeface="Comic Sans MS" panose="030F0702030302020204" pitchFamily="66" charset="0"/>
              </a:rPr>
              <a:t>cont.</a:t>
            </a:r>
            <a:endParaRPr lang="en-TZ" dirty="0">
              <a:solidFill>
                <a:schemeClr val="accent3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9EAF3-55A1-4606-B3BD-AB2DD22E2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5" y="2490135"/>
            <a:ext cx="6798736" cy="368206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a. Rzeppa-Style Joint Design </a:t>
            </a:r>
          </a:p>
          <a:p>
            <a:pPr marL="0" indent="0" algn="just">
              <a:buNone/>
            </a:pPr>
            <a:r>
              <a:rPr lang="en-US" dirty="0">
                <a:latin typeface="Comic Sans MS" panose="030F0702030302020204" pitchFamily="66" charset="0"/>
              </a:rPr>
              <a:t>The Rzeppa joint consists of a spherical </a:t>
            </a:r>
            <a:r>
              <a:rPr lang="en-US" b="1" dirty="0">
                <a:latin typeface="Comic Sans MS" panose="030F0702030302020204" pitchFamily="66" charset="0"/>
              </a:rPr>
              <a:t>inner and outer races </a:t>
            </a:r>
            <a:r>
              <a:rPr lang="en-US" dirty="0">
                <a:latin typeface="Comic Sans MS" panose="030F0702030302020204" pitchFamily="66" charset="0"/>
              </a:rPr>
              <a:t>connected by six steel </a:t>
            </a:r>
            <a:r>
              <a:rPr lang="en-US" b="1" dirty="0">
                <a:latin typeface="Comic Sans MS" panose="030F0702030302020204" pitchFamily="66" charset="0"/>
              </a:rPr>
              <a:t>bearings </a:t>
            </a:r>
            <a:r>
              <a:rPr lang="en-US" dirty="0">
                <a:latin typeface="Comic Sans MS" panose="030F0702030302020204" pitchFamily="66" charset="0"/>
              </a:rPr>
              <a:t>that run in longitudinal grooves cut into both races. 	</a:t>
            </a:r>
          </a:p>
          <a:p>
            <a:pPr marL="0" indent="0" algn="just">
              <a:buNone/>
            </a:pPr>
            <a:r>
              <a:rPr lang="en-GB" dirty="0">
                <a:latin typeface="Comic Sans MS" panose="030F0702030302020204" pitchFamily="66" charset="0"/>
              </a:rPr>
              <a:t>They are </a:t>
            </a:r>
            <a:r>
              <a:rPr lang="en-US" dirty="0">
                <a:latin typeface="Comic Sans MS" panose="030F0702030302020204" pitchFamily="66" charset="0"/>
              </a:rPr>
              <a:t>most common used as outer CV joint</a:t>
            </a:r>
          </a:p>
          <a:p>
            <a:pPr marL="0" indent="0" algn="just">
              <a:buNone/>
            </a:pPr>
            <a:r>
              <a:rPr lang="en-US" b="1" dirty="0">
                <a:latin typeface="Comic Sans MS" panose="030F0702030302020204" pitchFamily="66" charset="0"/>
              </a:rPr>
              <a:t>Note</a:t>
            </a:r>
            <a:r>
              <a:rPr lang="en-US" dirty="0">
                <a:latin typeface="Comic Sans MS" panose="030F0702030302020204" pitchFamily="66" charset="0"/>
              </a:rPr>
              <a:t>: Rzeppa is pronounced "</a:t>
            </a:r>
            <a:r>
              <a:rPr lang="en-US" dirty="0" err="1">
                <a:latin typeface="Comic Sans MS" panose="030F0702030302020204" pitchFamily="66" charset="0"/>
              </a:rPr>
              <a:t>shep</a:t>
            </a:r>
            <a:r>
              <a:rPr lang="en-US" dirty="0">
                <a:latin typeface="Comic Sans MS" panose="030F0702030302020204" pitchFamily="66" charset="0"/>
              </a:rPr>
              <a:t>-ah" </a:t>
            </a:r>
            <a:endParaRPr lang="en-GB" dirty="0">
              <a:latin typeface="Comic Sans MS" panose="030F0702030302020204" pitchFamily="66" charset="0"/>
            </a:endParaRP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4428633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3463E-C65B-4058-9800-32FE29A1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Constant Velocity (CV) Joint </a:t>
            </a:r>
            <a:r>
              <a:rPr lang="en-GB" sz="4000" b="1" dirty="0">
                <a:solidFill>
                  <a:schemeClr val="accent3"/>
                </a:solidFill>
                <a:latin typeface="Comic Sans MS" panose="030F0702030302020204" pitchFamily="66" charset="0"/>
              </a:rPr>
              <a:t>cont.</a:t>
            </a:r>
            <a:endParaRPr lang="en-TZ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2A2E7-4919-4535-AD83-F65B21CB2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5" y="2490135"/>
            <a:ext cx="6798736" cy="368206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>
                <a:latin typeface="Comic Sans MS" panose="030F0702030302020204" pitchFamily="66" charset="0"/>
              </a:rPr>
              <a:t>a. Rzeppa-Style Joint Design </a:t>
            </a:r>
            <a:r>
              <a:rPr lang="en-US" b="1" dirty="0">
                <a:solidFill>
                  <a:schemeClr val="accent3"/>
                </a:solidFill>
                <a:latin typeface="Comic Sans MS" panose="030F0702030302020204" pitchFamily="66" charset="0"/>
              </a:rPr>
              <a:t>cont..</a:t>
            </a:r>
          </a:p>
          <a:p>
            <a:pPr marL="0" indent="0" algn="just">
              <a:buNone/>
            </a:pPr>
            <a:r>
              <a:rPr lang="en-US" dirty="0">
                <a:latin typeface="Comic Sans MS" panose="030F0702030302020204" pitchFamily="66" charset="0"/>
              </a:rPr>
              <a:t>The </a:t>
            </a:r>
            <a:r>
              <a:rPr lang="en-US" b="1" dirty="0">
                <a:latin typeface="Comic Sans MS" panose="030F0702030302020204" pitchFamily="66" charset="0"/>
              </a:rPr>
              <a:t>axle shaft </a:t>
            </a:r>
            <a:r>
              <a:rPr lang="en-US" dirty="0">
                <a:latin typeface="Comic Sans MS" panose="030F0702030302020204" pitchFamily="66" charset="0"/>
              </a:rPr>
              <a:t>is splined to the inner race, which is retained by an external or internal snap ring. </a:t>
            </a:r>
          </a:p>
          <a:p>
            <a:pPr marL="0" indent="0" algn="just">
              <a:buNone/>
            </a:pPr>
            <a:r>
              <a:rPr lang="en-US" dirty="0">
                <a:latin typeface="Comic Sans MS" panose="030F0702030302020204" pitchFamily="66" charset="0"/>
              </a:rPr>
              <a:t>The outer race has a </a:t>
            </a:r>
            <a:r>
              <a:rPr lang="en-US" b="1" dirty="0">
                <a:latin typeface="Comic Sans MS" panose="030F0702030302020204" pitchFamily="66" charset="0"/>
              </a:rPr>
              <a:t>stub shaft </a:t>
            </a:r>
            <a:r>
              <a:rPr lang="en-US" dirty="0">
                <a:latin typeface="Comic Sans MS" panose="030F0702030302020204" pitchFamily="66" charset="0"/>
              </a:rPr>
              <a:t>made onto its outside end which is splined to the </a:t>
            </a:r>
            <a:r>
              <a:rPr lang="en-US" b="1" dirty="0">
                <a:latin typeface="Comic Sans MS" panose="030F0702030302020204" pitchFamily="66" charset="0"/>
              </a:rPr>
              <a:t>wheel hub</a:t>
            </a:r>
            <a:r>
              <a:rPr lang="en-US" dirty="0">
                <a:latin typeface="Comic Sans MS" panose="030F0702030302020204" pitchFamily="66" charset="0"/>
              </a:rPr>
              <a:t>. </a:t>
            </a:r>
          </a:p>
          <a:p>
            <a:pPr marL="0" indent="0" algn="just">
              <a:buNone/>
            </a:pPr>
            <a:r>
              <a:rPr lang="en-US" dirty="0">
                <a:latin typeface="Comic Sans MS" panose="030F0702030302020204" pitchFamily="66" charset="0"/>
              </a:rPr>
              <a:t>A </a:t>
            </a:r>
            <a:r>
              <a:rPr lang="en-US" b="1" dirty="0">
                <a:latin typeface="Comic Sans MS" panose="030F0702030302020204" pitchFamily="66" charset="0"/>
              </a:rPr>
              <a:t>cage </a:t>
            </a:r>
            <a:r>
              <a:rPr lang="en-US" dirty="0">
                <a:latin typeface="Comic Sans MS" panose="030F0702030302020204" pitchFamily="66" charset="0"/>
              </a:rPr>
              <a:t>fitted between the inner and outer race retains the bearings. </a:t>
            </a:r>
          </a:p>
          <a:p>
            <a:pPr marL="0" indent="0" algn="just">
              <a:buNone/>
            </a:pPr>
            <a:r>
              <a:rPr lang="en-US" dirty="0">
                <a:latin typeface="Comic Sans MS" panose="030F0702030302020204" pitchFamily="66" charset="0"/>
              </a:rPr>
              <a:t>The bearings connect and transmit power and motion between the inner and outer races. 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6595234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609600"/>
            <a:ext cx="68580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5649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zeppa CV Joint | 3D CAD Model Library | GrabCAD">
            <a:extLst>
              <a:ext uri="{FF2B5EF4-FFF2-40B4-BE49-F238E27FC236}">
                <a16:creationId xmlns:a16="http://schemas.microsoft.com/office/drawing/2014/main" id="{A1AEE682-1CB6-49C4-A136-7871485B0B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108868"/>
            <a:ext cx="7180880" cy="464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51543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zeppa CV Joint | 3D CAD Model Library | GrabCAD">
            <a:extLst>
              <a:ext uri="{FF2B5EF4-FFF2-40B4-BE49-F238E27FC236}">
                <a16:creationId xmlns:a16="http://schemas.microsoft.com/office/drawing/2014/main" id="{17C3C5BC-F10A-4D39-A78A-C41DA00649C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94568"/>
            <a:ext cx="7467600" cy="4868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9137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509C0-AF71-4C19-A999-06D2DB40B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Constant Velocity (CV) Joint </a:t>
            </a:r>
            <a:r>
              <a:rPr lang="en-GB" sz="4000" b="1" dirty="0">
                <a:solidFill>
                  <a:schemeClr val="accent3"/>
                </a:solidFill>
                <a:latin typeface="Comic Sans MS" panose="030F0702030302020204" pitchFamily="66" charset="0"/>
              </a:rPr>
              <a:t>cont</a:t>
            </a:r>
            <a:r>
              <a:rPr lang="en-GB" sz="4000" b="1" dirty="0">
                <a:solidFill>
                  <a:schemeClr val="accent3"/>
                </a:solidFill>
              </a:rPr>
              <a:t>.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22614-A08D-4E89-97D1-856BEB5F6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5" y="2490135"/>
            <a:ext cx="6798736" cy="368206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b. Tripod-Style Joint Design    </a:t>
            </a:r>
          </a:p>
          <a:p>
            <a:pPr marL="0" indent="0" algn="just">
              <a:buNone/>
            </a:pPr>
            <a:r>
              <a:rPr lang="en-US" dirty="0">
                <a:latin typeface="Comic Sans MS" panose="030F0702030302020204" pitchFamily="66" charset="0"/>
              </a:rPr>
              <a:t>The tripod joint consists of a three-legged </a:t>
            </a:r>
            <a:r>
              <a:rPr lang="en-US" b="1" dirty="0">
                <a:latin typeface="Comic Sans MS" panose="030F0702030302020204" pitchFamily="66" charset="0"/>
              </a:rPr>
              <a:t>inner race </a:t>
            </a:r>
            <a:r>
              <a:rPr lang="en-US" dirty="0">
                <a:latin typeface="Comic Sans MS" panose="030F0702030302020204" pitchFamily="66" charset="0"/>
              </a:rPr>
              <a:t>or cross with </a:t>
            </a:r>
            <a:r>
              <a:rPr lang="en-US" b="1" dirty="0">
                <a:latin typeface="Comic Sans MS" panose="030F0702030302020204" pitchFamily="66" charset="0"/>
              </a:rPr>
              <a:t>rollers </a:t>
            </a:r>
            <a:r>
              <a:rPr lang="en-US" dirty="0">
                <a:latin typeface="Comic Sans MS" panose="030F0702030302020204" pitchFamily="66" charset="0"/>
              </a:rPr>
              <a:t>on the end of each leg. </a:t>
            </a:r>
          </a:p>
          <a:p>
            <a:pPr marL="0" indent="0" algn="just">
              <a:buNone/>
            </a:pPr>
            <a:r>
              <a:rPr lang="en-US" dirty="0">
                <a:latin typeface="Comic Sans MS" panose="030F0702030302020204" pitchFamily="66" charset="0"/>
              </a:rPr>
              <a:t>This inner race is splined to the axle shaft, and is retained by an external or internal snap ring. </a:t>
            </a:r>
          </a:p>
          <a:p>
            <a:pPr marL="0" indent="0" algn="just">
              <a:buNone/>
            </a:pPr>
            <a:r>
              <a:rPr lang="en-GB" dirty="0">
                <a:latin typeface="Comic Sans MS" panose="030F0702030302020204" pitchFamily="66" charset="0"/>
              </a:rPr>
              <a:t>They are </a:t>
            </a:r>
            <a:r>
              <a:rPr lang="en-US" dirty="0">
                <a:latin typeface="Comic Sans MS" panose="030F0702030302020204" pitchFamily="66" charset="0"/>
              </a:rPr>
              <a:t>most common used as inner CV joint 	</a:t>
            </a:r>
          </a:p>
          <a:p>
            <a:pPr marL="0" indent="0" algn="just">
              <a:buNone/>
            </a:pPr>
            <a:r>
              <a:rPr lang="en-US" dirty="0">
                <a:latin typeface="Comic Sans MS" panose="030F0702030302020204" pitchFamily="66" charset="0"/>
              </a:rPr>
              <a:t>The rollers connect and transmit power and motion between the inner and outer races 	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6160679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7D8F3-C868-4B0D-A480-0DBAFB4E8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Constant Velocity (CV) Joint </a:t>
            </a:r>
            <a:r>
              <a:rPr lang="en-GB" sz="4000" b="1" dirty="0" err="1">
                <a:solidFill>
                  <a:schemeClr val="accent3"/>
                </a:solidFill>
                <a:latin typeface="Comic Sans MS" panose="030F0702030302020204" pitchFamily="66" charset="0"/>
              </a:rPr>
              <a:t>cont</a:t>
            </a:r>
            <a:endParaRPr lang="en-TZ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C68C2-F727-4531-8001-7FA37F660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5" y="2490135"/>
            <a:ext cx="6798736" cy="36058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b. Tripod-Style Joint Design    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This type of joint is designed to plunge in and out with suspension movement and corresponding half-shaft length change. 	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The </a:t>
            </a:r>
            <a:r>
              <a:rPr lang="en-US" b="1" dirty="0">
                <a:latin typeface="Comic Sans MS" panose="030F0702030302020204" pitchFamily="66" charset="0"/>
              </a:rPr>
              <a:t>axle shaft </a:t>
            </a:r>
            <a:r>
              <a:rPr lang="en-US" dirty="0">
                <a:latin typeface="Comic Sans MS" panose="030F0702030302020204" pitchFamily="66" charset="0"/>
              </a:rPr>
              <a:t>is splined to the inner race, which is retained by an external or internal snap ring.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The outer race or tulip have a </a:t>
            </a:r>
            <a:r>
              <a:rPr lang="en-US" b="1" dirty="0">
                <a:latin typeface="Comic Sans MS" panose="030F0702030302020204" pitchFamily="66" charset="0"/>
              </a:rPr>
              <a:t>stub shaft </a:t>
            </a:r>
            <a:r>
              <a:rPr lang="en-US" dirty="0">
                <a:latin typeface="Comic Sans MS" panose="030F0702030302020204" pitchFamily="66" charset="0"/>
              </a:rPr>
              <a:t>made onto its outside end for attachment to the output shaft of the transaxle.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3044316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304799"/>
            <a:ext cx="4552949" cy="6248399"/>
          </a:xfrm>
          <a:prstGeom prst="rect">
            <a:avLst/>
          </a:prstGeom>
        </p:spPr>
      </p:pic>
      <p:pic>
        <p:nvPicPr>
          <p:cNvPr id="5122" name="Picture 2" descr="9 Drive Shafts and CV Joints. - ppt video online download">
            <a:extLst>
              <a:ext uri="{FF2B5EF4-FFF2-40B4-BE49-F238E27FC236}">
                <a16:creationId xmlns:a16="http://schemas.microsoft.com/office/drawing/2014/main" id="{FFBEB78E-2000-436D-BDA2-EF6224ADB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412" y="319086"/>
            <a:ext cx="4552950" cy="6248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41328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n on Universal and CV Joints">
            <a:extLst>
              <a:ext uri="{FF2B5EF4-FFF2-40B4-BE49-F238E27FC236}">
                <a16:creationId xmlns:a16="http://schemas.microsoft.com/office/drawing/2014/main" id="{15C89ACC-DC15-4536-B181-3E54C57280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914400"/>
            <a:ext cx="71628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48589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Tripod Joint | 3D CAD Model Library | GrabCAD">
            <a:extLst>
              <a:ext uri="{FF2B5EF4-FFF2-40B4-BE49-F238E27FC236}">
                <a16:creationId xmlns:a16="http://schemas.microsoft.com/office/drawing/2014/main" id="{0A1EE113-A9A4-4F8D-996D-EC715A01A0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762000"/>
            <a:ext cx="6705600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605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286000"/>
            <a:ext cx="7543800" cy="3763963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1" dirty="0">
                <a:latin typeface="Comic Sans MS" panose="030F0702030302020204" pitchFamily="66" charset="0"/>
              </a:rPr>
              <a:t>Boots and Clamps </a:t>
            </a:r>
          </a:p>
          <a:p>
            <a:pPr marL="0" indent="0" algn="just">
              <a:buNone/>
            </a:pPr>
            <a:r>
              <a:rPr lang="en-US" sz="2800" dirty="0">
                <a:latin typeface="Comic Sans MS" panose="030F0702030302020204" pitchFamily="66" charset="0"/>
              </a:rPr>
              <a:t>All CV Joints are enclosed by a neoprene or plastic boot to keep lubricant in and contaminants out. </a:t>
            </a:r>
          </a:p>
          <a:p>
            <a:pPr marL="0" indent="0" algn="just">
              <a:buNone/>
            </a:pPr>
            <a:r>
              <a:rPr lang="en-US" sz="2800" dirty="0">
                <a:latin typeface="Comic Sans MS" panose="030F0702030302020204" pitchFamily="66" charset="0"/>
              </a:rPr>
              <a:t>The boot is </a:t>
            </a:r>
            <a:r>
              <a:rPr lang="en-US" sz="2800" b="1" dirty="0">
                <a:latin typeface="Comic Sans MS" panose="030F0702030302020204" pitchFamily="66" charset="0"/>
              </a:rPr>
              <a:t>convoluted </a:t>
            </a:r>
            <a:r>
              <a:rPr lang="en-US" sz="2800" dirty="0">
                <a:latin typeface="Comic Sans MS" panose="030F0702030302020204" pitchFamily="66" charset="0"/>
              </a:rPr>
              <a:t>to allow it to flex as halfshaft angles change. 	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D65233-C942-05F8-C178-5060E1EB7987}"/>
              </a:ext>
            </a:extLst>
          </p:cNvPr>
          <p:cNvSpPr txBox="1"/>
          <p:nvPr/>
        </p:nvSpPr>
        <p:spPr>
          <a:xfrm>
            <a:off x="990600" y="990600"/>
            <a:ext cx="58781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latin typeface="Comic Sans MS" panose="030F0702030302020204" pitchFamily="66" charset="0"/>
              </a:rPr>
              <a:t>Constant Velocity (CV) Joint </a:t>
            </a:r>
            <a:r>
              <a:rPr lang="en-GB" sz="3600" b="1" dirty="0" err="1">
                <a:solidFill>
                  <a:schemeClr val="accent3"/>
                </a:solidFill>
                <a:latin typeface="Comic Sans MS" panose="030F0702030302020204" pitchFamily="66" charset="0"/>
              </a:rPr>
              <a:t>cont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404195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C7772D-312C-4C08-AF9E-8D38D8E22E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685800"/>
            <a:ext cx="6705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694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Did you know there... - 48hrs Auto Parts/ C.V. Joints Xpress | Facebook">
            <a:extLst>
              <a:ext uri="{FF2B5EF4-FFF2-40B4-BE49-F238E27FC236}">
                <a16:creationId xmlns:a16="http://schemas.microsoft.com/office/drawing/2014/main" id="{B887F9AA-D8AE-4013-B508-20167DD49C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571500"/>
            <a:ext cx="8001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07768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4000" dirty="0"/>
            </a:br>
            <a:r>
              <a:rPr lang="en-US" sz="4000" b="1" dirty="0">
                <a:latin typeface="Comic Sans MS" panose="030F0702030302020204" pitchFamily="66" charset="0"/>
              </a:rPr>
              <a:t>Differences of half shaft from propeller shaft 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GB" sz="2800" dirty="0">
                <a:latin typeface="Comic Sans MS" panose="030F0702030302020204" pitchFamily="66" charset="0"/>
              </a:rPr>
              <a:t>The location of the half shafts is such that they are necessarily shorter in length.</a:t>
            </a:r>
          </a:p>
          <a:p>
            <a:pPr algn="just"/>
            <a:r>
              <a:rPr lang="en-GB" sz="2800" dirty="0">
                <a:latin typeface="Comic Sans MS" panose="030F0702030302020204" pitchFamily="66" charset="0"/>
              </a:rPr>
              <a:t>Since the half shafts operate directly between the final drive and the road wheels they transmit greater torque.</a:t>
            </a:r>
          </a:p>
          <a:p>
            <a:pPr algn="just"/>
            <a:r>
              <a:rPr lang="en-GB" sz="2800" dirty="0">
                <a:latin typeface="Comic Sans MS" panose="030F0702030302020204" pitchFamily="66" charset="0"/>
              </a:rPr>
              <a:t>They are always in pair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12269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533400"/>
            <a:ext cx="6798734" cy="1066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Maintenance of Propeller shaft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600200"/>
            <a:ext cx="762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153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585789"/>
            <a:ext cx="6798734" cy="862012"/>
          </a:xfrm>
        </p:spPr>
        <p:txBody>
          <a:bodyPr>
            <a:norm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Maintenance of Half shaft</a:t>
            </a: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447801"/>
            <a:ext cx="7620000" cy="482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5922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ow to Replace a CV Joint and Axle - Car Noise When Turning - DIY with S...  | Car mechanic, Car maintenance, Car fix">
            <a:extLst>
              <a:ext uri="{FF2B5EF4-FFF2-40B4-BE49-F238E27FC236}">
                <a16:creationId xmlns:a16="http://schemas.microsoft.com/office/drawing/2014/main" id="{4DD77D2C-AA77-4314-8D78-197C8AFD9BB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524000"/>
            <a:ext cx="6858000" cy="441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47192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8000" b="1" i="1" dirty="0">
                <a:latin typeface="Comic Sans MS" panose="030F0702030302020204" pitchFamily="66" charset="0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8726692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11113</TotalTime>
  <Words>1522</Words>
  <Application>Microsoft Office PowerPoint</Application>
  <PresentationFormat>On-screen Show (4:3)</PresentationFormat>
  <Paragraphs>137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Arial</vt:lpstr>
      <vt:lpstr>Comic Sans MS</vt:lpstr>
      <vt:lpstr>Garamond</vt:lpstr>
      <vt:lpstr>Organic</vt:lpstr>
      <vt:lpstr>Lecture 4; Drive System</vt:lpstr>
      <vt:lpstr>What to be learned</vt:lpstr>
      <vt:lpstr>Introduction</vt:lpstr>
      <vt:lpstr>Introduction</vt:lpstr>
      <vt:lpstr>Introduction</vt:lpstr>
      <vt:lpstr>Introduction</vt:lpstr>
      <vt:lpstr>Introduction</vt:lpstr>
      <vt:lpstr>Propeller Shaft</vt:lpstr>
      <vt:lpstr>Propeller Shaft Construction</vt:lpstr>
      <vt:lpstr>Propeller Shaft Construction cont..</vt:lpstr>
      <vt:lpstr>Propeller Shaft Construction cont..</vt:lpstr>
      <vt:lpstr>PowerPoint Presentation</vt:lpstr>
      <vt:lpstr>Propeller Shaft Construction cont..</vt:lpstr>
      <vt:lpstr>Propeller Shaft Construction cont..</vt:lpstr>
      <vt:lpstr>Propeller Shaft Construction cont..</vt:lpstr>
      <vt:lpstr>PowerPoint Presentation</vt:lpstr>
      <vt:lpstr>PowerPoint Presentation</vt:lpstr>
      <vt:lpstr>Propeller Shaft Construction cont..</vt:lpstr>
      <vt:lpstr>PowerPoint Presentation</vt:lpstr>
      <vt:lpstr>PowerPoint Presentation</vt:lpstr>
      <vt:lpstr>Propeller Shaft Construction cont..</vt:lpstr>
      <vt:lpstr>Propeller Shaft Construction cont..</vt:lpstr>
      <vt:lpstr>PowerPoint Presentation</vt:lpstr>
      <vt:lpstr>   Universal Joint</vt:lpstr>
      <vt:lpstr>PowerPoint Presentation</vt:lpstr>
      <vt:lpstr>PowerPoint Presentation</vt:lpstr>
      <vt:lpstr>PowerPoint Presentation</vt:lpstr>
      <vt:lpstr>    </vt:lpstr>
      <vt:lpstr>PowerPoint Presentation</vt:lpstr>
      <vt:lpstr>PowerPoint Presentation</vt:lpstr>
      <vt:lpstr>Drive Axle Shaft(Half shaft)</vt:lpstr>
      <vt:lpstr>Drive Axle Shaft(Half shaft) cont..</vt:lpstr>
      <vt:lpstr>PowerPoint Presentation</vt:lpstr>
      <vt:lpstr>PowerPoint Presentation</vt:lpstr>
      <vt:lpstr>Drive Axle Shaft(Half shaft) cont..</vt:lpstr>
      <vt:lpstr>PowerPoint Presentation</vt:lpstr>
      <vt:lpstr>PowerPoint Presentation</vt:lpstr>
      <vt:lpstr>PowerPoint Presentation</vt:lpstr>
      <vt:lpstr>Constant Velocity (CV) Joint</vt:lpstr>
      <vt:lpstr>Constant Velocity (CV) Joint cont.</vt:lpstr>
      <vt:lpstr>Constant Velocity (CV) Joint cont.</vt:lpstr>
      <vt:lpstr>PowerPoint Presentation</vt:lpstr>
      <vt:lpstr>PowerPoint Presentation</vt:lpstr>
      <vt:lpstr>PowerPoint Presentation</vt:lpstr>
      <vt:lpstr>Constant Velocity (CV) Joint cont.</vt:lpstr>
      <vt:lpstr>Constant Velocity (CV) Joint cont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Differences of half shaft from propeller shaft  </vt:lpstr>
      <vt:lpstr>Maintenance of Propeller shaft</vt:lpstr>
      <vt:lpstr>Maintenance of Half shaft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PROPELLER SHAFT AND DRIVE SHAFT</dc:title>
  <dc:creator>Shanel</dc:creator>
  <cp:lastModifiedBy>Shanel</cp:lastModifiedBy>
  <cp:revision>127</cp:revision>
  <dcterms:created xsi:type="dcterms:W3CDTF">2006-08-16T00:00:00Z</dcterms:created>
  <dcterms:modified xsi:type="dcterms:W3CDTF">2024-12-12T06:37:10Z</dcterms:modified>
</cp:coreProperties>
</file>