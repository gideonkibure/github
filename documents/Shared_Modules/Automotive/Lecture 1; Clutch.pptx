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7"/>
  </p:notesMasterIdLst>
  <p:sldIdLst>
    <p:sldId id="334" r:id="rId2"/>
    <p:sldId id="335" r:id="rId3"/>
    <p:sldId id="336" r:id="rId4"/>
    <p:sldId id="258" r:id="rId5"/>
    <p:sldId id="265" r:id="rId6"/>
    <p:sldId id="267" r:id="rId7"/>
    <p:sldId id="337" r:id="rId8"/>
    <p:sldId id="348" r:id="rId9"/>
    <p:sldId id="347" r:id="rId10"/>
    <p:sldId id="349" r:id="rId11"/>
    <p:sldId id="350" r:id="rId12"/>
    <p:sldId id="338" r:id="rId13"/>
    <p:sldId id="328" r:id="rId14"/>
    <p:sldId id="270" r:id="rId15"/>
    <p:sldId id="271" r:id="rId16"/>
    <p:sldId id="339" r:id="rId17"/>
    <p:sldId id="340" r:id="rId18"/>
    <p:sldId id="319" r:id="rId19"/>
    <p:sldId id="273" r:id="rId20"/>
    <p:sldId id="341" r:id="rId21"/>
    <p:sldId id="274" r:id="rId22"/>
    <p:sldId id="285" r:id="rId23"/>
    <p:sldId id="333" r:id="rId24"/>
    <p:sldId id="275" r:id="rId25"/>
    <p:sldId id="292" r:id="rId26"/>
    <p:sldId id="291" r:id="rId27"/>
    <p:sldId id="287" r:id="rId28"/>
    <p:sldId id="282" r:id="rId29"/>
    <p:sldId id="329" r:id="rId30"/>
    <p:sldId id="276" r:id="rId31"/>
    <p:sldId id="303" r:id="rId32"/>
    <p:sldId id="342" r:id="rId33"/>
    <p:sldId id="302" r:id="rId34"/>
    <p:sldId id="296" r:id="rId35"/>
    <p:sldId id="304" r:id="rId36"/>
    <p:sldId id="297" r:id="rId37"/>
    <p:sldId id="317" r:id="rId38"/>
    <p:sldId id="305" r:id="rId39"/>
    <p:sldId id="298" r:id="rId40"/>
    <p:sldId id="343" r:id="rId41"/>
    <p:sldId id="295" r:id="rId42"/>
    <p:sldId id="288" r:id="rId43"/>
    <p:sldId id="344" r:id="rId44"/>
    <p:sldId id="330" r:id="rId45"/>
    <p:sldId id="299" r:id="rId46"/>
    <p:sldId id="345" r:id="rId47"/>
    <p:sldId id="300" r:id="rId48"/>
    <p:sldId id="346" r:id="rId49"/>
    <p:sldId id="277" r:id="rId50"/>
    <p:sldId id="283" r:id="rId51"/>
    <p:sldId id="284" r:id="rId52"/>
    <p:sldId id="354" r:id="rId53"/>
    <p:sldId id="321" r:id="rId54"/>
    <p:sldId id="322" r:id="rId55"/>
    <p:sldId id="323" r:id="rId56"/>
    <p:sldId id="324" r:id="rId57"/>
    <p:sldId id="353" r:id="rId58"/>
    <p:sldId id="325" r:id="rId59"/>
    <p:sldId id="326" r:id="rId60"/>
    <p:sldId id="352" r:id="rId61"/>
    <p:sldId id="327" r:id="rId62"/>
    <p:sldId id="351" r:id="rId63"/>
    <p:sldId id="314" r:id="rId64"/>
    <p:sldId id="331" r:id="rId65"/>
    <p:sldId id="332" r:id="rId6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E97D92-AE73-411A-9D3A-C29A0AB6B1AF}" type="datetimeFigureOut">
              <a:rPr lang="en-US" smtClean="0"/>
              <a:t>11/6/2024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573EDD-89C3-4AE7-A022-BD84D508905A}" type="slidenum">
              <a:rPr lang="en-US" smtClean="0"/>
              <a:t>‹#›</a:t>
            </a:fld>
            <a:endParaRPr lang="en-US"/>
          </a:p>
        </p:txBody>
      </p:sp>
    </p:spTree>
    <p:extLst>
      <p:ext uri="{BB962C8B-B14F-4D97-AF65-F5344CB8AC3E}">
        <p14:creationId xmlns:p14="http://schemas.microsoft.com/office/powerpoint/2010/main" val="2201623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573EDD-89C3-4AE7-A022-BD84D508905A}" type="slidenum">
              <a:rPr lang="en-US" smtClean="0"/>
              <a:t>29</a:t>
            </a:fld>
            <a:endParaRPr lang="en-US"/>
          </a:p>
        </p:txBody>
      </p:sp>
    </p:spTree>
    <p:extLst>
      <p:ext uri="{BB962C8B-B14F-4D97-AF65-F5344CB8AC3E}">
        <p14:creationId xmlns:p14="http://schemas.microsoft.com/office/powerpoint/2010/main" val="29342471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F4565F-7000-450E-ADB7-ADB5B06F26E1}" type="datetimeFigureOut">
              <a:rPr lang="en-US" smtClean="0"/>
              <a:t>11/6/2024</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9B4A6334-CDF0-49F4-9ECB-C0F4934C5E81}"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19253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F4565F-7000-450E-ADB7-ADB5B06F26E1}"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A6334-CDF0-49F4-9ECB-C0F4934C5E81}" type="slidenum">
              <a:rPr lang="en-US" smtClean="0"/>
              <a:t>‹#›</a:t>
            </a:fld>
            <a:endParaRPr lang="en-US"/>
          </a:p>
        </p:txBody>
      </p:sp>
    </p:spTree>
    <p:extLst>
      <p:ext uri="{BB962C8B-B14F-4D97-AF65-F5344CB8AC3E}">
        <p14:creationId xmlns:p14="http://schemas.microsoft.com/office/powerpoint/2010/main" val="1158885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F4565F-7000-450E-ADB7-ADB5B06F26E1}"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A6334-CDF0-49F4-9ECB-C0F4934C5E81}"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7236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F4565F-7000-450E-ADB7-ADB5B06F26E1}" type="datetimeFigureOut">
              <a:rPr lang="en-US" smtClean="0"/>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4A6334-CDF0-49F4-9ECB-C0F4934C5E81}" type="slidenum">
              <a:rPr lang="en-US" smtClean="0"/>
              <a:t>‹#›</a:t>
            </a:fld>
            <a:endParaRPr lang="en-US"/>
          </a:p>
        </p:txBody>
      </p:sp>
    </p:spTree>
    <p:extLst>
      <p:ext uri="{BB962C8B-B14F-4D97-AF65-F5344CB8AC3E}">
        <p14:creationId xmlns:p14="http://schemas.microsoft.com/office/powerpoint/2010/main" val="2221524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F4565F-7000-450E-ADB7-ADB5B06F26E1}" type="datetimeFigureOut">
              <a:rPr lang="en-US" smtClean="0"/>
              <a:t>11/6/2024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4A6334-CDF0-49F4-9ECB-C0F4934C5E81}"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3161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F4565F-7000-450E-ADB7-ADB5B06F26E1}" type="datetimeFigureOut">
              <a:rPr lang="en-US" smtClean="0"/>
              <a:t>11/6/2024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4A6334-CDF0-49F4-9ECB-C0F4934C5E81}"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81490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F4565F-7000-450E-ADB7-ADB5B06F26E1}" type="datetimeFigureOut">
              <a:rPr lang="en-US" smtClean="0"/>
              <a:t>11/6/2024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4A6334-CDF0-49F4-9ECB-C0F4934C5E81}" type="slidenum">
              <a:rPr lang="en-US" smtClean="0"/>
              <a:t>‹#›</a:t>
            </a:fld>
            <a:endParaRPr lang="en-US"/>
          </a:p>
        </p:txBody>
      </p:sp>
    </p:spTree>
    <p:extLst>
      <p:ext uri="{BB962C8B-B14F-4D97-AF65-F5344CB8AC3E}">
        <p14:creationId xmlns:p14="http://schemas.microsoft.com/office/powerpoint/2010/main" val="2345006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F4565F-7000-450E-ADB7-ADB5B06F26E1}" type="datetimeFigureOut">
              <a:rPr lang="en-US" smtClean="0"/>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4A6334-CDF0-49F4-9ECB-C0F4934C5E81}"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44207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F4565F-7000-450E-ADB7-ADB5B06F26E1}" type="datetimeFigureOut">
              <a:rPr lang="en-US" smtClean="0"/>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4A6334-CDF0-49F4-9ECB-C0F4934C5E81}" type="slidenum">
              <a:rPr lang="en-US" smtClean="0"/>
              <a:t>‹#›</a:t>
            </a:fld>
            <a:endParaRPr lang="en-US"/>
          </a:p>
        </p:txBody>
      </p:sp>
    </p:spTree>
    <p:extLst>
      <p:ext uri="{BB962C8B-B14F-4D97-AF65-F5344CB8AC3E}">
        <p14:creationId xmlns:p14="http://schemas.microsoft.com/office/powerpoint/2010/main" val="2659867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F4565F-7000-450E-ADB7-ADB5B06F26E1}" type="datetimeFigureOut">
              <a:rPr lang="en-US" smtClean="0"/>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4A6334-CDF0-49F4-9ECB-C0F4934C5E81}" type="slidenum">
              <a:rPr lang="en-US" smtClean="0"/>
              <a:t>‹#›</a:t>
            </a:fld>
            <a:endParaRPr lang="en-US"/>
          </a:p>
        </p:txBody>
      </p:sp>
    </p:spTree>
    <p:extLst>
      <p:ext uri="{BB962C8B-B14F-4D97-AF65-F5344CB8AC3E}">
        <p14:creationId xmlns:p14="http://schemas.microsoft.com/office/powerpoint/2010/main" val="2491147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F4565F-7000-450E-ADB7-ADB5B06F26E1}"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A6334-CDF0-49F4-9ECB-C0F4934C5E81}"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93313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F4565F-7000-450E-ADB7-ADB5B06F26E1}"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A6334-CDF0-49F4-9ECB-C0F4934C5E81}"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06714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F4565F-7000-450E-ADB7-ADB5B06F26E1}"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A6334-CDF0-49F4-9ECB-C0F4934C5E81}" type="slidenum">
              <a:rPr lang="en-US" smtClean="0"/>
              <a:t>‹#›</a:t>
            </a:fld>
            <a:endParaRPr lang="en-US"/>
          </a:p>
        </p:txBody>
      </p:sp>
    </p:spTree>
    <p:extLst>
      <p:ext uri="{BB962C8B-B14F-4D97-AF65-F5344CB8AC3E}">
        <p14:creationId xmlns:p14="http://schemas.microsoft.com/office/powerpoint/2010/main" val="23146209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F4565F-7000-450E-ADB7-ADB5B06F26E1}"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A6334-CDF0-49F4-9ECB-C0F4934C5E81}"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74495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F4565F-7000-450E-ADB7-ADB5B06F26E1}"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A6334-CDF0-49F4-9ECB-C0F4934C5E81}"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62362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F4565F-7000-450E-ADB7-ADB5B06F26E1}"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A6334-CDF0-49F4-9ECB-C0F4934C5E81}"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63702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F4565F-7000-450E-ADB7-ADB5B06F26E1}"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A6334-CDF0-49F4-9ECB-C0F4934C5E81}"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20712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F4565F-7000-450E-ADB7-ADB5B06F26E1}" type="datetimeFigureOut">
              <a:rPr lang="en-US" smtClean="0"/>
              <a:t>11/6/2024</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B4A6334-CDF0-49F4-9ECB-C0F4934C5E81}" type="slidenum">
              <a:rPr lang="en-US" smtClean="0"/>
              <a:t>‹#›</a:t>
            </a:fld>
            <a:endParaRPr lang="en-US"/>
          </a:p>
        </p:txBody>
      </p:sp>
    </p:spTree>
    <p:extLst>
      <p:ext uri="{BB962C8B-B14F-4D97-AF65-F5344CB8AC3E}">
        <p14:creationId xmlns:p14="http://schemas.microsoft.com/office/powerpoint/2010/main" val="18438037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E9CD0-CBA8-4C98-AD3C-9175014D353C}"/>
              </a:ext>
            </a:extLst>
          </p:cNvPr>
          <p:cNvSpPr>
            <a:spLocks noGrp="1"/>
          </p:cNvSpPr>
          <p:nvPr>
            <p:ph type="title"/>
          </p:nvPr>
        </p:nvSpPr>
        <p:spPr/>
        <p:txBody>
          <a:bodyPr>
            <a:normAutofit fontScale="90000"/>
          </a:bodyPr>
          <a:lstStyle/>
          <a:p>
            <a:r>
              <a:rPr lang="en-US" sz="4400" b="1" dirty="0"/>
              <a:t>MBEYA UNIVERSITY OF SCIENCE AND TECHNOLOGY</a:t>
            </a:r>
            <a:endParaRPr lang="en-TZ" dirty="0"/>
          </a:p>
        </p:txBody>
      </p:sp>
      <p:sp>
        <p:nvSpPr>
          <p:cNvPr id="3" name="Content Placeholder 2">
            <a:extLst>
              <a:ext uri="{FF2B5EF4-FFF2-40B4-BE49-F238E27FC236}">
                <a16:creationId xmlns:a16="http://schemas.microsoft.com/office/drawing/2014/main" id="{A833FC16-C03F-49B9-9A31-70A6F530508E}"/>
              </a:ext>
            </a:extLst>
          </p:cNvPr>
          <p:cNvSpPr>
            <a:spLocks noGrp="1"/>
          </p:cNvSpPr>
          <p:nvPr>
            <p:ph idx="1"/>
          </p:nvPr>
        </p:nvSpPr>
        <p:spPr/>
        <p:txBody>
          <a:bodyPr>
            <a:normAutofit lnSpcReduction="10000"/>
          </a:bodyPr>
          <a:lstStyle/>
          <a:p>
            <a:pPr marL="0" indent="0" algn="ctr">
              <a:buNone/>
            </a:pPr>
            <a:r>
              <a:rPr lang="en-US" b="1" dirty="0"/>
              <a:t>AUTOMOTIVE TECHNOLOGY III</a:t>
            </a:r>
          </a:p>
          <a:p>
            <a:pPr marL="0" indent="0" algn="ctr">
              <a:buNone/>
            </a:pPr>
            <a:r>
              <a:rPr lang="en-US" b="1" dirty="0"/>
              <a:t>ME 6203</a:t>
            </a:r>
          </a:p>
          <a:p>
            <a:pPr marL="0" indent="0" algn="ctr">
              <a:buNone/>
            </a:pPr>
            <a:endParaRPr lang="en-US" b="1" dirty="0"/>
          </a:p>
          <a:p>
            <a:pPr marL="0" indent="0" algn="ctr">
              <a:buNone/>
            </a:pPr>
            <a:r>
              <a:rPr lang="en-US" b="1" dirty="0"/>
              <a:t>Mr. </a:t>
            </a:r>
            <a:r>
              <a:rPr lang="en-US" b="1" dirty="0" err="1"/>
              <a:t>Mbawala</a:t>
            </a:r>
            <a:r>
              <a:rPr lang="en-US" b="1" dirty="0"/>
              <a:t>, SB</a:t>
            </a:r>
          </a:p>
          <a:p>
            <a:pPr marL="0" indent="0" algn="ctr">
              <a:buNone/>
            </a:pPr>
            <a:r>
              <a:rPr lang="en-US" sz="3600" b="1" dirty="0"/>
              <a:t>Mechanical And Industrial Engineering Department</a:t>
            </a:r>
          </a:p>
          <a:p>
            <a:endParaRPr lang="en-TZ" dirty="0"/>
          </a:p>
        </p:txBody>
      </p:sp>
    </p:spTree>
    <p:extLst>
      <p:ext uri="{BB962C8B-B14F-4D97-AF65-F5344CB8AC3E}">
        <p14:creationId xmlns:p14="http://schemas.microsoft.com/office/powerpoint/2010/main" val="14936433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8FE40-A4B9-4CCE-A7AA-8394C27299EF}"/>
              </a:ext>
            </a:extLst>
          </p:cNvPr>
          <p:cNvSpPr>
            <a:spLocks noGrp="1"/>
          </p:cNvSpPr>
          <p:nvPr>
            <p:ph type="title"/>
          </p:nvPr>
        </p:nvSpPr>
        <p:spPr/>
        <p:txBody>
          <a:bodyPr/>
          <a:lstStyle/>
          <a:p>
            <a:r>
              <a:rPr lang="en-US" sz="4400" b="1" i="0" dirty="0">
                <a:solidFill>
                  <a:srgbClr val="000000"/>
                </a:solidFill>
                <a:effectLst/>
                <a:latin typeface="+mn-lt"/>
              </a:rPr>
              <a:t>ASSESSMENT METHODS</a:t>
            </a:r>
            <a:endParaRPr lang="en-TZ" dirty="0"/>
          </a:p>
        </p:txBody>
      </p:sp>
      <p:sp>
        <p:nvSpPr>
          <p:cNvPr id="3" name="Content Placeholder 2">
            <a:extLst>
              <a:ext uri="{FF2B5EF4-FFF2-40B4-BE49-F238E27FC236}">
                <a16:creationId xmlns:a16="http://schemas.microsoft.com/office/drawing/2014/main" id="{CF4F22A1-82FC-4346-BFC2-C95C02C0553B}"/>
              </a:ext>
            </a:extLst>
          </p:cNvPr>
          <p:cNvSpPr>
            <a:spLocks noGrp="1"/>
          </p:cNvSpPr>
          <p:nvPr>
            <p:ph idx="1"/>
          </p:nvPr>
        </p:nvSpPr>
        <p:spPr/>
        <p:txBody>
          <a:bodyPr>
            <a:normAutofit fontScale="85000" lnSpcReduction="10000"/>
          </a:bodyPr>
          <a:lstStyle/>
          <a:p>
            <a:pPr marL="0" indent="0">
              <a:buNone/>
            </a:pPr>
            <a:r>
              <a:rPr lang="en-US" sz="2400" b="0" i="0" dirty="0">
                <a:solidFill>
                  <a:srgbClr val="000000"/>
                </a:solidFill>
                <a:effectLst/>
                <a:latin typeface="+mj-lt"/>
              </a:rPr>
              <a:t>The course will be assessed by continuous assessment (CA) and End of semester examination</a:t>
            </a:r>
            <a:br>
              <a:rPr lang="en-US" sz="2400" b="0" i="0" dirty="0">
                <a:solidFill>
                  <a:srgbClr val="000000"/>
                </a:solidFill>
                <a:effectLst/>
                <a:latin typeface="+mj-lt"/>
              </a:rPr>
            </a:br>
            <a:r>
              <a:rPr lang="en-US" sz="2400" b="1" i="0" dirty="0">
                <a:solidFill>
                  <a:srgbClr val="000000"/>
                </a:solidFill>
                <a:effectLst/>
                <a:latin typeface="+mj-lt"/>
              </a:rPr>
              <a:t>1. Continuous Assessment (50%)</a:t>
            </a:r>
          </a:p>
          <a:p>
            <a:pPr marL="0" indent="0">
              <a:buNone/>
            </a:pPr>
            <a:r>
              <a:rPr lang="en-US" sz="2400" b="1" dirty="0">
                <a:solidFill>
                  <a:srgbClr val="0070C0"/>
                </a:solidFill>
                <a:latin typeface="+mj-lt"/>
              </a:rPr>
              <a:t>Practical </a:t>
            </a:r>
            <a:r>
              <a:rPr lang="en-US" b="1" dirty="0">
                <a:solidFill>
                  <a:srgbClr val="0070C0"/>
                </a:solidFill>
                <a:latin typeface="+mj-lt"/>
              </a:rPr>
              <a:t>25</a:t>
            </a:r>
            <a:r>
              <a:rPr lang="en-US" sz="2400" b="1" dirty="0">
                <a:solidFill>
                  <a:srgbClr val="0070C0"/>
                </a:solidFill>
                <a:latin typeface="+mj-lt"/>
              </a:rPr>
              <a:t>%</a:t>
            </a:r>
          </a:p>
          <a:p>
            <a:pPr marL="0" indent="0">
              <a:buNone/>
            </a:pPr>
            <a:r>
              <a:rPr lang="en-US" sz="2400" b="1" dirty="0">
                <a:solidFill>
                  <a:srgbClr val="0070C0"/>
                </a:solidFill>
                <a:latin typeface="+mj-lt"/>
              </a:rPr>
              <a:t>Theory 25%</a:t>
            </a:r>
          </a:p>
          <a:p>
            <a:r>
              <a:rPr lang="en-US" sz="2400" dirty="0">
                <a:latin typeface="+mj-lt"/>
              </a:rPr>
              <a:t>Test 1-10%</a:t>
            </a:r>
          </a:p>
          <a:p>
            <a:r>
              <a:rPr lang="en-US" sz="2400" dirty="0">
                <a:latin typeface="+mj-lt"/>
              </a:rPr>
              <a:t>Individual Assign-5%</a:t>
            </a:r>
          </a:p>
          <a:p>
            <a:r>
              <a:rPr lang="en-US" sz="2400" dirty="0">
                <a:latin typeface="+mj-lt"/>
              </a:rPr>
              <a:t>Group Assgn-10%</a:t>
            </a:r>
          </a:p>
          <a:p>
            <a:pPr marL="0" indent="0">
              <a:buNone/>
            </a:pPr>
            <a:r>
              <a:rPr lang="en-US" sz="2400" b="1" i="0" dirty="0">
                <a:solidFill>
                  <a:srgbClr val="000000"/>
                </a:solidFill>
                <a:effectLst/>
                <a:latin typeface="+mj-lt"/>
              </a:rPr>
              <a:t>2. Semester Examination (50%)</a:t>
            </a:r>
          </a:p>
          <a:p>
            <a:endParaRPr lang="en-US" sz="2400" dirty="0">
              <a:latin typeface="+mj-lt"/>
            </a:endParaRPr>
          </a:p>
          <a:p>
            <a:endParaRPr lang="en-TZ" dirty="0"/>
          </a:p>
        </p:txBody>
      </p:sp>
    </p:spTree>
    <p:extLst>
      <p:ext uri="{BB962C8B-B14F-4D97-AF65-F5344CB8AC3E}">
        <p14:creationId xmlns:p14="http://schemas.microsoft.com/office/powerpoint/2010/main" val="2039787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2FC0B-6FCF-4B8E-9E15-79EAF5185E8B}"/>
              </a:ext>
            </a:extLst>
          </p:cNvPr>
          <p:cNvSpPr>
            <a:spLocks noGrp="1"/>
          </p:cNvSpPr>
          <p:nvPr>
            <p:ph type="title"/>
          </p:nvPr>
        </p:nvSpPr>
        <p:spPr>
          <a:xfrm>
            <a:off x="1295402" y="2365829"/>
            <a:ext cx="9601196" cy="1843314"/>
          </a:xfrm>
        </p:spPr>
        <p:txBody>
          <a:bodyPr>
            <a:normAutofit/>
          </a:bodyPr>
          <a:lstStyle/>
          <a:p>
            <a:r>
              <a:rPr lang="en-US" sz="5400" b="1" dirty="0">
                <a:latin typeface="+mn-lt"/>
              </a:rPr>
              <a:t>Lecture 1; Clutch</a:t>
            </a:r>
            <a:endParaRPr lang="en-TZ" sz="5400" dirty="0"/>
          </a:p>
        </p:txBody>
      </p:sp>
    </p:spTree>
    <p:extLst>
      <p:ext uri="{BB962C8B-B14F-4D97-AF65-F5344CB8AC3E}">
        <p14:creationId xmlns:p14="http://schemas.microsoft.com/office/powerpoint/2010/main" val="677215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A50A0-224E-4193-9A3A-ABFD7EE04283}"/>
              </a:ext>
            </a:extLst>
          </p:cNvPr>
          <p:cNvSpPr>
            <a:spLocks noGrp="1"/>
          </p:cNvSpPr>
          <p:nvPr>
            <p:ph type="title"/>
          </p:nvPr>
        </p:nvSpPr>
        <p:spPr/>
        <p:txBody>
          <a:bodyPr/>
          <a:lstStyle/>
          <a:p>
            <a:pPr eaLnBrk="1" hangingPunct="1">
              <a:buFont typeface="Wingdings" panose="05000000000000000000" pitchFamily="2" charset="2"/>
              <a:buNone/>
            </a:pPr>
            <a:r>
              <a:rPr lang="en-US" altLang="en-US" b="1" dirty="0">
                <a:latin typeface="+mn-lt"/>
              </a:rPr>
              <a:t>What to be Learned</a:t>
            </a:r>
            <a:endParaRPr lang="en-US" altLang="en-US" sz="4400" dirty="0"/>
          </a:p>
        </p:txBody>
      </p:sp>
      <p:sp>
        <p:nvSpPr>
          <p:cNvPr id="3" name="Content Placeholder 2">
            <a:extLst>
              <a:ext uri="{FF2B5EF4-FFF2-40B4-BE49-F238E27FC236}">
                <a16:creationId xmlns:a16="http://schemas.microsoft.com/office/drawing/2014/main" id="{630A53E2-9A5E-4B70-8F10-9F53267B83F9}"/>
              </a:ext>
            </a:extLst>
          </p:cNvPr>
          <p:cNvSpPr>
            <a:spLocks noGrp="1"/>
          </p:cNvSpPr>
          <p:nvPr>
            <p:ph idx="1"/>
          </p:nvPr>
        </p:nvSpPr>
        <p:spPr/>
        <p:txBody>
          <a:bodyPr>
            <a:normAutofit lnSpcReduction="10000"/>
          </a:bodyPr>
          <a:lstStyle/>
          <a:p>
            <a:pPr eaLnBrk="1" hangingPunct="1"/>
            <a:r>
              <a:rPr lang="en-US" altLang="en-US" sz="2800" dirty="0"/>
              <a:t>Define Clutch </a:t>
            </a:r>
          </a:p>
          <a:p>
            <a:pPr eaLnBrk="1" hangingPunct="1"/>
            <a:r>
              <a:rPr lang="en-GB" sz="2800" dirty="0">
                <a:solidFill>
                  <a:srgbClr val="000000"/>
                </a:solidFill>
                <a:effectLst/>
                <a:ea typeface="Cambria" panose="02040503050406030204" pitchFamily="18" charset="0"/>
              </a:rPr>
              <a:t>Classification of clutches</a:t>
            </a:r>
            <a:endParaRPr lang="en-US" altLang="en-US" sz="2800" dirty="0"/>
          </a:p>
          <a:p>
            <a:pPr eaLnBrk="1" hangingPunct="1"/>
            <a:r>
              <a:rPr lang="en-US" altLang="en-US" sz="2800" dirty="0"/>
              <a:t>Identify components of clutch</a:t>
            </a:r>
          </a:p>
          <a:p>
            <a:r>
              <a:rPr lang="en-US" altLang="en-US" sz="2800" dirty="0"/>
              <a:t>Describe how clutch works</a:t>
            </a:r>
          </a:p>
          <a:p>
            <a:r>
              <a:rPr lang="en-US" altLang="en-US" sz="2800" dirty="0"/>
              <a:t>Describe maintenance procedure of different types of clutches</a:t>
            </a:r>
          </a:p>
          <a:p>
            <a:pPr eaLnBrk="1" hangingPunct="1"/>
            <a:r>
              <a:rPr lang="en-US" altLang="en-US" sz="2800" dirty="0"/>
              <a:t>Perform maintenance of different types of clutches</a:t>
            </a:r>
          </a:p>
          <a:p>
            <a:endParaRPr lang="en-US" dirty="0"/>
          </a:p>
        </p:txBody>
      </p:sp>
    </p:spTree>
    <p:extLst>
      <p:ext uri="{BB962C8B-B14F-4D97-AF65-F5344CB8AC3E}">
        <p14:creationId xmlns:p14="http://schemas.microsoft.com/office/powerpoint/2010/main" val="1515416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FB17D-04F5-4C98-8CA4-D0E4B62C87EB}"/>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643DAA84-2B05-4BA2-B995-A1BB52E38EFB}"/>
              </a:ext>
            </a:extLst>
          </p:cNvPr>
          <p:cNvSpPr>
            <a:spLocks noGrp="1"/>
          </p:cNvSpPr>
          <p:nvPr>
            <p:ph idx="1"/>
          </p:nvPr>
        </p:nvSpPr>
        <p:spPr/>
        <p:txBody>
          <a:bodyPr>
            <a:normAutofit fontScale="92500" lnSpcReduction="20000"/>
          </a:bodyPr>
          <a:lstStyle/>
          <a:p>
            <a:pPr marL="0" indent="0" algn="just">
              <a:buNone/>
            </a:pPr>
            <a:r>
              <a:rPr lang="en-US" sz="3200" b="1" i="0" dirty="0">
                <a:solidFill>
                  <a:srgbClr val="231F20"/>
                </a:solidFill>
                <a:effectLst/>
                <a:cs typeface="Times New Roman" panose="02020603050405020304" pitchFamily="18" charset="0"/>
              </a:rPr>
              <a:t>A clutch </a:t>
            </a:r>
            <a:r>
              <a:rPr lang="en-US" sz="3200" b="0" i="0" dirty="0">
                <a:solidFill>
                  <a:srgbClr val="231F20"/>
                </a:solidFill>
                <a:effectLst/>
                <a:cs typeface="Times New Roman" panose="02020603050405020304" pitchFamily="18" charset="0"/>
              </a:rPr>
              <a:t>is a machine member used to connect a driving shaft to a driven shaft so that the driven shaft may be started or stopped at will, without stopping the driving shaft</a:t>
            </a:r>
            <a:r>
              <a:rPr lang="en-US" sz="3200" dirty="0">
                <a:cs typeface="Times New Roman" panose="02020603050405020304" pitchFamily="18" charset="0"/>
              </a:rPr>
              <a:t> </a:t>
            </a:r>
          </a:p>
          <a:p>
            <a:pPr marL="0" indent="0" algn="just">
              <a:buNone/>
            </a:pPr>
            <a:r>
              <a:rPr lang="en-US" sz="3200" b="0" i="0" dirty="0">
                <a:solidFill>
                  <a:srgbClr val="202124"/>
                </a:solidFill>
                <a:effectLst/>
              </a:rPr>
              <a:t>Clutch is used in manual transmission system in a vehicle, or the working parts of any machine. </a:t>
            </a:r>
            <a:r>
              <a:rPr lang="en-US" sz="3200" dirty="0">
                <a:solidFill>
                  <a:srgbClr val="202124"/>
                </a:solidFill>
              </a:rPr>
              <a:t>e.g.</a:t>
            </a:r>
            <a:r>
              <a:rPr lang="en-US" sz="3200" b="0" i="0" dirty="0">
                <a:solidFill>
                  <a:srgbClr val="202124"/>
                </a:solidFill>
                <a:effectLst/>
              </a:rPr>
              <a:t> fan clutch</a:t>
            </a:r>
            <a:endParaRPr lang="en-US" sz="3200" dirty="0">
              <a:cs typeface="Times New Roman" panose="02020603050405020304" pitchFamily="18" charset="0"/>
            </a:endParaRPr>
          </a:p>
          <a:p>
            <a:pPr marL="0" indent="0">
              <a:buNone/>
            </a:pPr>
            <a:r>
              <a:rPr lang="en-US" sz="3200" b="0" i="0" dirty="0">
                <a:solidFill>
                  <a:srgbClr val="231F20"/>
                </a:solidFill>
                <a:effectLst/>
                <a:cs typeface="Times New Roman" panose="02020603050405020304" pitchFamily="18" charset="0"/>
              </a:rPr>
              <a:t>The engagement and disengagement of the shafts is obtained by means of a clutch</a:t>
            </a:r>
            <a:r>
              <a:rPr lang="en-US" sz="3200" dirty="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0607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9E138-77C0-4BE7-8852-69AAE256D873}"/>
              </a:ext>
            </a:extLst>
          </p:cNvPr>
          <p:cNvSpPr>
            <a:spLocks noGrp="1"/>
          </p:cNvSpPr>
          <p:nvPr>
            <p:ph type="title"/>
          </p:nvPr>
        </p:nvSpPr>
        <p:spPr/>
        <p:txBody>
          <a:bodyPr/>
          <a:lstStyle/>
          <a:p>
            <a:pPr algn="ctr"/>
            <a:r>
              <a:rPr lang="en-US" b="1" dirty="0">
                <a:latin typeface="+mn-lt"/>
              </a:rPr>
              <a:t>Types of Clutch</a:t>
            </a:r>
          </a:p>
        </p:txBody>
      </p:sp>
      <p:sp>
        <p:nvSpPr>
          <p:cNvPr id="3" name="Content Placeholder 2">
            <a:extLst>
              <a:ext uri="{FF2B5EF4-FFF2-40B4-BE49-F238E27FC236}">
                <a16:creationId xmlns:a16="http://schemas.microsoft.com/office/drawing/2014/main" id="{BB873736-3B94-420D-AE61-2393C55D199D}"/>
              </a:ext>
            </a:extLst>
          </p:cNvPr>
          <p:cNvSpPr>
            <a:spLocks noGrp="1"/>
          </p:cNvSpPr>
          <p:nvPr>
            <p:ph idx="1"/>
          </p:nvPr>
        </p:nvSpPr>
        <p:spPr/>
        <p:txBody>
          <a:bodyPr>
            <a:normAutofit lnSpcReduction="10000"/>
          </a:bodyPr>
          <a:lstStyle/>
          <a:p>
            <a:pPr marL="0" indent="0" algn="just">
              <a:buNone/>
            </a:pPr>
            <a:r>
              <a:rPr lang="en-US" sz="3200" b="0" i="0" dirty="0">
                <a:solidFill>
                  <a:srgbClr val="231F20"/>
                </a:solidFill>
                <a:effectLst/>
                <a:latin typeface="Times-Roman"/>
              </a:rPr>
              <a:t>There are two main types of clutches commonly used in engineering practice :</a:t>
            </a:r>
          </a:p>
          <a:p>
            <a:pPr marL="0" indent="0">
              <a:buNone/>
            </a:pPr>
            <a:br>
              <a:rPr lang="en-US" sz="3200" b="0" i="0" dirty="0">
                <a:solidFill>
                  <a:srgbClr val="231F20"/>
                </a:solidFill>
                <a:effectLst/>
                <a:latin typeface="Times-Roman"/>
              </a:rPr>
            </a:br>
            <a:r>
              <a:rPr lang="en-US" sz="3200" b="1" dirty="0">
                <a:solidFill>
                  <a:srgbClr val="231F20"/>
                </a:solidFill>
                <a:latin typeface="Times-Bold"/>
              </a:rPr>
              <a:t>a</a:t>
            </a:r>
            <a:r>
              <a:rPr lang="en-US" sz="3200" b="1" i="0" dirty="0">
                <a:effectLst/>
                <a:latin typeface="Times-Bold"/>
              </a:rPr>
              <a:t>. </a:t>
            </a:r>
            <a:r>
              <a:rPr lang="en-US" sz="3200" b="0" i="0" dirty="0">
                <a:effectLst/>
                <a:latin typeface="Times-Roman"/>
              </a:rPr>
              <a:t>Positive clutches</a:t>
            </a:r>
          </a:p>
          <a:p>
            <a:pPr marL="0" indent="0">
              <a:buNone/>
            </a:pPr>
            <a:r>
              <a:rPr lang="en-US" sz="3200" b="1" dirty="0">
                <a:latin typeface="Times-Bold"/>
              </a:rPr>
              <a:t>b</a:t>
            </a:r>
            <a:r>
              <a:rPr lang="en-US" sz="3200" b="1" i="0" dirty="0">
                <a:effectLst/>
                <a:latin typeface="Times-Bold"/>
              </a:rPr>
              <a:t>. </a:t>
            </a:r>
            <a:r>
              <a:rPr lang="en-US" sz="3200" b="0" i="0" dirty="0">
                <a:solidFill>
                  <a:srgbClr val="231F20"/>
                </a:solidFill>
                <a:effectLst/>
                <a:latin typeface="Times-Roman"/>
              </a:rPr>
              <a:t>Friction clutches</a:t>
            </a:r>
            <a:r>
              <a:rPr lang="en-US" sz="3200" dirty="0"/>
              <a:t> </a:t>
            </a:r>
            <a:br>
              <a:rPr lang="en-US" sz="3200" dirty="0"/>
            </a:br>
            <a:endParaRPr lang="en-US" sz="3200" dirty="0"/>
          </a:p>
        </p:txBody>
      </p:sp>
    </p:spTree>
    <p:extLst>
      <p:ext uri="{BB962C8B-B14F-4D97-AF65-F5344CB8AC3E}">
        <p14:creationId xmlns:p14="http://schemas.microsoft.com/office/powerpoint/2010/main" val="66595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55480-9D70-4872-B590-595223999F8F}"/>
              </a:ext>
            </a:extLst>
          </p:cNvPr>
          <p:cNvSpPr>
            <a:spLocks noGrp="1"/>
          </p:cNvSpPr>
          <p:nvPr>
            <p:ph type="title"/>
          </p:nvPr>
        </p:nvSpPr>
        <p:spPr/>
        <p:txBody>
          <a:bodyPr/>
          <a:lstStyle/>
          <a:p>
            <a:r>
              <a:rPr lang="en-US" b="1" dirty="0">
                <a:latin typeface="+mn-lt"/>
              </a:rPr>
              <a:t>Types of Clutch</a:t>
            </a:r>
            <a:endParaRPr lang="en-TZ" dirty="0"/>
          </a:p>
        </p:txBody>
      </p:sp>
      <p:sp>
        <p:nvSpPr>
          <p:cNvPr id="3" name="Content Placeholder 2">
            <a:extLst>
              <a:ext uri="{FF2B5EF4-FFF2-40B4-BE49-F238E27FC236}">
                <a16:creationId xmlns:a16="http://schemas.microsoft.com/office/drawing/2014/main" id="{89CE1519-EF70-4A2B-AC99-E6635D5C4590}"/>
              </a:ext>
            </a:extLst>
          </p:cNvPr>
          <p:cNvSpPr>
            <a:spLocks noGrp="1"/>
          </p:cNvSpPr>
          <p:nvPr>
            <p:ph idx="1"/>
          </p:nvPr>
        </p:nvSpPr>
        <p:spPr/>
        <p:txBody>
          <a:bodyPr>
            <a:normAutofit fontScale="92500" lnSpcReduction="10000"/>
          </a:bodyPr>
          <a:lstStyle/>
          <a:p>
            <a:pPr marL="514350" indent="-514350">
              <a:buAutoNum type="alphaLcPeriod"/>
            </a:pPr>
            <a:r>
              <a:rPr lang="en-US" sz="3200" b="1" i="0" dirty="0">
                <a:effectLst/>
              </a:rPr>
              <a:t>Positive Clutches</a:t>
            </a:r>
          </a:p>
          <a:p>
            <a:pPr marL="0" indent="0">
              <a:buNone/>
            </a:pPr>
            <a:r>
              <a:rPr lang="en-US" sz="3200" b="0" dirty="0">
                <a:effectLst/>
              </a:rPr>
              <a:t>The positive clutches are used when a positive drive is required (no slip). </a:t>
            </a:r>
          </a:p>
          <a:p>
            <a:pPr marL="0" indent="0">
              <a:buNone/>
            </a:pPr>
            <a:r>
              <a:rPr lang="en-US" sz="3200" b="0" dirty="0">
                <a:effectLst/>
              </a:rPr>
              <a:t>The simplest type of a positive clutch is a </a:t>
            </a:r>
            <a:r>
              <a:rPr lang="en-US" sz="3200" b="1" dirty="0">
                <a:effectLst/>
              </a:rPr>
              <a:t>jaw </a:t>
            </a:r>
            <a:r>
              <a:rPr lang="en-US" sz="3200" b="0" dirty="0">
                <a:effectLst/>
              </a:rPr>
              <a:t>or </a:t>
            </a:r>
            <a:r>
              <a:rPr lang="en-US" sz="3200" b="1" dirty="0">
                <a:effectLst/>
              </a:rPr>
              <a:t>claw clutch. </a:t>
            </a:r>
          </a:p>
          <a:p>
            <a:pPr marL="0" indent="0">
              <a:buNone/>
            </a:pPr>
            <a:r>
              <a:rPr lang="en-US" sz="3200" b="0" dirty="0">
                <a:effectLst/>
              </a:rPr>
              <a:t>The jaw clutch permits one shaft to drive another through a direct contact of interlocking jaws</a:t>
            </a:r>
            <a:r>
              <a:rPr lang="en-US" sz="3200" dirty="0"/>
              <a:t> or teeth</a:t>
            </a:r>
          </a:p>
          <a:p>
            <a:endParaRPr lang="en-TZ" dirty="0"/>
          </a:p>
        </p:txBody>
      </p:sp>
    </p:spTree>
    <p:extLst>
      <p:ext uri="{BB962C8B-B14F-4D97-AF65-F5344CB8AC3E}">
        <p14:creationId xmlns:p14="http://schemas.microsoft.com/office/powerpoint/2010/main" val="1733007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A76E1-9983-44B1-B7E3-BFD7E7BEB4A7}"/>
              </a:ext>
            </a:extLst>
          </p:cNvPr>
          <p:cNvSpPr>
            <a:spLocks noGrp="1"/>
          </p:cNvSpPr>
          <p:nvPr>
            <p:ph type="title"/>
          </p:nvPr>
        </p:nvSpPr>
        <p:spPr/>
        <p:txBody>
          <a:bodyPr/>
          <a:lstStyle/>
          <a:p>
            <a:r>
              <a:rPr lang="en-US" b="1" dirty="0">
                <a:latin typeface="+mn-lt"/>
              </a:rPr>
              <a:t>Types of Clutch</a:t>
            </a:r>
            <a:endParaRPr lang="en-TZ" dirty="0"/>
          </a:p>
        </p:txBody>
      </p:sp>
      <p:sp>
        <p:nvSpPr>
          <p:cNvPr id="3" name="Content Placeholder 2">
            <a:extLst>
              <a:ext uri="{FF2B5EF4-FFF2-40B4-BE49-F238E27FC236}">
                <a16:creationId xmlns:a16="http://schemas.microsoft.com/office/drawing/2014/main" id="{43AD3A26-B956-450E-8FF8-FD2EBD9DCC13}"/>
              </a:ext>
            </a:extLst>
          </p:cNvPr>
          <p:cNvSpPr>
            <a:spLocks noGrp="1"/>
          </p:cNvSpPr>
          <p:nvPr>
            <p:ph idx="1"/>
          </p:nvPr>
        </p:nvSpPr>
        <p:spPr/>
        <p:txBody>
          <a:bodyPr/>
          <a:lstStyle/>
          <a:p>
            <a:pPr marL="0" indent="0">
              <a:buNone/>
            </a:pPr>
            <a:r>
              <a:rPr lang="en-US" sz="2400" b="1" i="0" dirty="0">
                <a:effectLst/>
              </a:rPr>
              <a:t>Positive Clutches cont..</a:t>
            </a:r>
          </a:p>
          <a:p>
            <a:pPr marL="0" indent="0">
              <a:buNone/>
            </a:pPr>
            <a:r>
              <a:rPr lang="en-US" b="0" i="0" dirty="0">
                <a:solidFill>
                  <a:srgbClr val="000000"/>
                </a:solidFill>
                <a:effectLst/>
                <a:latin typeface="+mj-lt"/>
              </a:rPr>
              <a:t>Jaw clutch consists of two halves; one of them permanently fastened to the driver shaft. </a:t>
            </a:r>
          </a:p>
          <a:p>
            <a:pPr marL="0" indent="0">
              <a:buNone/>
            </a:pPr>
            <a:r>
              <a:rPr lang="en-US" b="0" i="0" dirty="0">
                <a:solidFill>
                  <a:srgbClr val="000000"/>
                </a:solidFill>
                <a:effectLst/>
                <a:latin typeface="+mj-lt"/>
              </a:rPr>
              <a:t>The other half is movable and is attached to the driven shaft. </a:t>
            </a:r>
          </a:p>
          <a:p>
            <a:pPr marL="0" indent="0">
              <a:buNone/>
            </a:pPr>
            <a:r>
              <a:rPr lang="en-US" b="0" i="0" dirty="0">
                <a:solidFill>
                  <a:srgbClr val="000000"/>
                </a:solidFill>
                <a:effectLst/>
                <a:latin typeface="+mj-lt"/>
              </a:rPr>
              <a:t>It can freely slide axially on the shaft, but cannot turn due to feather key. </a:t>
            </a:r>
          </a:p>
          <a:p>
            <a:pPr marL="0" indent="0">
              <a:buNone/>
            </a:pPr>
            <a:r>
              <a:rPr lang="en-US" b="0" i="0" dirty="0">
                <a:solidFill>
                  <a:srgbClr val="000000"/>
                </a:solidFill>
                <a:effectLst/>
                <a:latin typeface="+mj-lt"/>
              </a:rPr>
              <a:t>They can transmit power in both directions; they are used when it is not necessary to engage or disengage under load.</a:t>
            </a:r>
            <a:endParaRPr lang="en-TZ" dirty="0">
              <a:latin typeface="+mj-lt"/>
            </a:endParaRPr>
          </a:p>
        </p:txBody>
      </p:sp>
    </p:spTree>
    <p:extLst>
      <p:ext uri="{BB962C8B-B14F-4D97-AF65-F5344CB8AC3E}">
        <p14:creationId xmlns:p14="http://schemas.microsoft.com/office/powerpoint/2010/main" val="370419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4980747-7081-4467-A1FF-8BB919D887B6}"/>
              </a:ext>
            </a:extLst>
          </p:cNvPr>
          <p:cNvPicPr>
            <a:picLocks noChangeAspect="1"/>
          </p:cNvPicPr>
          <p:nvPr/>
        </p:nvPicPr>
        <p:blipFill>
          <a:blip r:embed="rId2"/>
          <a:stretch>
            <a:fillRect/>
          </a:stretch>
        </p:blipFill>
        <p:spPr>
          <a:xfrm>
            <a:off x="1422400" y="1611086"/>
            <a:ext cx="9651999" cy="4180115"/>
          </a:xfrm>
          <a:prstGeom prst="rect">
            <a:avLst/>
          </a:prstGeom>
        </p:spPr>
      </p:pic>
    </p:spTree>
    <p:extLst>
      <p:ext uri="{BB962C8B-B14F-4D97-AF65-F5344CB8AC3E}">
        <p14:creationId xmlns:p14="http://schemas.microsoft.com/office/powerpoint/2010/main" val="4010649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3F03B-4082-4D7C-B704-4158F1AC7688}"/>
              </a:ext>
            </a:extLst>
          </p:cNvPr>
          <p:cNvSpPr>
            <a:spLocks noGrp="1"/>
          </p:cNvSpPr>
          <p:nvPr>
            <p:ph type="title"/>
          </p:nvPr>
        </p:nvSpPr>
        <p:spPr/>
        <p:txBody>
          <a:bodyPr/>
          <a:lstStyle/>
          <a:p>
            <a:r>
              <a:rPr lang="en-US" b="1" dirty="0">
                <a:latin typeface="+mn-lt"/>
              </a:rPr>
              <a:t>Types of Clutch</a:t>
            </a:r>
            <a:endParaRPr lang="en-TZ" dirty="0"/>
          </a:p>
        </p:txBody>
      </p:sp>
      <p:sp>
        <p:nvSpPr>
          <p:cNvPr id="3" name="Content Placeholder 2">
            <a:extLst>
              <a:ext uri="{FF2B5EF4-FFF2-40B4-BE49-F238E27FC236}">
                <a16:creationId xmlns:a16="http://schemas.microsoft.com/office/drawing/2014/main" id="{01C6A134-F558-4A40-A8DC-35D3CA567185}"/>
              </a:ext>
            </a:extLst>
          </p:cNvPr>
          <p:cNvSpPr>
            <a:spLocks noGrp="1"/>
          </p:cNvSpPr>
          <p:nvPr>
            <p:ph idx="1"/>
          </p:nvPr>
        </p:nvSpPr>
        <p:spPr/>
        <p:txBody>
          <a:bodyPr>
            <a:normAutofit/>
          </a:bodyPr>
          <a:lstStyle/>
          <a:p>
            <a:pPr marL="0" indent="0" algn="l" fontAlgn="base">
              <a:buNone/>
            </a:pPr>
            <a:r>
              <a:rPr lang="en-US" b="1" i="0" dirty="0">
                <a:solidFill>
                  <a:srgbClr val="000000"/>
                </a:solidFill>
                <a:effectLst/>
                <a:latin typeface="+mj-lt"/>
              </a:rPr>
              <a:t>Advantages </a:t>
            </a:r>
            <a:r>
              <a:rPr lang="en-US" b="1" i="0" dirty="0">
                <a:solidFill>
                  <a:srgbClr val="222222"/>
                </a:solidFill>
                <a:effectLst/>
                <a:latin typeface="+mj-lt"/>
              </a:rPr>
              <a:t>of positive clutch</a:t>
            </a:r>
            <a:endParaRPr lang="en-US" b="1" dirty="0">
              <a:latin typeface="+mj-lt"/>
            </a:endParaRPr>
          </a:p>
          <a:p>
            <a:pPr marL="514350" indent="-514350" algn="l" fontAlgn="base">
              <a:buFont typeface="+mj-lt"/>
              <a:buAutoNum type="romanLcPeriod"/>
            </a:pPr>
            <a:r>
              <a:rPr lang="en-US" b="0" i="0" u="none" strike="noStrike" dirty="0">
                <a:solidFill>
                  <a:srgbClr val="000000"/>
                </a:solidFill>
                <a:effectLst/>
                <a:latin typeface="+mj-lt"/>
              </a:rPr>
              <a:t>They do not slip</a:t>
            </a:r>
          </a:p>
          <a:p>
            <a:pPr marL="514350" indent="-514350" algn="l" fontAlgn="base">
              <a:buFont typeface="+mj-lt"/>
              <a:buAutoNum type="romanLcPeriod"/>
            </a:pPr>
            <a:r>
              <a:rPr lang="en-US" b="0" i="0" u="none" strike="noStrike" dirty="0">
                <a:solidFill>
                  <a:srgbClr val="000000"/>
                </a:solidFill>
                <a:effectLst/>
                <a:latin typeface="+mj-lt"/>
              </a:rPr>
              <a:t>They can transmit large torque</a:t>
            </a:r>
          </a:p>
          <a:p>
            <a:pPr marL="514350" indent="-514350" algn="l" fontAlgn="base">
              <a:buFont typeface="+mj-lt"/>
              <a:buAutoNum type="romanLcPeriod"/>
            </a:pPr>
            <a:r>
              <a:rPr lang="en-US" b="0" i="0" u="none" strike="noStrike" dirty="0">
                <a:solidFill>
                  <a:srgbClr val="000000"/>
                </a:solidFill>
                <a:effectLst/>
                <a:latin typeface="+mj-lt"/>
              </a:rPr>
              <a:t>Develop no heat during engagement and disengagement because of rigid interlocking (no friction).</a:t>
            </a:r>
          </a:p>
          <a:p>
            <a:endParaRPr lang="en-TZ" dirty="0">
              <a:latin typeface="+mj-lt"/>
            </a:endParaRPr>
          </a:p>
        </p:txBody>
      </p:sp>
    </p:spTree>
    <p:extLst>
      <p:ext uri="{BB962C8B-B14F-4D97-AF65-F5344CB8AC3E}">
        <p14:creationId xmlns:p14="http://schemas.microsoft.com/office/powerpoint/2010/main" val="994256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1C55F-3BBC-436A-940E-5C84F9C34C95}"/>
              </a:ext>
            </a:extLst>
          </p:cNvPr>
          <p:cNvSpPr>
            <a:spLocks noGrp="1"/>
          </p:cNvSpPr>
          <p:nvPr>
            <p:ph type="title"/>
          </p:nvPr>
        </p:nvSpPr>
        <p:spPr/>
        <p:txBody>
          <a:bodyPr/>
          <a:lstStyle/>
          <a:p>
            <a:r>
              <a:rPr lang="en-US" b="1" dirty="0">
                <a:latin typeface="+mn-lt"/>
              </a:rPr>
              <a:t>Types of Clutch</a:t>
            </a:r>
            <a:endParaRPr lang="en-TZ" dirty="0"/>
          </a:p>
        </p:txBody>
      </p:sp>
      <p:sp>
        <p:nvSpPr>
          <p:cNvPr id="3" name="Content Placeholder 2">
            <a:extLst>
              <a:ext uri="{FF2B5EF4-FFF2-40B4-BE49-F238E27FC236}">
                <a16:creationId xmlns:a16="http://schemas.microsoft.com/office/drawing/2014/main" id="{F64207E8-479B-41A6-A059-7203C62B3F5D}"/>
              </a:ext>
            </a:extLst>
          </p:cNvPr>
          <p:cNvSpPr>
            <a:spLocks noGrp="1"/>
          </p:cNvSpPr>
          <p:nvPr>
            <p:ph idx="1"/>
          </p:nvPr>
        </p:nvSpPr>
        <p:spPr/>
        <p:txBody>
          <a:bodyPr/>
          <a:lstStyle/>
          <a:p>
            <a:pPr marL="0" indent="0" algn="l" fontAlgn="base">
              <a:buNone/>
            </a:pPr>
            <a:r>
              <a:rPr lang="en-US" b="1" i="0" dirty="0">
                <a:solidFill>
                  <a:srgbClr val="000000"/>
                </a:solidFill>
                <a:effectLst/>
                <a:latin typeface="+mj-lt"/>
              </a:rPr>
              <a:t>Disadvantages </a:t>
            </a:r>
            <a:r>
              <a:rPr lang="en-US" b="1" i="0" dirty="0">
                <a:solidFill>
                  <a:srgbClr val="222222"/>
                </a:solidFill>
                <a:effectLst/>
                <a:latin typeface="+mj-lt"/>
              </a:rPr>
              <a:t>of positive clutch</a:t>
            </a:r>
            <a:endParaRPr lang="en-US" dirty="0">
              <a:latin typeface="+mj-lt"/>
            </a:endParaRPr>
          </a:p>
          <a:p>
            <a:pPr marL="514350" indent="-514350" algn="l" fontAlgn="base">
              <a:buFont typeface="+mj-lt"/>
              <a:buAutoNum type="romanLcPeriod"/>
            </a:pPr>
            <a:r>
              <a:rPr lang="en-US" b="0" i="0" u="none" strike="noStrike" dirty="0">
                <a:solidFill>
                  <a:srgbClr val="000000"/>
                </a:solidFill>
                <a:effectLst/>
                <a:latin typeface="+mj-lt"/>
              </a:rPr>
              <a:t>Engagement of clutch cannot be possible at high speed</a:t>
            </a:r>
          </a:p>
          <a:p>
            <a:pPr marL="514350" indent="-514350" algn="l" fontAlgn="base">
              <a:buFont typeface="+mj-lt"/>
              <a:buAutoNum type="romanLcPeriod"/>
            </a:pPr>
            <a:r>
              <a:rPr lang="en-US" b="0" i="0" u="none" strike="noStrike" dirty="0">
                <a:solidFill>
                  <a:srgbClr val="000000"/>
                </a:solidFill>
                <a:effectLst/>
                <a:latin typeface="+mj-lt"/>
              </a:rPr>
              <a:t>While starting some relative motion may be required to engage.</a:t>
            </a:r>
          </a:p>
          <a:p>
            <a:endParaRPr lang="en-TZ" dirty="0">
              <a:latin typeface="+mj-lt"/>
            </a:endParaRPr>
          </a:p>
        </p:txBody>
      </p:sp>
    </p:spTree>
    <p:extLst>
      <p:ext uri="{BB962C8B-B14F-4D97-AF65-F5344CB8AC3E}">
        <p14:creationId xmlns:p14="http://schemas.microsoft.com/office/powerpoint/2010/main" val="746663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BC090-9354-46FA-9995-CA8DF5879D23}"/>
              </a:ext>
            </a:extLst>
          </p:cNvPr>
          <p:cNvSpPr>
            <a:spLocks noGrp="1"/>
          </p:cNvSpPr>
          <p:nvPr>
            <p:ph type="title"/>
          </p:nvPr>
        </p:nvSpPr>
        <p:spPr/>
        <p:txBody>
          <a:bodyPr/>
          <a:lstStyle/>
          <a:p>
            <a:r>
              <a:rPr lang="en-US" b="1" dirty="0">
                <a:latin typeface="+mn-lt"/>
              </a:rPr>
              <a:t>Types of Clutch</a:t>
            </a:r>
            <a:endParaRPr lang="en-TZ" dirty="0"/>
          </a:p>
        </p:txBody>
      </p:sp>
      <p:sp>
        <p:nvSpPr>
          <p:cNvPr id="3" name="Content Placeholder 2">
            <a:extLst>
              <a:ext uri="{FF2B5EF4-FFF2-40B4-BE49-F238E27FC236}">
                <a16:creationId xmlns:a16="http://schemas.microsoft.com/office/drawing/2014/main" id="{B137EE98-66BB-4B2B-BDDB-71638E55177B}"/>
              </a:ext>
            </a:extLst>
          </p:cNvPr>
          <p:cNvSpPr>
            <a:spLocks noGrp="1"/>
          </p:cNvSpPr>
          <p:nvPr>
            <p:ph idx="1"/>
          </p:nvPr>
        </p:nvSpPr>
        <p:spPr/>
        <p:txBody>
          <a:bodyPr>
            <a:normAutofit/>
          </a:bodyPr>
          <a:lstStyle/>
          <a:p>
            <a:pPr marL="0" indent="0">
              <a:buNone/>
            </a:pPr>
            <a:r>
              <a:rPr lang="en-US" sz="2800" b="1" dirty="0"/>
              <a:t>b. </a:t>
            </a:r>
            <a:r>
              <a:rPr lang="en-US" sz="2800" b="1" i="0" dirty="0">
                <a:effectLst/>
              </a:rPr>
              <a:t>Friction Clutches</a:t>
            </a:r>
            <a:br>
              <a:rPr lang="en-US" sz="2800" b="0" i="0" dirty="0">
                <a:effectLst/>
              </a:rPr>
            </a:br>
            <a:r>
              <a:rPr lang="en-US" sz="2800" b="0" i="0" dirty="0">
                <a:effectLst/>
              </a:rPr>
              <a:t>A friction clutch has its principal application in the transmission of power of shafts and machines which must be started and stopped frequently. </a:t>
            </a:r>
          </a:p>
          <a:p>
            <a:pPr marL="0" indent="0">
              <a:buNone/>
            </a:pPr>
            <a:r>
              <a:rPr lang="en-US" sz="2800" b="0" i="0" dirty="0">
                <a:effectLst/>
              </a:rPr>
              <a:t>Its application is also found in cases in which power is to be delivered to machines </a:t>
            </a:r>
            <a:r>
              <a:rPr lang="en-US" sz="2800" b="1" i="0" dirty="0">
                <a:effectLst/>
              </a:rPr>
              <a:t>partially or fully loaded</a:t>
            </a:r>
            <a:r>
              <a:rPr lang="en-US" sz="2800" b="0" i="0" dirty="0">
                <a:effectLst/>
              </a:rPr>
              <a:t>.</a:t>
            </a:r>
            <a:endParaRPr lang="en-TZ" sz="2800" dirty="0"/>
          </a:p>
        </p:txBody>
      </p:sp>
    </p:spTree>
    <p:extLst>
      <p:ext uri="{BB962C8B-B14F-4D97-AF65-F5344CB8AC3E}">
        <p14:creationId xmlns:p14="http://schemas.microsoft.com/office/powerpoint/2010/main" val="2736387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F5EF1-0641-4295-B1E0-97ACDDFA704E}"/>
              </a:ext>
            </a:extLst>
          </p:cNvPr>
          <p:cNvSpPr>
            <a:spLocks noGrp="1"/>
          </p:cNvSpPr>
          <p:nvPr>
            <p:ph type="title"/>
          </p:nvPr>
        </p:nvSpPr>
        <p:spPr/>
        <p:txBody>
          <a:bodyPr/>
          <a:lstStyle/>
          <a:p>
            <a:r>
              <a:rPr lang="en-US" b="1" i="0" dirty="0">
                <a:effectLst/>
                <a:cs typeface="Times New Roman" panose="02020603050405020304" pitchFamily="18" charset="0"/>
              </a:rPr>
              <a:t>Types of Friction Clutches</a:t>
            </a:r>
            <a:endParaRPr lang="en-US" dirty="0"/>
          </a:p>
        </p:txBody>
      </p:sp>
      <p:sp>
        <p:nvSpPr>
          <p:cNvPr id="3" name="Content Placeholder 2">
            <a:extLst>
              <a:ext uri="{FF2B5EF4-FFF2-40B4-BE49-F238E27FC236}">
                <a16:creationId xmlns:a16="http://schemas.microsoft.com/office/drawing/2014/main" id="{C5AAFDE3-7CF7-4070-B0E0-C870B08828A8}"/>
              </a:ext>
            </a:extLst>
          </p:cNvPr>
          <p:cNvSpPr>
            <a:spLocks noGrp="1"/>
          </p:cNvSpPr>
          <p:nvPr>
            <p:ph idx="1"/>
          </p:nvPr>
        </p:nvSpPr>
        <p:spPr/>
        <p:txBody>
          <a:bodyPr>
            <a:normAutofit/>
          </a:bodyPr>
          <a:lstStyle/>
          <a:p>
            <a:pPr marL="0" indent="0">
              <a:buNone/>
            </a:pPr>
            <a:r>
              <a:rPr lang="en-US" sz="2800" b="0" i="0" dirty="0">
                <a:solidFill>
                  <a:srgbClr val="231F20"/>
                </a:solidFill>
                <a:effectLst/>
                <a:cs typeface="Times New Roman" panose="02020603050405020304" pitchFamily="18" charset="0"/>
              </a:rPr>
              <a:t>Though there are many types of friction clutches, yet the following are important from the subject point of view :</a:t>
            </a:r>
            <a:br>
              <a:rPr lang="en-US" sz="2800" b="0" i="0" dirty="0">
                <a:solidFill>
                  <a:srgbClr val="231F20"/>
                </a:solidFill>
                <a:effectLst/>
                <a:cs typeface="Times New Roman" panose="02020603050405020304" pitchFamily="18" charset="0"/>
              </a:rPr>
            </a:br>
            <a:r>
              <a:rPr lang="en-US" sz="2800" b="1" i="0" dirty="0">
                <a:effectLst/>
                <a:cs typeface="Times New Roman" panose="02020603050405020304" pitchFamily="18" charset="0"/>
              </a:rPr>
              <a:t>1. </a:t>
            </a:r>
            <a:r>
              <a:rPr lang="en-US" sz="2800" b="0" i="0" dirty="0">
                <a:effectLst/>
                <a:cs typeface="Times New Roman" panose="02020603050405020304" pitchFamily="18" charset="0"/>
              </a:rPr>
              <a:t>Disc or plate clutches (single disc or multiple disc clutch),</a:t>
            </a:r>
            <a:br>
              <a:rPr lang="en-US" sz="2800" b="0" i="0" dirty="0">
                <a:effectLst/>
                <a:cs typeface="Times New Roman" panose="02020603050405020304" pitchFamily="18" charset="0"/>
              </a:rPr>
            </a:br>
            <a:r>
              <a:rPr lang="en-US" sz="2800" b="1" i="0" dirty="0">
                <a:effectLst/>
                <a:cs typeface="Times New Roman" panose="02020603050405020304" pitchFamily="18" charset="0"/>
              </a:rPr>
              <a:t>2. </a:t>
            </a:r>
            <a:r>
              <a:rPr lang="en-US" sz="2800" b="0" i="0" dirty="0">
                <a:effectLst/>
                <a:cs typeface="Times New Roman" panose="02020603050405020304" pitchFamily="18" charset="0"/>
              </a:rPr>
              <a:t>Cone clutches, and</a:t>
            </a:r>
            <a:br>
              <a:rPr lang="en-US" sz="2800" b="0" i="0" dirty="0">
                <a:effectLst/>
                <a:cs typeface="Times New Roman" panose="02020603050405020304" pitchFamily="18" charset="0"/>
              </a:rPr>
            </a:br>
            <a:r>
              <a:rPr lang="en-US" sz="2800" b="1" i="0" dirty="0">
                <a:solidFill>
                  <a:schemeClr val="tx1"/>
                </a:solidFill>
                <a:effectLst/>
                <a:cs typeface="Times New Roman" panose="02020603050405020304" pitchFamily="18" charset="0"/>
              </a:rPr>
              <a:t>3</a:t>
            </a:r>
            <a:r>
              <a:rPr lang="en-US" sz="2800" b="1" dirty="0">
                <a:solidFill>
                  <a:schemeClr val="tx1"/>
                </a:solidFill>
                <a:cs typeface="Times New Roman" panose="02020603050405020304" pitchFamily="18" charset="0"/>
              </a:rPr>
              <a:t>.</a:t>
            </a:r>
            <a:r>
              <a:rPr lang="en-US" sz="2800" b="1" i="0" dirty="0">
                <a:solidFill>
                  <a:schemeClr val="tx1"/>
                </a:solidFill>
                <a:effectLst/>
                <a:cs typeface="Times New Roman" panose="02020603050405020304" pitchFamily="18" charset="0"/>
              </a:rPr>
              <a:t> </a:t>
            </a:r>
            <a:r>
              <a:rPr lang="en-US" sz="2800" b="0" i="0" dirty="0">
                <a:solidFill>
                  <a:srgbClr val="231F20"/>
                </a:solidFill>
                <a:effectLst/>
                <a:cs typeface="Times New Roman" panose="02020603050405020304" pitchFamily="18" charset="0"/>
              </a:rPr>
              <a:t>Centrifugal clutches</a:t>
            </a:r>
            <a:br>
              <a:rPr lang="en-US" sz="2800" dirty="0">
                <a:cs typeface="Times New Roman" panose="02020603050405020304" pitchFamily="18" charset="0"/>
              </a:rPr>
            </a:br>
            <a:r>
              <a:rPr lang="en-US" sz="2800" dirty="0">
                <a:cs typeface="Times New Roman" panose="02020603050405020304" pitchFamily="18" charset="0"/>
              </a:rPr>
              <a:t>We will concentrate on disc(plate) clutch</a:t>
            </a:r>
            <a:endParaRPr lang="en-US" sz="2800" dirty="0"/>
          </a:p>
        </p:txBody>
      </p:sp>
    </p:spTree>
    <p:extLst>
      <p:ext uri="{BB962C8B-B14F-4D97-AF65-F5344CB8AC3E}">
        <p14:creationId xmlns:p14="http://schemas.microsoft.com/office/powerpoint/2010/main" val="1563023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2C3C4-8814-4C20-9DC1-8AB9D5C8D49C}"/>
              </a:ext>
            </a:extLst>
          </p:cNvPr>
          <p:cNvSpPr>
            <a:spLocks noGrp="1"/>
          </p:cNvSpPr>
          <p:nvPr>
            <p:ph type="title"/>
          </p:nvPr>
        </p:nvSpPr>
        <p:spPr/>
        <p:txBody>
          <a:bodyPr>
            <a:normAutofit/>
          </a:bodyPr>
          <a:lstStyle/>
          <a:p>
            <a:r>
              <a:rPr lang="en-US" sz="3200" b="1" i="0" dirty="0">
                <a:effectLst/>
                <a:latin typeface="Times New Roman" panose="02020603050405020304" pitchFamily="18" charset="0"/>
                <a:cs typeface="Times New Roman" panose="02020603050405020304" pitchFamily="18" charset="0"/>
              </a:rPr>
              <a:t>Disc clutches (single disc or multiple disc)</a:t>
            </a:r>
            <a:endParaRPr lang="en-US" sz="3200" b="1" dirty="0"/>
          </a:p>
        </p:txBody>
      </p:sp>
      <p:sp>
        <p:nvSpPr>
          <p:cNvPr id="3" name="Content Placeholder 2">
            <a:extLst>
              <a:ext uri="{FF2B5EF4-FFF2-40B4-BE49-F238E27FC236}">
                <a16:creationId xmlns:a16="http://schemas.microsoft.com/office/drawing/2014/main" id="{8C4D3712-7CAC-4EEF-B627-F99A3453C822}"/>
              </a:ext>
            </a:extLst>
          </p:cNvPr>
          <p:cNvSpPr>
            <a:spLocks noGrp="1"/>
          </p:cNvSpPr>
          <p:nvPr>
            <p:ph idx="1"/>
          </p:nvPr>
        </p:nvSpPr>
        <p:spPr>
          <a:xfrm>
            <a:off x="1295401" y="2446987"/>
            <a:ext cx="9601196" cy="3825024"/>
          </a:xfrm>
        </p:spPr>
        <p:txBody>
          <a:bodyPr>
            <a:normAutofit lnSpcReduction="10000"/>
          </a:bodyPr>
          <a:lstStyle/>
          <a:p>
            <a:pPr marL="0" indent="0">
              <a:buNone/>
            </a:pPr>
            <a:r>
              <a:rPr lang="en-US" b="0" i="0" dirty="0">
                <a:solidFill>
                  <a:srgbClr val="231F20"/>
                </a:solidFill>
                <a:effectLst/>
                <a:cs typeface="Times New Roman" panose="02020603050405020304" pitchFamily="18" charset="0"/>
              </a:rPr>
              <a:t>The clutch assembly is located between the engine and the transmission or transaxle. The purpose and function of a clutch include the following:</a:t>
            </a:r>
          </a:p>
          <a:p>
            <a:pPr algn="just"/>
            <a:r>
              <a:rPr lang="en-US" b="0" i="0" dirty="0">
                <a:solidFill>
                  <a:srgbClr val="231F20"/>
                </a:solidFill>
                <a:effectLst/>
                <a:cs typeface="Times New Roman" panose="02020603050405020304" pitchFamily="18" charset="0"/>
              </a:rPr>
              <a:t>To connect and transmit engine torque to the transmission/transaxle</a:t>
            </a:r>
            <a:r>
              <a:rPr lang="en-US" sz="1800" dirty="0">
                <a:cs typeface="Times New Roman" panose="02020603050405020304" pitchFamily="18" charset="0"/>
              </a:rPr>
              <a:t> </a:t>
            </a:r>
          </a:p>
          <a:p>
            <a:pPr algn="just"/>
            <a:r>
              <a:rPr lang="en-US" b="0" i="0" dirty="0">
                <a:solidFill>
                  <a:srgbClr val="231F20"/>
                </a:solidFill>
                <a:effectLst/>
                <a:cs typeface="Times New Roman" panose="02020603050405020304" pitchFamily="18" charset="0"/>
              </a:rPr>
              <a:t>To disconnect the engine from the transmission/transaxle to permit the engine to remain running when the vehicle is stopped and to permit the transmission/transaxle to be shifted</a:t>
            </a:r>
          </a:p>
          <a:p>
            <a:pPr algn="just"/>
            <a:r>
              <a:rPr lang="en-US" b="0" i="0" dirty="0">
                <a:solidFill>
                  <a:srgbClr val="231F20"/>
                </a:solidFill>
                <a:effectLst/>
                <a:cs typeface="Times New Roman" panose="02020603050405020304" pitchFamily="18" charset="0"/>
              </a:rPr>
              <a:t>To dampen and absorb engine impulses and drive train vibrations</a:t>
            </a:r>
          </a:p>
          <a:p>
            <a:pPr algn="just"/>
            <a:r>
              <a:rPr lang="en-US" b="0" i="0" dirty="0">
                <a:solidFill>
                  <a:srgbClr val="231F20"/>
                </a:solidFill>
                <a:effectLst/>
                <a:cs typeface="Times New Roman" panose="02020603050405020304" pitchFamily="18" charset="0"/>
              </a:rPr>
              <a:t>To provide a smooth engagement and disengagement between the engine and the transmission/transaxle</a:t>
            </a:r>
            <a:endParaRPr lang="en-US" sz="1800" dirty="0">
              <a:cs typeface="Times New Roman" panose="02020603050405020304" pitchFamily="18" charset="0"/>
            </a:endParaRPr>
          </a:p>
        </p:txBody>
      </p:sp>
    </p:spTree>
    <p:extLst>
      <p:ext uri="{BB962C8B-B14F-4D97-AF65-F5344CB8AC3E}">
        <p14:creationId xmlns:p14="http://schemas.microsoft.com/office/powerpoint/2010/main" val="1815064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B868C-65D2-4ADF-9655-9994F906E73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Components of Clutch System</a:t>
            </a:r>
          </a:p>
        </p:txBody>
      </p:sp>
      <p:sp>
        <p:nvSpPr>
          <p:cNvPr id="3" name="Content Placeholder 2">
            <a:extLst>
              <a:ext uri="{FF2B5EF4-FFF2-40B4-BE49-F238E27FC236}">
                <a16:creationId xmlns:a16="http://schemas.microsoft.com/office/drawing/2014/main" id="{6ECDB029-B7BF-476C-AD92-F7F3B8852415}"/>
              </a:ext>
            </a:extLst>
          </p:cNvPr>
          <p:cNvSpPr>
            <a:spLocks noGrp="1"/>
          </p:cNvSpPr>
          <p:nvPr>
            <p:ph idx="1"/>
          </p:nvPr>
        </p:nvSpPr>
        <p:spPr/>
        <p:txBody>
          <a:bodyPr>
            <a:normAutofit lnSpcReduction="10000"/>
          </a:bodyPr>
          <a:lstStyle/>
          <a:p>
            <a:pPr marL="0" indent="0" algn="just">
              <a:buNone/>
            </a:pPr>
            <a:r>
              <a:rPr lang="en-US" sz="3600" dirty="0"/>
              <a:t>The main components of clutch System</a:t>
            </a:r>
          </a:p>
          <a:p>
            <a:pPr algn="just"/>
            <a:r>
              <a:rPr lang="en-US" sz="3600" dirty="0"/>
              <a:t>Flywheel</a:t>
            </a:r>
          </a:p>
          <a:p>
            <a:pPr algn="just"/>
            <a:r>
              <a:rPr lang="en-US" sz="3600" dirty="0"/>
              <a:t>Clutch plate</a:t>
            </a:r>
          </a:p>
          <a:p>
            <a:pPr algn="just"/>
            <a:r>
              <a:rPr lang="en-US" sz="3600" dirty="0"/>
              <a:t>Pressure plate</a:t>
            </a:r>
          </a:p>
          <a:p>
            <a:pPr algn="just"/>
            <a:r>
              <a:rPr lang="en-US" sz="3600" dirty="0"/>
              <a:t>Release mechanism</a:t>
            </a:r>
          </a:p>
        </p:txBody>
      </p:sp>
    </p:spTree>
    <p:extLst>
      <p:ext uri="{BB962C8B-B14F-4D97-AF65-F5344CB8AC3E}">
        <p14:creationId xmlns:p14="http://schemas.microsoft.com/office/powerpoint/2010/main" val="3557316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1DFD11A6-86AD-4E58-B974-3FA026D5BDE0}"/>
              </a:ext>
            </a:extLst>
          </p:cNvPr>
          <p:cNvPicPr>
            <a:picLocks noGrp="1" noChangeAspect="1"/>
          </p:cNvPicPr>
          <p:nvPr>
            <p:ph idx="1"/>
          </p:nvPr>
        </p:nvPicPr>
        <p:blipFill>
          <a:blip r:embed="rId2"/>
          <a:stretch>
            <a:fillRect/>
          </a:stretch>
        </p:blipFill>
        <p:spPr>
          <a:xfrm>
            <a:off x="2145922" y="2557463"/>
            <a:ext cx="7900155" cy="3317875"/>
          </a:xfrm>
        </p:spPr>
      </p:pic>
    </p:spTree>
    <p:extLst>
      <p:ext uri="{BB962C8B-B14F-4D97-AF65-F5344CB8AC3E}">
        <p14:creationId xmlns:p14="http://schemas.microsoft.com/office/powerpoint/2010/main" val="8594352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D4879CC0-CC6F-4460-855B-9CCA89C15A7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80567" y="2557463"/>
            <a:ext cx="6030866" cy="3317875"/>
          </a:xfrm>
        </p:spPr>
      </p:pic>
    </p:spTree>
    <p:extLst>
      <p:ext uri="{BB962C8B-B14F-4D97-AF65-F5344CB8AC3E}">
        <p14:creationId xmlns:p14="http://schemas.microsoft.com/office/powerpoint/2010/main" val="2613192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67AF464-9F27-4E12-A636-9B58C4561F01}"/>
              </a:ext>
            </a:extLst>
          </p:cNvPr>
          <p:cNvPicPr>
            <a:picLocks noGrp="1" noChangeAspect="1"/>
          </p:cNvPicPr>
          <p:nvPr>
            <p:ph idx="1"/>
          </p:nvPr>
        </p:nvPicPr>
        <p:blipFill>
          <a:blip r:embed="rId2"/>
          <a:stretch>
            <a:fillRect/>
          </a:stretch>
        </p:blipFill>
        <p:spPr>
          <a:xfrm>
            <a:off x="218940" y="238259"/>
            <a:ext cx="11754119" cy="6381481"/>
          </a:xfrm>
        </p:spPr>
      </p:pic>
    </p:spTree>
    <p:extLst>
      <p:ext uri="{BB962C8B-B14F-4D97-AF65-F5344CB8AC3E}">
        <p14:creationId xmlns:p14="http://schemas.microsoft.com/office/powerpoint/2010/main" val="2801140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DC690C-7E9D-4EB7-98BD-308C1CEDC17A}"/>
              </a:ext>
            </a:extLst>
          </p:cNvPr>
          <p:cNvSpPr>
            <a:spLocks noGrp="1"/>
          </p:cNvSpPr>
          <p:nvPr>
            <p:ph idx="1"/>
          </p:nvPr>
        </p:nvSpPr>
        <p:spPr>
          <a:xfrm>
            <a:off x="1295401" y="1857829"/>
            <a:ext cx="9601196" cy="4018039"/>
          </a:xfrm>
        </p:spPr>
        <p:txBody>
          <a:bodyPr>
            <a:noAutofit/>
          </a:bodyPr>
          <a:lstStyle/>
          <a:p>
            <a:pPr marL="0" indent="0" algn="just">
              <a:buNone/>
            </a:pPr>
            <a:r>
              <a:rPr lang="en-US" sz="2800" b="1" dirty="0">
                <a:solidFill>
                  <a:srgbClr val="FF0000"/>
                </a:solidFill>
              </a:rPr>
              <a:t>1. Flywheel</a:t>
            </a:r>
          </a:p>
          <a:p>
            <a:pPr marL="0" indent="0" algn="just">
              <a:buNone/>
            </a:pPr>
            <a:r>
              <a:rPr lang="en-US" sz="2800" b="0" i="0" dirty="0">
                <a:solidFill>
                  <a:srgbClr val="231F20"/>
                </a:solidFill>
                <a:effectLst/>
              </a:rPr>
              <a:t>The engine flywheel serves four basic purposes:</a:t>
            </a:r>
          </a:p>
          <a:p>
            <a:pPr algn="just"/>
            <a:r>
              <a:rPr lang="en-US" sz="2800" i="0" dirty="0">
                <a:solidFill>
                  <a:srgbClr val="231F20"/>
                </a:solidFill>
                <a:effectLst/>
              </a:rPr>
              <a:t>Smoothens out or dampens engine power pulses </a:t>
            </a:r>
          </a:p>
          <a:p>
            <a:pPr algn="just"/>
            <a:r>
              <a:rPr lang="en-US" sz="2800" i="0" dirty="0">
                <a:solidFill>
                  <a:srgbClr val="231F20"/>
                </a:solidFill>
                <a:effectLst/>
              </a:rPr>
              <a:t>Provides the connection point for the starter motor to crank the engine</a:t>
            </a:r>
          </a:p>
          <a:p>
            <a:pPr algn="just"/>
            <a:r>
              <a:rPr lang="en-US" sz="2800" i="0" dirty="0">
                <a:solidFill>
                  <a:srgbClr val="231F20"/>
                </a:solidFill>
                <a:effectLst/>
              </a:rPr>
              <a:t>Provides the application surface for the clutch friction disc</a:t>
            </a:r>
          </a:p>
          <a:p>
            <a:pPr algn="just"/>
            <a:r>
              <a:rPr lang="en-US" sz="2800" i="0" dirty="0">
                <a:solidFill>
                  <a:srgbClr val="231F20"/>
                </a:solidFill>
                <a:effectLst/>
              </a:rPr>
              <a:t>Absorbs some of the heat created by clutch operation</a:t>
            </a:r>
            <a:endParaRPr lang="en-US" sz="2800" dirty="0"/>
          </a:p>
        </p:txBody>
      </p:sp>
    </p:spTree>
    <p:extLst>
      <p:ext uri="{BB962C8B-B14F-4D97-AF65-F5344CB8AC3E}">
        <p14:creationId xmlns:p14="http://schemas.microsoft.com/office/powerpoint/2010/main" val="22285414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What is a flywheel and what does it do? | AutoGuru">
            <a:extLst>
              <a:ext uri="{FF2B5EF4-FFF2-40B4-BE49-F238E27FC236}">
                <a16:creationId xmlns:a16="http://schemas.microsoft.com/office/drawing/2014/main" id="{333443F1-7662-40EC-9BF4-0C3C6A6C4B1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46778" y="2557463"/>
            <a:ext cx="5898444" cy="3317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17183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315DBF-E3A7-49A2-8930-CF91AB148D32}"/>
              </a:ext>
            </a:extLst>
          </p:cNvPr>
          <p:cNvSpPr>
            <a:spLocks noGrp="1"/>
          </p:cNvSpPr>
          <p:nvPr>
            <p:ph idx="1"/>
          </p:nvPr>
        </p:nvSpPr>
        <p:spPr>
          <a:xfrm>
            <a:off x="1295401" y="2064327"/>
            <a:ext cx="9601196" cy="3811541"/>
          </a:xfrm>
        </p:spPr>
        <p:txBody>
          <a:bodyPr>
            <a:normAutofit fontScale="62500" lnSpcReduction="20000"/>
          </a:bodyPr>
          <a:lstStyle/>
          <a:p>
            <a:pPr marL="0" indent="0" algn="just">
              <a:buNone/>
            </a:pPr>
            <a:r>
              <a:rPr lang="en-US" sz="4000" b="1" dirty="0">
                <a:solidFill>
                  <a:srgbClr val="FF0000"/>
                </a:solidFill>
              </a:rPr>
              <a:t>2. Clutch plate</a:t>
            </a:r>
          </a:p>
          <a:p>
            <a:pPr marL="0" indent="0" algn="just">
              <a:buNone/>
            </a:pPr>
            <a:r>
              <a:rPr lang="en-US" sz="4000" b="0" i="0" dirty="0">
                <a:solidFill>
                  <a:srgbClr val="231F20"/>
                </a:solidFill>
                <a:effectLst/>
              </a:rPr>
              <a:t>The clutch disc/plate is round with a splined center hole that slips over the splines of the input shaft of the transmission/ transaxle. </a:t>
            </a:r>
          </a:p>
          <a:p>
            <a:pPr marL="0" indent="0" algn="just">
              <a:buNone/>
            </a:pPr>
            <a:r>
              <a:rPr lang="en-US" sz="4000" dirty="0">
                <a:solidFill>
                  <a:srgbClr val="231F20"/>
                </a:solidFill>
              </a:rPr>
              <a:t>Clutch plate transmit power from flywheel to input shaft of gearbox through f</a:t>
            </a:r>
            <a:r>
              <a:rPr lang="en-US" sz="4000" b="0" i="0" dirty="0">
                <a:solidFill>
                  <a:srgbClr val="231F20"/>
                </a:solidFill>
                <a:effectLst/>
              </a:rPr>
              <a:t>riction materials which riveted to both sides of the clutch disc (one side touches the flywheel of the engine and the other side touches the friction surface of the pressure plate). </a:t>
            </a:r>
          </a:p>
          <a:p>
            <a:pPr marL="0" indent="0" algn="just">
              <a:buNone/>
            </a:pPr>
            <a:r>
              <a:rPr lang="en-US" sz="4000" b="0" i="0" dirty="0">
                <a:solidFill>
                  <a:srgbClr val="231F20"/>
                </a:solidFill>
                <a:effectLst/>
              </a:rPr>
              <a:t>Friction materials operate in high heat and pressure. </a:t>
            </a:r>
          </a:p>
          <a:p>
            <a:pPr marL="0" indent="0" algn="just">
              <a:buNone/>
            </a:pPr>
            <a:br>
              <a:rPr lang="en-US" sz="3200" dirty="0"/>
            </a:br>
            <a:endParaRPr lang="en-US" sz="3200" dirty="0"/>
          </a:p>
        </p:txBody>
      </p:sp>
    </p:spTree>
    <p:extLst>
      <p:ext uri="{BB962C8B-B14F-4D97-AF65-F5344CB8AC3E}">
        <p14:creationId xmlns:p14="http://schemas.microsoft.com/office/powerpoint/2010/main" val="37781172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D27AE9-2978-4C52-B581-6CB5F281E08E}"/>
              </a:ext>
            </a:extLst>
          </p:cNvPr>
          <p:cNvSpPr>
            <a:spLocks noGrp="1"/>
          </p:cNvSpPr>
          <p:nvPr>
            <p:ph idx="1"/>
          </p:nvPr>
        </p:nvSpPr>
        <p:spPr/>
        <p:txBody>
          <a:bodyPr>
            <a:normAutofit lnSpcReduction="10000"/>
          </a:bodyPr>
          <a:lstStyle/>
          <a:p>
            <a:pPr marL="0" indent="0" algn="just">
              <a:buNone/>
            </a:pPr>
            <a:r>
              <a:rPr lang="en-US" i="0" dirty="0">
                <a:solidFill>
                  <a:schemeClr val="tx1"/>
                </a:solidFill>
                <a:effectLst/>
              </a:rPr>
              <a:t>For many years, asbestos was the most common material used in both clutch and brake linings. </a:t>
            </a:r>
          </a:p>
          <a:p>
            <a:pPr marL="0" indent="0" algn="just">
              <a:buNone/>
            </a:pPr>
            <a:r>
              <a:rPr lang="en-US" i="0" dirty="0">
                <a:solidFill>
                  <a:schemeClr val="tx1"/>
                </a:solidFill>
                <a:effectLst/>
              </a:rPr>
              <a:t>However, it is no longer used because inhaling tiny particles of asbestos causes lung damage. </a:t>
            </a:r>
          </a:p>
          <a:p>
            <a:pPr marL="0" indent="0" algn="just">
              <a:buNone/>
            </a:pPr>
            <a:r>
              <a:rPr lang="en-US" i="0" dirty="0">
                <a:solidFill>
                  <a:schemeClr val="tx1"/>
                </a:solidFill>
                <a:effectLst/>
              </a:rPr>
              <a:t>Today, clutch friction material may contain paper, cotton, and bits of copper or brass wire with resin holding the mixture together.</a:t>
            </a:r>
            <a:r>
              <a:rPr lang="en-US" dirty="0">
                <a:solidFill>
                  <a:schemeClr val="tx1"/>
                </a:solidFill>
              </a:rPr>
              <a:t> </a:t>
            </a:r>
          </a:p>
          <a:p>
            <a:pPr marL="0" indent="0" algn="just">
              <a:buNone/>
            </a:pPr>
            <a:r>
              <a:rPr lang="en-US" b="1" i="0" dirty="0">
                <a:solidFill>
                  <a:schemeClr val="tx1"/>
                </a:solidFill>
                <a:effectLst/>
              </a:rPr>
              <a:t>CAUTION: Always take precautions when working around clutch lining material and assume that it contains asbestos. </a:t>
            </a:r>
          </a:p>
        </p:txBody>
      </p:sp>
      <p:sp>
        <p:nvSpPr>
          <p:cNvPr id="4" name="TextBox 3">
            <a:extLst>
              <a:ext uri="{FF2B5EF4-FFF2-40B4-BE49-F238E27FC236}">
                <a16:creationId xmlns:a16="http://schemas.microsoft.com/office/drawing/2014/main" id="{F96F8171-9B15-B7D3-9FF2-A2BA73867892}"/>
              </a:ext>
            </a:extLst>
          </p:cNvPr>
          <p:cNvSpPr txBox="1"/>
          <p:nvPr/>
        </p:nvSpPr>
        <p:spPr>
          <a:xfrm>
            <a:off x="1548062" y="1540042"/>
            <a:ext cx="7676147" cy="369332"/>
          </a:xfrm>
          <a:prstGeom prst="rect">
            <a:avLst/>
          </a:prstGeom>
          <a:noFill/>
        </p:spPr>
        <p:txBody>
          <a:bodyPr wrap="square">
            <a:spAutoFit/>
          </a:bodyPr>
          <a:lstStyle/>
          <a:p>
            <a:pPr marL="0" indent="0" algn="just">
              <a:buNone/>
            </a:pPr>
            <a:r>
              <a:rPr lang="en-US" sz="1800" b="1" dirty="0">
                <a:solidFill>
                  <a:srgbClr val="FF0000"/>
                </a:solidFill>
              </a:rPr>
              <a:t>2. Clutch plate cont..</a:t>
            </a:r>
          </a:p>
        </p:txBody>
      </p:sp>
    </p:spTree>
    <p:extLst>
      <p:ext uri="{BB962C8B-B14F-4D97-AF65-F5344CB8AC3E}">
        <p14:creationId xmlns:p14="http://schemas.microsoft.com/office/powerpoint/2010/main" val="13528651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Amazon.com: AP - Clutch Plate Part# BR1345G: Automotive">
            <a:extLst>
              <a:ext uri="{FF2B5EF4-FFF2-40B4-BE49-F238E27FC236}">
                <a16:creationId xmlns:a16="http://schemas.microsoft.com/office/drawing/2014/main" id="{694703D2-BFE6-4220-AC4B-0FC4F41E1CC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47740" y="218941"/>
            <a:ext cx="8139449" cy="6413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87103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1AF5BE-E850-44B4-B043-B2429C8C1024}"/>
              </a:ext>
            </a:extLst>
          </p:cNvPr>
          <p:cNvSpPr>
            <a:spLocks noGrp="1"/>
          </p:cNvSpPr>
          <p:nvPr>
            <p:ph idx="1"/>
          </p:nvPr>
        </p:nvSpPr>
        <p:spPr>
          <a:xfrm>
            <a:off x="1295401" y="2064327"/>
            <a:ext cx="9601196" cy="3811541"/>
          </a:xfrm>
        </p:spPr>
        <p:txBody>
          <a:bodyPr>
            <a:normAutofit fontScale="77500" lnSpcReduction="20000"/>
          </a:bodyPr>
          <a:lstStyle/>
          <a:p>
            <a:pPr marL="0" indent="0" algn="just">
              <a:buNone/>
            </a:pPr>
            <a:r>
              <a:rPr lang="en-US" sz="3400" b="1" dirty="0">
                <a:solidFill>
                  <a:srgbClr val="FF0000"/>
                </a:solidFill>
              </a:rPr>
              <a:t>3. Pressure plate</a:t>
            </a:r>
          </a:p>
          <a:p>
            <a:pPr marL="0" indent="0" algn="just">
              <a:buNone/>
            </a:pPr>
            <a:r>
              <a:rPr lang="en-US" sz="3200" b="0" i="0" dirty="0">
                <a:solidFill>
                  <a:srgbClr val="231F20"/>
                </a:solidFill>
                <a:effectLst/>
              </a:rPr>
              <a:t>The purpose of the pressure plate is to exert a force on the clutch disc so that engine torque can be transmitted from the engine to the transmission/transaxle. </a:t>
            </a:r>
          </a:p>
          <a:p>
            <a:pPr marL="0" indent="0" algn="just">
              <a:buNone/>
            </a:pPr>
            <a:r>
              <a:rPr lang="en-US" sz="3200" dirty="0">
                <a:solidFill>
                  <a:schemeClr val="tx1"/>
                </a:solidFill>
              </a:rPr>
              <a:t>Pressure plate </a:t>
            </a:r>
            <a:r>
              <a:rPr lang="en-US" sz="3200" dirty="0">
                <a:solidFill>
                  <a:srgbClr val="000000"/>
                </a:solidFill>
                <a:effectLst/>
                <a:ea typeface="Times New Roman" panose="02020603050405020304" pitchFamily="18" charset="0"/>
                <a:cs typeface="Calibri" panose="020F0502020204030204" pitchFamily="34" charset="0"/>
              </a:rPr>
              <a:t>is bolted to the back of the flywheel, and the clutch disc is sandwiched in between the flywheel and the pressure plate. </a:t>
            </a:r>
          </a:p>
          <a:p>
            <a:pPr marL="0" indent="0" algn="just">
              <a:buNone/>
            </a:pPr>
            <a:r>
              <a:rPr lang="en-US" sz="3200" dirty="0">
                <a:solidFill>
                  <a:srgbClr val="000000"/>
                </a:solidFill>
                <a:effectLst/>
                <a:ea typeface="Times New Roman" panose="02020603050405020304" pitchFamily="18" charset="0"/>
                <a:cs typeface="Calibri" panose="020F0502020204030204" pitchFamily="34" charset="0"/>
              </a:rPr>
              <a:t>The assembly consists of the </a:t>
            </a:r>
            <a:r>
              <a:rPr lang="en-US" sz="3200" b="1" dirty="0">
                <a:solidFill>
                  <a:srgbClr val="000000"/>
                </a:solidFill>
                <a:effectLst/>
                <a:ea typeface="Times New Roman" panose="02020603050405020304" pitchFamily="18" charset="0"/>
                <a:cs typeface="Calibri" panose="020F0502020204030204" pitchFamily="34" charset="0"/>
              </a:rPr>
              <a:t>pressure plate cover</a:t>
            </a:r>
            <a:r>
              <a:rPr lang="en-US" sz="3200" dirty="0">
                <a:solidFill>
                  <a:srgbClr val="000000"/>
                </a:solidFill>
                <a:effectLst/>
                <a:ea typeface="Times New Roman" panose="02020603050405020304" pitchFamily="18" charset="0"/>
                <a:cs typeface="Calibri" panose="020F0502020204030204" pitchFamily="34" charset="0"/>
              </a:rPr>
              <a:t>, </a:t>
            </a:r>
            <a:r>
              <a:rPr lang="en-US" sz="3200" b="1" dirty="0">
                <a:solidFill>
                  <a:srgbClr val="000000"/>
                </a:solidFill>
                <a:effectLst/>
                <a:ea typeface="Times New Roman" panose="02020603050405020304" pitchFamily="18" charset="0"/>
                <a:cs typeface="Calibri" panose="020F0502020204030204" pitchFamily="34" charset="0"/>
              </a:rPr>
              <a:t>face</a:t>
            </a:r>
            <a:r>
              <a:rPr lang="en-US" sz="3200" dirty="0">
                <a:solidFill>
                  <a:srgbClr val="000000"/>
                </a:solidFill>
                <a:effectLst/>
                <a:ea typeface="Times New Roman" panose="02020603050405020304" pitchFamily="18" charset="0"/>
                <a:cs typeface="Calibri" panose="020F0502020204030204" pitchFamily="34" charset="0"/>
              </a:rPr>
              <a:t>, </a:t>
            </a:r>
            <a:r>
              <a:rPr lang="en-US" sz="3200" b="1" dirty="0">
                <a:solidFill>
                  <a:srgbClr val="000000"/>
                </a:solidFill>
                <a:effectLst/>
                <a:ea typeface="Times New Roman" panose="02020603050405020304" pitchFamily="18" charset="0"/>
                <a:cs typeface="Calibri" panose="020F0502020204030204" pitchFamily="34" charset="0"/>
              </a:rPr>
              <a:t>springs</a:t>
            </a:r>
            <a:r>
              <a:rPr lang="en-US" sz="3200" dirty="0">
                <a:solidFill>
                  <a:srgbClr val="000000"/>
                </a:solidFill>
                <a:effectLst/>
                <a:ea typeface="Times New Roman" panose="02020603050405020304" pitchFamily="18" charset="0"/>
                <a:cs typeface="Calibri" panose="020F0502020204030204" pitchFamily="34" charset="0"/>
              </a:rPr>
              <a:t>, and sometimes </a:t>
            </a:r>
            <a:r>
              <a:rPr lang="en-US" sz="3200" b="1" dirty="0">
                <a:solidFill>
                  <a:srgbClr val="000000"/>
                </a:solidFill>
                <a:effectLst/>
                <a:ea typeface="Times New Roman" panose="02020603050405020304" pitchFamily="18" charset="0"/>
                <a:cs typeface="Calibri" panose="020F0502020204030204" pitchFamily="34" charset="0"/>
              </a:rPr>
              <a:t>release levers</a:t>
            </a:r>
          </a:p>
          <a:p>
            <a:pPr marL="0" indent="0" algn="just">
              <a:buNone/>
            </a:pPr>
            <a:r>
              <a:rPr lang="en-US" sz="3200" dirty="0"/>
              <a:t>S</a:t>
            </a:r>
            <a:r>
              <a:rPr lang="en-US" sz="3200" dirty="0">
                <a:solidFill>
                  <a:srgbClr val="000000"/>
                </a:solidFill>
                <a:effectLst/>
                <a:ea typeface="Times New Roman" panose="02020603050405020304" pitchFamily="18" charset="0"/>
                <a:cs typeface="Calibri" panose="020F0502020204030204" pitchFamily="34" charset="0"/>
              </a:rPr>
              <a:t>ince the pressure plate assembly is bolted to the flywheel, it rotates at all times. But the clutch disc only rotates when the clutch is engaged.</a:t>
            </a:r>
            <a:endParaRPr lang="en-US" sz="32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752376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830389-83B4-47A8-A753-E2478C38C5AB}"/>
              </a:ext>
            </a:extLst>
          </p:cNvPr>
          <p:cNvSpPr>
            <a:spLocks noGrp="1"/>
          </p:cNvSpPr>
          <p:nvPr>
            <p:ph idx="1"/>
          </p:nvPr>
        </p:nvSpPr>
        <p:spPr>
          <a:xfrm>
            <a:off x="1295401" y="1764405"/>
            <a:ext cx="9601196" cy="4378817"/>
          </a:xfrm>
        </p:spPr>
        <p:txBody>
          <a:bodyPr>
            <a:normAutofit fontScale="62500" lnSpcReduction="20000"/>
          </a:bodyPr>
          <a:lstStyle/>
          <a:p>
            <a:endParaRPr lang="en-US" sz="2900" b="1" i="0" dirty="0">
              <a:solidFill>
                <a:srgbClr val="0070C0"/>
              </a:solidFill>
              <a:effectLst/>
            </a:endParaRPr>
          </a:p>
          <a:p>
            <a:pPr marL="0" indent="0">
              <a:buNone/>
            </a:pPr>
            <a:r>
              <a:rPr lang="en-US" sz="3200" b="1" dirty="0">
                <a:solidFill>
                  <a:srgbClr val="FF0000"/>
                </a:solidFill>
              </a:rPr>
              <a:t>3. Pressure plate cont..</a:t>
            </a:r>
            <a:endParaRPr lang="en-US" sz="2900" b="1" i="0" dirty="0">
              <a:solidFill>
                <a:srgbClr val="0070C0"/>
              </a:solidFill>
              <a:effectLst/>
            </a:endParaRPr>
          </a:p>
          <a:p>
            <a:r>
              <a:rPr lang="en-US" sz="2900" b="1" i="0" dirty="0">
                <a:solidFill>
                  <a:srgbClr val="0070C0"/>
                </a:solidFill>
                <a:effectLst/>
              </a:rPr>
              <a:t>Pressure Plate Cover</a:t>
            </a:r>
          </a:p>
          <a:p>
            <a:pPr marL="0" indent="0">
              <a:buNone/>
            </a:pPr>
            <a:r>
              <a:rPr lang="en-US" sz="2900" b="0" i="0" dirty="0">
                <a:effectLst/>
              </a:rPr>
              <a:t>The cover houses the components of the pressure plate assembly and holds them together. </a:t>
            </a:r>
            <a:r>
              <a:rPr lang="en-US" sz="2900" dirty="0"/>
              <a:t>I</a:t>
            </a:r>
            <a:r>
              <a:rPr lang="en-US" sz="2900" b="0" i="0" dirty="0">
                <a:effectLst/>
              </a:rPr>
              <a:t>t provides the means to bolt the assembly to the flywheel.</a:t>
            </a:r>
            <a:r>
              <a:rPr lang="en-US" sz="2900" dirty="0"/>
              <a:t> </a:t>
            </a:r>
          </a:p>
          <a:p>
            <a:r>
              <a:rPr lang="en-US" sz="2900" b="1" i="0" dirty="0">
                <a:solidFill>
                  <a:srgbClr val="0070C0"/>
                </a:solidFill>
                <a:effectLst/>
              </a:rPr>
              <a:t>Pressure Plate Face</a:t>
            </a:r>
          </a:p>
          <a:p>
            <a:pPr marL="0" indent="0">
              <a:buNone/>
            </a:pPr>
            <a:r>
              <a:rPr lang="en-US" sz="2900" b="0" i="0" dirty="0">
                <a:effectLst/>
              </a:rPr>
              <a:t>Like the flywheel, the pressure plate face is usually made of iron, and the friction surface is precision machined. The pressure plate springs are seated or attached to the back of the face. The pressure plate face moves back and forth inside the cover as the clutch pedal is operated.</a:t>
            </a:r>
          </a:p>
          <a:p>
            <a:r>
              <a:rPr lang="en-US" sz="2900" b="1" dirty="0">
                <a:solidFill>
                  <a:srgbClr val="0070C0"/>
                </a:solidFill>
                <a:effectLst/>
                <a:ea typeface="Times New Roman" panose="02020603050405020304" pitchFamily="18" charset="0"/>
                <a:cs typeface="Calibri" panose="020F0502020204030204" pitchFamily="34" charset="0"/>
              </a:rPr>
              <a:t>Pressure Plate Springs </a:t>
            </a:r>
          </a:p>
          <a:p>
            <a:pPr marL="0" indent="0">
              <a:buNone/>
            </a:pPr>
            <a:r>
              <a:rPr lang="en-US" sz="2900" dirty="0">
                <a:effectLst/>
                <a:ea typeface="Times New Roman" panose="02020603050405020304" pitchFamily="18" charset="0"/>
                <a:cs typeface="Calibri" panose="020F0502020204030204" pitchFamily="34" charset="0"/>
              </a:rPr>
              <a:t>There are two main types of pressure plate spring systems:  </a:t>
            </a:r>
          </a:p>
          <a:p>
            <a:pPr marL="0" indent="0">
              <a:buNone/>
            </a:pPr>
            <a:r>
              <a:rPr lang="en-US" sz="2900" b="1" dirty="0">
                <a:effectLst/>
                <a:ea typeface="Times New Roman" panose="02020603050405020304" pitchFamily="18" charset="0"/>
                <a:cs typeface="Calibri" panose="020F0502020204030204" pitchFamily="34" charset="0"/>
              </a:rPr>
              <a:t>                  a. Coil spring </a:t>
            </a:r>
            <a:r>
              <a:rPr lang="en-US" sz="2900" dirty="0">
                <a:effectLst/>
                <a:ea typeface="Times New Roman" panose="02020603050405020304" pitchFamily="18" charset="0"/>
                <a:cs typeface="Calibri" panose="020F0502020204030204" pitchFamily="34" charset="0"/>
              </a:rPr>
              <a:t> </a:t>
            </a:r>
          </a:p>
          <a:p>
            <a:pPr marL="0" indent="0">
              <a:buNone/>
            </a:pPr>
            <a:r>
              <a:rPr lang="en-US" sz="2900" b="1" dirty="0">
                <a:effectLst/>
                <a:ea typeface="Times New Roman" panose="02020603050405020304" pitchFamily="18" charset="0"/>
                <a:cs typeface="Calibri" panose="020F0502020204030204" pitchFamily="34" charset="0"/>
              </a:rPr>
              <a:t>                   b. Diaphragm spring</a:t>
            </a:r>
            <a:r>
              <a:rPr lang="en-US" sz="2900" dirty="0">
                <a:effectLst/>
                <a:ea typeface="Times New Roman" panose="02020603050405020304" pitchFamily="18" charset="0"/>
                <a:cs typeface="Calibri" panose="020F0502020204030204" pitchFamily="34" charset="0"/>
              </a:rPr>
              <a:t>.</a:t>
            </a:r>
            <a:endParaRPr lang="en-US" sz="2900" dirty="0">
              <a:effectLst/>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5420220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75EA29-31BD-47F4-B0C6-09B3761A43F1}"/>
              </a:ext>
            </a:extLst>
          </p:cNvPr>
          <p:cNvSpPr>
            <a:spLocks noGrp="1"/>
          </p:cNvSpPr>
          <p:nvPr>
            <p:ph idx="1"/>
          </p:nvPr>
        </p:nvSpPr>
        <p:spPr>
          <a:xfrm>
            <a:off x="1295401" y="1931831"/>
            <a:ext cx="9844824" cy="3944037"/>
          </a:xfrm>
        </p:spPr>
        <p:txBody>
          <a:bodyPr>
            <a:normAutofit fontScale="85000" lnSpcReduction="10000"/>
          </a:bodyPr>
          <a:lstStyle/>
          <a:p>
            <a:pPr marL="0" indent="0">
              <a:buNone/>
            </a:pPr>
            <a:r>
              <a:rPr lang="en-US" b="1" i="0" dirty="0">
                <a:solidFill>
                  <a:srgbClr val="231F20"/>
                </a:solidFill>
                <a:effectLst/>
                <a:latin typeface="+mj-lt"/>
              </a:rPr>
              <a:t>    a. Coil spring style</a:t>
            </a:r>
            <a:r>
              <a:rPr lang="en-US" dirty="0">
                <a:latin typeface="+mj-lt"/>
              </a:rPr>
              <a:t> </a:t>
            </a:r>
            <a:br>
              <a:rPr lang="en-US" sz="2000" dirty="0">
                <a:latin typeface="+mj-lt"/>
              </a:rPr>
            </a:br>
            <a:endParaRPr lang="en-US" sz="2000" dirty="0">
              <a:latin typeface="+mj-lt"/>
            </a:endParaRPr>
          </a:p>
          <a:p>
            <a:pPr marL="0" indent="0">
              <a:buNone/>
            </a:pPr>
            <a:r>
              <a:rPr lang="en-US" b="0" i="0" dirty="0">
                <a:solidFill>
                  <a:srgbClr val="231F20"/>
                </a:solidFill>
                <a:effectLst/>
                <a:latin typeface="+mj-lt"/>
              </a:rPr>
              <a:t>This style of pressure plate uses coil springs and three or four release arms. A coil-spring-style</a:t>
            </a:r>
            <a:r>
              <a:rPr lang="en-US" dirty="0">
                <a:latin typeface="+mj-lt"/>
              </a:rPr>
              <a:t> </a:t>
            </a:r>
            <a:r>
              <a:rPr lang="en-US" b="0" i="0" dirty="0">
                <a:solidFill>
                  <a:srgbClr val="231F20"/>
                </a:solidFill>
                <a:effectLst/>
                <a:latin typeface="+mj-lt"/>
              </a:rPr>
              <a:t>pressure plate is also called the </a:t>
            </a:r>
            <a:r>
              <a:rPr lang="en-US" b="1" i="0" dirty="0">
                <a:solidFill>
                  <a:srgbClr val="231F20"/>
                </a:solidFill>
                <a:effectLst/>
                <a:latin typeface="+mj-lt"/>
              </a:rPr>
              <a:t>lever style </a:t>
            </a:r>
            <a:r>
              <a:rPr lang="en-US" b="0" i="0" dirty="0">
                <a:solidFill>
                  <a:srgbClr val="231F20"/>
                </a:solidFill>
                <a:effectLst/>
                <a:latin typeface="+mj-lt"/>
              </a:rPr>
              <a:t>because it uses levers to compress the coil spring</a:t>
            </a:r>
          </a:p>
          <a:p>
            <a:pPr marL="0" indent="0">
              <a:buNone/>
            </a:pPr>
            <a:r>
              <a:rPr lang="en-US" dirty="0">
                <a:solidFill>
                  <a:srgbClr val="000000"/>
                </a:solidFill>
                <a:effectLst/>
                <a:latin typeface="+mj-lt"/>
                <a:ea typeface="Times New Roman" panose="02020603050405020304" pitchFamily="18" charset="0"/>
                <a:cs typeface="Calibri" panose="020F0502020204030204" pitchFamily="34" charset="0"/>
              </a:rPr>
              <a:t>Operation of a coil spring pressure plate is similar to a diaphragm spring pressure plate, but it has a few additional parts. </a:t>
            </a:r>
          </a:p>
          <a:p>
            <a:pPr marL="0" indent="0">
              <a:buNone/>
            </a:pPr>
            <a:r>
              <a:rPr lang="en-US" dirty="0">
                <a:solidFill>
                  <a:srgbClr val="000000"/>
                </a:solidFill>
                <a:effectLst/>
                <a:latin typeface="+mj-lt"/>
                <a:ea typeface="Times New Roman" panose="02020603050405020304" pitchFamily="18" charset="0"/>
                <a:cs typeface="Calibri" panose="020F0502020204030204" pitchFamily="34" charset="0"/>
              </a:rPr>
              <a:t>Instead of one large spring, this type has a number of smaller coil springs placed around the back of the pressure plate face. </a:t>
            </a:r>
          </a:p>
          <a:p>
            <a:pPr marL="0" indent="0">
              <a:buNone/>
            </a:pPr>
            <a:r>
              <a:rPr lang="en-US" dirty="0">
                <a:solidFill>
                  <a:srgbClr val="000000"/>
                </a:solidFill>
                <a:effectLst/>
                <a:latin typeface="+mj-lt"/>
                <a:ea typeface="Times New Roman" panose="02020603050405020304" pitchFamily="18" charset="0"/>
                <a:cs typeface="Calibri" panose="020F0502020204030204" pitchFamily="34" charset="0"/>
              </a:rPr>
              <a:t>The release bearing does not act directly on the springs, but rather on </a:t>
            </a:r>
            <a:r>
              <a:rPr lang="en-US" b="1" dirty="0">
                <a:solidFill>
                  <a:srgbClr val="000000"/>
                </a:solidFill>
                <a:effectLst/>
                <a:latin typeface="+mj-lt"/>
                <a:ea typeface="Times New Roman" panose="02020603050405020304" pitchFamily="18" charset="0"/>
                <a:cs typeface="Calibri" panose="020F0502020204030204" pitchFamily="34" charset="0"/>
              </a:rPr>
              <a:t>release levers </a:t>
            </a:r>
            <a:r>
              <a:rPr lang="en-US" dirty="0">
                <a:solidFill>
                  <a:srgbClr val="000000"/>
                </a:solidFill>
                <a:effectLst/>
                <a:latin typeface="+mj-lt"/>
                <a:ea typeface="Times New Roman" panose="02020603050405020304" pitchFamily="18" charset="0"/>
                <a:cs typeface="Calibri" panose="020F0502020204030204" pitchFamily="34" charset="0"/>
              </a:rPr>
              <a:t>that pivot and push or pull the pressure plate face away from the clutch disc and flywheel.</a:t>
            </a:r>
            <a:endParaRPr lang="en-US" dirty="0">
              <a:effectLst/>
              <a:latin typeface="+mj-lt"/>
              <a:ea typeface="Calibri" panose="020F0502020204030204" pitchFamily="34" charset="0"/>
              <a:cs typeface="Times New Roman" panose="02020603050405020304" pitchFamily="18" charset="0"/>
            </a:endParaRPr>
          </a:p>
          <a:p>
            <a:pPr marL="0" indent="0">
              <a:buNone/>
            </a:pPr>
            <a:r>
              <a:rPr lang="en-US" dirty="0">
                <a:solidFill>
                  <a:srgbClr val="000000"/>
                </a:solidFill>
                <a:effectLst/>
                <a:latin typeface="+mj-lt"/>
                <a:ea typeface="Times New Roman" panose="02020603050405020304" pitchFamily="18" charset="0"/>
              </a:rPr>
              <a:t>Coil spring pressure plates are better suited than the diaphragm type for heavier-duty applications.</a:t>
            </a:r>
            <a:endParaRPr lang="en-US" dirty="0">
              <a:latin typeface="+mj-lt"/>
            </a:endParaRPr>
          </a:p>
        </p:txBody>
      </p:sp>
    </p:spTree>
    <p:extLst>
      <p:ext uri="{BB962C8B-B14F-4D97-AF65-F5344CB8AC3E}">
        <p14:creationId xmlns:p14="http://schemas.microsoft.com/office/powerpoint/2010/main" val="2012691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6EA7B8-3087-4816-A9B7-4BBFE2FDA6E8}"/>
              </a:ext>
            </a:extLst>
          </p:cNvPr>
          <p:cNvSpPr>
            <a:spLocks noGrp="1"/>
          </p:cNvSpPr>
          <p:nvPr>
            <p:ph idx="1"/>
          </p:nvPr>
        </p:nvSpPr>
        <p:spPr>
          <a:xfrm>
            <a:off x="643945" y="1981200"/>
            <a:ext cx="10947042" cy="4195763"/>
          </a:xfrm>
        </p:spPr>
        <p:txBody>
          <a:bodyPr>
            <a:normAutofit lnSpcReduction="10000"/>
          </a:bodyPr>
          <a:lstStyle/>
          <a:p>
            <a:pPr marL="0" indent="0">
              <a:buNone/>
            </a:pPr>
            <a:r>
              <a:rPr lang="en-US" sz="2000" b="1" i="0" dirty="0">
                <a:solidFill>
                  <a:srgbClr val="231F20"/>
                </a:solidFill>
                <a:effectLst/>
                <a:latin typeface="+mj-lt"/>
              </a:rPr>
              <a:t>            b. Diaphragm spring style</a:t>
            </a:r>
            <a:endParaRPr lang="en-US" sz="2000" b="1" dirty="0">
              <a:solidFill>
                <a:srgbClr val="231F20"/>
              </a:solidFill>
              <a:latin typeface="+mj-lt"/>
            </a:endParaRPr>
          </a:p>
          <a:p>
            <a:pPr marL="0" indent="0">
              <a:buNone/>
            </a:pPr>
            <a:r>
              <a:rPr lang="en-US" dirty="0">
                <a:solidFill>
                  <a:srgbClr val="000000"/>
                </a:solidFill>
              </a:rPr>
              <a:t>D</a:t>
            </a:r>
            <a:r>
              <a:rPr lang="en-US" b="0" i="0" dirty="0">
                <a:solidFill>
                  <a:srgbClr val="000000"/>
                </a:solidFill>
                <a:effectLst/>
              </a:rPr>
              <a:t>iaphragm spring is a round, dish-shaped spring with numerous segments radiating towards the center. </a:t>
            </a:r>
          </a:p>
          <a:p>
            <a:pPr marL="0" indent="0">
              <a:buNone/>
            </a:pPr>
            <a:r>
              <a:rPr lang="en-US" b="0" i="0" dirty="0">
                <a:solidFill>
                  <a:srgbClr val="000000"/>
                </a:solidFill>
                <a:effectLst/>
              </a:rPr>
              <a:t>The spring action is similar to that of an old-style. A </a:t>
            </a:r>
            <a:r>
              <a:rPr lang="en-US" b="1" i="0" dirty="0">
                <a:solidFill>
                  <a:srgbClr val="000000"/>
                </a:solidFill>
                <a:effectLst/>
              </a:rPr>
              <a:t>release bearing</a:t>
            </a:r>
            <a:r>
              <a:rPr lang="en-US" b="0" i="0" dirty="0">
                <a:solidFill>
                  <a:srgbClr val="000000"/>
                </a:solidFill>
                <a:effectLst/>
              </a:rPr>
              <a:t>, actuated by the clutch pedal, acts directly on the inner ends of the spring, overcoming the spring tension that engages the clutch, this action disengages the clutch.</a:t>
            </a:r>
            <a:r>
              <a:rPr lang="en-US" dirty="0"/>
              <a:t> </a:t>
            </a:r>
            <a:br>
              <a:rPr lang="en-US" dirty="0"/>
            </a:br>
            <a:r>
              <a:rPr lang="en-US" dirty="0">
                <a:solidFill>
                  <a:srgbClr val="000000"/>
                </a:solidFill>
                <a:effectLst/>
                <a:ea typeface="Times New Roman" panose="02020603050405020304" pitchFamily="18" charset="0"/>
                <a:cs typeface="Calibri" panose="020F0502020204030204" pitchFamily="34" charset="0"/>
              </a:rPr>
              <a:t>Diaphragm springs require less force from the release bearing to disengage the clutch, they use less space, and the assembly is lighter and more easily balanced than the other main type of pressure plate (coil spring)</a:t>
            </a:r>
            <a:endParaRPr lang="en-US" dirty="0"/>
          </a:p>
          <a:p>
            <a:pPr marL="0" indent="0">
              <a:buNone/>
            </a:pPr>
            <a:r>
              <a:rPr lang="en-US" b="1" i="0" dirty="0">
                <a:solidFill>
                  <a:srgbClr val="231F20"/>
                </a:solidFill>
                <a:effectLst/>
              </a:rPr>
              <a:t>The driver must push harder on the clutch pedal to disengage a coil spring clutch than to disengage a comparable diaphragm spring design.</a:t>
            </a:r>
            <a:r>
              <a:rPr lang="en-US" b="1" dirty="0"/>
              <a:t> </a:t>
            </a:r>
            <a:endParaRPr lang="en-US" dirty="0"/>
          </a:p>
        </p:txBody>
      </p:sp>
    </p:spTree>
    <p:extLst>
      <p:ext uri="{BB962C8B-B14F-4D97-AF65-F5344CB8AC3E}">
        <p14:creationId xmlns:p14="http://schemas.microsoft.com/office/powerpoint/2010/main" val="42024027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7496C9-DA2F-40B7-880A-8450CBB1F84E}"/>
              </a:ext>
            </a:extLst>
          </p:cNvPr>
          <p:cNvSpPr>
            <a:spLocks noGrp="1"/>
          </p:cNvSpPr>
          <p:nvPr>
            <p:ph idx="1"/>
          </p:nvPr>
        </p:nvSpPr>
        <p:spPr>
          <a:xfrm>
            <a:off x="838200" y="1825625"/>
            <a:ext cx="10688392" cy="4351338"/>
          </a:xfrm>
        </p:spPr>
        <p:txBody>
          <a:bodyPr>
            <a:normAutofit lnSpcReduction="10000"/>
          </a:bodyPr>
          <a:lstStyle/>
          <a:p>
            <a:pPr marL="0" indent="0">
              <a:lnSpc>
                <a:spcPct val="150000"/>
              </a:lnSpc>
              <a:buNone/>
            </a:pPr>
            <a:r>
              <a:rPr lang="en-US" b="1" dirty="0">
                <a:solidFill>
                  <a:srgbClr val="242021"/>
                </a:solidFill>
              </a:rPr>
              <a:t>T</a:t>
            </a:r>
            <a:r>
              <a:rPr lang="en-US" b="1" i="0" dirty="0">
                <a:solidFill>
                  <a:srgbClr val="242021"/>
                </a:solidFill>
                <a:effectLst/>
              </a:rPr>
              <a:t>he diaphragm clutch has replaced the coil spring type because the diaphragm type has the following advantages:</a:t>
            </a:r>
            <a:br>
              <a:rPr lang="en-US" b="0" i="0" dirty="0">
                <a:solidFill>
                  <a:srgbClr val="242021"/>
                </a:solidFill>
                <a:effectLst/>
              </a:rPr>
            </a:br>
            <a:r>
              <a:rPr lang="en-US" b="0" i="0" dirty="0">
                <a:effectLst/>
              </a:rPr>
              <a:t>● It is not affected by high speeds (coil springs can be thrown outwards)</a:t>
            </a:r>
            <a:br>
              <a:rPr lang="en-US" b="0" i="0" dirty="0">
                <a:effectLst/>
              </a:rPr>
            </a:br>
            <a:r>
              <a:rPr lang="en-US" b="0" i="0" dirty="0">
                <a:effectLst/>
              </a:rPr>
              <a:t>● The low pedal force makes for easy operation</a:t>
            </a:r>
            <a:br>
              <a:rPr lang="en-US" b="0" i="0" dirty="0">
                <a:effectLst/>
              </a:rPr>
            </a:br>
            <a:r>
              <a:rPr lang="en-US" b="0" i="0" dirty="0">
                <a:effectLst/>
              </a:rPr>
              <a:t>● It is light and compact i.e. few components and less space</a:t>
            </a:r>
            <a:br>
              <a:rPr lang="en-US" b="0" i="0" dirty="0">
                <a:effectLst/>
              </a:rPr>
            </a:br>
            <a:r>
              <a:rPr lang="en-US" b="0" i="0" dirty="0">
                <a:effectLst/>
              </a:rPr>
              <a:t>● The clamping force increases or at least remains constant as the friction lining on the plate wears</a:t>
            </a:r>
            <a:br>
              <a:rPr lang="en-US" dirty="0"/>
            </a:br>
            <a:endParaRPr lang="en-US" dirty="0"/>
          </a:p>
        </p:txBody>
      </p:sp>
    </p:spTree>
    <p:extLst>
      <p:ext uri="{BB962C8B-B14F-4D97-AF65-F5344CB8AC3E}">
        <p14:creationId xmlns:p14="http://schemas.microsoft.com/office/powerpoint/2010/main" val="38530719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6" name="Picture 12" descr="CLUTCH TECH - HOW TO: Choose the Right Clutch - Modern Driveline">
            <a:extLst>
              <a:ext uri="{FF2B5EF4-FFF2-40B4-BE49-F238E27FC236}">
                <a16:creationId xmlns:a16="http://schemas.microsoft.com/office/drawing/2014/main" id="{EA5C0221-AA67-4A9A-AAEF-AC37DEBCE1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124" y="90152"/>
            <a:ext cx="11397803" cy="6658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11238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F75548-450D-4D34-BB55-72A17D534E62}"/>
              </a:ext>
            </a:extLst>
          </p:cNvPr>
          <p:cNvSpPr>
            <a:spLocks noGrp="1"/>
          </p:cNvSpPr>
          <p:nvPr>
            <p:ph idx="1"/>
          </p:nvPr>
        </p:nvSpPr>
        <p:spPr>
          <a:xfrm>
            <a:off x="1295401" y="1981200"/>
            <a:ext cx="9601196" cy="3894668"/>
          </a:xfrm>
        </p:spPr>
        <p:txBody>
          <a:bodyPr>
            <a:normAutofit/>
          </a:bodyPr>
          <a:lstStyle/>
          <a:p>
            <a:pPr marL="0" indent="0">
              <a:buNone/>
            </a:pPr>
            <a:r>
              <a:rPr lang="en-US" sz="2800" b="1" dirty="0">
                <a:solidFill>
                  <a:srgbClr val="FF0000"/>
                </a:solidFill>
                <a:latin typeface="+mj-lt"/>
              </a:rPr>
              <a:t>4. Release mechanism </a:t>
            </a:r>
          </a:p>
          <a:p>
            <a:pPr marL="0" indent="0">
              <a:buNone/>
            </a:pPr>
            <a:r>
              <a:rPr lang="en-US" sz="2800" dirty="0">
                <a:latin typeface="+mj-lt"/>
              </a:rPr>
              <a:t>It involves</a:t>
            </a:r>
          </a:p>
          <a:p>
            <a:pPr marL="0" indent="0">
              <a:buNone/>
            </a:pPr>
            <a:r>
              <a:rPr lang="en-US" sz="2800" dirty="0" err="1">
                <a:latin typeface="+mj-lt"/>
              </a:rPr>
              <a:t>i</a:t>
            </a:r>
            <a:r>
              <a:rPr lang="en-US" sz="2800" dirty="0">
                <a:latin typeface="+mj-lt"/>
              </a:rPr>
              <a:t>. Clutch pedal</a:t>
            </a:r>
          </a:p>
          <a:p>
            <a:pPr marL="0" indent="0">
              <a:buNone/>
            </a:pPr>
            <a:r>
              <a:rPr lang="en-US" sz="2800" dirty="0">
                <a:solidFill>
                  <a:srgbClr val="000000"/>
                </a:solidFill>
                <a:effectLst/>
                <a:latin typeface="+mj-lt"/>
                <a:ea typeface="Times New Roman" panose="02020603050405020304" pitchFamily="18" charset="0"/>
              </a:rPr>
              <a:t>ii. Mechanical linkage/</a:t>
            </a:r>
            <a:r>
              <a:rPr lang="en-US" sz="2800" dirty="0">
                <a:solidFill>
                  <a:srgbClr val="000000"/>
                </a:solidFill>
                <a:latin typeface="+mj-lt"/>
                <a:ea typeface="Times New Roman" panose="02020603050405020304" pitchFamily="18" charset="0"/>
              </a:rPr>
              <a:t>C</a:t>
            </a:r>
            <a:r>
              <a:rPr lang="en-US" sz="2800" dirty="0">
                <a:solidFill>
                  <a:srgbClr val="000000"/>
                </a:solidFill>
                <a:effectLst/>
                <a:latin typeface="+mj-lt"/>
                <a:ea typeface="Times New Roman" panose="02020603050405020304" pitchFamily="18" charset="0"/>
              </a:rPr>
              <a:t>able/Hydraulic circuit</a:t>
            </a:r>
          </a:p>
          <a:p>
            <a:pPr marL="0" indent="0">
              <a:buNone/>
            </a:pPr>
            <a:r>
              <a:rPr lang="en-US" sz="2800" dirty="0">
                <a:solidFill>
                  <a:srgbClr val="000000"/>
                </a:solidFill>
                <a:latin typeface="+mj-lt"/>
                <a:ea typeface="Times New Roman" panose="02020603050405020304" pitchFamily="18" charset="0"/>
              </a:rPr>
              <a:t>iii. Release fork</a:t>
            </a:r>
          </a:p>
          <a:p>
            <a:pPr marL="0" indent="0">
              <a:buNone/>
            </a:pPr>
            <a:r>
              <a:rPr lang="en-US" sz="2800" dirty="0">
                <a:solidFill>
                  <a:srgbClr val="000000"/>
                </a:solidFill>
                <a:effectLst/>
                <a:latin typeface="+mj-lt"/>
                <a:ea typeface="Times New Roman" panose="02020603050405020304" pitchFamily="18" charset="0"/>
              </a:rPr>
              <a:t>iv. Release bearing</a:t>
            </a:r>
          </a:p>
          <a:p>
            <a:pPr marL="0" indent="0">
              <a:buNone/>
            </a:pPr>
            <a:endParaRPr lang="en-US" b="1" dirty="0"/>
          </a:p>
        </p:txBody>
      </p:sp>
    </p:spTree>
    <p:extLst>
      <p:ext uri="{BB962C8B-B14F-4D97-AF65-F5344CB8AC3E}">
        <p14:creationId xmlns:p14="http://schemas.microsoft.com/office/powerpoint/2010/main" val="42476512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F27A55-E05F-4DEB-9B9B-AF0BA3B39ECF}"/>
              </a:ext>
            </a:extLst>
          </p:cNvPr>
          <p:cNvSpPr>
            <a:spLocks noGrp="1"/>
          </p:cNvSpPr>
          <p:nvPr>
            <p:ph idx="1"/>
          </p:nvPr>
        </p:nvSpPr>
        <p:spPr>
          <a:xfrm>
            <a:off x="1295401" y="1981200"/>
            <a:ext cx="9601196" cy="3894668"/>
          </a:xfrm>
        </p:spPr>
        <p:txBody>
          <a:bodyPr>
            <a:normAutofit fontScale="92500"/>
          </a:bodyPr>
          <a:lstStyle/>
          <a:p>
            <a:pPr marL="0" indent="0">
              <a:buNone/>
            </a:pPr>
            <a:r>
              <a:rPr lang="en-US" sz="3000" b="1" dirty="0" err="1">
                <a:solidFill>
                  <a:srgbClr val="0000FF"/>
                </a:solidFill>
              </a:rPr>
              <a:t>i</a:t>
            </a:r>
            <a:r>
              <a:rPr lang="en-US" sz="3000" b="1" dirty="0">
                <a:solidFill>
                  <a:srgbClr val="0000FF"/>
                </a:solidFill>
              </a:rPr>
              <a:t>. Clutch pedal</a:t>
            </a:r>
          </a:p>
          <a:p>
            <a:pPr marL="0" indent="0" algn="just">
              <a:buNone/>
            </a:pPr>
            <a:r>
              <a:rPr lang="en-US" sz="2800" b="0" i="0" dirty="0">
                <a:solidFill>
                  <a:srgbClr val="222222"/>
                </a:solidFill>
                <a:effectLst/>
                <a:latin typeface="+mj-lt"/>
              </a:rPr>
              <a:t>The </a:t>
            </a:r>
            <a:r>
              <a:rPr lang="en-US" sz="2800" b="1" i="0" dirty="0">
                <a:solidFill>
                  <a:srgbClr val="222222"/>
                </a:solidFill>
                <a:effectLst/>
                <a:latin typeface="+mj-lt"/>
              </a:rPr>
              <a:t>clutch pedal</a:t>
            </a:r>
            <a:r>
              <a:rPr lang="en-US" sz="2800" b="0" i="0" dirty="0">
                <a:solidFill>
                  <a:srgbClr val="222222"/>
                </a:solidFill>
                <a:effectLst/>
                <a:latin typeface="+mj-lt"/>
              </a:rPr>
              <a:t> is located on the floor to the left of the brake </a:t>
            </a:r>
            <a:r>
              <a:rPr lang="en-US" sz="2800" b="1" i="0" dirty="0">
                <a:solidFill>
                  <a:srgbClr val="222222"/>
                </a:solidFill>
                <a:effectLst/>
                <a:latin typeface="+mj-lt"/>
              </a:rPr>
              <a:t>pedal. </a:t>
            </a:r>
            <a:r>
              <a:rPr lang="en-US" sz="2800" b="0" i="0" dirty="0">
                <a:solidFill>
                  <a:srgbClr val="222222"/>
                </a:solidFill>
                <a:effectLst/>
                <a:latin typeface="+mj-lt"/>
              </a:rPr>
              <a:t>When pressed,</a:t>
            </a:r>
            <a:r>
              <a:rPr lang="en-US" sz="2800" i="0" dirty="0">
                <a:solidFill>
                  <a:srgbClr val="222222"/>
                </a:solidFill>
                <a:effectLst/>
                <a:latin typeface="+mj-lt"/>
              </a:rPr>
              <a:t> clutch </a:t>
            </a:r>
            <a:r>
              <a:rPr lang="en-US" sz="2800" b="0" i="0" dirty="0">
                <a:solidFill>
                  <a:srgbClr val="222222"/>
                </a:solidFill>
                <a:effectLst/>
                <a:latin typeface="+mj-lt"/>
              </a:rPr>
              <a:t>disengages which eliminates the transmission of power from the engine to the transmission and </a:t>
            </a:r>
            <a:r>
              <a:rPr lang="en-US" sz="2800" dirty="0">
                <a:solidFill>
                  <a:srgbClr val="222222"/>
                </a:solidFill>
                <a:latin typeface="+mj-lt"/>
              </a:rPr>
              <a:t>w</a:t>
            </a:r>
            <a:r>
              <a:rPr lang="en-US" sz="2800" b="0" i="0" dirty="0">
                <a:solidFill>
                  <a:srgbClr val="222222"/>
                </a:solidFill>
                <a:effectLst/>
                <a:latin typeface="+mj-lt"/>
              </a:rPr>
              <a:t>hen released, clutch </a:t>
            </a:r>
            <a:r>
              <a:rPr lang="en-US" sz="2800" dirty="0">
                <a:solidFill>
                  <a:srgbClr val="222222"/>
                </a:solidFill>
                <a:latin typeface="+mj-lt"/>
              </a:rPr>
              <a:t>engages and transmit</a:t>
            </a:r>
            <a:r>
              <a:rPr lang="en-US" sz="2800" b="0" i="0" dirty="0">
                <a:solidFill>
                  <a:srgbClr val="222222"/>
                </a:solidFill>
                <a:effectLst/>
                <a:latin typeface="+mj-lt"/>
              </a:rPr>
              <a:t> power from the engine to the transmission. </a:t>
            </a:r>
          </a:p>
          <a:p>
            <a:pPr marL="0" indent="0" algn="just">
              <a:buNone/>
            </a:pPr>
            <a:r>
              <a:rPr lang="en-US" sz="2800" dirty="0">
                <a:solidFill>
                  <a:srgbClr val="000000"/>
                </a:solidFill>
                <a:effectLst/>
                <a:latin typeface="+mj-lt"/>
                <a:ea typeface="Times New Roman" panose="02020603050405020304" pitchFamily="18" charset="0"/>
              </a:rPr>
              <a:t>Return springs are used to help bring the release mechanism and clutch pedal home to their normal positions when the clutch is engaged.</a:t>
            </a:r>
            <a:endParaRPr lang="en-US" sz="2800" b="1" dirty="0">
              <a:latin typeface="+mj-lt"/>
            </a:endParaRPr>
          </a:p>
          <a:p>
            <a:endParaRPr lang="en-US" dirty="0"/>
          </a:p>
        </p:txBody>
      </p:sp>
      <p:sp>
        <p:nvSpPr>
          <p:cNvPr id="4" name="TextBox 3">
            <a:extLst>
              <a:ext uri="{FF2B5EF4-FFF2-40B4-BE49-F238E27FC236}">
                <a16:creationId xmlns:a16="http://schemas.microsoft.com/office/drawing/2014/main" id="{C39F8799-8DE3-7E5C-B4F2-593FE539A5EA}"/>
              </a:ext>
            </a:extLst>
          </p:cNvPr>
          <p:cNvSpPr txBox="1"/>
          <p:nvPr/>
        </p:nvSpPr>
        <p:spPr>
          <a:xfrm>
            <a:off x="1058779" y="982132"/>
            <a:ext cx="8518358" cy="369332"/>
          </a:xfrm>
          <a:prstGeom prst="rect">
            <a:avLst/>
          </a:prstGeom>
          <a:noFill/>
        </p:spPr>
        <p:txBody>
          <a:bodyPr wrap="square">
            <a:spAutoFit/>
          </a:bodyPr>
          <a:lstStyle/>
          <a:p>
            <a:pPr marL="0" indent="0">
              <a:buNone/>
            </a:pPr>
            <a:r>
              <a:rPr lang="en-US" sz="1800" b="1" dirty="0">
                <a:solidFill>
                  <a:srgbClr val="FF0000"/>
                </a:solidFill>
                <a:latin typeface="+mj-lt"/>
              </a:rPr>
              <a:t>4. Release mechanism </a:t>
            </a:r>
          </a:p>
        </p:txBody>
      </p:sp>
    </p:spTree>
    <p:extLst>
      <p:ext uri="{BB962C8B-B14F-4D97-AF65-F5344CB8AC3E}">
        <p14:creationId xmlns:p14="http://schemas.microsoft.com/office/powerpoint/2010/main" val="975593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ow to Troubleshoot a Clutch Pedal Sticking to the Floor | YourMechanic  Advice">
            <a:extLst>
              <a:ext uri="{FF2B5EF4-FFF2-40B4-BE49-F238E27FC236}">
                <a16:creationId xmlns:a16="http://schemas.microsoft.com/office/drawing/2014/main" id="{EB1DF9D8-38A1-4376-BBEC-A2A18E7FE9B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08837" y="2557463"/>
            <a:ext cx="4974325" cy="3317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70874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5C838A-BCD7-4F94-9D74-901C3A4E1BA6}"/>
              </a:ext>
            </a:extLst>
          </p:cNvPr>
          <p:cNvSpPr>
            <a:spLocks noGrp="1"/>
          </p:cNvSpPr>
          <p:nvPr>
            <p:ph idx="1"/>
          </p:nvPr>
        </p:nvSpPr>
        <p:spPr>
          <a:xfrm>
            <a:off x="1295401" y="1828801"/>
            <a:ext cx="9601196" cy="4047068"/>
          </a:xfrm>
        </p:spPr>
        <p:txBody>
          <a:bodyPr>
            <a:normAutofit lnSpcReduction="10000"/>
          </a:bodyPr>
          <a:lstStyle/>
          <a:p>
            <a:pPr marL="0" indent="0">
              <a:buNone/>
            </a:pPr>
            <a:r>
              <a:rPr lang="en-US" sz="2800" b="1" dirty="0">
                <a:solidFill>
                  <a:srgbClr val="0070C0"/>
                </a:solidFill>
                <a:effectLst/>
                <a:latin typeface="+mj-lt"/>
                <a:ea typeface="Times New Roman" panose="02020603050405020304" pitchFamily="18" charset="0"/>
              </a:rPr>
              <a:t>ii. Mechanical linkage/</a:t>
            </a:r>
            <a:r>
              <a:rPr lang="en-US" sz="2800" b="1" dirty="0">
                <a:solidFill>
                  <a:srgbClr val="0070C0"/>
                </a:solidFill>
                <a:latin typeface="+mj-lt"/>
                <a:ea typeface="Times New Roman" panose="02020603050405020304" pitchFamily="18" charset="0"/>
              </a:rPr>
              <a:t>C</a:t>
            </a:r>
            <a:r>
              <a:rPr lang="en-US" sz="2800" b="1" dirty="0">
                <a:solidFill>
                  <a:srgbClr val="0070C0"/>
                </a:solidFill>
                <a:effectLst/>
                <a:latin typeface="+mj-lt"/>
                <a:ea typeface="Times New Roman" panose="02020603050405020304" pitchFamily="18" charset="0"/>
              </a:rPr>
              <a:t>able/Hydraulic circuit</a:t>
            </a:r>
          </a:p>
          <a:p>
            <a:pPr marL="0" indent="0">
              <a:buNone/>
            </a:pPr>
            <a:r>
              <a:rPr lang="en-US" sz="2800" dirty="0">
                <a:solidFill>
                  <a:srgbClr val="000000"/>
                </a:solidFill>
                <a:effectLst/>
                <a:ea typeface="Times New Roman" panose="02020603050405020304" pitchFamily="18" charset="0"/>
              </a:rPr>
              <a:t>These are the ways in which clutch pedal movement is transmitted to the clutch release fork </a:t>
            </a:r>
          </a:p>
          <a:p>
            <a:r>
              <a:rPr lang="en-US" sz="2800" b="1" i="0" dirty="0">
                <a:solidFill>
                  <a:srgbClr val="000000"/>
                </a:solidFill>
                <a:effectLst/>
              </a:rPr>
              <a:t>Mechanical Linkage </a:t>
            </a:r>
            <a:endParaRPr lang="en-US" sz="2800" b="0" i="0" dirty="0">
              <a:solidFill>
                <a:srgbClr val="000000"/>
              </a:solidFill>
              <a:effectLst/>
            </a:endParaRPr>
          </a:p>
          <a:p>
            <a:pPr marL="0" indent="0">
              <a:buNone/>
            </a:pPr>
            <a:r>
              <a:rPr lang="en-US" sz="2800" b="0" i="0" dirty="0">
                <a:solidFill>
                  <a:srgbClr val="000000"/>
                </a:solidFill>
                <a:effectLst/>
              </a:rPr>
              <a:t>This method uses a system of levers and rods to disengage the clutch. </a:t>
            </a:r>
          </a:p>
          <a:p>
            <a:pPr marL="0" indent="0">
              <a:buNone/>
            </a:pPr>
            <a:r>
              <a:rPr lang="en-US" sz="2800" b="0" i="0" dirty="0">
                <a:solidFill>
                  <a:srgbClr val="000000"/>
                </a:solidFill>
                <a:effectLst/>
              </a:rPr>
              <a:t>Many different arrangements have been used.</a:t>
            </a:r>
            <a:r>
              <a:rPr lang="en-US" dirty="0"/>
              <a:t> </a:t>
            </a:r>
            <a:r>
              <a:rPr lang="en-US" sz="2800" b="0" i="0" dirty="0">
                <a:solidFill>
                  <a:srgbClr val="000000"/>
                </a:solidFill>
                <a:effectLst/>
              </a:rPr>
              <a:t>Mechanical linkage is mainly found on some older vehicles.</a:t>
            </a:r>
            <a:r>
              <a:rPr lang="en-US" dirty="0"/>
              <a:t> </a:t>
            </a:r>
          </a:p>
          <a:p>
            <a:endParaRPr lang="en-US" dirty="0"/>
          </a:p>
        </p:txBody>
      </p:sp>
      <p:sp>
        <p:nvSpPr>
          <p:cNvPr id="4" name="TextBox 3">
            <a:extLst>
              <a:ext uri="{FF2B5EF4-FFF2-40B4-BE49-F238E27FC236}">
                <a16:creationId xmlns:a16="http://schemas.microsoft.com/office/drawing/2014/main" id="{834EA35C-B59D-85B2-4A1D-6349000C720B}"/>
              </a:ext>
            </a:extLst>
          </p:cNvPr>
          <p:cNvSpPr txBox="1"/>
          <p:nvPr/>
        </p:nvSpPr>
        <p:spPr>
          <a:xfrm>
            <a:off x="1138989" y="850232"/>
            <a:ext cx="8013032" cy="369332"/>
          </a:xfrm>
          <a:prstGeom prst="rect">
            <a:avLst/>
          </a:prstGeom>
          <a:noFill/>
        </p:spPr>
        <p:txBody>
          <a:bodyPr wrap="square">
            <a:spAutoFit/>
          </a:bodyPr>
          <a:lstStyle/>
          <a:p>
            <a:pPr marL="0" indent="0">
              <a:buNone/>
            </a:pPr>
            <a:r>
              <a:rPr lang="en-US" sz="1800" b="1" dirty="0">
                <a:solidFill>
                  <a:srgbClr val="FF0000"/>
                </a:solidFill>
                <a:latin typeface="+mj-lt"/>
              </a:rPr>
              <a:t>4. Release mechanism </a:t>
            </a:r>
          </a:p>
        </p:txBody>
      </p:sp>
    </p:spTree>
    <p:extLst>
      <p:ext uri="{BB962C8B-B14F-4D97-AF65-F5344CB8AC3E}">
        <p14:creationId xmlns:p14="http://schemas.microsoft.com/office/powerpoint/2010/main" val="24350811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104B65-B673-4EE3-AA56-B4C26E01625B}"/>
              </a:ext>
            </a:extLst>
          </p:cNvPr>
          <p:cNvSpPr>
            <a:spLocks noGrp="1"/>
          </p:cNvSpPr>
          <p:nvPr>
            <p:ph idx="1"/>
          </p:nvPr>
        </p:nvSpPr>
        <p:spPr>
          <a:xfrm>
            <a:off x="1295401" y="2092037"/>
            <a:ext cx="9601196" cy="3728192"/>
          </a:xfrm>
        </p:spPr>
        <p:txBody>
          <a:bodyPr>
            <a:normAutofit fontScale="32500" lnSpcReduction="20000"/>
          </a:bodyPr>
          <a:lstStyle/>
          <a:p>
            <a:r>
              <a:rPr lang="en-US" sz="7400" b="1" dirty="0">
                <a:solidFill>
                  <a:srgbClr val="000000"/>
                </a:solidFill>
                <a:ea typeface="Times New Roman" panose="02020603050405020304" pitchFamily="18" charset="0"/>
              </a:rPr>
              <a:t>C</a:t>
            </a:r>
            <a:r>
              <a:rPr lang="en-US" sz="7400" b="1" dirty="0">
                <a:solidFill>
                  <a:srgbClr val="000000"/>
                </a:solidFill>
                <a:effectLst/>
                <a:ea typeface="Times New Roman" panose="02020603050405020304" pitchFamily="18" charset="0"/>
              </a:rPr>
              <a:t>able</a:t>
            </a:r>
          </a:p>
          <a:p>
            <a:pPr marL="0" indent="0" algn="just">
              <a:buNone/>
            </a:pPr>
            <a:r>
              <a:rPr lang="en-US" sz="6000" b="0" i="0" dirty="0">
                <a:solidFill>
                  <a:srgbClr val="000000"/>
                </a:solidFill>
                <a:effectLst/>
                <a:ea typeface="Calibri" panose="020F0502020204030204" pitchFamily="34" charset="0"/>
                <a:cs typeface="Calibri" panose="020F0502020204030204" pitchFamily="34" charset="0"/>
              </a:rPr>
              <a:t>A steel cable</a:t>
            </a:r>
            <a:r>
              <a:rPr lang="en-US" sz="6000" b="0" i="0" dirty="0">
                <a:solidFill>
                  <a:srgbClr val="000000"/>
                </a:solidFill>
                <a:ea typeface="Calibri" panose="020F0502020204030204" pitchFamily="34" charset="0"/>
                <a:cs typeface="Calibri" panose="020F0502020204030204" pitchFamily="34" charset="0"/>
              </a:rPr>
              <a:t> </a:t>
            </a:r>
            <a:r>
              <a:rPr lang="en-US" sz="6000" b="0" i="0" dirty="0">
                <a:solidFill>
                  <a:srgbClr val="000000"/>
                </a:solidFill>
                <a:effectLst/>
                <a:ea typeface="Calibri" panose="020F0502020204030204" pitchFamily="34" charset="0"/>
                <a:cs typeface="Calibri" panose="020F0502020204030204" pitchFamily="34" charset="0"/>
              </a:rPr>
              <a:t>attached to the clutch pedal moves back and forth inside a flexible housing as the clutch pedal is operated. </a:t>
            </a:r>
          </a:p>
          <a:p>
            <a:pPr marL="0" indent="0" algn="just">
              <a:buNone/>
            </a:pPr>
            <a:r>
              <a:rPr lang="en-US" sz="6000" b="0" i="0" dirty="0">
                <a:solidFill>
                  <a:srgbClr val="000000"/>
                </a:solidFill>
                <a:effectLst/>
                <a:ea typeface="Calibri" panose="020F0502020204030204" pitchFamily="34" charset="0"/>
                <a:cs typeface="Calibri" panose="020F0502020204030204" pitchFamily="34" charset="0"/>
              </a:rPr>
              <a:t>The housing is mounted in a stationary position.</a:t>
            </a:r>
          </a:p>
          <a:p>
            <a:pPr marL="0" indent="0" algn="just">
              <a:buNone/>
            </a:pPr>
            <a:r>
              <a:rPr lang="en-US" sz="6000" b="0" i="0" dirty="0">
                <a:solidFill>
                  <a:srgbClr val="000000"/>
                </a:solidFill>
                <a:effectLst/>
                <a:ea typeface="Calibri" panose="020F0502020204030204" pitchFamily="34" charset="0"/>
                <a:cs typeface="Calibri" panose="020F0502020204030204" pitchFamily="34" charset="0"/>
              </a:rPr>
              <a:t>It usually has a threaded sleeve on one end</a:t>
            </a:r>
            <a:r>
              <a:rPr lang="en-US" sz="6000" b="0" i="0" dirty="0">
                <a:solidFill>
                  <a:srgbClr val="000000"/>
                </a:solidFill>
                <a:ea typeface="Calibri" panose="020F0502020204030204" pitchFamily="34" charset="0"/>
                <a:cs typeface="Calibri" panose="020F0502020204030204" pitchFamily="34" charset="0"/>
              </a:rPr>
              <a:t> </a:t>
            </a:r>
            <a:r>
              <a:rPr lang="en-US" sz="6000" b="0" i="0" dirty="0">
                <a:solidFill>
                  <a:srgbClr val="000000"/>
                </a:solidFill>
                <a:effectLst/>
                <a:ea typeface="Calibri" panose="020F0502020204030204" pitchFamily="34" charset="0"/>
                <a:cs typeface="Calibri" panose="020F0502020204030204" pitchFamily="34" charset="0"/>
              </a:rPr>
              <a:t>to allow the lengthening and shortening of the cable for clutch adjustment. </a:t>
            </a:r>
          </a:p>
          <a:p>
            <a:pPr marL="0" indent="0" algn="just">
              <a:buNone/>
            </a:pPr>
            <a:r>
              <a:rPr lang="en-US" sz="6000" b="0" i="0" dirty="0">
                <a:solidFill>
                  <a:srgbClr val="000000"/>
                </a:solidFill>
                <a:effectLst/>
                <a:ea typeface="Calibri" panose="020F0502020204030204" pitchFamily="34" charset="0"/>
                <a:cs typeface="Calibri" panose="020F0502020204030204" pitchFamily="34" charset="0"/>
              </a:rPr>
              <a:t>Some cable release systems</a:t>
            </a:r>
            <a:r>
              <a:rPr lang="en-US" sz="6000" b="0" i="0" dirty="0">
                <a:solidFill>
                  <a:srgbClr val="000000"/>
                </a:solidFill>
                <a:ea typeface="Calibri" panose="020F0502020204030204" pitchFamily="34" charset="0"/>
                <a:cs typeface="Calibri" panose="020F0502020204030204" pitchFamily="34" charset="0"/>
              </a:rPr>
              <a:t> </a:t>
            </a:r>
            <a:r>
              <a:rPr lang="en-US" sz="6000" b="0" i="0" dirty="0">
                <a:solidFill>
                  <a:srgbClr val="000000"/>
                </a:solidFill>
                <a:effectLst/>
                <a:ea typeface="Calibri" panose="020F0502020204030204" pitchFamily="34" charset="0"/>
                <a:cs typeface="Calibri" panose="020F0502020204030204" pitchFamily="34" charset="0"/>
              </a:rPr>
              <a:t>are self-adjusting, using a ratcheting mechanism on the clutch pedal to take up slack as the clutch disc</a:t>
            </a:r>
            <a:r>
              <a:rPr lang="en-US" sz="6000" b="0" i="0" dirty="0">
                <a:solidFill>
                  <a:srgbClr val="000000"/>
                </a:solidFill>
                <a:ea typeface="Calibri" panose="020F0502020204030204" pitchFamily="34" charset="0"/>
                <a:cs typeface="Calibri" panose="020F0502020204030204" pitchFamily="34" charset="0"/>
              </a:rPr>
              <a:t> </a:t>
            </a:r>
            <a:r>
              <a:rPr lang="en-US" sz="6000" b="0" i="0" dirty="0">
                <a:solidFill>
                  <a:srgbClr val="000000"/>
                </a:solidFill>
                <a:effectLst/>
                <a:ea typeface="Calibri" panose="020F0502020204030204" pitchFamily="34" charset="0"/>
                <a:cs typeface="Calibri" panose="020F0502020204030204" pitchFamily="34" charset="0"/>
              </a:rPr>
              <a:t>wears.</a:t>
            </a:r>
            <a:endParaRPr lang="en-US" sz="6000" dirty="0">
              <a:effectLst/>
              <a:ea typeface="Calibri" panose="020F0502020204030204" pitchFamily="34" charset="0"/>
              <a:cs typeface="Times New Roman" panose="02020603050405020304" pitchFamily="18" charset="0"/>
            </a:endParaRPr>
          </a:p>
          <a:p>
            <a:pPr marL="0" indent="0" algn="just">
              <a:buNone/>
            </a:pPr>
            <a:r>
              <a:rPr lang="en-US" sz="6000" dirty="0">
                <a:solidFill>
                  <a:srgbClr val="000000"/>
                </a:solidFill>
                <a:effectLst/>
                <a:ea typeface="Times New Roman" panose="02020603050405020304" pitchFamily="18" charset="0"/>
                <a:cs typeface="Calibri" panose="020F0502020204030204" pitchFamily="34" charset="0"/>
              </a:rPr>
              <a:t>The cable release system is inexpensive and simple in design and operation, but it is more prone to wear and binding than other types. It is always used in motor cycle</a:t>
            </a:r>
            <a:endParaRPr lang="en-US" sz="6000" dirty="0">
              <a:effectLst/>
              <a:ea typeface="Calibri" panose="020F0502020204030204" pitchFamily="34" charset="0"/>
              <a:cs typeface="Times New Roman" panose="02020603050405020304" pitchFamily="18" charset="0"/>
            </a:endParaRPr>
          </a:p>
          <a:p>
            <a:pPr marL="0" indent="0">
              <a:buNone/>
            </a:pPr>
            <a:br>
              <a:rPr lang="en-US" dirty="0"/>
            </a:br>
            <a:endParaRPr lang="en-US" dirty="0"/>
          </a:p>
        </p:txBody>
      </p:sp>
    </p:spTree>
    <p:extLst>
      <p:ext uri="{BB962C8B-B14F-4D97-AF65-F5344CB8AC3E}">
        <p14:creationId xmlns:p14="http://schemas.microsoft.com/office/powerpoint/2010/main" val="27903763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5AF88A-2C9D-421F-B5BC-7CCE93C27459}"/>
              </a:ext>
            </a:extLst>
          </p:cNvPr>
          <p:cNvPicPr>
            <a:picLocks noChangeAspect="1"/>
          </p:cNvPicPr>
          <p:nvPr/>
        </p:nvPicPr>
        <p:blipFill>
          <a:blip r:embed="rId2"/>
          <a:stretch>
            <a:fillRect/>
          </a:stretch>
        </p:blipFill>
        <p:spPr>
          <a:xfrm>
            <a:off x="425003" y="437882"/>
            <a:ext cx="11372045" cy="6233373"/>
          </a:xfrm>
          <a:prstGeom prst="rect">
            <a:avLst/>
          </a:prstGeom>
        </p:spPr>
      </p:pic>
    </p:spTree>
    <p:extLst>
      <p:ext uri="{BB962C8B-B14F-4D97-AF65-F5344CB8AC3E}">
        <p14:creationId xmlns:p14="http://schemas.microsoft.com/office/powerpoint/2010/main" val="26290375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6DA02B-FC0F-4EB9-A38F-74A7A8B232C2}"/>
              </a:ext>
            </a:extLst>
          </p:cNvPr>
          <p:cNvSpPr>
            <a:spLocks noGrp="1"/>
          </p:cNvSpPr>
          <p:nvPr>
            <p:ph idx="1"/>
          </p:nvPr>
        </p:nvSpPr>
        <p:spPr>
          <a:xfrm>
            <a:off x="1295401" y="1911927"/>
            <a:ext cx="9601196" cy="3963941"/>
          </a:xfrm>
        </p:spPr>
        <p:txBody>
          <a:bodyPr>
            <a:normAutofit/>
          </a:bodyPr>
          <a:lstStyle/>
          <a:p>
            <a:pPr algn="just"/>
            <a:r>
              <a:rPr lang="en-US" sz="2400" b="1" dirty="0">
                <a:solidFill>
                  <a:srgbClr val="000000"/>
                </a:solidFill>
                <a:effectLst/>
                <a:ea typeface="Times New Roman" panose="02020603050405020304" pitchFamily="18" charset="0"/>
                <a:cs typeface="Calibri" panose="020F0502020204030204" pitchFamily="34" charset="0"/>
              </a:rPr>
              <a:t>Hydraulic Circuit</a:t>
            </a:r>
          </a:p>
          <a:p>
            <a:pPr marL="0" indent="0" algn="just">
              <a:buNone/>
            </a:pPr>
            <a:r>
              <a:rPr lang="en-US" sz="2400" dirty="0">
                <a:solidFill>
                  <a:srgbClr val="000000"/>
                </a:solidFill>
                <a:effectLst/>
                <a:ea typeface="Times New Roman" panose="02020603050405020304" pitchFamily="18" charset="0"/>
                <a:cs typeface="Calibri" panose="020F0502020204030204" pitchFamily="34" charset="0"/>
              </a:rPr>
              <a:t>The hydraulic clutch release system uses a </a:t>
            </a:r>
            <a:r>
              <a:rPr lang="en-US" sz="2400" b="1" dirty="0">
                <a:solidFill>
                  <a:srgbClr val="000000"/>
                </a:solidFill>
                <a:effectLst/>
                <a:ea typeface="Times New Roman" panose="02020603050405020304" pitchFamily="18" charset="0"/>
                <a:cs typeface="Calibri" panose="020F0502020204030204" pitchFamily="34" charset="0"/>
              </a:rPr>
              <a:t>clutch cylinder </a:t>
            </a:r>
            <a:r>
              <a:rPr lang="en-US" sz="2400" dirty="0">
                <a:solidFill>
                  <a:srgbClr val="000000"/>
                </a:solidFill>
                <a:effectLst/>
                <a:ea typeface="Times New Roman" panose="02020603050405020304" pitchFamily="18" charset="0"/>
                <a:cs typeface="Calibri" panose="020F0502020204030204" pitchFamily="34" charset="0"/>
              </a:rPr>
              <a:t>(also called a </a:t>
            </a:r>
            <a:r>
              <a:rPr lang="en-US" sz="2400" b="1" dirty="0">
                <a:solidFill>
                  <a:srgbClr val="000000"/>
                </a:solidFill>
                <a:effectLst/>
                <a:ea typeface="Times New Roman" panose="02020603050405020304" pitchFamily="18" charset="0"/>
                <a:cs typeface="Calibri" panose="020F0502020204030204" pitchFamily="34" charset="0"/>
              </a:rPr>
              <a:t>clutch master cylinder</a:t>
            </a:r>
            <a:r>
              <a:rPr lang="en-US" sz="2400" dirty="0">
                <a:solidFill>
                  <a:srgbClr val="000000"/>
                </a:solidFill>
                <a:effectLst/>
                <a:ea typeface="Times New Roman" panose="02020603050405020304" pitchFamily="18" charset="0"/>
                <a:cs typeface="Calibri" panose="020F0502020204030204" pitchFamily="34" charset="0"/>
              </a:rPr>
              <a:t>), </a:t>
            </a:r>
            <a:r>
              <a:rPr lang="en-US" sz="2400" b="1" dirty="0">
                <a:solidFill>
                  <a:srgbClr val="000000"/>
                </a:solidFill>
                <a:effectLst/>
                <a:ea typeface="Times New Roman" panose="02020603050405020304" pitchFamily="18" charset="0"/>
                <a:cs typeface="Calibri" panose="020F0502020204030204" pitchFamily="34" charset="0"/>
              </a:rPr>
              <a:t>a hydraulic line</a:t>
            </a:r>
            <a:r>
              <a:rPr lang="en-US" sz="2400" dirty="0">
                <a:solidFill>
                  <a:srgbClr val="000000"/>
                </a:solidFill>
                <a:effectLst/>
                <a:ea typeface="Times New Roman" panose="02020603050405020304" pitchFamily="18" charset="0"/>
                <a:cs typeface="Calibri" panose="020F0502020204030204" pitchFamily="34" charset="0"/>
              </a:rPr>
              <a:t>, and a </a:t>
            </a:r>
            <a:r>
              <a:rPr lang="en-US" sz="2400" b="1" dirty="0">
                <a:solidFill>
                  <a:srgbClr val="000000"/>
                </a:solidFill>
                <a:effectLst/>
                <a:ea typeface="Times New Roman" panose="02020603050405020304" pitchFamily="18" charset="0"/>
                <a:cs typeface="Calibri" panose="020F0502020204030204" pitchFamily="34" charset="0"/>
              </a:rPr>
              <a:t>slave cylinder(release cylinder) </a:t>
            </a:r>
            <a:r>
              <a:rPr lang="en-US" sz="2400" dirty="0">
                <a:solidFill>
                  <a:srgbClr val="000000"/>
                </a:solidFill>
                <a:effectLst/>
                <a:ea typeface="Times New Roman" panose="02020603050405020304" pitchFamily="18" charset="0"/>
                <a:cs typeface="Calibri" panose="020F0502020204030204" pitchFamily="34" charset="0"/>
              </a:rPr>
              <a:t>to transfer clutch pedal motion to the clutch fork. </a:t>
            </a:r>
          </a:p>
          <a:p>
            <a:pPr marL="0" indent="0" algn="just">
              <a:buNone/>
            </a:pPr>
            <a:r>
              <a:rPr lang="en-US" sz="2400" dirty="0">
                <a:solidFill>
                  <a:srgbClr val="000000"/>
                </a:solidFill>
                <a:effectLst/>
                <a:ea typeface="Times New Roman" panose="02020603050405020304" pitchFamily="18" charset="0"/>
                <a:cs typeface="Calibri" panose="020F0502020204030204" pitchFamily="34" charset="0"/>
              </a:rPr>
              <a:t>The hydraulic system is very much like a brake hydraulic system, and clutch systems commonly use brake fluid as well</a:t>
            </a:r>
            <a:endParaRPr lang="en-US" sz="2400" dirty="0">
              <a:effectLst/>
              <a:ea typeface="Calibri" panose="020F0502020204030204" pitchFamily="34" charset="0"/>
              <a:cs typeface="Times New Roman" panose="02020603050405020304" pitchFamily="18" charset="0"/>
            </a:endParaRPr>
          </a:p>
          <a:p>
            <a:pPr marL="0" indent="0" algn="just">
              <a:buNone/>
            </a:pPr>
            <a:r>
              <a:rPr lang="en-US" sz="2400" dirty="0">
                <a:solidFill>
                  <a:srgbClr val="000000"/>
                </a:solidFill>
                <a:effectLst/>
                <a:ea typeface="Times New Roman" panose="02020603050405020304" pitchFamily="18" charset="0"/>
                <a:cs typeface="Calibri" panose="020F0502020204030204" pitchFamily="34" charset="0"/>
              </a:rPr>
              <a:t>A fluid reservoir may be built into the unit, or there may be a separate reservoir remotely mounted above the unit for easier access. </a:t>
            </a:r>
          </a:p>
          <a:p>
            <a:endParaRPr lang="en-US" dirty="0"/>
          </a:p>
        </p:txBody>
      </p:sp>
    </p:spTree>
    <p:extLst>
      <p:ext uri="{BB962C8B-B14F-4D97-AF65-F5344CB8AC3E}">
        <p14:creationId xmlns:p14="http://schemas.microsoft.com/office/powerpoint/2010/main" val="37014808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90094E-6189-40F2-8A72-9B76FE2429DE}"/>
              </a:ext>
            </a:extLst>
          </p:cNvPr>
          <p:cNvSpPr>
            <a:spLocks noGrp="1"/>
          </p:cNvSpPr>
          <p:nvPr>
            <p:ph idx="1"/>
          </p:nvPr>
        </p:nvSpPr>
        <p:spPr>
          <a:xfrm>
            <a:off x="1295401" y="1828800"/>
            <a:ext cx="9601196" cy="4047068"/>
          </a:xfrm>
        </p:spPr>
        <p:txBody>
          <a:bodyPr>
            <a:normAutofit fontScale="92500" lnSpcReduction="10000"/>
          </a:bodyPr>
          <a:lstStyle/>
          <a:p>
            <a:pPr marL="0" indent="0" algn="just">
              <a:buNone/>
            </a:pPr>
            <a:r>
              <a:rPr lang="en-US" sz="2800" b="1" dirty="0">
                <a:solidFill>
                  <a:srgbClr val="000000"/>
                </a:solidFill>
                <a:effectLst/>
                <a:ea typeface="Times New Roman" panose="02020603050405020304" pitchFamily="18" charset="0"/>
                <a:cs typeface="Calibri" panose="020F0502020204030204" pitchFamily="34" charset="0"/>
              </a:rPr>
              <a:t>Hydraulic Circuit cont..</a:t>
            </a:r>
          </a:p>
          <a:p>
            <a:pPr marL="0" indent="0" algn="just">
              <a:buNone/>
            </a:pPr>
            <a:r>
              <a:rPr lang="en-US" sz="2800" dirty="0">
                <a:solidFill>
                  <a:srgbClr val="000000"/>
                </a:solidFill>
                <a:effectLst/>
                <a:ea typeface="Times New Roman" panose="02020603050405020304" pitchFamily="18" charset="0"/>
                <a:cs typeface="Calibri" panose="020F0502020204030204" pitchFamily="34" charset="0"/>
              </a:rPr>
              <a:t>The master cylinder is like a single-circuit brake master cylinder. </a:t>
            </a:r>
          </a:p>
          <a:p>
            <a:pPr marL="0" indent="0" algn="just">
              <a:buNone/>
            </a:pPr>
            <a:r>
              <a:rPr lang="en-US" sz="2800" dirty="0">
                <a:solidFill>
                  <a:srgbClr val="000000"/>
                </a:solidFill>
                <a:effectLst/>
                <a:ea typeface="Times New Roman" panose="02020603050405020304" pitchFamily="18" charset="0"/>
                <a:cs typeface="Calibri" panose="020F0502020204030204" pitchFamily="34" charset="0"/>
              </a:rPr>
              <a:t>The hydraulic line consists of metal tubing and rubber hoses, just like a brake system. </a:t>
            </a:r>
          </a:p>
          <a:p>
            <a:pPr marL="0" indent="0" algn="just">
              <a:buNone/>
            </a:pPr>
            <a:r>
              <a:rPr lang="en-US" sz="2800" dirty="0">
                <a:solidFill>
                  <a:srgbClr val="000000"/>
                </a:solidFill>
                <a:effectLst/>
                <a:ea typeface="Times New Roman" panose="02020603050405020304" pitchFamily="18" charset="0"/>
                <a:cs typeface="Calibri" panose="020F0502020204030204" pitchFamily="34" charset="0"/>
              </a:rPr>
              <a:t>It runs from the clutch cylinder to the slave cylinder. </a:t>
            </a:r>
          </a:p>
          <a:p>
            <a:pPr marL="0" indent="0" algn="just">
              <a:buNone/>
            </a:pPr>
            <a:r>
              <a:rPr lang="en-US" sz="2800" dirty="0">
                <a:solidFill>
                  <a:srgbClr val="000000"/>
                </a:solidFill>
                <a:effectLst/>
                <a:ea typeface="Times New Roman" panose="02020603050405020304" pitchFamily="18" charset="0"/>
                <a:cs typeface="Calibri" panose="020F0502020204030204" pitchFamily="34" charset="0"/>
              </a:rPr>
              <a:t>The slave cylinder is mounted on the bell housing near the clutch fork. </a:t>
            </a:r>
          </a:p>
          <a:p>
            <a:pPr marL="0" indent="0" algn="just">
              <a:buNone/>
            </a:pPr>
            <a:r>
              <a:rPr lang="en-US" sz="2800" dirty="0">
                <a:solidFill>
                  <a:srgbClr val="000000"/>
                </a:solidFill>
                <a:effectLst/>
                <a:ea typeface="Times New Roman" panose="02020603050405020304" pitchFamily="18" charset="0"/>
                <a:cs typeface="Calibri" panose="020F0502020204030204" pitchFamily="34" charset="0"/>
              </a:rPr>
              <a:t>It is much like a wheel cylinder on a drum brake with one piston and actuating pin.</a:t>
            </a:r>
            <a:endParaRPr lang="en-US" sz="2800" dirty="0">
              <a:effectLst/>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723552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393454-BE64-45E9-8518-493F37E3F866}"/>
              </a:ext>
            </a:extLst>
          </p:cNvPr>
          <p:cNvPicPr>
            <a:picLocks noChangeAspect="1"/>
          </p:cNvPicPr>
          <p:nvPr/>
        </p:nvPicPr>
        <p:blipFill>
          <a:blip r:embed="rId2"/>
          <a:stretch>
            <a:fillRect/>
          </a:stretch>
        </p:blipFill>
        <p:spPr>
          <a:xfrm>
            <a:off x="437882" y="540914"/>
            <a:ext cx="10415855" cy="5924280"/>
          </a:xfrm>
          <a:prstGeom prst="rect">
            <a:avLst/>
          </a:prstGeom>
        </p:spPr>
      </p:pic>
    </p:spTree>
    <p:extLst>
      <p:ext uri="{BB962C8B-B14F-4D97-AF65-F5344CB8AC3E}">
        <p14:creationId xmlns:p14="http://schemas.microsoft.com/office/powerpoint/2010/main" val="26929765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CE48B8-1CF0-480F-B6DA-DC5FB96B8B53}"/>
              </a:ext>
            </a:extLst>
          </p:cNvPr>
          <p:cNvSpPr>
            <a:spLocks noGrp="1"/>
          </p:cNvSpPr>
          <p:nvPr>
            <p:ph idx="1"/>
          </p:nvPr>
        </p:nvSpPr>
        <p:spPr>
          <a:xfrm>
            <a:off x="1295401" y="2008909"/>
            <a:ext cx="9601196" cy="3866959"/>
          </a:xfrm>
        </p:spPr>
        <p:txBody>
          <a:bodyPr>
            <a:normAutofit lnSpcReduction="10000"/>
          </a:bodyPr>
          <a:lstStyle/>
          <a:p>
            <a:pPr marL="0" indent="0">
              <a:buNone/>
            </a:pPr>
            <a:r>
              <a:rPr lang="en-US" sz="2400" b="1" dirty="0">
                <a:solidFill>
                  <a:srgbClr val="0070C0"/>
                </a:solidFill>
                <a:latin typeface="Garamond" panose="02020404030301010803" pitchFamily="18" charset="0"/>
                <a:ea typeface="Times New Roman" panose="02020603050405020304" pitchFamily="18" charset="0"/>
              </a:rPr>
              <a:t>iii. C</a:t>
            </a:r>
            <a:r>
              <a:rPr lang="en-US" sz="2400" b="1" dirty="0">
                <a:solidFill>
                  <a:srgbClr val="0070C0"/>
                </a:solidFill>
                <a:effectLst/>
                <a:latin typeface="Garamond" panose="02020404030301010803" pitchFamily="18" charset="0"/>
                <a:ea typeface="Times New Roman" panose="02020603050405020304" pitchFamily="18" charset="0"/>
              </a:rPr>
              <a:t>lutch fork </a:t>
            </a:r>
          </a:p>
          <a:p>
            <a:pPr marL="0" indent="0" algn="just">
              <a:lnSpc>
                <a:spcPct val="100000"/>
              </a:lnSpc>
              <a:buNone/>
            </a:pPr>
            <a:r>
              <a:rPr lang="en-US" sz="2400" dirty="0">
                <a:solidFill>
                  <a:srgbClr val="000000"/>
                </a:solidFill>
                <a:effectLst/>
                <a:ea typeface="Times New Roman" panose="02020603050405020304" pitchFamily="18" charset="0"/>
              </a:rPr>
              <a:t>This is also part of the clutch </a:t>
            </a:r>
            <a:r>
              <a:rPr lang="en-US" sz="2400" b="1" dirty="0">
                <a:solidFill>
                  <a:srgbClr val="000000"/>
                </a:solidFill>
                <a:effectLst/>
                <a:ea typeface="Times New Roman" panose="02020603050405020304" pitchFamily="18" charset="0"/>
              </a:rPr>
              <a:t>release mechanism</a:t>
            </a:r>
            <a:r>
              <a:rPr lang="en-US" sz="2400" dirty="0">
                <a:solidFill>
                  <a:srgbClr val="000000"/>
                </a:solidFill>
                <a:effectLst/>
                <a:ea typeface="Times New Roman" panose="02020603050405020304" pitchFamily="18" charset="0"/>
              </a:rPr>
              <a:t>. Also called a </a:t>
            </a:r>
            <a:r>
              <a:rPr lang="en-US" sz="2400" b="1" dirty="0">
                <a:solidFill>
                  <a:srgbClr val="000000"/>
                </a:solidFill>
                <a:effectLst/>
                <a:ea typeface="Times New Roman" panose="02020603050405020304" pitchFamily="18" charset="0"/>
              </a:rPr>
              <a:t>release arm</a:t>
            </a:r>
            <a:r>
              <a:rPr lang="en-US" sz="2400" dirty="0">
                <a:solidFill>
                  <a:srgbClr val="000000"/>
                </a:solidFill>
                <a:effectLst/>
                <a:ea typeface="Times New Roman" panose="02020603050405020304" pitchFamily="18" charset="0"/>
              </a:rPr>
              <a:t>, </a:t>
            </a:r>
            <a:r>
              <a:rPr lang="en-US" sz="2400" b="1" dirty="0">
                <a:solidFill>
                  <a:srgbClr val="000000"/>
                </a:solidFill>
                <a:effectLst/>
                <a:ea typeface="Times New Roman" panose="02020603050405020304" pitchFamily="18" charset="0"/>
              </a:rPr>
              <a:t>release fork</a:t>
            </a:r>
            <a:r>
              <a:rPr lang="en-US" sz="2400" dirty="0">
                <a:solidFill>
                  <a:srgbClr val="000000"/>
                </a:solidFill>
                <a:effectLst/>
                <a:ea typeface="Times New Roman" panose="02020603050405020304" pitchFamily="18" charset="0"/>
              </a:rPr>
              <a:t> or </a:t>
            </a:r>
            <a:r>
              <a:rPr lang="en-US" sz="2400" b="1" dirty="0">
                <a:solidFill>
                  <a:srgbClr val="000000"/>
                </a:solidFill>
                <a:effectLst/>
                <a:ea typeface="Times New Roman" panose="02020603050405020304" pitchFamily="18" charset="0"/>
              </a:rPr>
              <a:t>throw-out lever</a:t>
            </a:r>
            <a:r>
              <a:rPr lang="en-US" b="1" dirty="0">
                <a:solidFill>
                  <a:srgbClr val="000000"/>
                </a:solidFill>
                <a:ea typeface="Times New Roman" panose="02020603050405020304" pitchFamily="18" charset="0"/>
              </a:rPr>
              <a:t>.</a:t>
            </a:r>
          </a:p>
          <a:p>
            <a:pPr marL="0" indent="0" algn="just">
              <a:lnSpc>
                <a:spcPct val="100000"/>
              </a:lnSpc>
              <a:buNone/>
            </a:pPr>
            <a:r>
              <a:rPr lang="en-US" dirty="0">
                <a:solidFill>
                  <a:srgbClr val="000000"/>
                </a:solidFill>
                <a:ea typeface="Times New Roman" panose="02020603050405020304" pitchFamily="18" charset="0"/>
              </a:rPr>
              <a:t>C</a:t>
            </a:r>
            <a:r>
              <a:rPr lang="en-US" sz="2400" dirty="0">
                <a:solidFill>
                  <a:srgbClr val="000000"/>
                </a:solidFill>
                <a:effectLst/>
                <a:ea typeface="Times New Roman" panose="02020603050405020304" pitchFamily="18" charset="0"/>
              </a:rPr>
              <a:t>lutch fork transmits movement from the external parts of the release mechanism to the release bearing. </a:t>
            </a:r>
          </a:p>
          <a:p>
            <a:pPr marL="0" indent="0" algn="just">
              <a:buNone/>
            </a:pPr>
            <a:r>
              <a:rPr lang="en-US" sz="2400" dirty="0">
                <a:solidFill>
                  <a:srgbClr val="000000"/>
                </a:solidFill>
                <a:effectLst/>
                <a:ea typeface="Times New Roman" panose="02020603050405020304" pitchFamily="18" charset="0"/>
              </a:rPr>
              <a:t>The fork extends through a hole in the clutch housing to reach the external parts of the release mechanism. </a:t>
            </a:r>
          </a:p>
          <a:p>
            <a:pPr marL="0" indent="0" algn="just">
              <a:buNone/>
            </a:pPr>
            <a:r>
              <a:rPr lang="en-US" sz="2400" dirty="0">
                <a:solidFill>
                  <a:srgbClr val="000000"/>
                </a:solidFill>
                <a:effectLst/>
                <a:ea typeface="Times New Roman" panose="02020603050405020304" pitchFamily="18" charset="0"/>
              </a:rPr>
              <a:t>A protective rubber boot fits in the hole to prevent contaminants and debris from entering the clutch housing.</a:t>
            </a:r>
            <a:endParaRPr lang="en-US" sz="3600" dirty="0"/>
          </a:p>
        </p:txBody>
      </p:sp>
      <p:sp>
        <p:nvSpPr>
          <p:cNvPr id="4" name="TextBox 3">
            <a:extLst>
              <a:ext uri="{FF2B5EF4-FFF2-40B4-BE49-F238E27FC236}">
                <a16:creationId xmlns:a16="http://schemas.microsoft.com/office/drawing/2014/main" id="{0F9DE3A8-55D7-BFF7-B17F-53A1D4F53373}"/>
              </a:ext>
            </a:extLst>
          </p:cNvPr>
          <p:cNvSpPr txBox="1"/>
          <p:nvPr/>
        </p:nvSpPr>
        <p:spPr>
          <a:xfrm>
            <a:off x="1295401" y="982132"/>
            <a:ext cx="7856620" cy="369332"/>
          </a:xfrm>
          <a:prstGeom prst="rect">
            <a:avLst/>
          </a:prstGeom>
          <a:noFill/>
        </p:spPr>
        <p:txBody>
          <a:bodyPr wrap="square">
            <a:spAutoFit/>
          </a:bodyPr>
          <a:lstStyle/>
          <a:p>
            <a:pPr marL="0" indent="0">
              <a:buNone/>
            </a:pPr>
            <a:r>
              <a:rPr lang="en-US" sz="1800" b="1" dirty="0">
                <a:solidFill>
                  <a:srgbClr val="FF0000"/>
                </a:solidFill>
                <a:latin typeface="+mj-lt"/>
              </a:rPr>
              <a:t>4. Release mechanism </a:t>
            </a:r>
          </a:p>
        </p:txBody>
      </p:sp>
    </p:spTree>
    <p:extLst>
      <p:ext uri="{BB962C8B-B14F-4D97-AF65-F5344CB8AC3E}">
        <p14:creationId xmlns:p14="http://schemas.microsoft.com/office/powerpoint/2010/main" val="10364966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698934-B107-4BAA-9CFB-EABE7759384D}"/>
              </a:ext>
            </a:extLst>
          </p:cNvPr>
          <p:cNvSpPr>
            <a:spLocks noGrp="1"/>
          </p:cNvSpPr>
          <p:nvPr>
            <p:ph idx="1"/>
          </p:nvPr>
        </p:nvSpPr>
        <p:spPr/>
        <p:txBody>
          <a:bodyPr/>
          <a:lstStyle/>
          <a:p>
            <a:endParaRPr lang="en-TZ" dirty="0"/>
          </a:p>
        </p:txBody>
      </p:sp>
      <p:pic>
        <p:nvPicPr>
          <p:cNvPr id="4" name="Picture 4" descr="Amazon.com: Dorman 14457 Clutch Fork : Automotive">
            <a:extLst>
              <a:ext uri="{FF2B5EF4-FFF2-40B4-BE49-F238E27FC236}">
                <a16:creationId xmlns:a16="http://schemas.microsoft.com/office/drawing/2014/main" id="{6EADAFA8-46FE-42CB-98E2-0C3BA290D2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753" y="2390942"/>
            <a:ext cx="3381375" cy="26955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Clutch Fork Repairs in Hamilton | Grimmer Motors Hamilton">
            <a:extLst>
              <a:ext uri="{FF2B5EF4-FFF2-40B4-BE49-F238E27FC236}">
                <a16:creationId xmlns:a16="http://schemas.microsoft.com/office/drawing/2014/main" id="{028E9481-31D0-4FA4-B3BE-044B544DDF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9114" y="2390942"/>
            <a:ext cx="4722125" cy="31253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Clutch Fork Images, Stock Photos &amp;amp; Vectors | Shutterstock">
            <a:extLst>
              <a:ext uri="{FF2B5EF4-FFF2-40B4-BE49-F238E27FC236}">
                <a16:creationId xmlns:a16="http://schemas.microsoft.com/office/drawing/2014/main" id="{FCC80AA0-A878-41D5-B417-B87FCBC8C3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58225" y="2390941"/>
            <a:ext cx="2860485" cy="3125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14860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46C7AA-F185-47FE-8E71-5D726FFDF584}"/>
              </a:ext>
            </a:extLst>
          </p:cNvPr>
          <p:cNvSpPr>
            <a:spLocks noGrp="1"/>
          </p:cNvSpPr>
          <p:nvPr>
            <p:ph idx="1"/>
          </p:nvPr>
        </p:nvSpPr>
        <p:spPr>
          <a:xfrm>
            <a:off x="1295401" y="2022764"/>
            <a:ext cx="9601196" cy="4107580"/>
          </a:xfrm>
        </p:spPr>
        <p:txBody>
          <a:bodyPr>
            <a:normAutofit fontScale="25000" lnSpcReduction="20000"/>
          </a:bodyPr>
          <a:lstStyle/>
          <a:p>
            <a:pPr marL="0" indent="0">
              <a:lnSpc>
                <a:spcPct val="120000"/>
              </a:lnSpc>
              <a:buNone/>
            </a:pPr>
            <a:r>
              <a:rPr lang="en-US" sz="9600" b="1" dirty="0">
                <a:solidFill>
                  <a:srgbClr val="0070C0"/>
                </a:solidFill>
              </a:rPr>
              <a:t>iv. Release bearing</a:t>
            </a:r>
          </a:p>
          <a:p>
            <a:pPr marL="0" indent="0">
              <a:lnSpc>
                <a:spcPct val="120000"/>
              </a:lnSpc>
              <a:buNone/>
            </a:pPr>
            <a:r>
              <a:rPr lang="en-US" sz="9600" b="0" i="0" dirty="0">
                <a:solidFill>
                  <a:srgbClr val="231F20"/>
                </a:solidFill>
                <a:effectLst/>
              </a:rPr>
              <a:t>The throw-out (release) bearing is attached to the clutch fork and rides on the fingers of the pressure plate. </a:t>
            </a:r>
          </a:p>
          <a:p>
            <a:pPr marL="0" indent="0">
              <a:lnSpc>
                <a:spcPct val="120000"/>
              </a:lnSpc>
              <a:buNone/>
            </a:pPr>
            <a:r>
              <a:rPr lang="en-US" sz="9600" b="0" i="0" dirty="0">
                <a:solidFill>
                  <a:srgbClr val="231F20"/>
                </a:solidFill>
                <a:effectLst/>
              </a:rPr>
              <a:t>The clutch operating system moves the clutch release bearing when the driver presses or releases the clutch pedal.  </a:t>
            </a:r>
          </a:p>
          <a:p>
            <a:pPr marL="0" indent="0">
              <a:lnSpc>
                <a:spcPct val="120000"/>
              </a:lnSpc>
              <a:buNone/>
            </a:pPr>
            <a:r>
              <a:rPr lang="en-US" sz="9600" b="0" i="0" dirty="0">
                <a:solidFill>
                  <a:srgbClr val="231F20"/>
                </a:solidFill>
                <a:effectLst/>
              </a:rPr>
              <a:t>The release bearing presses against the diaphragm spring fingers or coil spring levers. </a:t>
            </a:r>
          </a:p>
          <a:p>
            <a:pPr marL="0" indent="0">
              <a:lnSpc>
                <a:spcPct val="120000"/>
              </a:lnSpc>
              <a:buNone/>
            </a:pPr>
            <a:r>
              <a:rPr lang="en-US" sz="9600" b="0" i="0" dirty="0">
                <a:solidFill>
                  <a:srgbClr val="231F20"/>
                </a:solidFill>
                <a:effectLst/>
              </a:rPr>
              <a:t>This takes spring force off the pressure plate so that it no longer clamps the friction disc against the flywheel.</a:t>
            </a:r>
            <a:r>
              <a:rPr lang="en-US" sz="9600" dirty="0"/>
              <a:t> </a:t>
            </a:r>
          </a:p>
          <a:p>
            <a:pPr marL="0" indent="0">
              <a:lnSpc>
                <a:spcPct val="120000"/>
              </a:lnSpc>
              <a:buNone/>
            </a:pPr>
            <a:br>
              <a:rPr lang="en-US" dirty="0"/>
            </a:br>
            <a:endParaRPr lang="en-US" dirty="0"/>
          </a:p>
          <a:p>
            <a:endParaRPr lang="en-US" dirty="0"/>
          </a:p>
        </p:txBody>
      </p:sp>
      <p:sp>
        <p:nvSpPr>
          <p:cNvPr id="4" name="TextBox 3">
            <a:extLst>
              <a:ext uri="{FF2B5EF4-FFF2-40B4-BE49-F238E27FC236}">
                <a16:creationId xmlns:a16="http://schemas.microsoft.com/office/drawing/2014/main" id="{7D1083DE-1F45-9D74-056D-63AABF48259A}"/>
              </a:ext>
            </a:extLst>
          </p:cNvPr>
          <p:cNvSpPr txBox="1"/>
          <p:nvPr/>
        </p:nvSpPr>
        <p:spPr>
          <a:xfrm>
            <a:off x="1295401" y="882316"/>
            <a:ext cx="7856620" cy="369332"/>
          </a:xfrm>
          <a:prstGeom prst="rect">
            <a:avLst/>
          </a:prstGeom>
          <a:noFill/>
        </p:spPr>
        <p:txBody>
          <a:bodyPr wrap="square">
            <a:spAutoFit/>
          </a:bodyPr>
          <a:lstStyle/>
          <a:p>
            <a:pPr marL="0" indent="0">
              <a:buNone/>
            </a:pPr>
            <a:r>
              <a:rPr lang="en-US" sz="1800" b="1" dirty="0">
                <a:solidFill>
                  <a:srgbClr val="FF0000"/>
                </a:solidFill>
                <a:latin typeface="+mj-lt"/>
              </a:rPr>
              <a:t>4. Release mechanism </a:t>
            </a:r>
          </a:p>
        </p:txBody>
      </p:sp>
    </p:spTree>
    <p:extLst>
      <p:ext uri="{BB962C8B-B14F-4D97-AF65-F5344CB8AC3E}">
        <p14:creationId xmlns:p14="http://schemas.microsoft.com/office/powerpoint/2010/main" val="7402570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D4FD66-B6F6-4DC4-9F14-17600E7BF399}"/>
              </a:ext>
            </a:extLst>
          </p:cNvPr>
          <p:cNvSpPr>
            <a:spLocks noGrp="1"/>
          </p:cNvSpPr>
          <p:nvPr>
            <p:ph idx="1"/>
          </p:nvPr>
        </p:nvSpPr>
        <p:spPr>
          <a:xfrm>
            <a:off x="914400" y="1584101"/>
            <a:ext cx="10439400" cy="4592862"/>
          </a:xfrm>
        </p:spPr>
        <p:txBody>
          <a:bodyPr>
            <a:noAutofit/>
          </a:bodyPr>
          <a:lstStyle/>
          <a:p>
            <a:pPr marL="0" indent="0">
              <a:buNone/>
            </a:pPr>
            <a:endParaRPr lang="en-US" sz="2000" dirty="0">
              <a:solidFill>
                <a:srgbClr val="000000"/>
              </a:solidFill>
              <a:latin typeface="Calibri" panose="020F0502020204030204" pitchFamily="34" charset="0"/>
            </a:endParaRPr>
          </a:p>
          <a:p>
            <a:pPr marL="0" indent="0">
              <a:buNone/>
            </a:pPr>
            <a:r>
              <a:rPr lang="en-US" b="1" dirty="0">
                <a:solidFill>
                  <a:srgbClr val="0070C0"/>
                </a:solidFill>
              </a:rPr>
              <a:t>iv. Release bearing cont..</a:t>
            </a:r>
            <a:endParaRPr lang="en-US" dirty="0">
              <a:solidFill>
                <a:srgbClr val="000000"/>
              </a:solidFill>
              <a:latin typeface="Calibri" panose="020F0502020204030204" pitchFamily="34" charset="0"/>
            </a:endParaRPr>
          </a:p>
          <a:p>
            <a:pPr marL="0" indent="0" algn="just">
              <a:buNone/>
            </a:pPr>
            <a:r>
              <a:rPr lang="en-US" b="0" i="0" dirty="0">
                <a:solidFill>
                  <a:srgbClr val="000000"/>
                </a:solidFill>
                <a:effectLst/>
                <a:latin typeface="+mj-lt"/>
              </a:rPr>
              <a:t> When the release mechanism is properly adjusted, there is a small clearance gap between the throw-out bearing and the release levers/diaphragm spring, so the bearing only has to spin during clutch disengagement. </a:t>
            </a:r>
          </a:p>
          <a:p>
            <a:pPr marL="0" indent="0" algn="just">
              <a:buNone/>
            </a:pPr>
            <a:r>
              <a:rPr lang="en-US" b="0" i="0" dirty="0">
                <a:solidFill>
                  <a:srgbClr val="000000"/>
                </a:solidFill>
                <a:effectLst/>
                <a:latin typeface="+mj-lt"/>
              </a:rPr>
              <a:t>This reduces wear on the bearing, and results in a small amount of </a:t>
            </a:r>
            <a:r>
              <a:rPr lang="en-US" b="1" i="0" dirty="0">
                <a:solidFill>
                  <a:srgbClr val="000000"/>
                </a:solidFill>
                <a:effectLst/>
                <a:latin typeface="+mj-lt"/>
              </a:rPr>
              <a:t>free travel</a:t>
            </a:r>
            <a:r>
              <a:rPr lang="en-US" b="0" i="0" dirty="0">
                <a:solidFill>
                  <a:srgbClr val="000000"/>
                </a:solidFill>
                <a:effectLst/>
                <a:latin typeface="+mj-lt"/>
              </a:rPr>
              <a:t>, or </a:t>
            </a:r>
            <a:r>
              <a:rPr lang="en-US" b="1" i="0" dirty="0">
                <a:solidFill>
                  <a:srgbClr val="000000"/>
                </a:solidFill>
                <a:effectLst/>
                <a:latin typeface="+mj-lt"/>
              </a:rPr>
              <a:t>free play </a:t>
            </a:r>
            <a:r>
              <a:rPr lang="en-US" b="0" i="0" dirty="0">
                <a:solidFill>
                  <a:srgbClr val="000000"/>
                </a:solidFill>
                <a:effectLst/>
                <a:latin typeface="+mj-lt"/>
              </a:rPr>
              <a:t>at the clutch pedal. </a:t>
            </a:r>
          </a:p>
          <a:p>
            <a:pPr marL="0" indent="0" algn="just">
              <a:buNone/>
            </a:pPr>
            <a:r>
              <a:rPr lang="en-US" b="0" i="0" dirty="0">
                <a:solidFill>
                  <a:srgbClr val="000000"/>
                </a:solidFill>
                <a:effectLst/>
                <a:latin typeface="+mj-lt"/>
              </a:rPr>
              <a:t>The amount of free travel will be specified in the service information, usually about an inch. However, some vehicles with "self-adjusting" clutch engagement mechanisms use a special bearing that is designed to remain in contact with the pressure plate at all times</a:t>
            </a:r>
            <a:r>
              <a:rPr lang="en-US" dirty="0">
                <a:latin typeface="+mj-lt"/>
              </a:rPr>
              <a:t> </a:t>
            </a:r>
          </a:p>
        </p:txBody>
      </p:sp>
      <p:sp>
        <p:nvSpPr>
          <p:cNvPr id="4" name="TextBox 3">
            <a:extLst>
              <a:ext uri="{FF2B5EF4-FFF2-40B4-BE49-F238E27FC236}">
                <a16:creationId xmlns:a16="http://schemas.microsoft.com/office/drawing/2014/main" id="{8DD848BA-207C-FAD2-1E3C-3FBEAADD152A}"/>
              </a:ext>
            </a:extLst>
          </p:cNvPr>
          <p:cNvSpPr txBox="1"/>
          <p:nvPr/>
        </p:nvSpPr>
        <p:spPr>
          <a:xfrm>
            <a:off x="1058779" y="681037"/>
            <a:ext cx="8093242" cy="369332"/>
          </a:xfrm>
          <a:prstGeom prst="rect">
            <a:avLst/>
          </a:prstGeom>
          <a:noFill/>
        </p:spPr>
        <p:txBody>
          <a:bodyPr wrap="square">
            <a:spAutoFit/>
          </a:bodyPr>
          <a:lstStyle/>
          <a:p>
            <a:pPr marL="0" indent="0">
              <a:buNone/>
            </a:pPr>
            <a:r>
              <a:rPr lang="en-US" sz="1800" b="1" dirty="0">
                <a:solidFill>
                  <a:srgbClr val="FF0000"/>
                </a:solidFill>
                <a:latin typeface="+mj-lt"/>
              </a:rPr>
              <a:t>4. Release mechanism </a:t>
            </a:r>
          </a:p>
        </p:txBody>
      </p:sp>
    </p:spTree>
    <p:extLst>
      <p:ext uri="{BB962C8B-B14F-4D97-AF65-F5344CB8AC3E}">
        <p14:creationId xmlns:p14="http://schemas.microsoft.com/office/powerpoint/2010/main" val="3323074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D2E4E6-2B90-4DCB-88BE-C85F303434F5}"/>
              </a:ext>
            </a:extLst>
          </p:cNvPr>
          <p:cNvSpPr>
            <a:spLocks noGrp="1"/>
          </p:cNvSpPr>
          <p:nvPr>
            <p:ph idx="1"/>
          </p:nvPr>
        </p:nvSpPr>
        <p:spPr/>
        <p:txBody>
          <a:bodyPr/>
          <a:lstStyle/>
          <a:p>
            <a:endParaRPr lang="en-TZ" dirty="0"/>
          </a:p>
        </p:txBody>
      </p:sp>
      <p:pic>
        <p:nvPicPr>
          <p:cNvPr id="4" name="Picture 2" descr="Clutch Thrust/Release Bearing - Repair &amp;amp; Replacement | Grimmer Motors  Hamilton">
            <a:extLst>
              <a:ext uri="{FF2B5EF4-FFF2-40B4-BE49-F238E27FC236}">
                <a16:creationId xmlns:a16="http://schemas.microsoft.com/office/drawing/2014/main" id="{0ED7E0AC-D081-4824-B5A2-83F4EFB66F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263" y="2361061"/>
            <a:ext cx="3935389" cy="340518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ow Noise Auto Bearing Clutch Release Bearing Separation Bearing  48rct3321f0 - Buy Separation Bearing,Auto Bearing,Clutch Bearing Product on  Alibaba.com">
            <a:extLst>
              <a:ext uri="{FF2B5EF4-FFF2-40B4-BE49-F238E27FC236}">
                <a16:creationId xmlns:a16="http://schemas.microsoft.com/office/drawing/2014/main" id="{2383C7F6-8B8D-4ABF-BC17-8056484857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9288" y="2035612"/>
            <a:ext cx="3229686" cy="334334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4 Symptoms of a Bad Throw Out Bearing (and Replacement Cost in 2021)">
            <a:extLst>
              <a:ext uri="{FF2B5EF4-FFF2-40B4-BE49-F238E27FC236}">
                <a16:creationId xmlns:a16="http://schemas.microsoft.com/office/drawing/2014/main" id="{463DD8F0-6D75-4AF8-A287-AA90DFE06A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78974" y="2361061"/>
            <a:ext cx="3935104" cy="3017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00986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6B28F1-E66D-48FD-9663-761D2903696D}"/>
              </a:ext>
            </a:extLst>
          </p:cNvPr>
          <p:cNvSpPr>
            <a:spLocks noGrp="1"/>
          </p:cNvSpPr>
          <p:nvPr>
            <p:ph idx="1"/>
          </p:nvPr>
        </p:nvSpPr>
        <p:spPr>
          <a:xfrm>
            <a:off x="1295401" y="1732547"/>
            <a:ext cx="9601196" cy="4143321"/>
          </a:xfrm>
        </p:spPr>
        <p:txBody>
          <a:bodyPr/>
          <a:lstStyle/>
          <a:p>
            <a:pPr marL="0" indent="0">
              <a:buNone/>
            </a:pPr>
            <a:r>
              <a:rPr lang="en-US" sz="3600" b="1" dirty="0">
                <a:solidFill>
                  <a:srgbClr val="002060"/>
                </a:solidFill>
              </a:rPr>
              <a:t>Other parts in the system </a:t>
            </a:r>
          </a:p>
          <a:p>
            <a:pPr marL="0" indent="0">
              <a:buNone/>
            </a:pPr>
            <a:r>
              <a:rPr lang="en-US" sz="2400" dirty="0"/>
              <a:t>Pilot bearing</a:t>
            </a:r>
          </a:p>
          <a:p>
            <a:pPr marL="0" indent="0">
              <a:buNone/>
            </a:pPr>
            <a:r>
              <a:rPr lang="en-US" sz="2400" dirty="0"/>
              <a:t>Bell housing</a:t>
            </a:r>
          </a:p>
          <a:p>
            <a:pPr marL="0" indent="0">
              <a:buNone/>
            </a:pPr>
            <a:r>
              <a:rPr lang="en-US" sz="2400" dirty="0"/>
              <a:t>Clutch safety switch</a:t>
            </a:r>
          </a:p>
          <a:p>
            <a:endParaRPr lang="en-US" dirty="0"/>
          </a:p>
        </p:txBody>
      </p:sp>
    </p:spTree>
    <p:extLst>
      <p:ext uri="{BB962C8B-B14F-4D97-AF65-F5344CB8AC3E}">
        <p14:creationId xmlns:p14="http://schemas.microsoft.com/office/powerpoint/2010/main" val="26312212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3410F4-B75D-405B-8293-CFF69E45D33B}"/>
              </a:ext>
            </a:extLst>
          </p:cNvPr>
          <p:cNvSpPr>
            <a:spLocks noGrp="1"/>
          </p:cNvSpPr>
          <p:nvPr>
            <p:ph idx="1"/>
          </p:nvPr>
        </p:nvSpPr>
        <p:spPr>
          <a:xfrm>
            <a:off x="1295401" y="1918952"/>
            <a:ext cx="9601196" cy="3956916"/>
          </a:xfrm>
        </p:spPr>
        <p:txBody>
          <a:bodyPr>
            <a:normAutofit fontScale="92500" lnSpcReduction="10000"/>
          </a:bodyPr>
          <a:lstStyle/>
          <a:p>
            <a:r>
              <a:rPr lang="en-US" sz="3200" b="1" dirty="0">
                <a:effectLst/>
              </a:rPr>
              <a:t>Pilot Bearing</a:t>
            </a:r>
            <a:endParaRPr lang="en-US" sz="3200" dirty="0"/>
          </a:p>
          <a:p>
            <a:pPr marL="0" indent="0" algn="just">
              <a:buNone/>
            </a:pPr>
            <a:r>
              <a:rPr lang="en-US" sz="3200" b="0" i="0" dirty="0">
                <a:solidFill>
                  <a:srgbClr val="000000"/>
                </a:solidFill>
                <a:effectLst/>
              </a:rPr>
              <a:t>The pilot bearing or bushing fits into the center of the crankshaft, usually with a light press fit.  </a:t>
            </a:r>
          </a:p>
          <a:p>
            <a:pPr marL="0" indent="0" algn="just">
              <a:buNone/>
            </a:pPr>
            <a:r>
              <a:rPr lang="en-US" sz="3200" b="0" i="0" dirty="0">
                <a:solidFill>
                  <a:srgbClr val="000000"/>
                </a:solidFill>
                <a:effectLst/>
              </a:rPr>
              <a:t>It supports the input shaft of the transmission and keeps it from moving off center. </a:t>
            </a:r>
          </a:p>
          <a:p>
            <a:pPr marL="0" indent="0" algn="just">
              <a:buNone/>
            </a:pPr>
            <a:r>
              <a:rPr lang="en-US" sz="3200" dirty="0">
                <a:solidFill>
                  <a:srgbClr val="000000"/>
                </a:solidFill>
              </a:rPr>
              <a:t>T</a:t>
            </a:r>
            <a:r>
              <a:rPr lang="en-US" sz="3200" b="0" i="0" dirty="0">
                <a:solidFill>
                  <a:srgbClr val="000000"/>
                </a:solidFill>
                <a:effectLst/>
              </a:rPr>
              <a:t>his is especially important when engaging the clutch. </a:t>
            </a:r>
          </a:p>
          <a:p>
            <a:pPr marL="0" indent="0">
              <a:buNone/>
            </a:pPr>
            <a:br>
              <a:rPr lang="en-US" dirty="0"/>
            </a:br>
            <a:endParaRPr lang="en-US" dirty="0"/>
          </a:p>
        </p:txBody>
      </p:sp>
      <p:sp>
        <p:nvSpPr>
          <p:cNvPr id="4" name="TextBox 3">
            <a:extLst>
              <a:ext uri="{FF2B5EF4-FFF2-40B4-BE49-F238E27FC236}">
                <a16:creationId xmlns:a16="http://schemas.microsoft.com/office/drawing/2014/main" id="{05AD5D79-56B4-E8C7-1C9D-17380EE7633B}"/>
              </a:ext>
            </a:extLst>
          </p:cNvPr>
          <p:cNvSpPr txBox="1"/>
          <p:nvPr/>
        </p:nvSpPr>
        <p:spPr>
          <a:xfrm>
            <a:off x="1295401" y="786063"/>
            <a:ext cx="7856620" cy="369332"/>
          </a:xfrm>
          <a:prstGeom prst="rect">
            <a:avLst/>
          </a:prstGeom>
          <a:noFill/>
        </p:spPr>
        <p:txBody>
          <a:bodyPr wrap="square">
            <a:spAutoFit/>
          </a:bodyPr>
          <a:lstStyle/>
          <a:p>
            <a:pPr marL="0" indent="0">
              <a:buNone/>
            </a:pPr>
            <a:r>
              <a:rPr lang="en-US" sz="1800" b="1" dirty="0">
                <a:solidFill>
                  <a:srgbClr val="002060"/>
                </a:solidFill>
              </a:rPr>
              <a:t>Other parts in the system </a:t>
            </a:r>
          </a:p>
        </p:txBody>
      </p:sp>
    </p:spTree>
    <p:extLst>
      <p:ext uri="{BB962C8B-B14F-4D97-AF65-F5344CB8AC3E}">
        <p14:creationId xmlns:p14="http://schemas.microsoft.com/office/powerpoint/2010/main" val="41706865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34F3C3-E4A5-4A43-8C30-61AD0B665361}"/>
              </a:ext>
            </a:extLst>
          </p:cNvPr>
          <p:cNvSpPr>
            <a:spLocks noGrp="1"/>
          </p:cNvSpPr>
          <p:nvPr>
            <p:ph idx="1"/>
          </p:nvPr>
        </p:nvSpPr>
        <p:spPr/>
        <p:txBody>
          <a:bodyPr/>
          <a:lstStyle/>
          <a:p>
            <a:endParaRPr lang="en-TZ" dirty="0"/>
          </a:p>
        </p:txBody>
      </p:sp>
      <p:pic>
        <p:nvPicPr>
          <p:cNvPr id="4" name="Picture 2" descr="Flywheel pilot bearing, diesel Suzuki Jimny - MASTERFOREST - Pièces  détachées et accessoires 4x4 SUZUKI et SANTANA">
            <a:extLst>
              <a:ext uri="{FF2B5EF4-FFF2-40B4-BE49-F238E27FC236}">
                <a16:creationId xmlns:a16="http://schemas.microsoft.com/office/drawing/2014/main" id="{467E6C54-09C4-45CE-BC3E-62D741BE04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650" y="1474488"/>
            <a:ext cx="4169367" cy="440138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How to Remove and Replace an Automotive Clutch Pilot Bearing">
            <a:extLst>
              <a:ext uri="{FF2B5EF4-FFF2-40B4-BE49-F238E27FC236}">
                <a16:creationId xmlns:a16="http://schemas.microsoft.com/office/drawing/2014/main" id="{2406625F-B7E7-4129-9497-9B2255ADF5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6017" y="2047694"/>
            <a:ext cx="5849331" cy="3828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15725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9B2908-9518-4D35-A9F0-F9277108FFD7}"/>
              </a:ext>
            </a:extLst>
          </p:cNvPr>
          <p:cNvSpPr>
            <a:spLocks noGrp="1"/>
          </p:cNvSpPr>
          <p:nvPr>
            <p:ph idx="1"/>
          </p:nvPr>
        </p:nvSpPr>
        <p:spPr>
          <a:xfrm>
            <a:off x="838200" y="1925781"/>
            <a:ext cx="10778544" cy="4251181"/>
          </a:xfrm>
        </p:spPr>
        <p:txBody>
          <a:bodyPr>
            <a:normAutofit lnSpcReduction="10000"/>
          </a:bodyPr>
          <a:lstStyle/>
          <a:p>
            <a:r>
              <a:rPr lang="en-US" sz="2400" b="1" dirty="0">
                <a:effectLst/>
                <a:ea typeface="Times New Roman" panose="02020603050405020304" pitchFamily="18" charset="0"/>
                <a:cs typeface="Calibri" panose="020F0502020204030204" pitchFamily="34" charset="0"/>
              </a:rPr>
              <a:t>Clutch Housing</a:t>
            </a:r>
            <a:endParaRPr lang="en-US" sz="2400" b="1" dirty="0">
              <a:effectLst/>
              <a:ea typeface="Calibri" panose="020F0502020204030204" pitchFamily="34" charset="0"/>
              <a:cs typeface="Times New Roman" panose="02020603050405020304" pitchFamily="18" charset="0"/>
            </a:endParaRPr>
          </a:p>
          <a:p>
            <a:pPr marL="0" indent="0">
              <a:buNone/>
            </a:pPr>
            <a:r>
              <a:rPr lang="en-US" sz="2400" dirty="0">
                <a:solidFill>
                  <a:srgbClr val="000000"/>
                </a:solidFill>
                <a:effectLst/>
                <a:ea typeface="Times New Roman" panose="02020603050405020304" pitchFamily="18" charset="0"/>
              </a:rPr>
              <a:t>The clutch housing is also called the </a:t>
            </a:r>
            <a:r>
              <a:rPr lang="en-US" sz="2400" b="1" dirty="0">
                <a:solidFill>
                  <a:srgbClr val="000000"/>
                </a:solidFill>
                <a:effectLst/>
                <a:ea typeface="Times New Roman" panose="02020603050405020304" pitchFamily="18" charset="0"/>
              </a:rPr>
              <a:t>bell housing</a:t>
            </a:r>
            <a:r>
              <a:rPr lang="en-US" sz="2400" dirty="0">
                <a:solidFill>
                  <a:srgbClr val="000000"/>
                </a:solidFill>
                <a:effectLst/>
                <a:ea typeface="Times New Roman" panose="02020603050405020304" pitchFamily="18" charset="0"/>
              </a:rPr>
              <a:t>, and it encloses the clutch assembly. </a:t>
            </a:r>
          </a:p>
          <a:p>
            <a:pPr marL="0" indent="0">
              <a:buNone/>
            </a:pPr>
            <a:r>
              <a:rPr lang="en-US" sz="2400" dirty="0">
                <a:solidFill>
                  <a:srgbClr val="000000"/>
                </a:solidFill>
                <a:effectLst/>
                <a:ea typeface="Times New Roman" panose="02020603050405020304" pitchFamily="18" charset="0"/>
              </a:rPr>
              <a:t>It bolts to the back of the engine, and the manual transmission is bolted to the back of it. On some vehicles, the clutch housing is part of the transmission case.</a:t>
            </a:r>
          </a:p>
          <a:p>
            <a:r>
              <a:rPr lang="en-US" sz="2400" b="1" i="0" dirty="0">
                <a:effectLst/>
              </a:rPr>
              <a:t>Clutch Start Switch</a:t>
            </a:r>
          </a:p>
          <a:p>
            <a:pPr marL="0" indent="0">
              <a:buNone/>
            </a:pPr>
            <a:r>
              <a:rPr lang="en-US" sz="2400" b="0" i="0" dirty="0">
                <a:solidFill>
                  <a:srgbClr val="000000"/>
                </a:solidFill>
                <a:effectLst/>
              </a:rPr>
              <a:t>Modern vehicles have a Clutch Start Switch that prevents cranking the engine with the transmission in gear unless the clutch pedal is depressed. </a:t>
            </a:r>
          </a:p>
          <a:p>
            <a:pPr marL="0" indent="0">
              <a:buNone/>
            </a:pPr>
            <a:r>
              <a:rPr lang="en-US" sz="2400" b="0" i="0" dirty="0">
                <a:solidFill>
                  <a:srgbClr val="000000"/>
                </a:solidFill>
                <a:effectLst/>
              </a:rPr>
              <a:t>This is a safety feature designed to prevent the vehicle from lurching or the engine from suddenly starting if the starter motor is operated while the clutch is engaged and the transmission is in gear. The switch is part of the ignition/starter circuit.</a:t>
            </a:r>
            <a:r>
              <a:rPr lang="en-US" sz="2400" dirty="0"/>
              <a:t> </a:t>
            </a:r>
            <a:endParaRPr lang="en-US" dirty="0"/>
          </a:p>
        </p:txBody>
      </p:sp>
      <p:sp>
        <p:nvSpPr>
          <p:cNvPr id="4" name="TextBox 3">
            <a:extLst>
              <a:ext uri="{FF2B5EF4-FFF2-40B4-BE49-F238E27FC236}">
                <a16:creationId xmlns:a16="http://schemas.microsoft.com/office/drawing/2014/main" id="{79614036-FC76-1B41-C6D2-4C7993337EAA}"/>
              </a:ext>
            </a:extLst>
          </p:cNvPr>
          <p:cNvSpPr txBox="1"/>
          <p:nvPr/>
        </p:nvSpPr>
        <p:spPr>
          <a:xfrm>
            <a:off x="1026695" y="802105"/>
            <a:ext cx="8125326" cy="369332"/>
          </a:xfrm>
          <a:prstGeom prst="rect">
            <a:avLst/>
          </a:prstGeom>
          <a:noFill/>
        </p:spPr>
        <p:txBody>
          <a:bodyPr wrap="square">
            <a:spAutoFit/>
          </a:bodyPr>
          <a:lstStyle/>
          <a:p>
            <a:pPr marL="0" indent="0">
              <a:buNone/>
            </a:pPr>
            <a:r>
              <a:rPr lang="en-US" sz="1800" b="1" dirty="0">
                <a:solidFill>
                  <a:srgbClr val="002060"/>
                </a:solidFill>
              </a:rPr>
              <a:t>Other parts in the system </a:t>
            </a:r>
          </a:p>
        </p:txBody>
      </p:sp>
    </p:spTree>
    <p:extLst>
      <p:ext uri="{BB962C8B-B14F-4D97-AF65-F5344CB8AC3E}">
        <p14:creationId xmlns:p14="http://schemas.microsoft.com/office/powerpoint/2010/main" val="7964177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EF0367-9CCA-44A7-8B83-8255254011FD}"/>
              </a:ext>
            </a:extLst>
          </p:cNvPr>
          <p:cNvSpPr>
            <a:spLocks noGrp="1"/>
          </p:cNvSpPr>
          <p:nvPr>
            <p:ph idx="1"/>
          </p:nvPr>
        </p:nvSpPr>
        <p:spPr/>
        <p:txBody>
          <a:bodyPr/>
          <a:lstStyle/>
          <a:p>
            <a:endParaRPr lang="en-TZ" dirty="0"/>
          </a:p>
        </p:txBody>
      </p:sp>
      <p:pic>
        <p:nvPicPr>
          <p:cNvPr id="4" name="Picture 2" descr="102T 5.5” Aluminum Bellhousings - Tilton Engineering">
            <a:extLst>
              <a:ext uri="{FF2B5EF4-FFF2-40B4-BE49-F238E27FC236}">
                <a16:creationId xmlns:a16="http://schemas.microsoft.com/office/drawing/2014/main" id="{00EAFBF9-88A6-4F36-AFD7-E889E391F9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576" y="2243564"/>
            <a:ext cx="3317875" cy="33178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Full 5 speed gearbox kit 1098cc - Frontline Developments">
            <a:extLst>
              <a:ext uri="{FF2B5EF4-FFF2-40B4-BE49-F238E27FC236}">
                <a16:creationId xmlns:a16="http://schemas.microsoft.com/office/drawing/2014/main" id="{73ED938B-2036-4242-AA30-1F54626D4A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5451" y="2393690"/>
            <a:ext cx="4251515" cy="275417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Toyota Landcruiser VDJ76 VDJ78 VDJ79 diesel Bellhousing bell housing | eBay">
            <a:extLst>
              <a:ext uri="{FF2B5EF4-FFF2-40B4-BE49-F238E27FC236}">
                <a16:creationId xmlns:a16="http://schemas.microsoft.com/office/drawing/2014/main" id="{54EB774D-EFF0-4053-89DF-EBEF0D36DB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94178" y="2393690"/>
            <a:ext cx="3300246" cy="27541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36588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6B479-A1BD-4969-85D0-20C997A8CBEA}"/>
              </a:ext>
            </a:extLst>
          </p:cNvPr>
          <p:cNvSpPr>
            <a:spLocks noGrp="1"/>
          </p:cNvSpPr>
          <p:nvPr>
            <p:ph type="title"/>
          </p:nvPr>
        </p:nvSpPr>
        <p:spPr/>
        <p:txBody>
          <a:bodyPr/>
          <a:lstStyle/>
          <a:p>
            <a:pPr algn="ctr"/>
            <a:r>
              <a:rPr lang="en-US" b="1" dirty="0">
                <a:cs typeface="Times New Roman" panose="02020603050405020304" pitchFamily="18" charset="0"/>
              </a:rPr>
              <a:t>How Clutch Works</a:t>
            </a:r>
          </a:p>
        </p:txBody>
      </p:sp>
      <p:sp>
        <p:nvSpPr>
          <p:cNvPr id="3" name="Content Placeholder 2">
            <a:extLst>
              <a:ext uri="{FF2B5EF4-FFF2-40B4-BE49-F238E27FC236}">
                <a16:creationId xmlns:a16="http://schemas.microsoft.com/office/drawing/2014/main" id="{5CCC7E72-DAE3-4BBC-8C14-CE7C7F847AB2}"/>
              </a:ext>
            </a:extLst>
          </p:cNvPr>
          <p:cNvSpPr>
            <a:spLocks noGrp="1"/>
          </p:cNvSpPr>
          <p:nvPr>
            <p:ph idx="1"/>
          </p:nvPr>
        </p:nvSpPr>
        <p:spPr/>
        <p:txBody>
          <a:bodyPr>
            <a:normAutofit fontScale="77500" lnSpcReduction="20000"/>
          </a:bodyPr>
          <a:lstStyle/>
          <a:p>
            <a:pPr marL="0" indent="0" algn="just">
              <a:buNone/>
            </a:pPr>
            <a:r>
              <a:rPr lang="en-US" sz="3200" b="1" dirty="0">
                <a:solidFill>
                  <a:srgbClr val="000000"/>
                </a:solidFill>
                <a:latin typeface="+mj-lt"/>
              </a:rPr>
              <a:t>Clutch</a:t>
            </a:r>
            <a:r>
              <a:rPr lang="en-US" sz="3200" b="1" i="0" dirty="0">
                <a:solidFill>
                  <a:srgbClr val="000000"/>
                </a:solidFill>
                <a:effectLst/>
                <a:latin typeface="+mj-lt"/>
              </a:rPr>
              <a:t> operates on the principle of friction</a:t>
            </a:r>
          </a:p>
          <a:p>
            <a:pPr marL="0" indent="0" algn="just">
              <a:buNone/>
            </a:pPr>
            <a:r>
              <a:rPr lang="en-US" sz="3200" b="0" i="0" dirty="0">
                <a:solidFill>
                  <a:srgbClr val="000000"/>
                </a:solidFill>
                <a:effectLst/>
                <a:latin typeface="+mj-lt"/>
              </a:rPr>
              <a:t>When two surfaces are brought in contact and are held against each other due to friction between them, they can be used to transmit power. </a:t>
            </a:r>
          </a:p>
          <a:p>
            <a:pPr marL="0" indent="0" algn="just">
              <a:buNone/>
            </a:pPr>
            <a:r>
              <a:rPr lang="en-US" sz="3200" b="0" i="0" dirty="0">
                <a:solidFill>
                  <a:srgbClr val="000000"/>
                </a:solidFill>
                <a:effectLst/>
                <a:latin typeface="+mj-lt"/>
              </a:rPr>
              <a:t>If one is rotated, then other also rotates. </a:t>
            </a:r>
          </a:p>
          <a:p>
            <a:pPr marL="0" indent="0" algn="just">
              <a:buNone/>
            </a:pPr>
            <a:r>
              <a:rPr lang="en-US" sz="3200" b="0" i="0" dirty="0">
                <a:solidFill>
                  <a:srgbClr val="000000"/>
                </a:solidFill>
                <a:effectLst/>
                <a:latin typeface="+mj-lt"/>
              </a:rPr>
              <a:t>One surface is connected to source of power and other to the one receives the power. </a:t>
            </a:r>
          </a:p>
          <a:p>
            <a:pPr marL="0" indent="0">
              <a:buNone/>
            </a:pPr>
            <a:r>
              <a:rPr lang="en-US" sz="3200" b="0" i="0" dirty="0">
                <a:solidFill>
                  <a:srgbClr val="000000"/>
                </a:solidFill>
                <a:effectLst/>
                <a:latin typeface="+mj-lt"/>
              </a:rPr>
              <a:t>Thus, clutch is nothing but a combination of two friction surfaces.</a:t>
            </a:r>
            <a:r>
              <a:rPr lang="en-US" sz="3200" dirty="0">
                <a:latin typeface="+mj-lt"/>
              </a:rPr>
              <a:t> </a:t>
            </a:r>
          </a:p>
          <a:p>
            <a:pPr marL="0" indent="0">
              <a:buNone/>
            </a:pPr>
            <a:endParaRPr lang="en-US" dirty="0">
              <a:latin typeface="+mj-lt"/>
            </a:endParaRPr>
          </a:p>
        </p:txBody>
      </p:sp>
    </p:spTree>
    <p:extLst>
      <p:ext uri="{BB962C8B-B14F-4D97-AF65-F5344CB8AC3E}">
        <p14:creationId xmlns:p14="http://schemas.microsoft.com/office/powerpoint/2010/main" val="14457324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14AD61-1BB7-4F9A-A19A-A6EA4269033F}"/>
              </a:ext>
            </a:extLst>
          </p:cNvPr>
          <p:cNvSpPr>
            <a:spLocks noGrp="1"/>
          </p:cNvSpPr>
          <p:nvPr>
            <p:ph idx="1"/>
          </p:nvPr>
        </p:nvSpPr>
        <p:spPr>
          <a:xfrm>
            <a:off x="1295401" y="1764406"/>
            <a:ext cx="9601196" cy="4111462"/>
          </a:xfrm>
        </p:spPr>
        <p:txBody>
          <a:bodyPr>
            <a:normAutofit fontScale="92500" lnSpcReduction="10000"/>
          </a:bodyPr>
          <a:lstStyle/>
          <a:p>
            <a:pPr marL="0" indent="0" algn="ctr">
              <a:buNone/>
            </a:pPr>
            <a:r>
              <a:rPr lang="en-US" b="1" dirty="0">
                <a:latin typeface="+mj-lt"/>
                <a:cs typeface="Times New Roman" panose="02020603050405020304" pitchFamily="18" charset="0"/>
              </a:rPr>
              <a:t>How Clutch Works cont..</a:t>
            </a:r>
            <a:endParaRPr lang="en-US" dirty="0">
              <a:solidFill>
                <a:srgbClr val="231F20"/>
              </a:solidFill>
              <a:latin typeface="+mj-lt"/>
              <a:cs typeface="Times New Roman" panose="02020603050405020304" pitchFamily="18" charset="0"/>
            </a:endParaRPr>
          </a:p>
          <a:p>
            <a:pPr marL="0" indent="0" algn="just">
              <a:buNone/>
            </a:pPr>
            <a:endParaRPr lang="en-US" dirty="0">
              <a:solidFill>
                <a:srgbClr val="231F20"/>
              </a:solidFill>
              <a:latin typeface="+mj-lt"/>
            </a:endParaRPr>
          </a:p>
          <a:p>
            <a:pPr marL="0" indent="0" algn="just">
              <a:buNone/>
            </a:pPr>
            <a:r>
              <a:rPr lang="en-US" sz="2400" b="0" i="0" dirty="0">
                <a:solidFill>
                  <a:srgbClr val="231F20"/>
                </a:solidFill>
                <a:effectLst/>
                <a:latin typeface="+mj-lt"/>
              </a:rPr>
              <a:t>When the driver depresses the </a:t>
            </a:r>
            <a:r>
              <a:rPr lang="en-US" sz="2400" b="1" i="0" dirty="0">
                <a:solidFill>
                  <a:srgbClr val="231F20"/>
                </a:solidFill>
                <a:effectLst/>
                <a:latin typeface="+mj-lt"/>
              </a:rPr>
              <a:t>clutch pedal</a:t>
            </a:r>
            <a:r>
              <a:rPr lang="en-US" sz="2400" b="0" i="0" dirty="0">
                <a:solidFill>
                  <a:srgbClr val="231F20"/>
                </a:solidFill>
                <a:effectLst/>
                <a:latin typeface="+mj-lt"/>
              </a:rPr>
              <a:t>, a </a:t>
            </a:r>
            <a:r>
              <a:rPr lang="en-US" sz="2400" b="1" i="0" dirty="0">
                <a:solidFill>
                  <a:srgbClr val="231F20"/>
                </a:solidFill>
                <a:effectLst/>
                <a:latin typeface="+mj-lt"/>
              </a:rPr>
              <a:t>throw-out bearing </a:t>
            </a:r>
            <a:r>
              <a:rPr lang="en-US" sz="2400" b="0" i="0" dirty="0">
                <a:solidFill>
                  <a:srgbClr val="231F20"/>
                </a:solidFill>
                <a:effectLst/>
                <a:latin typeface="+mj-lt"/>
              </a:rPr>
              <a:t>is forced against the</a:t>
            </a:r>
            <a:r>
              <a:rPr lang="en-US" sz="2400" b="1" i="0" dirty="0">
                <a:solidFill>
                  <a:srgbClr val="231F20"/>
                </a:solidFill>
                <a:effectLst/>
                <a:latin typeface="+mj-lt"/>
              </a:rPr>
              <a:t> fingers </a:t>
            </a:r>
            <a:r>
              <a:rPr lang="en-US" sz="2400" b="0" i="0" dirty="0">
                <a:solidFill>
                  <a:srgbClr val="231F20"/>
                </a:solidFill>
                <a:effectLst/>
                <a:latin typeface="+mj-lt"/>
              </a:rPr>
              <a:t>of the </a:t>
            </a:r>
            <a:r>
              <a:rPr lang="en-US" sz="2400" b="1" i="0" dirty="0">
                <a:solidFill>
                  <a:srgbClr val="231F20"/>
                </a:solidFill>
                <a:effectLst/>
                <a:latin typeface="+mj-lt"/>
              </a:rPr>
              <a:t>pressure plate.</a:t>
            </a:r>
            <a:r>
              <a:rPr lang="en-US" sz="2400" b="0" i="0" dirty="0">
                <a:solidFill>
                  <a:srgbClr val="4FB848"/>
                </a:solidFill>
                <a:effectLst/>
                <a:latin typeface="+mj-lt"/>
              </a:rPr>
              <a:t> </a:t>
            </a:r>
          </a:p>
          <a:p>
            <a:pPr marL="0" indent="0" algn="just">
              <a:buNone/>
            </a:pPr>
            <a:r>
              <a:rPr lang="en-US" sz="2400" b="0" i="0" dirty="0">
                <a:solidFill>
                  <a:srgbClr val="231F20"/>
                </a:solidFill>
                <a:effectLst/>
                <a:latin typeface="+mj-lt"/>
              </a:rPr>
              <a:t>When force is exerted on the center of the pressure plate, the pressure is released from the clutch disc that has been forced against the engine flywheel. </a:t>
            </a:r>
          </a:p>
          <a:p>
            <a:pPr marL="0" indent="0" algn="just">
              <a:buNone/>
            </a:pPr>
            <a:r>
              <a:rPr lang="en-US" sz="2400" b="0" i="0" dirty="0">
                <a:solidFill>
                  <a:srgbClr val="231F20"/>
                </a:solidFill>
                <a:effectLst/>
                <a:latin typeface="+mj-lt"/>
              </a:rPr>
              <a:t>With</a:t>
            </a:r>
            <a:r>
              <a:rPr lang="en-US" sz="2400" dirty="0">
                <a:latin typeface="+mj-lt"/>
              </a:rPr>
              <a:t> </a:t>
            </a:r>
            <a:r>
              <a:rPr lang="en-US" sz="2400" b="0" i="0" dirty="0">
                <a:solidFill>
                  <a:srgbClr val="231F20"/>
                </a:solidFill>
                <a:effectLst/>
                <a:latin typeface="+mj-lt"/>
              </a:rPr>
              <a:t>the pressure removed from the clutch disc, the engine can be operated without transferring torque to the transmission/transaxle. </a:t>
            </a:r>
          </a:p>
          <a:p>
            <a:pPr marL="0" indent="0" algn="just">
              <a:buNone/>
            </a:pPr>
            <a:br>
              <a:rPr lang="en-US" sz="2400" dirty="0">
                <a:latin typeface="+mj-lt"/>
              </a:rPr>
            </a:br>
            <a:endParaRPr lang="en-US" sz="2400" dirty="0">
              <a:latin typeface="+mj-lt"/>
            </a:endParaRPr>
          </a:p>
        </p:txBody>
      </p:sp>
    </p:spTree>
    <p:extLst>
      <p:ext uri="{BB962C8B-B14F-4D97-AF65-F5344CB8AC3E}">
        <p14:creationId xmlns:p14="http://schemas.microsoft.com/office/powerpoint/2010/main" val="5427417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F60A12-CF7B-4DBD-B0C3-CB78145032A3}"/>
              </a:ext>
            </a:extLst>
          </p:cNvPr>
          <p:cNvSpPr>
            <a:spLocks noGrp="1"/>
          </p:cNvSpPr>
          <p:nvPr>
            <p:ph idx="1"/>
          </p:nvPr>
        </p:nvSpPr>
        <p:spPr>
          <a:xfrm>
            <a:off x="1295401" y="1996225"/>
            <a:ext cx="9601196" cy="3879643"/>
          </a:xfrm>
        </p:spPr>
        <p:txBody>
          <a:bodyPr>
            <a:normAutofit fontScale="92500"/>
          </a:bodyPr>
          <a:lstStyle/>
          <a:p>
            <a:pPr marL="0" indent="0" algn="ctr">
              <a:buNone/>
            </a:pPr>
            <a:r>
              <a:rPr lang="en-US" b="1" dirty="0">
                <a:latin typeface="+mj-lt"/>
                <a:cs typeface="Times New Roman" panose="02020603050405020304" pitchFamily="18" charset="0"/>
              </a:rPr>
              <a:t>How Clutch Works</a:t>
            </a:r>
            <a:endParaRPr lang="en-US" sz="2400" b="0" i="0" dirty="0">
              <a:solidFill>
                <a:srgbClr val="231F20"/>
              </a:solidFill>
              <a:effectLst/>
              <a:latin typeface="+mj-lt"/>
            </a:endParaRPr>
          </a:p>
          <a:p>
            <a:pPr marL="0" indent="0" algn="just">
              <a:buNone/>
            </a:pPr>
            <a:r>
              <a:rPr lang="en-US" sz="2400" b="0" i="0" dirty="0">
                <a:solidFill>
                  <a:srgbClr val="231F20"/>
                </a:solidFill>
                <a:effectLst/>
                <a:latin typeface="+mj-lt"/>
              </a:rPr>
              <a:t>This also permits the transmission/transaxle to be shifted because a shift cannot be made if the transmission/transaxle is transferring engine torque. </a:t>
            </a:r>
          </a:p>
          <a:p>
            <a:pPr marL="0" indent="0" algn="just">
              <a:buNone/>
            </a:pPr>
            <a:r>
              <a:rPr lang="en-US" sz="2400" b="0" i="0" dirty="0">
                <a:solidFill>
                  <a:srgbClr val="231F20"/>
                </a:solidFill>
                <a:effectLst/>
                <a:latin typeface="+mj-lt"/>
              </a:rPr>
              <a:t>When the driver reduces force on the clutch pedal, the pedal return spring and the pressure plate spring combine to return the clutch pedal to its at-rest position. </a:t>
            </a:r>
          </a:p>
          <a:p>
            <a:pPr marL="0" indent="0" algn="just">
              <a:buNone/>
            </a:pPr>
            <a:r>
              <a:rPr lang="en-US" sz="2400" b="0" i="0" dirty="0">
                <a:solidFill>
                  <a:srgbClr val="231F20"/>
                </a:solidFill>
                <a:effectLst/>
                <a:latin typeface="+mj-lt"/>
              </a:rPr>
              <a:t>When the clutch pedal moves up, the pressure on the throw-out bearing is released and the force against the pressure plate spring(s) is released allowing the force of the pressure plate to clamp the clutch disc tightly between the flywheel and the pressure plate allowing the torque to be transmitted from engine to gear box as before.</a:t>
            </a:r>
            <a:r>
              <a:rPr lang="en-US" sz="2400" dirty="0">
                <a:latin typeface="+mj-lt"/>
              </a:rPr>
              <a:t> </a:t>
            </a:r>
            <a:br>
              <a:rPr lang="en-US" dirty="0">
                <a:latin typeface="+mj-lt"/>
              </a:rPr>
            </a:br>
            <a:endParaRPr lang="en-US" dirty="0">
              <a:latin typeface="+mj-lt"/>
            </a:endParaRPr>
          </a:p>
        </p:txBody>
      </p:sp>
    </p:spTree>
    <p:extLst>
      <p:ext uri="{BB962C8B-B14F-4D97-AF65-F5344CB8AC3E}">
        <p14:creationId xmlns:p14="http://schemas.microsoft.com/office/powerpoint/2010/main" val="36644913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lutch Operation">
            <a:extLst>
              <a:ext uri="{FF2B5EF4-FFF2-40B4-BE49-F238E27FC236}">
                <a16:creationId xmlns:a16="http://schemas.microsoft.com/office/drawing/2014/main" id="{A0B10B67-A3D0-B33A-0204-4ADDB29CF05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49180" y="513347"/>
            <a:ext cx="11213432" cy="57751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63356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399A4-1C0F-4BC6-8789-3E839B81E1EE}"/>
              </a:ext>
            </a:extLst>
          </p:cNvPr>
          <p:cNvSpPr>
            <a:spLocks noGrp="1"/>
          </p:cNvSpPr>
          <p:nvPr>
            <p:ph type="title"/>
          </p:nvPr>
        </p:nvSpPr>
        <p:spPr/>
        <p:txBody>
          <a:bodyPr>
            <a:normAutofit/>
          </a:bodyPr>
          <a:lstStyle/>
          <a:p>
            <a:r>
              <a:rPr lang="en-US" b="1" i="0" dirty="0">
                <a:solidFill>
                  <a:srgbClr val="000000"/>
                </a:solidFill>
                <a:effectLst/>
                <a:latin typeface="+mn-lt"/>
              </a:rPr>
              <a:t>Clutch Troubleshooting</a:t>
            </a:r>
            <a:r>
              <a:rPr lang="en-US" b="1" dirty="0">
                <a:latin typeface="+mn-lt"/>
              </a:rPr>
              <a:t> </a:t>
            </a:r>
          </a:p>
        </p:txBody>
      </p:sp>
      <p:sp>
        <p:nvSpPr>
          <p:cNvPr id="3" name="Content Placeholder 2">
            <a:extLst>
              <a:ext uri="{FF2B5EF4-FFF2-40B4-BE49-F238E27FC236}">
                <a16:creationId xmlns:a16="http://schemas.microsoft.com/office/drawing/2014/main" id="{1883CDFA-C1DA-4469-B255-B5156FF2A9DB}"/>
              </a:ext>
            </a:extLst>
          </p:cNvPr>
          <p:cNvSpPr>
            <a:spLocks noGrp="1"/>
          </p:cNvSpPr>
          <p:nvPr>
            <p:ph idx="1"/>
          </p:nvPr>
        </p:nvSpPr>
        <p:spPr>
          <a:xfrm>
            <a:off x="605307" y="2008909"/>
            <a:ext cx="11024316" cy="4168054"/>
          </a:xfrm>
        </p:spPr>
        <p:txBody>
          <a:bodyPr>
            <a:normAutofit lnSpcReduction="10000"/>
          </a:bodyPr>
          <a:lstStyle/>
          <a:p>
            <a:pPr marL="0" indent="0" algn="just">
              <a:buNone/>
            </a:pPr>
            <a:endParaRPr lang="en-US" sz="2400" b="0" i="0" dirty="0">
              <a:solidFill>
                <a:srgbClr val="000000"/>
              </a:solidFill>
              <a:effectLst/>
              <a:latin typeface="Arial" panose="020B0604020202020204" pitchFamily="34" charset="0"/>
            </a:endParaRPr>
          </a:p>
          <a:p>
            <a:pPr marL="0" indent="0" algn="just">
              <a:buNone/>
            </a:pPr>
            <a:r>
              <a:rPr lang="en-US" sz="2400" b="0" i="0" dirty="0">
                <a:solidFill>
                  <a:srgbClr val="000000"/>
                </a:solidFill>
                <a:effectLst/>
              </a:rPr>
              <a:t>An automotive clutch normally provides dependable service for thousands of miles. However, stop and go traffic will wear out a clutch quicker than highway driving. </a:t>
            </a:r>
          </a:p>
          <a:p>
            <a:pPr marL="0" indent="0" algn="just">
              <a:buNone/>
            </a:pPr>
            <a:r>
              <a:rPr lang="en-US" sz="2400" b="0" i="0" dirty="0">
                <a:solidFill>
                  <a:srgbClr val="000000"/>
                </a:solidFill>
                <a:effectLst/>
              </a:rPr>
              <a:t>Every time a clutch is engaged, the clutch disc and other components are subjected to considerable heat, friction, and wear</a:t>
            </a:r>
            <a:r>
              <a:rPr lang="en-US" sz="3600" dirty="0"/>
              <a:t> </a:t>
            </a:r>
            <a:endParaRPr lang="en-US" dirty="0"/>
          </a:p>
          <a:p>
            <a:pPr marL="0" indent="0">
              <a:buNone/>
            </a:pPr>
            <a:r>
              <a:rPr lang="en-US" sz="2400" dirty="0">
                <a:solidFill>
                  <a:srgbClr val="000000"/>
                </a:solidFill>
              </a:rPr>
              <a:t>Driver</a:t>
            </a:r>
            <a:r>
              <a:rPr lang="en-US" sz="2400" b="0" i="0" dirty="0">
                <a:solidFill>
                  <a:srgbClr val="000000"/>
                </a:solidFill>
                <a:effectLst/>
              </a:rPr>
              <a:t> abuse commonly causes premature clutch troubles. For instance, "</a:t>
            </a:r>
            <a:r>
              <a:rPr lang="en-US" sz="2400" b="1" i="1" dirty="0">
                <a:solidFill>
                  <a:srgbClr val="000000"/>
                </a:solidFill>
                <a:effectLst/>
              </a:rPr>
              <a:t>riding the clutch,</a:t>
            </a:r>
            <a:r>
              <a:rPr lang="en-US" sz="2400" b="0" i="0" dirty="0">
                <a:solidFill>
                  <a:srgbClr val="000000"/>
                </a:solidFill>
                <a:effectLst/>
              </a:rPr>
              <a:t>" resting your foot on the clutch pedal while driving, and other driving errors can cause early clutch failure</a:t>
            </a:r>
            <a:r>
              <a:rPr lang="en-US" sz="3600" dirty="0"/>
              <a:t> </a:t>
            </a:r>
            <a:br>
              <a:rPr lang="en-US" dirty="0"/>
            </a:br>
            <a:endParaRPr lang="en-US" dirty="0"/>
          </a:p>
        </p:txBody>
      </p:sp>
    </p:spTree>
    <p:extLst>
      <p:ext uri="{BB962C8B-B14F-4D97-AF65-F5344CB8AC3E}">
        <p14:creationId xmlns:p14="http://schemas.microsoft.com/office/powerpoint/2010/main" val="4287565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B1909-3D33-4530-A978-B3776051F416}"/>
              </a:ext>
            </a:extLst>
          </p:cNvPr>
          <p:cNvSpPr>
            <a:spLocks noGrp="1"/>
          </p:cNvSpPr>
          <p:nvPr>
            <p:ph type="title"/>
          </p:nvPr>
        </p:nvSpPr>
        <p:spPr/>
        <p:txBody>
          <a:bodyPr>
            <a:normAutofit fontScale="90000"/>
          </a:bodyPr>
          <a:lstStyle/>
          <a:p>
            <a:r>
              <a:rPr lang="en-US" sz="4400" b="1" i="0" dirty="0">
                <a:solidFill>
                  <a:srgbClr val="000000"/>
                </a:solidFill>
                <a:effectLst/>
                <a:latin typeface="+mn-lt"/>
              </a:rPr>
              <a:t>Clutch Troubleshooting</a:t>
            </a:r>
            <a:r>
              <a:rPr lang="en-US" sz="8800" b="1" dirty="0">
                <a:latin typeface="+mn-lt"/>
              </a:rPr>
              <a:t> </a:t>
            </a:r>
            <a:endParaRPr lang="en-US" dirty="0">
              <a:latin typeface="+mn-lt"/>
            </a:endParaRPr>
          </a:p>
        </p:txBody>
      </p:sp>
      <p:sp>
        <p:nvSpPr>
          <p:cNvPr id="3" name="Content Placeholder 2">
            <a:extLst>
              <a:ext uri="{FF2B5EF4-FFF2-40B4-BE49-F238E27FC236}">
                <a16:creationId xmlns:a16="http://schemas.microsoft.com/office/drawing/2014/main" id="{4A875D85-324A-47FA-9B53-F17F3A1BD4C9}"/>
              </a:ext>
            </a:extLst>
          </p:cNvPr>
          <p:cNvSpPr>
            <a:spLocks noGrp="1"/>
          </p:cNvSpPr>
          <p:nvPr>
            <p:ph idx="1"/>
          </p:nvPr>
        </p:nvSpPr>
        <p:spPr>
          <a:xfrm>
            <a:off x="1295401" y="2434107"/>
            <a:ext cx="9601196" cy="3441761"/>
          </a:xfrm>
        </p:spPr>
        <p:txBody>
          <a:bodyPr>
            <a:normAutofit fontScale="92500" lnSpcReduction="10000"/>
          </a:bodyPr>
          <a:lstStyle/>
          <a:p>
            <a:pPr marL="0" indent="0" algn="just">
              <a:buNone/>
            </a:pPr>
            <a:r>
              <a:rPr lang="en-US" dirty="0">
                <a:latin typeface="+mj-lt"/>
              </a:rPr>
              <a:t>Perform drive test by </a:t>
            </a:r>
          </a:p>
          <a:p>
            <a:pPr algn="just"/>
            <a:r>
              <a:rPr lang="en-US" dirty="0">
                <a:solidFill>
                  <a:srgbClr val="000000"/>
                </a:solidFill>
                <a:latin typeface="+mj-lt"/>
              </a:rPr>
              <a:t>C</a:t>
            </a:r>
            <a:r>
              <a:rPr lang="en-US" b="0" i="0" dirty="0">
                <a:solidFill>
                  <a:srgbClr val="000000"/>
                </a:solidFill>
                <a:effectLst/>
                <a:latin typeface="+mj-lt"/>
              </a:rPr>
              <a:t>hecking the action of the clutch pedal </a:t>
            </a:r>
          </a:p>
          <a:p>
            <a:pPr algn="just"/>
            <a:r>
              <a:rPr lang="en-US" b="0" i="0" dirty="0">
                <a:solidFill>
                  <a:srgbClr val="000000"/>
                </a:solidFill>
                <a:effectLst/>
                <a:latin typeface="+mj-lt"/>
              </a:rPr>
              <a:t>listen for unusual noises </a:t>
            </a:r>
          </a:p>
          <a:p>
            <a:pPr algn="just"/>
            <a:r>
              <a:rPr lang="en-US" dirty="0">
                <a:solidFill>
                  <a:srgbClr val="000000"/>
                </a:solidFill>
                <a:latin typeface="+mj-lt"/>
              </a:rPr>
              <a:t>F</a:t>
            </a:r>
            <a:r>
              <a:rPr lang="en-US" b="0" i="0" dirty="0">
                <a:solidFill>
                  <a:srgbClr val="000000"/>
                </a:solidFill>
                <a:effectLst/>
                <a:latin typeface="+mj-lt"/>
              </a:rPr>
              <a:t>eel for clutch pedal vibrations</a:t>
            </a:r>
          </a:p>
          <a:p>
            <a:pPr marL="0" indent="0" algn="just">
              <a:buNone/>
            </a:pPr>
            <a:r>
              <a:rPr lang="en-US" b="0" i="0" dirty="0">
                <a:solidFill>
                  <a:srgbClr val="000000"/>
                </a:solidFill>
                <a:effectLst/>
                <a:latin typeface="+mj-lt"/>
              </a:rPr>
              <a:t>Gather as much information as you can on the operation of the clutch. </a:t>
            </a:r>
          </a:p>
          <a:p>
            <a:pPr marL="0" indent="0">
              <a:buNone/>
            </a:pPr>
            <a:r>
              <a:rPr lang="en-US" b="0" i="0" dirty="0">
                <a:solidFill>
                  <a:srgbClr val="000000"/>
                </a:solidFill>
                <a:effectLst/>
                <a:latin typeface="+mj-lt"/>
              </a:rPr>
              <a:t>Use these information's, your knowledge of clutch principles and a service manual troubleshooting chart to determine which components are faulty</a:t>
            </a:r>
            <a:r>
              <a:rPr lang="en-US" dirty="0">
                <a:latin typeface="+mj-lt"/>
              </a:rPr>
              <a:t> </a:t>
            </a:r>
            <a:br>
              <a:rPr lang="en-US" dirty="0">
                <a:latin typeface="+mj-lt"/>
              </a:rPr>
            </a:br>
            <a:endParaRPr lang="en-US" dirty="0">
              <a:latin typeface="+mj-lt"/>
            </a:endParaRPr>
          </a:p>
        </p:txBody>
      </p:sp>
    </p:spTree>
    <p:extLst>
      <p:ext uri="{BB962C8B-B14F-4D97-AF65-F5344CB8AC3E}">
        <p14:creationId xmlns:p14="http://schemas.microsoft.com/office/powerpoint/2010/main" val="16632678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2B123-EE39-4564-BA20-96D6F6FA2F88}"/>
              </a:ext>
            </a:extLst>
          </p:cNvPr>
          <p:cNvSpPr>
            <a:spLocks noGrp="1"/>
          </p:cNvSpPr>
          <p:nvPr>
            <p:ph type="title"/>
          </p:nvPr>
        </p:nvSpPr>
        <p:spPr/>
        <p:txBody>
          <a:bodyPr>
            <a:normAutofit fontScale="90000"/>
          </a:bodyPr>
          <a:lstStyle/>
          <a:p>
            <a:r>
              <a:rPr lang="en-US" sz="4400" b="1" i="0" dirty="0">
                <a:solidFill>
                  <a:srgbClr val="000000"/>
                </a:solidFill>
                <a:effectLst/>
                <a:latin typeface="+mn-lt"/>
              </a:rPr>
              <a:t>Clutch Troubleshooting</a:t>
            </a:r>
            <a:r>
              <a:rPr lang="en-US" sz="8800" b="1" dirty="0">
                <a:latin typeface="+mn-lt"/>
              </a:rPr>
              <a:t> </a:t>
            </a:r>
            <a:endParaRPr lang="en-US" dirty="0">
              <a:latin typeface="+mn-lt"/>
            </a:endParaRPr>
          </a:p>
        </p:txBody>
      </p:sp>
      <p:sp>
        <p:nvSpPr>
          <p:cNvPr id="3" name="Content Placeholder 2">
            <a:extLst>
              <a:ext uri="{FF2B5EF4-FFF2-40B4-BE49-F238E27FC236}">
                <a16:creationId xmlns:a16="http://schemas.microsoft.com/office/drawing/2014/main" id="{E87129A6-4BED-430A-BA25-03F8F6DA2442}"/>
              </a:ext>
            </a:extLst>
          </p:cNvPr>
          <p:cNvSpPr>
            <a:spLocks noGrp="1"/>
          </p:cNvSpPr>
          <p:nvPr>
            <p:ph idx="1"/>
          </p:nvPr>
        </p:nvSpPr>
        <p:spPr>
          <a:xfrm>
            <a:off x="838199" y="1700011"/>
            <a:ext cx="10649755" cy="4476952"/>
          </a:xfrm>
        </p:spPr>
        <p:txBody>
          <a:bodyPr>
            <a:normAutofit fontScale="92500" lnSpcReduction="20000"/>
          </a:bodyPr>
          <a:lstStyle/>
          <a:p>
            <a:pPr marL="0" indent="0">
              <a:buNone/>
            </a:pPr>
            <a:endParaRPr lang="en-US" b="0" i="0" dirty="0">
              <a:solidFill>
                <a:srgbClr val="000000"/>
              </a:solidFill>
              <a:effectLst/>
              <a:latin typeface="Arial" panose="020B0604020202020204" pitchFamily="34" charset="0"/>
            </a:endParaRPr>
          </a:p>
          <a:p>
            <a:pPr marL="0" indent="0">
              <a:buNone/>
            </a:pPr>
            <a:endParaRPr lang="en-US" b="0" i="0" dirty="0">
              <a:solidFill>
                <a:srgbClr val="000000"/>
              </a:solidFill>
              <a:effectLst/>
              <a:latin typeface="Arial" panose="020B0604020202020204" pitchFamily="34" charset="0"/>
            </a:endParaRPr>
          </a:p>
          <a:p>
            <a:pPr marL="0" indent="0">
              <a:buNone/>
            </a:pPr>
            <a:r>
              <a:rPr lang="en-US" b="0" i="0" dirty="0">
                <a:solidFill>
                  <a:srgbClr val="000000"/>
                </a:solidFill>
                <a:effectLst/>
                <a:latin typeface="+mj-lt"/>
              </a:rPr>
              <a:t>The following are the clutch problems</a:t>
            </a:r>
          </a:p>
          <a:p>
            <a:r>
              <a:rPr lang="en-US" dirty="0">
                <a:solidFill>
                  <a:srgbClr val="000000"/>
                </a:solidFill>
                <a:latin typeface="+mj-lt"/>
              </a:rPr>
              <a:t>Clutch S</a:t>
            </a:r>
            <a:r>
              <a:rPr lang="en-US" b="0" i="0" dirty="0">
                <a:solidFill>
                  <a:srgbClr val="000000"/>
                </a:solidFill>
                <a:effectLst/>
                <a:latin typeface="+mj-lt"/>
              </a:rPr>
              <a:t>lipping </a:t>
            </a:r>
          </a:p>
          <a:p>
            <a:r>
              <a:rPr lang="en-US" dirty="0">
                <a:solidFill>
                  <a:srgbClr val="000000"/>
                </a:solidFill>
                <a:latin typeface="+mj-lt"/>
              </a:rPr>
              <a:t>Clutch G</a:t>
            </a:r>
            <a:r>
              <a:rPr lang="en-US" b="0" i="0" dirty="0">
                <a:solidFill>
                  <a:srgbClr val="000000"/>
                </a:solidFill>
                <a:effectLst/>
                <a:latin typeface="+mj-lt"/>
              </a:rPr>
              <a:t>rabbing </a:t>
            </a:r>
          </a:p>
          <a:p>
            <a:r>
              <a:rPr lang="en-US" dirty="0">
                <a:solidFill>
                  <a:srgbClr val="000000"/>
                </a:solidFill>
                <a:latin typeface="+mj-lt"/>
              </a:rPr>
              <a:t>Clutch D</a:t>
            </a:r>
            <a:r>
              <a:rPr lang="en-US" b="0" i="0" dirty="0">
                <a:solidFill>
                  <a:srgbClr val="000000"/>
                </a:solidFill>
                <a:effectLst/>
                <a:latin typeface="+mj-lt"/>
              </a:rPr>
              <a:t>ragging </a:t>
            </a:r>
          </a:p>
          <a:p>
            <a:r>
              <a:rPr lang="en-US" dirty="0">
                <a:solidFill>
                  <a:srgbClr val="000000"/>
                </a:solidFill>
                <a:latin typeface="+mj-lt"/>
              </a:rPr>
              <a:t>A</a:t>
            </a:r>
            <a:r>
              <a:rPr lang="en-US" b="0" i="0" dirty="0">
                <a:solidFill>
                  <a:srgbClr val="000000"/>
                </a:solidFill>
                <a:effectLst/>
                <a:latin typeface="+mj-lt"/>
              </a:rPr>
              <a:t>bnormal noises</a:t>
            </a:r>
            <a:endParaRPr lang="en-US" dirty="0">
              <a:solidFill>
                <a:srgbClr val="000000"/>
              </a:solidFill>
              <a:latin typeface="+mj-lt"/>
            </a:endParaRPr>
          </a:p>
          <a:p>
            <a:r>
              <a:rPr lang="en-US" dirty="0">
                <a:solidFill>
                  <a:srgbClr val="000000"/>
                </a:solidFill>
                <a:latin typeface="+mj-lt"/>
              </a:rPr>
              <a:t>V</a:t>
            </a:r>
            <a:r>
              <a:rPr lang="en-US" b="0" i="0" dirty="0">
                <a:solidFill>
                  <a:srgbClr val="000000"/>
                </a:solidFill>
                <a:effectLst/>
                <a:latin typeface="+mj-lt"/>
              </a:rPr>
              <a:t>ibrations </a:t>
            </a:r>
          </a:p>
          <a:p>
            <a:pPr marL="0" indent="0">
              <a:buNone/>
            </a:pPr>
            <a:r>
              <a:rPr lang="en-US" b="0" i="0" dirty="0">
                <a:solidFill>
                  <a:srgbClr val="000000"/>
                </a:solidFill>
                <a:effectLst/>
                <a:latin typeface="+mj-lt"/>
              </a:rPr>
              <a:t>It is important to know the symptoms produced by these problems and the parts that might be causing them</a:t>
            </a:r>
            <a:r>
              <a:rPr lang="en-US" dirty="0">
                <a:latin typeface="+mj-lt"/>
              </a:rPr>
              <a:t> </a:t>
            </a:r>
            <a:br>
              <a:rPr lang="en-US" dirty="0"/>
            </a:br>
            <a:endParaRPr lang="en-US" dirty="0"/>
          </a:p>
        </p:txBody>
      </p:sp>
    </p:spTree>
    <p:extLst>
      <p:ext uri="{BB962C8B-B14F-4D97-AF65-F5344CB8AC3E}">
        <p14:creationId xmlns:p14="http://schemas.microsoft.com/office/powerpoint/2010/main" val="42136968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BDC1E-0705-464A-9EE0-961817403718}"/>
              </a:ext>
            </a:extLst>
          </p:cNvPr>
          <p:cNvSpPr>
            <a:spLocks noGrp="1"/>
          </p:cNvSpPr>
          <p:nvPr>
            <p:ph type="title"/>
          </p:nvPr>
        </p:nvSpPr>
        <p:spPr/>
        <p:txBody>
          <a:bodyPr>
            <a:normAutofit fontScale="90000"/>
          </a:bodyPr>
          <a:lstStyle/>
          <a:p>
            <a:r>
              <a:rPr lang="en-US" sz="4400" b="1" i="0" dirty="0">
                <a:solidFill>
                  <a:srgbClr val="000000"/>
                </a:solidFill>
                <a:effectLst/>
                <a:latin typeface="+mn-lt"/>
              </a:rPr>
              <a:t>Clutch Troubleshooting</a:t>
            </a:r>
            <a:r>
              <a:rPr lang="en-US" sz="8800" b="1" dirty="0">
                <a:latin typeface="+mn-lt"/>
              </a:rPr>
              <a:t> </a:t>
            </a:r>
            <a:endParaRPr lang="en-US" dirty="0">
              <a:latin typeface="+mn-lt"/>
            </a:endParaRPr>
          </a:p>
        </p:txBody>
      </p:sp>
      <p:sp>
        <p:nvSpPr>
          <p:cNvPr id="3" name="Content Placeholder 2">
            <a:extLst>
              <a:ext uri="{FF2B5EF4-FFF2-40B4-BE49-F238E27FC236}">
                <a16:creationId xmlns:a16="http://schemas.microsoft.com/office/drawing/2014/main" id="{61565391-091E-4768-B286-2373486D777A}"/>
              </a:ext>
            </a:extLst>
          </p:cNvPr>
          <p:cNvSpPr>
            <a:spLocks noGrp="1"/>
          </p:cNvSpPr>
          <p:nvPr>
            <p:ph idx="1"/>
          </p:nvPr>
        </p:nvSpPr>
        <p:spPr>
          <a:xfrm>
            <a:off x="1295401" y="2092036"/>
            <a:ext cx="9601196" cy="4154217"/>
          </a:xfrm>
        </p:spPr>
        <p:txBody>
          <a:bodyPr>
            <a:normAutofit fontScale="92500"/>
          </a:bodyPr>
          <a:lstStyle/>
          <a:p>
            <a:endParaRPr lang="en-US" sz="3300" b="1" dirty="0">
              <a:solidFill>
                <a:srgbClr val="0000FF"/>
              </a:solidFill>
            </a:endParaRPr>
          </a:p>
          <a:p>
            <a:r>
              <a:rPr lang="en-US" sz="3500" b="1" dirty="0">
                <a:solidFill>
                  <a:srgbClr val="0000FF"/>
                </a:solidFill>
              </a:rPr>
              <a:t>Clutch S</a:t>
            </a:r>
            <a:r>
              <a:rPr lang="en-US" sz="3500" b="1" i="0" dirty="0">
                <a:solidFill>
                  <a:srgbClr val="0000FF"/>
                </a:solidFill>
                <a:effectLst/>
              </a:rPr>
              <a:t>lipping</a:t>
            </a:r>
          </a:p>
          <a:p>
            <a:pPr marL="0" indent="0">
              <a:buNone/>
            </a:pPr>
            <a:r>
              <a:rPr lang="en-US" sz="3500" b="0" i="0" dirty="0">
                <a:solidFill>
                  <a:srgbClr val="000000"/>
                </a:solidFill>
                <a:effectLst/>
              </a:rPr>
              <a:t>Slipping occurs when the driven disc fails to rotate at the same speed as the driving members when the clutch is fully engaged</a:t>
            </a:r>
            <a:r>
              <a:rPr lang="en-US" sz="3500" dirty="0"/>
              <a:t> </a:t>
            </a:r>
            <a:br>
              <a:rPr lang="en-US" sz="3500" dirty="0"/>
            </a:br>
            <a:r>
              <a:rPr lang="en-US" sz="3500" b="0" i="0" dirty="0">
                <a:solidFill>
                  <a:srgbClr val="000000"/>
                </a:solidFill>
                <a:effectLst/>
              </a:rPr>
              <a:t>This condition results whenever the clutch pressure plate fails to hold the disc tight against the face of the flywheel</a:t>
            </a:r>
            <a:r>
              <a:rPr lang="en-US" sz="3500" dirty="0"/>
              <a:t> </a:t>
            </a:r>
          </a:p>
        </p:txBody>
      </p:sp>
    </p:spTree>
    <p:extLst>
      <p:ext uri="{BB962C8B-B14F-4D97-AF65-F5344CB8AC3E}">
        <p14:creationId xmlns:p14="http://schemas.microsoft.com/office/powerpoint/2010/main" val="19352883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B1659-DB0E-44F5-B630-1FE8167BCC99}"/>
              </a:ext>
            </a:extLst>
          </p:cNvPr>
          <p:cNvSpPr>
            <a:spLocks noGrp="1"/>
          </p:cNvSpPr>
          <p:nvPr>
            <p:ph type="title"/>
          </p:nvPr>
        </p:nvSpPr>
        <p:spPr/>
        <p:txBody>
          <a:bodyPr>
            <a:normAutofit fontScale="90000"/>
          </a:bodyPr>
          <a:lstStyle/>
          <a:p>
            <a:r>
              <a:rPr lang="en-US" sz="4400" b="1" i="0" dirty="0">
                <a:solidFill>
                  <a:srgbClr val="000000"/>
                </a:solidFill>
                <a:effectLst/>
                <a:latin typeface="+mn-lt"/>
              </a:rPr>
              <a:t>Clutch Troubleshooting</a:t>
            </a:r>
            <a:r>
              <a:rPr lang="en-US" sz="8800" b="1" dirty="0">
                <a:latin typeface="+mn-lt"/>
              </a:rPr>
              <a:t> </a:t>
            </a:r>
            <a:endParaRPr lang="en-TZ" dirty="0"/>
          </a:p>
        </p:txBody>
      </p:sp>
      <p:sp>
        <p:nvSpPr>
          <p:cNvPr id="3" name="Content Placeholder 2">
            <a:extLst>
              <a:ext uri="{FF2B5EF4-FFF2-40B4-BE49-F238E27FC236}">
                <a16:creationId xmlns:a16="http://schemas.microsoft.com/office/drawing/2014/main" id="{551D9095-DD18-4F6F-AA62-98461096E791}"/>
              </a:ext>
            </a:extLst>
          </p:cNvPr>
          <p:cNvSpPr>
            <a:spLocks noGrp="1"/>
          </p:cNvSpPr>
          <p:nvPr>
            <p:ph idx="1"/>
          </p:nvPr>
        </p:nvSpPr>
        <p:spPr/>
        <p:txBody>
          <a:bodyPr>
            <a:normAutofit fontScale="92500" lnSpcReduction="20000"/>
          </a:bodyPr>
          <a:lstStyle/>
          <a:p>
            <a:pPr marL="0" indent="0">
              <a:buNone/>
            </a:pPr>
            <a:r>
              <a:rPr lang="en-US" sz="2400" b="1" dirty="0">
                <a:solidFill>
                  <a:srgbClr val="0000FF"/>
                </a:solidFill>
              </a:rPr>
              <a:t>Clutch S</a:t>
            </a:r>
            <a:r>
              <a:rPr lang="en-US" sz="2400" b="1" i="0" dirty="0">
                <a:solidFill>
                  <a:srgbClr val="0000FF"/>
                </a:solidFill>
                <a:effectLst/>
              </a:rPr>
              <a:t>lipping cont..</a:t>
            </a:r>
          </a:p>
          <a:p>
            <a:pPr marL="0" indent="0">
              <a:buNone/>
            </a:pPr>
            <a:r>
              <a:rPr lang="en-US" sz="2400" b="1" dirty="0"/>
              <a:t>Causes of clutch slipp</a:t>
            </a:r>
            <a:r>
              <a:rPr lang="en-US" sz="2400" b="1" i="0" dirty="0">
                <a:solidFill>
                  <a:srgbClr val="000000"/>
                </a:solidFill>
                <a:effectLst/>
              </a:rPr>
              <a:t>ing</a:t>
            </a:r>
            <a:endParaRPr lang="en-US" sz="2400" b="1" dirty="0"/>
          </a:p>
          <a:p>
            <a:r>
              <a:rPr lang="en-US" sz="2400" b="0" i="0" dirty="0">
                <a:solidFill>
                  <a:srgbClr val="000000"/>
                </a:solidFill>
                <a:effectLst/>
              </a:rPr>
              <a:t>Oil or grease on the friction linings</a:t>
            </a:r>
            <a:endParaRPr lang="en-US" sz="2400" dirty="0">
              <a:solidFill>
                <a:srgbClr val="000000"/>
              </a:solidFill>
            </a:endParaRPr>
          </a:p>
          <a:p>
            <a:r>
              <a:rPr lang="en-US" sz="2400" b="0" i="0" dirty="0">
                <a:solidFill>
                  <a:srgbClr val="000000"/>
                </a:solidFill>
                <a:effectLst/>
              </a:rPr>
              <a:t>Friction linings worn out</a:t>
            </a:r>
            <a:endParaRPr lang="en-US" sz="2400" dirty="0">
              <a:solidFill>
                <a:srgbClr val="000000"/>
              </a:solidFill>
            </a:endParaRPr>
          </a:p>
          <a:p>
            <a:r>
              <a:rPr lang="en-US" sz="2400" b="0" i="0" dirty="0">
                <a:solidFill>
                  <a:srgbClr val="000000"/>
                </a:solidFill>
                <a:effectLst/>
              </a:rPr>
              <a:t>Scored faces on the flywheel or pressure plate</a:t>
            </a:r>
          </a:p>
          <a:p>
            <a:r>
              <a:rPr lang="en-US" sz="2400" b="0" i="0" dirty="0">
                <a:solidFill>
                  <a:srgbClr val="000000"/>
                </a:solidFill>
                <a:effectLst/>
              </a:rPr>
              <a:t>A broken engine mount</a:t>
            </a:r>
          </a:p>
          <a:p>
            <a:r>
              <a:rPr lang="en-US" sz="2400" b="0" dirty="0">
                <a:solidFill>
                  <a:srgbClr val="000000"/>
                </a:solidFill>
                <a:effectLst/>
              </a:rPr>
              <a:t>Lack of free play at the clutch pedal </a:t>
            </a:r>
          </a:p>
          <a:p>
            <a:r>
              <a:rPr lang="en-US" sz="2400" b="0" dirty="0">
                <a:solidFill>
                  <a:srgbClr val="000000"/>
                </a:solidFill>
                <a:effectLst/>
              </a:rPr>
              <a:t>Insufficient clamping </a:t>
            </a:r>
            <a:r>
              <a:rPr lang="en-US" sz="2400" dirty="0">
                <a:solidFill>
                  <a:srgbClr val="000000"/>
                </a:solidFill>
              </a:rPr>
              <a:t>force</a:t>
            </a:r>
            <a:endParaRPr lang="en-US" sz="1400" b="0" i="0" dirty="0">
              <a:solidFill>
                <a:srgbClr val="000000"/>
              </a:solidFill>
              <a:effectLst/>
            </a:endParaRPr>
          </a:p>
          <a:p>
            <a:endParaRPr lang="en-TZ" dirty="0"/>
          </a:p>
        </p:txBody>
      </p:sp>
    </p:spTree>
    <p:extLst>
      <p:ext uri="{BB962C8B-B14F-4D97-AF65-F5344CB8AC3E}">
        <p14:creationId xmlns:p14="http://schemas.microsoft.com/office/powerpoint/2010/main" val="23010446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87EC6-CF63-4091-B7DE-9D683BA99B05}"/>
              </a:ext>
            </a:extLst>
          </p:cNvPr>
          <p:cNvSpPr>
            <a:spLocks noGrp="1"/>
          </p:cNvSpPr>
          <p:nvPr>
            <p:ph type="title"/>
          </p:nvPr>
        </p:nvSpPr>
        <p:spPr/>
        <p:txBody>
          <a:bodyPr>
            <a:normAutofit fontScale="90000"/>
          </a:bodyPr>
          <a:lstStyle/>
          <a:p>
            <a:r>
              <a:rPr lang="en-US" sz="4400" b="1" i="0" dirty="0">
                <a:solidFill>
                  <a:srgbClr val="000000"/>
                </a:solidFill>
                <a:effectLst/>
                <a:latin typeface="+mn-lt"/>
              </a:rPr>
              <a:t>Clutch Troubleshooting</a:t>
            </a:r>
            <a:r>
              <a:rPr lang="en-US" sz="8800" b="1" dirty="0">
                <a:latin typeface="+mn-lt"/>
              </a:rPr>
              <a:t> </a:t>
            </a:r>
            <a:endParaRPr lang="en-US" dirty="0">
              <a:latin typeface="+mn-lt"/>
            </a:endParaRPr>
          </a:p>
        </p:txBody>
      </p:sp>
      <p:sp>
        <p:nvSpPr>
          <p:cNvPr id="3" name="Content Placeholder 2">
            <a:extLst>
              <a:ext uri="{FF2B5EF4-FFF2-40B4-BE49-F238E27FC236}">
                <a16:creationId xmlns:a16="http://schemas.microsoft.com/office/drawing/2014/main" id="{25E2281F-8EFD-464D-A0B8-FCF5BE5407EC}"/>
              </a:ext>
            </a:extLst>
          </p:cNvPr>
          <p:cNvSpPr>
            <a:spLocks noGrp="1"/>
          </p:cNvSpPr>
          <p:nvPr>
            <p:ph idx="1"/>
          </p:nvPr>
        </p:nvSpPr>
        <p:spPr/>
        <p:txBody>
          <a:bodyPr>
            <a:normAutofit lnSpcReduction="10000"/>
          </a:bodyPr>
          <a:lstStyle/>
          <a:p>
            <a:pPr marL="0" indent="0" algn="just">
              <a:buNone/>
            </a:pPr>
            <a:r>
              <a:rPr lang="en-US" sz="2800" b="0" i="0" dirty="0">
                <a:effectLst/>
              </a:rPr>
              <a:t>NOTE</a:t>
            </a:r>
          </a:p>
          <a:p>
            <a:pPr marL="0" indent="0" algn="just">
              <a:buNone/>
            </a:pPr>
            <a:r>
              <a:rPr lang="en-US" sz="2800" b="0" i="0" dirty="0">
                <a:effectLst/>
              </a:rPr>
              <a:t>The term </a:t>
            </a:r>
            <a:r>
              <a:rPr lang="en-US" sz="2800" b="1" i="0" dirty="0">
                <a:effectLst/>
              </a:rPr>
              <a:t>clutch slipping </a:t>
            </a:r>
            <a:r>
              <a:rPr lang="en-US" sz="2800" b="0" i="0" dirty="0">
                <a:effectLst/>
              </a:rPr>
              <a:t>should not, of course, be confused with </a:t>
            </a:r>
            <a:r>
              <a:rPr lang="en-US" sz="2800" b="1" i="0" dirty="0">
                <a:effectLst/>
              </a:rPr>
              <a:t>slipping the clutch</a:t>
            </a:r>
            <a:r>
              <a:rPr lang="en-US" sz="2800" b="0" i="0" dirty="0">
                <a:effectLst/>
              </a:rPr>
              <a:t>, since </a:t>
            </a:r>
            <a:r>
              <a:rPr lang="en-US" sz="2800" b="1" i="0" dirty="0">
                <a:effectLst/>
              </a:rPr>
              <a:t>slipping the clutch </a:t>
            </a:r>
            <a:r>
              <a:rPr lang="en-US" sz="2800" b="0" i="0" dirty="0">
                <a:effectLst/>
              </a:rPr>
              <a:t>is determined by driver control. </a:t>
            </a:r>
          </a:p>
          <a:p>
            <a:pPr marL="0" indent="0" algn="just">
              <a:buNone/>
            </a:pPr>
            <a:r>
              <a:rPr lang="en-US" sz="2800" dirty="0"/>
              <a:t>T</a:t>
            </a:r>
            <a:r>
              <a:rPr lang="en-US" sz="2800" b="0" i="0" dirty="0">
                <a:effectLst/>
              </a:rPr>
              <a:t>he ability of a friction clutch to slip before full engagement is a decided advantage, because it allows shock-free connection to be made between the engine and gearbox</a:t>
            </a:r>
            <a:endParaRPr lang="en-US" dirty="0"/>
          </a:p>
          <a:p>
            <a:endParaRPr lang="en-US" dirty="0"/>
          </a:p>
        </p:txBody>
      </p:sp>
    </p:spTree>
    <p:extLst>
      <p:ext uri="{BB962C8B-B14F-4D97-AF65-F5344CB8AC3E}">
        <p14:creationId xmlns:p14="http://schemas.microsoft.com/office/powerpoint/2010/main" val="2107350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B09D8-B5D0-4CA3-845E-1F6B4F8326DF}"/>
              </a:ext>
            </a:extLst>
          </p:cNvPr>
          <p:cNvSpPr>
            <a:spLocks noGrp="1"/>
          </p:cNvSpPr>
          <p:nvPr>
            <p:ph type="title"/>
          </p:nvPr>
        </p:nvSpPr>
        <p:spPr>
          <a:xfrm>
            <a:off x="838200" y="1219200"/>
            <a:ext cx="10515600" cy="1260763"/>
          </a:xfrm>
        </p:spPr>
        <p:txBody>
          <a:bodyPr>
            <a:normAutofit fontScale="90000"/>
          </a:bodyPr>
          <a:lstStyle/>
          <a:p>
            <a:r>
              <a:rPr lang="en-US" sz="4400" b="1" i="0" dirty="0">
                <a:solidFill>
                  <a:srgbClr val="000000"/>
                </a:solidFill>
                <a:effectLst/>
                <a:latin typeface="+mn-lt"/>
              </a:rPr>
              <a:t>Clutch Troubleshooting</a:t>
            </a:r>
            <a:r>
              <a:rPr lang="en-US" sz="8800" b="1" dirty="0">
                <a:latin typeface="+mn-lt"/>
              </a:rPr>
              <a:t> </a:t>
            </a:r>
            <a:endParaRPr lang="en-US" dirty="0">
              <a:latin typeface="+mn-lt"/>
            </a:endParaRPr>
          </a:p>
        </p:txBody>
      </p:sp>
      <p:sp>
        <p:nvSpPr>
          <p:cNvPr id="3" name="Content Placeholder 2">
            <a:extLst>
              <a:ext uri="{FF2B5EF4-FFF2-40B4-BE49-F238E27FC236}">
                <a16:creationId xmlns:a16="http://schemas.microsoft.com/office/drawing/2014/main" id="{DA76D45D-872B-4649-8192-9E453D329389}"/>
              </a:ext>
            </a:extLst>
          </p:cNvPr>
          <p:cNvSpPr>
            <a:spLocks noGrp="1"/>
          </p:cNvSpPr>
          <p:nvPr>
            <p:ph idx="1"/>
          </p:nvPr>
        </p:nvSpPr>
        <p:spPr>
          <a:xfrm>
            <a:off x="852152" y="2092037"/>
            <a:ext cx="10515600" cy="4141338"/>
          </a:xfrm>
        </p:spPr>
        <p:txBody>
          <a:bodyPr>
            <a:noAutofit/>
          </a:bodyPr>
          <a:lstStyle/>
          <a:p>
            <a:endParaRPr lang="en-US" b="1" dirty="0">
              <a:solidFill>
                <a:srgbClr val="0000FF"/>
              </a:solidFill>
            </a:endParaRPr>
          </a:p>
          <a:p>
            <a:r>
              <a:rPr lang="en-US" b="1" dirty="0">
                <a:solidFill>
                  <a:srgbClr val="0000FF"/>
                </a:solidFill>
              </a:rPr>
              <a:t>Clutch G</a:t>
            </a:r>
            <a:r>
              <a:rPr lang="en-US" b="1" i="0" dirty="0">
                <a:solidFill>
                  <a:srgbClr val="0000FF"/>
                </a:solidFill>
                <a:effectLst/>
              </a:rPr>
              <a:t>rabbing </a:t>
            </a:r>
          </a:p>
          <a:p>
            <a:pPr marL="0" indent="0" algn="just">
              <a:buNone/>
            </a:pPr>
            <a:r>
              <a:rPr lang="en-US" b="1" i="0" dirty="0">
                <a:solidFill>
                  <a:srgbClr val="202124"/>
                </a:solidFill>
                <a:effectLst/>
                <a:latin typeface="+mj-lt"/>
              </a:rPr>
              <a:t>When alternating torques occur in the slip phase</a:t>
            </a:r>
            <a:r>
              <a:rPr lang="en-US" b="0" i="0" dirty="0">
                <a:solidFill>
                  <a:srgbClr val="202124"/>
                </a:solidFill>
                <a:effectLst/>
                <a:latin typeface="+mj-lt"/>
              </a:rPr>
              <a:t> (e.g., due to friction value fluctuations) and causes vibrations of the driveline, this is called clutch grab. </a:t>
            </a:r>
          </a:p>
          <a:p>
            <a:pPr marL="0" indent="0" algn="just">
              <a:buNone/>
            </a:pPr>
            <a:r>
              <a:rPr lang="en-US" b="0" i="0" dirty="0">
                <a:solidFill>
                  <a:srgbClr val="202124"/>
                </a:solidFill>
                <a:effectLst/>
                <a:latin typeface="+mj-lt"/>
              </a:rPr>
              <a:t>Instead of slipping evenly, the clutch grips suddenly, then loses contact.</a:t>
            </a:r>
            <a:endParaRPr lang="en-TZ" dirty="0">
              <a:latin typeface="+mj-lt"/>
            </a:endParaRPr>
          </a:p>
          <a:p>
            <a:pPr marL="0" indent="0" algn="just">
              <a:buNone/>
            </a:pPr>
            <a:r>
              <a:rPr lang="en-US" b="0" i="0" dirty="0">
                <a:solidFill>
                  <a:srgbClr val="000000"/>
                </a:solidFill>
                <a:effectLst/>
              </a:rPr>
              <a:t>A grabbing clutch will produce a very severe vibration or jerking motion when the vehicle is accelerated from a standstill. </a:t>
            </a:r>
          </a:p>
          <a:p>
            <a:pPr marL="0" indent="0" algn="just">
              <a:buNone/>
            </a:pPr>
            <a:r>
              <a:rPr lang="en-US" b="0" i="0" dirty="0">
                <a:solidFill>
                  <a:srgbClr val="000000"/>
                </a:solidFill>
                <a:effectLst/>
              </a:rPr>
              <a:t>Even when the driver slowly releases the clutch pedal, it will seem like the clutch pedal is being pumped rapidly up and down.</a:t>
            </a:r>
            <a:r>
              <a:rPr lang="en-US" dirty="0"/>
              <a:t> </a:t>
            </a:r>
          </a:p>
          <a:p>
            <a:pPr marL="0" indent="0">
              <a:buNone/>
            </a:pPr>
            <a:br>
              <a:rPr lang="en-US" dirty="0"/>
            </a:br>
            <a:endParaRPr lang="en-US" dirty="0"/>
          </a:p>
        </p:txBody>
      </p:sp>
    </p:spTree>
    <p:extLst>
      <p:ext uri="{BB962C8B-B14F-4D97-AF65-F5344CB8AC3E}">
        <p14:creationId xmlns:p14="http://schemas.microsoft.com/office/powerpoint/2010/main" val="14414261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52210-8C23-4B61-A780-A1259CD03482}"/>
              </a:ext>
            </a:extLst>
          </p:cNvPr>
          <p:cNvSpPr>
            <a:spLocks noGrp="1"/>
          </p:cNvSpPr>
          <p:nvPr>
            <p:ph type="title"/>
          </p:nvPr>
        </p:nvSpPr>
        <p:spPr/>
        <p:txBody>
          <a:bodyPr>
            <a:normAutofit fontScale="90000"/>
          </a:bodyPr>
          <a:lstStyle/>
          <a:p>
            <a:r>
              <a:rPr lang="en-US" sz="4400" b="1" i="0" dirty="0">
                <a:solidFill>
                  <a:srgbClr val="000000"/>
                </a:solidFill>
                <a:effectLst/>
                <a:latin typeface="+mn-lt"/>
              </a:rPr>
              <a:t>Clutch Troubleshooting</a:t>
            </a:r>
            <a:r>
              <a:rPr lang="en-US" sz="8800" b="1" dirty="0">
                <a:latin typeface="+mn-lt"/>
              </a:rPr>
              <a:t> </a:t>
            </a:r>
            <a:endParaRPr lang="en-TZ" dirty="0"/>
          </a:p>
        </p:txBody>
      </p:sp>
      <p:sp>
        <p:nvSpPr>
          <p:cNvPr id="3" name="Content Placeholder 2">
            <a:extLst>
              <a:ext uri="{FF2B5EF4-FFF2-40B4-BE49-F238E27FC236}">
                <a16:creationId xmlns:a16="http://schemas.microsoft.com/office/drawing/2014/main" id="{3D90E706-2F05-4F07-81EF-7DDD2C1B6AB8}"/>
              </a:ext>
            </a:extLst>
          </p:cNvPr>
          <p:cNvSpPr>
            <a:spLocks noGrp="1"/>
          </p:cNvSpPr>
          <p:nvPr>
            <p:ph idx="1"/>
          </p:nvPr>
        </p:nvSpPr>
        <p:spPr/>
        <p:txBody>
          <a:bodyPr>
            <a:normAutofit fontScale="92500" lnSpcReduction="10000"/>
          </a:bodyPr>
          <a:lstStyle/>
          <a:p>
            <a:r>
              <a:rPr lang="en-US" sz="2600" b="1" dirty="0">
                <a:solidFill>
                  <a:srgbClr val="0000FF"/>
                </a:solidFill>
              </a:rPr>
              <a:t>Clutch G</a:t>
            </a:r>
            <a:r>
              <a:rPr lang="en-US" sz="2600" b="1" i="0" dirty="0">
                <a:solidFill>
                  <a:srgbClr val="0000FF"/>
                </a:solidFill>
                <a:effectLst/>
              </a:rPr>
              <a:t>rabbing cont..</a:t>
            </a:r>
          </a:p>
          <a:p>
            <a:pPr marL="0" indent="0">
              <a:buNone/>
            </a:pPr>
            <a:r>
              <a:rPr lang="en-US" sz="2600" b="1" dirty="0"/>
              <a:t>Causes of </a:t>
            </a:r>
            <a:r>
              <a:rPr lang="en-US" sz="2600" b="1" dirty="0">
                <a:solidFill>
                  <a:srgbClr val="000000"/>
                </a:solidFill>
              </a:rPr>
              <a:t>Clutch G</a:t>
            </a:r>
            <a:r>
              <a:rPr lang="en-US" sz="2600" b="1" i="0" dirty="0">
                <a:solidFill>
                  <a:srgbClr val="000000"/>
                </a:solidFill>
                <a:effectLst/>
              </a:rPr>
              <a:t>rabbing </a:t>
            </a:r>
          </a:p>
          <a:p>
            <a:r>
              <a:rPr lang="en-US" sz="2600" dirty="0">
                <a:solidFill>
                  <a:srgbClr val="000000"/>
                </a:solidFill>
              </a:rPr>
              <a:t>O</a:t>
            </a:r>
            <a:r>
              <a:rPr lang="en-US" sz="2600" b="0" i="0" dirty="0">
                <a:solidFill>
                  <a:srgbClr val="000000"/>
                </a:solidFill>
                <a:effectLst/>
              </a:rPr>
              <a:t>il or grease on the disc facings</a:t>
            </a:r>
          </a:p>
          <a:p>
            <a:r>
              <a:rPr lang="en-US" sz="2600" dirty="0">
                <a:solidFill>
                  <a:srgbClr val="000000"/>
                </a:solidFill>
              </a:rPr>
              <a:t>L</a:t>
            </a:r>
            <a:r>
              <a:rPr lang="en-US" sz="2600" b="0" i="0" dirty="0">
                <a:solidFill>
                  <a:srgbClr val="000000"/>
                </a:solidFill>
                <a:effectLst/>
              </a:rPr>
              <a:t>oose transmission mounts and worn engine mounts </a:t>
            </a:r>
            <a:endParaRPr lang="en-US" sz="2600" dirty="0"/>
          </a:p>
          <a:p>
            <a:r>
              <a:rPr lang="en-US" sz="2600" dirty="0">
                <a:solidFill>
                  <a:srgbClr val="000000"/>
                </a:solidFill>
              </a:rPr>
              <a:t>L</a:t>
            </a:r>
            <a:r>
              <a:rPr lang="en-US" sz="2600" b="0" i="0" dirty="0">
                <a:solidFill>
                  <a:srgbClr val="000000"/>
                </a:solidFill>
                <a:effectLst/>
              </a:rPr>
              <a:t>oose disc facings</a:t>
            </a:r>
            <a:r>
              <a:rPr lang="en-US" sz="2600" dirty="0"/>
              <a:t> </a:t>
            </a:r>
          </a:p>
          <a:p>
            <a:r>
              <a:rPr lang="en-US" sz="2600" b="0" i="0" dirty="0">
                <a:solidFill>
                  <a:srgbClr val="000000"/>
                </a:solidFill>
                <a:effectLst/>
              </a:rPr>
              <a:t>Broken parts in the clutch, such as broken disc facings, broken facing springs, or a broken pressure plate, will also cause grabbing</a:t>
            </a:r>
            <a:r>
              <a:rPr lang="en-US" sz="3000" b="0" i="0" dirty="0">
                <a:solidFill>
                  <a:srgbClr val="000000"/>
                </a:solidFill>
                <a:effectLst/>
              </a:rPr>
              <a:t>.</a:t>
            </a:r>
            <a:r>
              <a:rPr lang="en-US" sz="3000" dirty="0"/>
              <a:t> </a:t>
            </a:r>
            <a:endParaRPr lang="en-US" sz="3900" b="1" i="0" dirty="0">
              <a:solidFill>
                <a:srgbClr val="000000"/>
              </a:solidFill>
              <a:effectLst/>
            </a:endParaRPr>
          </a:p>
          <a:p>
            <a:endParaRPr lang="en-TZ" dirty="0"/>
          </a:p>
        </p:txBody>
      </p:sp>
    </p:spTree>
    <p:extLst>
      <p:ext uri="{BB962C8B-B14F-4D97-AF65-F5344CB8AC3E}">
        <p14:creationId xmlns:p14="http://schemas.microsoft.com/office/powerpoint/2010/main" val="8155166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6696A-2D9D-4855-B0F3-DB6D1FA7122A}"/>
              </a:ext>
            </a:extLst>
          </p:cNvPr>
          <p:cNvSpPr>
            <a:spLocks noGrp="1"/>
          </p:cNvSpPr>
          <p:nvPr>
            <p:ph type="title"/>
          </p:nvPr>
        </p:nvSpPr>
        <p:spPr/>
        <p:txBody>
          <a:bodyPr>
            <a:normAutofit fontScale="90000"/>
          </a:bodyPr>
          <a:lstStyle/>
          <a:p>
            <a:r>
              <a:rPr lang="en-US" sz="4400" b="1" i="0" dirty="0">
                <a:solidFill>
                  <a:srgbClr val="000000"/>
                </a:solidFill>
                <a:effectLst/>
                <a:latin typeface="+mn-lt"/>
              </a:rPr>
              <a:t>Clutch Troubleshooting</a:t>
            </a:r>
            <a:r>
              <a:rPr lang="en-US" sz="8800" b="1" dirty="0">
                <a:latin typeface="+mn-lt"/>
              </a:rPr>
              <a:t> </a:t>
            </a:r>
            <a:endParaRPr lang="en-US" dirty="0">
              <a:latin typeface="+mn-lt"/>
            </a:endParaRPr>
          </a:p>
        </p:txBody>
      </p:sp>
      <p:sp>
        <p:nvSpPr>
          <p:cNvPr id="3" name="Content Placeholder 2">
            <a:extLst>
              <a:ext uri="{FF2B5EF4-FFF2-40B4-BE49-F238E27FC236}">
                <a16:creationId xmlns:a16="http://schemas.microsoft.com/office/drawing/2014/main" id="{873736A5-8B39-41E6-8FB7-BD6B9036CEBB}"/>
              </a:ext>
            </a:extLst>
          </p:cNvPr>
          <p:cNvSpPr>
            <a:spLocks noGrp="1"/>
          </p:cNvSpPr>
          <p:nvPr>
            <p:ph idx="1"/>
          </p:nvPr>
        </p:nvSpPr>
        <p:spPr>
          <a:xfrm>
            <a:off x="1295401" y="2105891"/>
            <a:ext cx="9601196" cy="3769977"/>
          </a:xfrm>
        </p:spPr>
        <p:txBody>
          <a:bodyPr>
            <a:noAutofit/>
          </a:bodyPr>
          <a:lstStyle/>
          <a:p>
            <a:endParaRPr lang="en-US" b="1" i="0" dirty="0">
              <a:solidFill>
                <a:srgbClr val="0000FF"/>
              </a:solidFill>
              <a:effectLst/>
              <a:latin typeface="+mj-lt"/>
            </a:endParaRPr>
          </a:p>
          <a:p>
            <a:r>
              <a:rPr lang="en-US" b="1" i="0" dirty="0">
                <a:solidFill>
                  <a:srgbClr val="0000FF"/>
                </a:solidFill>
                <a:effectLst/>
                <a:latin typeface="+mj-lt"/>
              </a:rPr>
              <a:t>Clutch Dragging</a:t>
            </a:r>
            <a:r>
              <a:rPr lang="en-US" dirty="0">
                <a:solidFill>
                  <a:srgbClr val="0000FF"/>
                </a:solidFill>
                <a:latin typeface="+mj-lt"/>
              </a:rPr>
              <a:t> </a:t>
            </a:r>
            <a:endParaRPr lang="en-US" b="0" i="0" dirty="0">
              <a:solidFill>
                <a:srgbClr val="000000"/>
              </a:solidFill>
              <a:effectLst/>
              <a:latin typeface="+mj-lt"/>
            </a:endParaRPr>
          </a:p>
          <a:p>
            <a:pPr marL="0" indent="0">
              <a:buNone/>
            </a:pPr>
            <a:r>
              <a:rPr lang="en-US" b="0" i="0" dirty="0">
                <a:solidFill>
                  <a:srgbClr val="000000"/>
                </a:solidFill>
                <a:effectLst/>
                <a:latin typeface="+mj-lt"/>
              </a:rPr>
              <a:t>This type of clutch complaint(problem) will always become evident when changing gear. </a:t>
            </a:r>
          </a:p>
          <a:p>
            <a:pPr marL="0" indent="0">
              <a:buNone/>
            </a:pPr>
            <a:r>
              <a:rPr lang="en-US" b="0" i="0" dirty="0">
                <a:solidFill>
                  <a:srgbClr val="000000"/>
                </a:solidFill>
                <a:effectLst/>
                <a:latin typeface="+mj-lt"/>
              </a:rPr>
              <a:t>It has the effect of making gear engagement both difficult and noisy, because the center plate continues to be dragged round even though the clutch pedal is fully depressed for disengagement</a:t>
            </a:r>
            <a:br>
              <a:rPr lang="en-US" dirty="0">
                <a:latin typeface="+mj-lt"/>
              </a:rPr>
            </a:br>
            <a:endParaRPr lang="en-US" dirty="0">
              <a:latin typeface="+mj-lt"/>
            </a:endParaRPr>
          </a:p>
        </p:txBody>
      </p:sp>
    </p:spTree>
    <p:extLst>
      <p:ext uri="{BB962C8B-B14F-4D97-AF65-F5344CB8AC3E}">
        <p14:creationId xmlns:p14="http://schemas.microsoft.com/office/powerpoint/2010/main" val="41478673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CCD0A-31AC-429B-BF7B-86D306B3D796}"/>
              </a:ext>
            </a:extLst>
          </p:cNvPr>
          <p:cNvSpPr>
            <a:spLocks noGrp="1"/>
          </p:cNvSpPr>
          <p:nvPr>
            <p:ph type="title"/>
          </p:nvPr>
        </p:nvSpPr>
        <p:spPr/>
        <p:txBody>
          <a:bodyPr>
            <a:normAutofit fontScale="90000"/>
          </a:bodyPr>
          <a:lstStyle/>
          <a:p>
            <a:r>
              <a:rPr lang="en-US" sz="4400" b="1" i="0" dirty="0">
                <a:solidFill>
                  <a:srgbClr val="000000"/>
                </a:solidFill>
                <a:effectLst/>
                <a:latin typeface="+mn-lt"/>
              </a:rPr>
              <a:t>Clutch Troubleshooting</a:t>
            </a:r>
            <a:r>
              <a:rPr lang="en-US" sz="8800" b="1" dirty="0">
                <a:latin typeface="+mn-lt"/>
              </a:rPr>
              <a:t> </a:t>
            </a:r>
            <a:endParaRPr lang="en-TZ" dirty="0"/>
          </a:p>
        </p:txBody>
      </p:sp>
      <p:sp>
        <p:nvSpPr>
          <p:cNvPr id="3" name="Content Placeholder 2">
            <a:extLst>
              <a:ext uri="{FF2B5EF4-FFF2-40B4-BE49-F238E27FC236}">
                <a16:creationId xmlns:a16="http://schemas.microsoft.com/office/drawing/2014/main" id="{467E2580-5487-4203-A196-FC4C04972B43}"/>
              </a:ext>
            </a:extLst>
          </p:cNvPr>
          <p:cNvSpPr>
            <a:spLocks noGrp="1"/>
          </p:cNvSpPr>
          <p:nvPr>
            <p:ph idx="1"/>
          </p:nvPr>
        </p:nvSpPr>
        <p:spPr>
          <a:xfrm>
            <a:off x="1295401" y="2046514"/>
            <a:ext cx="9601196" cy="3829354"/>
          </a:xfrm>
        </p:spPr>
        <p:txBody>
          <a:bodyPr>
            <a:noAutofit/>
          </a:bodyPr>
          <a:lstStyle/>
          <a:p>
            <a:pPr marL="0" indent="0">
              <a:buNone/>
            </a:pPr>
            <a:endParaRPr lang="en-US" sz="1800" b="1" i="0" dirty="0">
              <a:solidFill>
                <a:srgbClr val="0000FF"/>
              </a:solidFill>
              <a:effectLst/>
              <a:latin typeface="+mj-lt"/>
            </a:endParaRPr>
          </a:p>
          <a:p>
            <a:pPr marL="0" indent="0">
              <a:buNone/>
            </a:pPr>
            <a:r>
              <a:rPr lang="en-US" sz="1800" b="1" i="0" dirty="0">
                <a:solidFill>
                  <a:srgbClr val="0000FF"/>
                </a:solidFill>
                <a:effectLst/>
                <a:latin typeface="+mj-lt"/>
              </a:rPr>
              <a:t>Clutch Dragging</a:t>
            </a:r>
            <a:r>
              <a:rPr lang="en-US" sz="1800" b="1" dirty="0">
                <a:solidFill>
                  <a:srgbClr val="0000FF"/>
                </a:solidFill>
                <a:latin typeface="+mj-lt"/>
              </a:rPr>
              <a:t> cont..</a:t>
            </a:r>
          </a:p>
          <a:p>
            <a:pPr marL="0" indent="0">
              <a:buNone/>
            </a:pPr>
            <a:r>
              <a:rPr lang="en-US" sz="1800" b="1" dirty="0">
                <a:latin typeface="+mj-lt"/>
              </a:rPr>
              <a:t>Causes of </a:t>
            </a:r>
            <a:r>
              <a:rPr lang="en-US" sz="1800" b="1" i="0" dirty="0">
                <a:solidFill>
                  <a:srgbClr val="000000"/>
                </a:solidFill>
                <a:effectLst/>
                <a:latin typeface="+mj-lt"/>
              </a:rPr>
              <a:t>Clutch Dragging</a:t>
            </a:r>
            <a:r>
              <a:rPr lang="en-US" sz="1800" b="1" dirty="0">
                <a:latin typeface="+mj-lt"/>
              </a:rPr>
              <a:t> </a:t>
            </a:r>
          </a:p>
          <a:p>
            <a:r>
              <a:rPr lang="en-US" sz="1800" b="0" i="0" dirty="0">
                <a:solidFill>
                  <a:srgbClr val="000000"/>
                </a:solidFill>
                <a:effectLst/>
                <a:latin typeface="+mj-lt"/>
              </a:rPr>
              <a:t>Clutch linings are cracked or buckled</a:t>
            </a:r>
          </a:p>
          <a:p>
            <a:r>
              <a:rPr lang="en-US" sz="1800" b="0" i="0" dirty="0">
                <a:solidFill>
                  <a:srgbClr val="000000"/>
                </a:solidFill>
                <a:effectLst/>
                <a:latin typeface="+mj-lt"/>
              </a:rPr>
              <a:t>Clutch plate seized on the gearbox input shaft splines</a:t>
            </a:r>
            <a:endParaRPr lang="en-US" sz="1800" dirty="0">
              <a:solidFill>
                <a:srgbClr val="000000"/>
              </a:solidFill>
              <a:latin typeface="+mj-lt"/>
            </a:endParaRPr>
          </a:p>
          <a:p>
            <a:r>
              <a:rPr lang="en-US" sz="1800" b="0" i="0" dirty="0">
                <a:solidFill>
                  <a:srgbClr val="000000"/>
                </a:solidFill>
                <a:effectLst/>
                <a:latin typeface="+mj-lt"/>
              </a:rPr>
              <a:t>Release bearing defective</a:t>
            </a:r>
          </a:p>
          <a:p>
            <a:r>
              <a:rPr lang="en-US" sz="1800" b="0" i="0" dirty="0">
                <a:solidFill>
                  <a:srgbClr val="000000"/>
                </a:solidFill>
                <a:effectLst/>
                <a:latin typeface="+mj-lt"/>
              </a:rPr>
              <a:t>Insufficiently effective pedal travel (excessive ‘free’ movement on the pedal or slave cylinder push rod)</a:t>
            </a:r>
          </a:p>
          <a:p>
            <a:r>
              <a:rPr lang="en-US" sz="1800" dirty="0">
                <a:solidFill>
                  <a:srgbClr val="000000"/>
                </a:solidFill>
                <a:latin typeface="+mj-lt"/>
              </a:rPr>
              <a:t>R</a:t>
            </a:r>
            <a:r>
              <a:rPr lang="en-US" sz="1800" b="0" i="0" dirty="0">
                <a:solidFill>
                  <a:srgbClr val="000000"/>
                </a:solidFill>
                <a:effectLst/>
                <a:latin typeface="+mj-lt"/>
              </a:rPr>
              <a:t>usted or damaged transmission input shaft</a:t>
            </a:r>
            <a:r>
              <a:rPr lang="en-US" sz="1800" dirty="0">
                <a:latin typeface="+mj-lt"/>
              </a:rPr>
              <a:t> </a:t>
            </a:r>
          </a:p>
          <a:p>
            <a:r>
              <a:rPr lang="en-US" sz="1800" b="0" i="0" dirty="0">
                <a:solidFill>
                  <a:srgbClr val="000000"/>
                </a:solidFill>
                <a:effectLst/>
                <a:latin typeface="+mj-lt"/>
              </a:rPr>
              <a:t>Hydraulic system defective (due usually to then loss of most if not all of the hydraulic oil)</a:t>
            </a:r>
            <a:endParaRPr lang="en-US" sz="1800" dirty="0">
              <a:latin typeface="+mj-lt"/>
            </a:endParaRPr>
          </a:p>
          <a:p>
            <a:endParaRPr lang="en-TZ" sz="1800" dirty="0">
              <a:latin typeface="+mj-lt"/>
            </a:endParaRPr>
          </a:p>
        </p:txBody>
      </p:sp>
    </p:spTree>
    <p:extLst>
      <p:ext uri="{BB962C8B-B14F-4D97-AF65-F5344CB8AC3E}">
        <p14:creationId xmlns:p14="http://schemas.microsoft.com/office/powerpoint/2010/main" val="23277452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DF73A-7BB8-4A51-B029-F2D713679340}"/>
              </a:ext>
            </a:extLst>
          </p:cNvPr>
          <p:cNvSpPr>
            <a:spLocks noGrp="1"/>
          </p:cNvSpPr>
          <p:nvPr>
            <p:ph type="title"/>
          </p:nvPr>
        </p:nvSpPr>
        <p:spPr/>
        <p:txBody>
          <a:bodyPr>
            <a:normAutofit/>
          </a:bodyPr>
          <a:lstStyle/>
          <a:p>
            <a:r>
              <a:rPr lang="en-US" sz="2800" b="1" i="0" dirty="0">
                <a:solidFill>
                  <a:srgbClr val="000000"/>
                </a:solidFill>
                <a:effectLst/>
                <a:latin typeface="+mn-lt"/>
              </a:rPr>
              <a:t>Factors that can reduce the service life of the clutch are:</a:t>
            </a:r>
            <a:r>
              <a:rPr lang="en-US" sz="2800" b="1" dirty="0">
                <a:latin typeface="+mn-lt"/>
              </a:rPr>
              <a:t> </a:t>
            </a:r>
            <a:endParaRPr lang="en-US" sz="4800" b="1" dirty="0"/>
          </a:p>
        </p:txBody>
      </p:sp>
      <p:sp>
        <p:nvSpPr>
          <p:cNvPr id="3" name="Content Placeholder 2">
            <a:extLst>
              <a:ext uri="{FF2B5EF4-FFF2-40B4-BE49-F238E27FC236}">
                <a16:creationId xmlns:a16="http://schemas.microsoft.com/office/drawing/2014/main" id="{1F0D2F26-610E-41C4-BBB1-009BA2AEB9A0}"/>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en-US" sz="3200" b="0" i="0" dirty="0">
                <a:solidFill>
                  <a:srgbClr val="000000"/>
                </a:solidFill>
                <a:effectLst/>
                <a:latin typeface="+mj-lt"/>
              </a:rPr>
              <a:t>Extensive </a:t>
            </a:r>
            <a:r>
              <a:rPr lang="en-US" sz="3200" b="1" i="0" dirty="0">
                <a:solidFill>
                  <a:srgbClr val="000000"/>
                </a:solidFill>
                <a:effectLst/>
                <a:latin typeface="+mj-lt"/>
              </a:rPr>
              <a:t>stop-and-go city driving</a:t>
            </a:r>
          </a:p>
          <a:p>
            <a:pPr>
              <a:buFont typeface="Arial" panose="020B0604020202020204" pitchFamily="34" charset="0"/>
              <a:buChar char="•"/>
            </a:pPr>
            <a:r>
              <a:rPr lang="en-US" sz="3200" b="0" i="0" dirty="0">
                <a:solidFill>
                  <a:srgbClr val="000000"/>
                </a:solidFill>
                <a:effectLst/>
                <a:latin typeface="+mj-lt"/>
              </a:rPr>
              <a:t>Frequent </a:t>
            </a:r>
            <a:r>
              <a:rPr lang="en-US" sz="3200" b="1" i="0" dirty="0">
                <a:solidFill>
                  <a:srgbClr val="000000"/>
                </a:solidFill>
                <a:effectLst/>
                <a:latin typeface="+mj-lt"/>
              </a:rPr>
              <a:t>severe duty</a:t>
            </a:r>
            <a:r>
              <a:rPr lang="en-US" sz="3200" b="0" i="0" dirty="0">
                <a:solidFill>
                  <a:srgbClr val="000000"/>
                </a:solidFill>
                <a:effectLst/>
                <a:latin typeface="+mj-lt"/>
              </a:rPr>
              <a:t>, such as towing or hauling</a:t>
            </a:r>
            <a:endParaRPr lang="en-US" sz="3200" dirty="0">
              <a:solidFill>
                <a:srgbClr val="000000"/>
              </a:solidFill>
              <a:latin typeface="+mj-lt"/>
            </a:endParaRPr>
          </a:p>
          <a:p>
            <a:pPr>
              <a:buFont typeface="Arial" panose="020B0604020202020204" pitchFamily="34" charset="0"/>
              <a:buChar char="•"/>
            </a:pPr>
            <a:r>
              <a:rPr lang="en-US" sz="3200" b="1" i="0" dirty="0">
                <a:solidFill>
                  <a:srgbClr val="000000"/>
                </a:solidFill>
                <a:effectLst/>
                <a:latin typeface="+mj-lt"/>
              </a:rPr>
              <a:t>Contamination </a:t>
            </a:r>
            <a:r>
              <a:rPr lang="en-US" sz="3200" b="0" i="0" dirty="0">
                <a:solidFill>
                  <a:srgbClr val="000000"/>
                </a:solidFill>
                <a:effectLst/>
                <a:latin typeface="+mj-lt"/>
              </a:rPr>
              <a:t>(such as oil leaking from the engine or transmission)</a:t>
            </a:r>
          </a:p>
          <a:p>
            <a:pPr>
              <a:buFont typeface="Arial" panose="020B0604020202020204" pitchFamily="34" charset="0"/>
              <a:buChar char="•"/>
            </a:pPr>
            <a:r>
              <a:rPr lang="en-US" sz="3200" b="0" i="0" dirty="0">
                <a:solidFill>
                  <a:srgbClr val="000000"/>
                </a:solidFill>
                <a:effectLst/>
                <a:latin typeface="+mj-lt"/>
              </a:rPr>
              <a:t>Driver </a:t>
            </a:r>
            <a:r>
              <a:rPr lang="en-US" sz="3200" b="1" i="0" dirty="0">
                <a:solidFill>
                  <a:srgbClr val="000000"/>
                </a:solidFill>
                <a:effectLst/>
                <a:latin typeface="+mj-lt"/>
              </a:rPr>
              <a:t>misuse </a:t>
            </a:r>
            <a:r>
              <a:rPr lang="en-US" sz="3200" b="0" i="0" dirty="0">
                <a:solidFill>
                  <a:srgbClr val="000000"/>
                </a:solidFill>
                <a:effectLst/>
                <a:latin typeface="+mj-lt"/>
              </a:rPr>
              <a:t>or </a:t>
            </a:r>
            <a:r>
              <a:rPr lang="en-US" sz="3200" b="1" i="0" dirty="0">
                <a:solidFill>
                  <a:srgbClr val="000000"/>
                </a:solidFill>
                <a:effectLst/>
                <a:latin typeface="+mj-lt"/>
              </a:rPr>
              <a:t>abuse</a:t>
            </a:r>
            <a:r>
              <a:rPr lang="en-US" sz="4400" dirty="0">
                <a:latin typeface="+mj-lt"/>
              </a:rPr>
              <a:t> </a:t>
            </a:r>
            <a:br>
              <a:rPr lang="en-US" dirty="0">
                <a:latin typeface="+mj-lt"/>
              </a:rPr>
            </a:br>
            <a:endParaRPr lang="en-US" dirty="0">
              <a:latin typeface="+mj-lt"/>
            </a:endParaRPr>
          </a:p>
        </p:txBody>
      </p:sp>
    </p:spTree>
    <p:extLst>
      <p:ext uri="{BB962C8B-B14F-4D97-AF65-F5344CB8AC3E}">
        <p14:creationId xmlns:p14="http://schemas.microsoft.com/office/powerpoint/2010/main" val="2852444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D6031-5DBD-45F7-AE66-6658618BA74A}"/>
              </a:ext>
            </a:extLst>
          </p:cNvPr>
          <p:cNvSpPr>
            <a:spLocks noGrp="1"/>
          </p:cNvSpPr>
          <p:nvPr>
            <p:ph type="title"/>
          </p:nvPr>
        </p:nvSpPr>
        <p:spPr/>
        <p:txBody>
          <a:bodyPr/>
          <a:lstStyle/>
          <a:p>
            <a:r>
              <a:rPr lang="en-US" dirty="0"/>
              <a:t>Check for</a:t>
            </a:r>
          </a:p>
        </p:txBody>
      </p:sp>
      <p:sp>
        <p:nvSpPr>
          <p:cNvPr id="3" name="Content Placeholder 2">
            <a:extLst>
              <a:ext uri="{FF2B5EF4-FFF2-40B4-BE49-F238E27FC236}">
                <a16:creationId xmlns:a16="http://schemas.microsoft.com/office/drawing/2014/main" id="{5DBCDB4F-05C2-443F-B084-1880F870CA79}"/>
              </a:ext>
            </a:extLst>
          </p:cNvPr>
          <p:cNvSpPr>
            <a:spLocks noGrp="1"/>
          </p:cNvSpPr>
          <p:nvPr>
            <p:ph idx="1"/>
          </p:nvPr>
        </p:nvSpPr>
        <p:spPr/>
        <p:txBody>
          <a:bodyPr/>
          <a:lstStyle/>
          <a:p>
            <a:r>
              <a:rPr lang="en-US" b="1" i="0" dirty="0">
                <a:solidFill>
                  <a:srgbClr val="000000"/>
                </a:solidFill>
                <a:effectLst/>
              </a:rPr>
              <a:t>Clutch Pedal Adjustment</a:t>
            </a:r>
            <a:r>
              <a:rPr lang="en-US" dirty="0"/>
              <a:t> </a:t>
            </a:r>
            <a:br>
              <a:rPr lang="en-US" dirty="0"/>
            </a:br>
            <a:r>
              <a:rPr lang="en-US" dirty="0"/>
              <a:t>     </a:t>
            </a:r>
            <a:r>
              <a:rPr lang="en-US" b="0" i="0" dirty="0">
                <a:solidFill>
                  <a:srgbClr val="000000"/>
                </a:solidFill>
                <a:effectLst/>
              </a:rPr>
              <a:t>Clutch Pedal Height</a:t>
            </a:r>
            <a:r>
              <a:rPr lang="en-US" dirty="0"/>
              <a:t> </a:t>
            </a:r>
          </a:p>
          <a:p>
            <a:pPr marL="0" indent="0">
              <a:buNone/>
            </a:pPr>
            <a:r>
              <a:rPr lang="en-US" b="0" i="0" dirty="0">
                <a:solidFill>
                  <a:srgbClr val="000000"/>
                </a:solidFill>
                <a:effectLst/>
              </a:rPr>
              <a:t>         Clutch Pedal Free Play</a:t>
            </a:r>
            <a:r>
              <a:rPr lang="en-US" dirty="0"/>
              <a:t> </a:t>
            </a:r>
          </a:p>
          <a:p>
            <a:r>
              <a:rPr lang="en-US" b="1" dirty="0"/>
              <a:t>Clutch remove and installation</a:t>
            </a:r>
          </a:p>
          <a:p>
            <a:pPr marL="0" indent="0">
              <a:buNone/>
            </a:pPr>
            <a:br>
              <a:rPr lang="en-US" dirty="0"/>
            </a:br>
            <a:endParaRPr lang="en-US" dirty="0"/>
          </a:p>
        </p:txBody>
      </p:sp>
    </p:spTree>
    <p:extLst>
      <p:ext uri="{BB962C8B-B14F-4D97-AF65-F5344CB8AC3E}">
        <p14:creationId xmlns:p14="http://schemas.microsoft.com/office/powerpoint/2010/main" val="30562317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DD8E9D-5E8F-4FFA-98ED-5B861C297E18}"/>
              </a:ext>
            </a:extLst>
          </p:cNvPr>
          <p:cNvSpPr>
            <a:spLocks noGrp="1"/>
          </p:cNvSpPr>
          <p:nvPr>
            <p:ph idx="1"/>
          </p:nvPr>
        </p:nvSpPr>
        <p:spPr>
          <a:xfrm>
            <a:off x="1102218" y="2453901"/>
            <a:ext cx="9601196" cy="3318936"/>
          </a:xfrm>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4000" b="1" i="1" dirty="0">
                <a:solidFill>
                  <a:srgbClr val="00B050"/>
                </a:solidFill>
              </a:rPr>
              <a:t>THANKS</a:t>
            </a:r>
          </a:p>
        </p:txBody>
      </p:sp>
    </p:spTree>
    <p:extLst>
      <p:ext uri="{BB962C8B-B14F-4D97-AF65-F5344CB8AC3E}">
        <p14:creationId xmlns:p14="http://schemas.microsoft.com/office/powerpoint/2010/main" val="308093511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16548</TotalTime>
  <Words>3312</Words>
  <Application>Microsoft Office PowerPoint</Application>
  <PresentationFormat>Widescreen</PresentationFormat>
  <Paragraphs>278</Paragraphs>
  <Slides>65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65</vt:i4>
      </vt:variant>
    </vt:vector>
  </HeadingPairs>
  <TitlesOfParts>
    <vt:vector size="74" baseType="lpstr">
      <vt:lpstr>Arial</vt:lpstr>
      <vt:lpstr>Calibri</vt:lpstr>
      <vt:lpstr>Cambria</vt:lpstr>
      <vt:lpstr>Garamond</vt:lpstr>
      <vt:lpstr>Times New Roman</vt:lpstr>
      <vt:lpstr>Times-Bold</vt:lpstr>
      <vt:lpstr>Times-Roman</vt:lpstr>
      <vt:lpstr>Wingdings</vt:lpstr>
      <vt:lpstr>Organic</vt:lpstr>
      <vt:lpstr>MBEYA UNIVERSITY OF SCIENCE AND TECHNOLOGY</vt:lpstr>
      <vt:lpstr>ASSESSMENT METHODS</vt:lpstr>
      <vt:lpstr>Lecture 1; Clutch</vt:lpstr>
      <vt:lpstr>What to be Learned</vt:lpstr>
      <vt:lpstr>Introduction</vt:lpstr>
      <vt:lpstr>Types of Clutch</vt:lpstr>
      <vt:lpstr>Types of Clutch</vt:lpstr>
      <vt:lpstr>Types of Clutch</vt:lpstr>
      <vt:lpstr>PowerPoint Presentation</vt:lpstr>
      <vt:lpstr>Types of Clutch</vt:lpstr>
      <vt:lpstr>Types of Clutch</vt:lpstr>
      <vt:lpstr>Types of Clutch</vt:lpstr>
      <vt:lpstr>Types of Friction Clutches</vt:lpstr>
      <vt:lpstr>Disc clutches (single disc or multiple disc)</vt:lpstr>
      <vt:lpstr>Components of Clutch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Clutch Works</vt:lpstr>
      <vt:lpstr>PowerPoint Presentation</vt:lpstr>
      <vt:lpstr>PowerPoint Presentation</vt:lpstr>
      <vt:lpstr>PowerPoint Presentation</vt:lpstr>
      <vt:lpstr>Clutch Troubleshooting </vt:lpstr>
      <vt:lpstr>Clutch Troubleshooting </vt:lpstr>
      <vt:lpstr>Clutch Troubleshooting </vt:lpstr>
      <vt:lpstr>Clutch Troubleshooting </vt:lpstr>
      <vt:lpstr>Clutch Troubleshooting </vt:lpstr>
      <vt:lpstr>Clutch Troubleshooting </vt:lpstr>
      <vt:lpstr>Clutch Troubleshooting </vt:lpstr>
      <vt:lpstr>Clutch Troubleshooting </vt:lpstr>
      <vt:lpstr>Clutch Troubleshooting </vt:lpstr>
      <vt:lpstr>Clutch Troubleshooting </vt:lpstr>
      <vt:lpstr>Factors that can reduce the service life of the clutch are: </vt:lpstr>
      <vt:lpstr>Check for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Shanel</dc:creator>
  <cp:lastModifiedBy>Shanel</cp:lastModifiedBy>
  <cp:revision>231</cp:revision>
  <dcterms:created xsi:type="dcterms:W3CDTF">2020-08-10T05:52:17Z</dcterms:created>
  <dcterms:modified xsi:type="dcterms:W3CDTF">2024-11-06T21:15:10Z</dcterms:modified>
</cp:coreProperties>
</file>