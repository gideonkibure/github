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6" r:id="rId2"/>
    <p:sldId id="267" r:id="rId3"/>
    <p:sldId id="313" r:id="rId4"/>
    <p:sldId id="257" r:id="rId5"/>
    <p:sldId id="315" r:id="rId6"/>
    <p:sldId id="316" r:id="rId7"/>
    <p:sldId id="258" r:id="rId8"/>
    <p:sldId id="259" r:id="rId9"/>
    <p:sldId id="319" r:id="rId10"/>
    <p:sldId id="282" r:id="rId11"/>
    <p:sldId id="314" r:id="rId12"/>
    <p:sldId id="261" r:id="rId13"/>
    <p:sldId id="318" r:id="rId14"/>
    <p:sldId id="284" r:id="rId15"/>
    <p:sldId id="287" r:id="rId16"/>
    <p:sldId id="280" r:id="rId17"/>
    <p:sldId id="317" r:id="rId18"/>
    <p:sldId id="285" r:id="rId19"/>
    <p:sldId id="262" r:id="rId20"/>
    <p:sldId id="263" r:id="rId21"/>
    <p:sldId id="264" r:id="rId22"/>
    <p:sldId id="302" r:id="rId23"/>
    <p:sldId id="266" r:id="rId24"/>
    <p:sldId id="268" r:id="rId25"/>
    <p:sldId id="269" r:id="rId26"/>
    <p:sldId id="270" r:id="rId27"/>
    <p:sldId id="271" r:id="rId28"/>
    <p:sldId id="272" r:id="rId29"/>
    <p:sldId id="294" r:id="rId30"/>
    <p:sldId id="273" r:id="rId31"/>
    <p:sldId id="274" r:id="rId32"/>
    <p:sldId id="276" r:id="rId33"/>
    <p:sldId id="311" r:id="rId34"/>
    <p:sldId id="278" r:id="rId35"/>
    <p:sldId id="320" r:id="rId36"/>
    <p:sldId id="310" r:id="rId37"/>
    <p:sldId id="289" r:id="rId38"/>
    <p:sldId id="304" r:id="rId39"/>
    <p:sldId id="298" r:id="rId40"/>
    <p:sldId id="299" r:id="rId41"/>
    <p:sldId id="300" r:id="rId42"/>
    <p:sldId id="301" r:id="rId43"/>
    <p:sldId id="305" r:id="rId44"/>
    <p:sldId id="297" r:id="rId45"/>
    <p:sldId id="307" r:id="rId46"/>
    <p:sldId id="308" r:id="rId47"/>
    <p:sldId id="30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2262F-FEB0-4C72-816F-3D7BAA4E30F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4E38E-D8D6-4EF1-B082-974B7DCDE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3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4E38E-D8D6-4EF1-B082-974B7DCDE7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49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59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9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8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05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02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4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30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8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12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60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752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4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803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384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679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63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BC6E9B-60D6-42AE-8825-AB9F3F8CDAB2}" type="datetimeFigureOut">
              <a:rPr lang="en-US" smtClean="0"/>
              <a:t>11/11/2023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A5C9E0-87AA-4321-8E73-B599D5E1E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9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24C8-8342-4109-9BF9-C2268DEB31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latin typeface="+mn-lt"/>
              </a:rPr>
              <a:t>Lecture 2; Manual Gearbox</a:t>
            </a:r>
          </a:p>
        </p:txBody>
      </p:sp>
    </p:spTree>
    <p:extLst>
      <p:ext uri="{BB962C8B-B14F-4D97-AF65-F5344CB8AC3E}">
        <p14:creationId xmlns:p14="http://schemas.microsoft.com/office/powerpoint/2010/main" val="225826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E5AE-7FA1-4FE1-B049-B6B4AED47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What to be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B6E57-C52D-41A9-B01D-6EED13AC4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manual gear box</a:t>
            </a:r>
          </a:p>
          <a:p>
            <a:r>
              <a:rPr lang="en-US" dirty="0"/>
              <a:t>Identify components of manual gear box</a:t>
            </a:r>
          </a:p>
          <a:p>
            <a:r>
              <a:rPr lang="en-US" dirty="0"/>
              <a:t>Describe components of manual gear box</a:t>
            </a:r>
          </a:p>
          <a:p>
            <a:r>
              <a:rPr lang="en-US" dirty="0"/>
              <a:t>Describe maintenance procedures for manual gear box</a:t>
            </a:r>
          </a:p>
          <a:p>
            <a:r>
              <a:rPr lang="en-US" dirty="0"/>
              <a:t>Perform maintenance procedures for manual gear box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37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2C0A-D4C9-4699-8C33-1B0F441C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Introduction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FA945-2237-471B-9382-D52F6532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i="0" dirty="0">
                <a:solidFill>
                  <a:srgbClr val="202124"/>
                </a:solidFill>
                <a:effectLst/>
              </a:rPr>
              <a:t>A gearbox is a system that uses integrated gears with a specific arrangement to transmit the power</a:t>
            </a:r>
            <a:r>
              <a:rPr lang="en-US" sz="3600" b="0" i="0" dirty="0">
                <a:solidFill>
                  <a:srgbClr val="202124"/>
                </a:solidFill>
                <a:effectLst/>
              </a:rPr>
              <a:t>. </a:t>
            </a:r>
          </a:p>
          <a:p>
            <a:pPr marL="0" indent="0" algn="just">
              <a:buNone/>
            </a:pPr>
            <a:r>
              <a:rPr lang="en-US" sz="3600" b="0" i="0" dirty="0">
                <a:solidFill>
                  <a:srgbClr val="202124"/>
                </a:solidFill>
                <a:effectLst/>
              </a:rPr>
              <a:t>There are different types of gear box with different designs and mechanisms but the aim is the same. </a:t>
            </a:r>
          </a:p>
        </p:txBody>
      </p:sp>
    </p:spTree>
    <p:extLst>
      <p:ext uri="{BB962C8B-B14F-4D97-AF65-F5344CB8AC3E}">
        <p14:creationId xmlns:p14="http://schemas.microsoft.com/office/powerpoint/2010/main" val="3217206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5779-703C-4F53-8FA1-0913E8EF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47A9A-F80F-4668-AB91-62CCDA96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5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3500" b="1" i="0" dirty="0">
                <a:solidFill>
                  <a:srgbClr val="000000"/>
                </a:solidFill>
                <a:effectLst/>
              </a:rPr>
              <a:t>Functions of </a:t>
            </a:r>
            <a:r>
              <a:rPr lang="en-US" sz="3500" b="1" dirty="0">
                <a:solidFill>
                  <a:srgbClr val="000000"/>
                </a:solidFill>
              </a:rPr>
              <a:t>a</a:t>
            </a:r>
            <a:r>
              <a:rPr lang="en-US" sz="3500" b="1" i="0" dirty="0">
                <a:solidFill>
                  <a:srgbClr val="000000"/>
                </a:solidFill>
                <a:effectLst/>
              </a:rPr>
              <a:t> Gear Box </a:t>
            </a:r>
            <a:r>
              <a:rPr lang="en-US" sz="3500" dirty="0"/>
              <a:t> </a:t>
            </a:r>
          </a:p>
          <a:p>
            <a:r>
              <a:rPr lang="en-US" sz="3300" dirty="0">
                <a:solidFill>
                  <a:srgbClr val="000000"/>
                </a:solidFill>
                <a:ea typeface="Times New Roman" panose="02020603050405020304" pitchFamily="18" charset="0"/>
              </a:rPr>
              <a:t>Perform gear reduction so as to</a:t>
            </a:r>
            <a:r>
              <a:rPr lang="en-US" sz="33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provide high torque at the time of starting vehicle acceleration, climbing up the hill</a:t>
            </a:r>
          </a:p>
          <a:p>
            <a:r>
              <a:rPr lang="en-US" sz="3300" b="0" i="0" dirty="0">
                <a:solidFill>
                  <a:srgbClr val="000000"/>
                </a:solidFill>
                <a:effectLst/>
              </a:rPr>
              <a:t>Gear box provides a reverse gear for driving the vehicle in reverse direction.</a:t>
            </a:r>
          </a:p>
          <a:p>
            <a:r>
              <a:rPr lang="en-US" sz="33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To provide more than one forward speeds by providing more than one gear ratios. </a:t>
            </a:r>
          </a:p>
          <a:p>
            <a:r>
              <a:rPr lang="en-US" sz="3300" dirty="0"/>
              <a:t>Provides neutral position for different purpose (pushing/towing, starting)</a:t>
            </a:r>
          </a:p>
          <a:p>
            <a:r>
              <a:rPr lang="en-US" sz="3300" dirty="0"/>
              <a:t>Gear box acts as a brake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284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40A6-7BBA-4085-ADCC-EBEFD093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Introduction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A49E-64C9-405C-8A4A-CBDC6F94E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following are the types of Gear Box used in Automotive</a:t>
            </a:r>
          </a:p>
          <a:p>
            <a:r>
              <a:rPr lang="en-US" dirty="0"/>
              <a:t>Manual gear box</a:t>
            </a:r>
          </a:p>
          <a:p>
            <a:r>
              <a:rPr lang="en-US" dirty="0"/>
              <a:t>Automatic gear box</a:t>
            </a:r>
          </a:p>
          <a:p>
            <a:r>
              <a:rPr lang="en-US" dirty="0"/>
              <a:t>Automated manual gear box</a:t>
            </a:r>
          </a:p>
          <a:p>
            <a:r>
              <a:rPr lang="en-US" dirty="0"/>
              <a:t>Continuous variable Gear box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003638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8352-C814-479E-BB3F-4522AA82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Manual gear Box</a:t>
            </a:r>
            <a:endParaRPr lang="en-TZ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E33F-A3C6-4B7A-BB7A-D9839CF6E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>
                <a:latin typeface="+mn-lt"/>
              </a:rPr>
              <a:t>Manual gear Box </a:t>
            </a:r>
            <a:r>
              <a:rPr lang="en-US" dirty="0"/>
              <a:t>is also known as manual transmission, standard transmission or stick shift transmission. </a:t>
            </a:r>
          </a:p>
          <a:p>
            <a:pPr marL="0" indent="0">
              <a:buNone/>
            </a:pPr>
            <a:r>
              <a:rPr lang="en-US" dirty="0"/>
              <a:t>This is the type of gear box in which gear changes require the driver to select the gear by operating a gear stick and clutch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973864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265C-D24B-408F-BDC3-9A95E2D3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000000"/>
                </a:solidFill>
                <a:latin typeface="+mn-lt"/>
              </a:rPr>
              <a:t>T</a:t>
            </a:r>
            <a:r>
              <a:rPr lang="en-US" b="1" i="0" dirty="0">
                <a:solidFill>
                  <a:srgbClr val="000000"/>
                </a:solidFill>
                <a:effectLst/>
                <a:latin typeface="+mn-lt"/>
              </a:rPr>
              <a:t>ypes of Manual gear box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7027-676B-45AA-A39F-57572B135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This type of transmission is further categorized into three types </a:t>
            </a:r>
          </a:p>
          <a:p>
            <a:pPr marL="57150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sz="3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Sliding mesh gear box</a:t>
            </a:r>
          </a:p>
          <a:p>
            <a:pPr marL="57150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sz="3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Constant mesh gear box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LcPeriod"/>
            </a:pPr>
            <a:r>
              <a:rPr lang="en-US" sz="32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Synchromesh gear box</a:t>
            </a:r>
            <a:endParaRPr lang="en-US" sz="3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468E-7C76-428D-91FD-9DE97A38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 err="1"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+mn-lt"/>
              </a:rPr>
              <a:t>. Sliding Mesh Gear Box</a:t>
            </a:r>
            <a:r>
              <a:rPr lang="en-US" sz="4000" dirty="0">
                <a:latin typeface="+mn-lt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899C9-77E2-4A20-B4DC-EF965966E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19279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G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ears are changed by sliding one gear on the other</a:t>
            </a:r>
            <a:r>
              <a:rPr lang="en-US" sz="2800" dirty="0"/>
              <a:t> </a:t>
            </a:r>
          </a:p>
          <a:p>
            <a:r>
              <a:rPr lang="en-US" sz="2800" dirty="0">
                <a:solidFill>
                  <a:srgbClr val="000000"/>
                </a:solidFill>
              </a:rPr>
              <a:t>It 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consists of three shafts; </a:t>
            </a:r>
            <a:r>
              <a:rPr lang="en-US" sz="2800" b="1" i="0" dirty="0">
                <a:solidFill>
                  <a:srgbClr val="000000"/>
                </a:solidFill>
                <a:effectLst/>
              </a:rPr>
              <a:t>main shaft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, </a:t>
            </a:r>
            <a:r>
              <a:rPr lang="en-US" sz="2800" b="1" i="0" dirty="0">
                <a:solidFill>
                  <a:srgbClr val="000000"/>
                </a:solidFill>
                <a:effectLst/>
              </a:rPr>
              <a:t>clutch shaft(top shaft) 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and a </a:t>
            </a:r>
            <a:r>
              <a:rPr lang="en-US" sz="2800" b="1" i="0" dirty="0">
                <a:solidFill>
                  <a:srgbClr val="000000"/>
                </a:solidFill>
                <a:effectLst/>
              </a:rPr>
              <a:t>counter shaft</a:t>
            </a:r>
            <a:r>
              <a:rPr lang="en-US" sz="2800" b="0" i="0" dirty="0">
                <a:solidFill>
                  <a:srgbClr val="000000"/>
                </a:solidFill>
                <a:effectLst/>
              </a:rPr>
              <a:t>. 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</a:rPr>
              <a:t>In a four speed gear box (which includes one reverse gear), the counter shaft has four gears which are rigidly connected to it. 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</a:rPr>
              <a:t>Clutch shaft has one gear and main shaft has two gears. </a:t>
            </a:r>
          </a:p>
          <a:p>
            <a:r>
              <a:rPr lang="en-US" sz="2800" dirty="0"/>
              <a:t>All gears used are spur gears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80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E862-B642-4A04-B1C7-41293089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 err="1">
                <a:solidFill>
                  <a:srgbClr val="000000"/>
                </a:solidFill>
                <a:effectLst/>
                <a:latin typeface="+mn-lt"/>
              </a:rPr>
              <a:t>i</a:t>
            </a:r>
            <a:r>
              <a:rPr lang="en-US" sz="4000" b="1" i="0" dirty="0">
                <a:solidFill>
                  <a:srgbClr val="000000"/>
                </a:solidFill>
                <a:effectLst/>
                <a:latin typeface="+mn-lt"/>
              </a:rPr>
              <a:t>. Sliding Mesh Gear Box</a:t>
            </a:r>
            <a:r>
              <a:rPr lang="en-US" sz="4000" dirty="0">
                <a:latin typeface="+mn-lt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+mn-lt"/>
              </a:rPr>
              <a:t>Cont..</a:t>
            </a:r>
            <a:endParaRPr lang="en-TZ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61ED1-6F04-43F8-B998-A647D97D4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The two gears on the main shaft can slide in the horizontal (co axial)direction along the splines of the main shaft. However, the gears on the counter shaft cannot slide.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 clutch gear is rigidly fixed to the clutch shaft. It is always connected to the countershaft drive gear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3477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D114E8-F0A2-4181-AB8F-0CD072AC8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1741" y="811371"/>
            <a:ext cx="7508517" cy="5525036"/>
          </a:xfrm>
        </p:spPr>
      </p:pic>
    </p:spTree>
    <p:extLst>
      <p:ext uri="{BB962C8B-B14F-4D97-AF65-F5344CB8AC3E}">
        <p14:creationId xmlns:p14="http://schemas.microsoft.com/office/powerpoint/2010/main" val="4197192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liding mesh gearbox | How Gearbox works | Construction and Operation |  Automobile Engineering - YouTube">
            <a:extLst>
              <a:ext uri="{FF2B5EF4-FFF2-40B4-BE49-F238E27FC236}">
                <a16:creationId xmlns:a16="http://schemas.microsoft.com/office/drawing/2014/main" id="{289FF4E5-341F-4DCA-9CCD-46D7ED44FC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257" y="798287"/>
            <a:ext cx="9666514" cy="515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009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1631-43CD-49FF-A1E7-30B504CE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ii. Constant mesh gear box</a:t>
            </a:r>
            <a:endParaRPr lang="en-US" sz="4000" b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056BC-F41E-4092-8EA4-C47B5B88E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500" b="0" i="0" dirty="0">
                <a:solidFill>
                  <a:srgbClr val="000000"/>
                </a:solidFill>
                <a:effectLst/>
              </a:rPr>
              <a:t>The constant mesh transmission has parallel shafts with gears in constant mesh. </a:t>
            </a:r>
          </a:p>
          <a:p>
            <a:r>
              <a:rPr lang="en-US" sz="3500" b="0" i="0" dirty="0">
                <a:solidFill>
                  <a:srgbClr val="000000"/>
                </a:solidFill>
                <a:effectLst/>
              </a:rPr>
              <a:t>In neutral, the gears are free running but, when shifted, they are locked to their shafts by sliding collars.</a:t>
            </a:r>
            <a:r>
              <a:rPr lang="en-US" sz="3500" dirty="0"/>
              <a:t> </a:t>
            </a:r>
          </a:p>
          <a:p>
            <a:r>
              <a:rPr lang="en-US" sz="3500" dirty="0">
                <a:solidFill>
                  <a:srgbClr val="000000"/>
                </a:solidFill>
              </a:rPr>
              <a:t>A</a:t>
            </a:r>
            <a:r>
              <a:rPr lang="en-US" sz="3500" b="0" i="0" dirty="0">
                <a:solidFill>
                  <a:srgbClr val="000000"/>
                </a:solidFill>
                <a:effectLst/>
              </a:rPr>
              <a:t>ll forward gears of the countershaft are in constant mesh with the main shaft gears, which are free to rotate.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48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CCC7-A28F-440D-8C06-BDBC51C8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ii. Constant mesh gear box </a:t>
            </a:r>
            <a:r>
              <a:rPr lang="en-US" sz="4000" b="1" dirty="0">
                <a:solidFill>
                  <a:srgbClr val="0070C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  <a:endParaRPr lang="en-TZ" sz="400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BAAC-F365-4A2D-9D0D-D409AFA8C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</a:rPr>
              <a:t>Reverse can either be a sliding collar or a constant mesh gear. 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</a:rPr>
              <a:t>The sliding collar is splined to the main shaft, and therefore, the main shaft rotates with the sliding collar.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</a:rPr>
              <a:t>This principle is carried out when the shift lever moves from one speed to the next.</a:t>
            </a:r>
            <a:endParaRPr lang="en-TZ" sz="3200" dirty="0"/>
          </a:p>
        </p:txBody>
      </p:sp>
    </p:spTree>
    <p:extLst>
      <p:ext uri="{BB962C8B-B14F-4D97-AF65-F5344CB8AC3E}">
        <p14:creationId xmlns:p14="http://schemas.microsoft.com/office/powerpoint/2010/main" val="14003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3F9B47-C04A-4E1A-805D-04CCF9771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429" y="624114"/>
            <a:ext cx="9173028" cy="5573485"/>
          </a:xfrm>
        </p:spPr>
      </p:pic>
    </p:spTree>
    <p:extLst>
      <p:ext uri="{BB962C8B-B14F-4D97-AF65-F5344CB8AC3E}">
        <p14:creationId xmlns:p14="http://schemas.microsoft.com/office/powerpoint/2010/main" val="54276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stant Mesh Gear Box - Design of Transmission Systems">
            <a:extLst>
              <a:ext uri="{FF2B5EF4-FFF2-40B4-BE49-F238E27FC236}">
                <a16:creationId xmlns:a16="http://schemas.microsoft.com/office/drawing/2014/main" id="{9BD67450-71D6-4B10-A7E0-EAED60E6C1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657" y="493486"/>
            <a:ext cx="9855200" cy="5863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093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E811D-8872-4797-813B-60592986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000000"/>
                </a:solidFill>
                <a:effectLst/>
                <a:latin typeface="+mn-lt"/>
              </a:rPr>
              <a:t>iii. Synchromesh Transmission</a:t>
            </a:r>
            <a:r>
              <a:rPr lang="en-US" sz="4000" dirty="0">
                <a:latin typeface="+mn-lt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3E726-A6BD-4794-9B13-15C50637D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000" b="0" i="0" dirty="0">
                <a:solidFill>
                  <a:srgbClr val="000000"/>
                </a:solidFill>
                <a:effectLst/>
              </a:rPr>
              <a:t>The synchromesh transmission also has gears in constant mesh. However, gears can be selected without clashing or grinding by synchronizing the speeds of the mating part before they engage.</a:t>
            </a:r>
            <a:r>
              <a:rPr lang="en-US" sz="3000" dirty="0"/>
              <a:t> </a:t>
            </a:r>
          </a:p>
          <a:p>
            <a:r>
              <a:rPr lang="en-US" sz="3000" b="0" i="0" dirty="0">
                <a:solidFill>
                  <a:srgbClr val="000000"/>
                </a:solidFill>
                <a:effectLst/>
              </a:rPr>
              <a:t>The construction of the synchromesh transmission is the same as that of the constant mesh transmission with the exception that a synchronizer has been added</a:t>
            </a:r>
            <a:r>
              <a:rPr lang="en-US" sz="3000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245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F5EC5-BA03-4498-8426-ECF6847C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000000"/>
                </a:solidFill>
                <a:effectLst/>
                <a:latin typeface="+mn-lt"/>
              </a:rPr>
              <a:t>iii. Synchromesh Transmission</a:t>
            </a:r>
            <a:r>
              <a:rPr lang="en-US" sz="4000" dirty="0">
                <a:latin typeface="+mn-lt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+mn-lt"/>
              </a:rPr>
              <a:t>Cont..</a:t>
            </a:r>
            <a:endParaRPr lang="en-TZ" sz="4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8768-1BDE-4386-A961-E5CF5AA0C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</a:rPr>
              <a:t>The synchronizer accelerates or slows down the rotation of the shaft and gear until both are rotating at the same speed and can be locked together without a gear clash. 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</a:rPr>
              <a:t>Since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effectLst/>
              </a:rPr>
              <a:t>the vehicle is normally standing still when it is shifted into reverse gear, a synchronizer is not ordinarily used on the reverse gear</a:t>
            </a:r>
            <a:endParaRPr lang="en-TZ" sz="3200" dirty="0"/>
          </a:p>
        </p:txBody>
      </p:sp>
    </p:spTree>
    <p:extLst>
      <p:ext uri="{BB962C8B-B14F-4D97-AF65-F5344CB8AC3E}">
        <p14:creationId xmlns:p14="http://schemas.microsoft.com/office/powerpoint/2010/main" val="3135960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ow Synchromesh Gearbox Works? - Best Explanation Ever - Mechanical Booster">
            <a:extLst>
              <a:ext uri="{FF2B5EF4-FFF2-40B4-BE49-F238E27FC236}">
                <a16:creationId xmlns:a16="http://schemas.microsoft.com/office/drawing/2014/main" id="{2AAF7DD3-AE7D-4355-87FF-4C29660E53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307" y="583939"/>
            <a:ext cx="8140185" cy="535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762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F87C-65CE-49D1-B885-7EA8D5AC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3600" b="1" dirty="0">
                <a:latin typeface="+mn-lt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1AFAF-E733-46E8-B695-AE6A74CF0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2634" cy="4351338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endParaRPr lang="en-US" sz="3500" i="0" dirty="0">
              <a:solidFill>
                <a:srgbClr val="000000"/>
              </a:solidFill>
              <a:effectLst/>
            </a:endParaRPr>
          </a:p>
          <a:p>
            <a:pPr marL="0" indent="0" algn="just">
              <a:buNone/>
            </a:pPr>
            <a:endParaRPr lang="en-US" sz="3500" i="0" dirty="0">
              <a:solidFill>
                <a:srgbClr val="000000"/>
              </a:solidFill>
              <a:effectLst/>
            </a:endParaRPr>
          </a:p>
          <a:p>
            <a:pPr marL="0" indent="0" algn="just">
              <a:buNone/>
            </a:pPr>
            <a:r>
              <a:rPr lang="en-US" sz="3500" i="0" dirty="0">
                <a:solidFill>
                  <a:srgbClr val="000000"/>
                </a:solidFill>
                <a:effectLst/>
              </a:rPr>
              <a:t>The manual transmission is made of the following components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500" i="0" dirty="0">
                <a:solidFill>
                  <a:srgbClr val="0070C0"/>
                </a:solidFill>
                <a:effectLst/>
              </a:rPr>
              <a:t>Transmission Case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500" i="0" dirty="0">
                <a:solidFill>
                  <a:srgbClr val="0070C0"/>
                </a:solidFill>
                <a:effectLst/>
              </a:rPr>
              <a:t>Extension Housing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500" i="0" dirty="0">
                <a:solidFill>
                  <a:srgbClr val="0070C0"/>
                </a:solidFill>
                <a:effectLst/>
              </a:rPr>
              <a:t>Transmission Shafts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500" i="0" dirty="0">
                <a:solidFill>
                  <a:srgbClr val="0070C0"/>
                </a:solidFill>
                <a:effectLst/>
              </a:rPr>
              <a:t>Transmission Gears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500" i="0" dirty="0">
                <a:solidFill>
                  <a:srgbClr val="0070C0"/>
                </a:solidFill>
                <a:effectLst/>
              </a:rPr>
              <a:t>Synchronizers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500" i="0" dirty="0">
                <a:solidFill>
                  <a:srgbClr val="0070C0"/>
                </a:solidFill>
                <a:effectLst/>
              </a:rPr>
              <a:t>Shift Forks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3500" i="0" dirty="0">
                <a:solidFill>
                  <a:srgbClr val="0070C0"/>
                </a:solidFill>
                <a:effectLst/>
              </a:rPr>
              <a:t>Shift Linkage and Levers</a:t>
            </a:r>
            <a:r>
              <a:rPr lang="en-US" sz="3500" dirty="0">
                <a:solidFill>
                  <a:srgbClr val="0070C0"/>
                </a:solidFill>
              </a:rPr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489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CCEB5-BE4D-439E-9000-A5CD1FB7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B37C8-552D-4C48-AAA7-71BA58846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913" y="1825625"/>
            <a:ext cx="112174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0" dirty="0">
                <a:solidFill>
                  <a:srgbClr val="00B0F0"/>
                </a:solidFill>
                <a:effectLst/>
              </a:rPr>
              <a:t>          a) Transmission Case</a:t>
            </a:r>
            <a:r>
              <a:rPr lang="en-US" sz="3200" b="1" dirty="0">
                <a:solidFill>
                  <a:srgbClr val="00B0F0"/>
                </a:solidFill>
              </a:rPr>
              <a:t>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 transmission case provides support for the bearings and shafts, as well as an enclosure for lubricating oil.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A manual transmission case is cast from either iron or aluminum.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Because they are lighter in weight, aluminum cases are preferred.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A drain plug and fill plug are provided for servicing.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 drain plug is located on then bottom of the case, whereas the fill plug is located on the side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926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EB3D-2026-4218-9054-685E49558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43B90-2F59-4457-BDD7-5BAB48D33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01371"/>
            <a:ext cx="9601196" cy="3974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B0F0"/>
                </a:solidFill>
                <a:effectLst/>
              </a:rPr>
              <a:t>      b) Extension Housing</a:t>
            </a:r>
            <a:r>
              <a:rPr lang="en-US" sz="3000" b="1" dirty="0">
                <a:solidFill>
                  <a:srgbClr val="00B0F0"/>
                </a:solidFill>
              </a:rPr>
              <a:t> </a:t>
            </a:r>
          </a:p>
          <a:p>
            <a:r>
              <a:rPr lang="en-US" sz="3000" dirty="0">
                <a:solidFill>
                  <a:srgbClr val="000000"/>
                </a:solidFill>
              </a:rPr>
              <a:t>It is al</a:t>
            </a:r>
            <a:r>
              <a:rPr lang="en-US" sz="3000" b="0" i="0" dirty="0">
                <a:solidFill>
                  <a:srgbClr val="000000"/>
                </a:solidFill>
                <a:effectLst/>
              </a:rPr>
              <a:t>so known as the tail shaft housing, the extension housing bolts to the rear of the transmission case. </a:t>
            </a:r>
          </a:p>
          <a:p>
            <a:r>
              <a:rPr lang="en-US" sz="3000" b="0" i="0" dirty="0">
                <a:solidFill>
                  <a:srgbClr val="000000"/>
                </a:solidFill>
                <a:effectLst/>
              </a:rPr>
              <a:t>It encloses and holds the transmission output shaft and rear oil seal. </a:t>
            </a:r>
          </a:p>
          <a:p>
            <a:r>
              <a:rPr lang="en-US" sz="3000" b="0" i="0" dirty="0">
                <a:solidFill>
                  <a:srgbClr val="000000"/>
                </a:solidFill>
                <a:effectLst/>
              </a:rPr>
              <a:t>A gasket is used to seal the mating surfaces between the transmission case and the extension housing. </a:t>
            </a:r>
          </a:p>
        </p:txBody>
      </p:sp>
    </p:spTree>
    <p:extLst>
      <p:ext uri="{BB962C8B-B14F-4D97-AF65-F5344CB8AC3E}">
        <p14:creationId xmlns:p14="http://schemas.microsoft.com/office/powerpoint/2010/main" val="2898837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5D01-CCD1-4B33-96BA-279CBBA42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Transmission case                      Extension housing</a:t>
            </a:r>
          </a:p>
        </p:txBody>
      </p:sp>
      <p:pic>
        <p:nvPicPr>
          <p:cNvPr id="4" name="Picture 2" descr="Automatic transmission case 8HP70">
            <a:extLst>
              <a:ext uri="{FF2B5EF4-FFF2-40B4-BE49-F238E27FC236}">
                <a16:creationId xmlns:a16="http://schemas.microsoft.com/office/drawing/2014/main" id="{3A6853A8-DCED-434C-B262-C972F13C77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07" y="1934284"/>
            <a:ext cx="5185893" cy="437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TRANSMISSION EXTENSION HOUSING M-32130-AA010 | Nissan Parts Store">
            <a:extLst>
              <a:ext uri="{FF2B5EF4-FFF2-40B4-BE49-F238E27FC236}">
                <a16:creationId xmlns:a16="http://schemas.microsoft.com/office/drawing/2014/main" id="{D5C88DF9-A2C7-415B-8DA5-0BB983469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934284"/>
            <a:ext cx="5185893" cy="4378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084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472D6-D99B-49D2-8402-24F728F7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08B88-D7EB-4635-A25A-35F7F30B1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72343"/>
            <a:ext cx="9601196" cy="4003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B0F0"/>
                </a:solidFill>
                <a:effectLst/>
              </a:rPr>
              <a:t>     c) Transmission Shafts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A manual transmission has four steel shafts mounted inside the transmission case. These shafts are  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Input shaft 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Countershaft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Main shaft</a:t>
            </a:r>
            <a:r>
              <a:rPr lang="en-US" dirty="0"/>
              <a:t> 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Reverse idler shaft</a:t>
            </a:r>
          </a:p>
        </p:txBody>
      </p:sp>
    </p:spTree>
    <p:extLst>
      <p:ext uri="{BB962C8B-B14F-4D97-AF65-F5344CB8AC3E}">
        <p14:creationId xmlns:p14="http://schemas.microsoft.com/office/powerpoint/2010/main" val="10413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F291-A803-4136-B473-90C86889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5C046-70F0-4FD1-8459-2C6AB8500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44914"/>
            <a:ext cx="9601196" cy="39309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B0F0"/>
                </a:solidFill>
                <a:effectLst/>
              </a:rPr>
              <a:t>      c) Transmission Shafts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cont..</a:t>
            </a:r>
          </a:p>
          <a:p>
            <a:pPr marL="0" indent="0">
              <a:buNone/>
            </a:pPr>
            <a:endParaRPr lang="en-US" b="1" i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r>
              <a:rPr lang="en-US" b="1" i="0" dirty="0">
                <a:solidFill>
                  <a:srgbClr val="FF0000"/>
                </a:solidFill>
                <a:effectLst/>
              </a:rPr>
              <a:t>a. Input shaft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The input shaft, also known as the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clutch shaft or top shaft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 transfers rotation from the clutch disc to the countershaft gears 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The outer end of the shaft is splined and the inner end has a machined gear that meshes with the countershaft.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 bearing in the transmission case supports the input shaft in the case.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Anytime the clutch disc turns, the input shaft gear and gears on the countershaft turn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753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3F15-FDDF-48CF-96DD-3B4975DF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40F1-6266-4932-B448-1B307DB02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01371"/>
            <a:ext cx="9601196" cy="397449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i="0" dirty="0">
                <a:solidFill>
                  <a:srgbClr val="00B0F0"/>
                </a:solidFill>
                <a:effectLst/>
              </a:rPr>
              <a:t>     c) Transmission Shafts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cont..</a:t>
            </a:r>
          </a:p>
          <a:p>
            <a:pPr marL="0" indent="0" algn="just">
              <a:buNone/>
            </a:pPr>
            <a:r>
              <a:rPr lang="en-US" b="1" i="0" dirty="0">
                <a:solidFill>
                  <a:srgbClr val="FF0000"/>
                </a:solidFill>
                <a:effectLst/>
              </a:rPr>
              <a:t>b. Countershaft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The countershaft, also known as the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cluster gear shaft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or </a:t>
            </a:r>
            <a:r>
              <a:rPr lang="en-US" b="1" i="0" dirty="0">
                <a:solidFill>
                  <a:srgbClr val="000000"/>
                </a:solidFill>
                <a:effectLst/>
              </a:rPr>
              <a:t>lay shaft</a:t>
            </a:r>
            <a:r>
              <a:rPr lang="en-US" b="0" i="1" dirty="0">
                <a:solidFill>
                  <a:srgbClr val="000000"/>
                </a:solidFill>
                <a:effectLst/>
              </a:rPr>
              <a:t>,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holds the countershaft gear into mesh with the input shaft gear and other gears in the transmission</a:t>
            </a:r>
            <a:r>
              <a:rPr lang="en-US" dirty="0"/>
              <a:t> main shaft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It is located slightly below and to one side of the clutch shaft.</a:t>
            </a:r>
            <a:r>
              <a:rPr lang="en-US" dirty="0"/>
              <a:t> the gears on counter shaft rotate with it that is to say no relative motion between shaft and gears</a:t>
            </a:r>
          </a:p>
          <a:p>
            <a:pPr algn="just"/>
            <a:r>
              <a:rPr lang="en-US" dirty="0"/>
              <a:t>This shaft rotates any time clutch is engaged since it is connected to top shaft</a:t>
            </a:r>
          </a:p>
          <a:p>
            <a:pPr marL="0" indent="0" algn="just">
              <a:buNone/>
            </a:pP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27087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563A-7231-4A55-A70F-50406A55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3F274-EE7B-4F4A-BC28-C18831FA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59429"/>
            <a:ext cx="9601196" cy="42962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B0F0"/>
                </a:solidFill>
                <a:effectLst/>
              </a:rPr>
              <a:t> c) Transmission Shafts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cont..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FF0000"/>
                </a:solidFill>
                <a:effectLst/>
              </a:rPr>
              <a:t>c. Main Shaft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The main shaft, also called the output shaft</a:t>
            </a:r>
            <a:r>
              <a:rPr lang="en-US" b="0" i="1" dirty="0">
                <a:solidFill>
                  <a:srgbClr val="000000"/>
                </a:solidFill>
                <a:effectLst/>
              </a:rPr>
              <a:t>,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holds the output gears and synchronizers.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The rear of the shaft extends to the rear of the extension housing where it connects to the drive shaft to turn the wheel of the vehicle.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Gears on the shaft are free to rotate, but the synchronizers are locked on the shaft by splines</a:t>
            </a:r>
            <a:r>
              <a:rPr lang="en-US" dirty="0">
                <a:solidFill>
                  <a:srgbClr val="000000"/>
                </a:solidFill>
              </a:rPr>
              <a:t> (in case of constant mesh and synchromesh gear boxes)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 synchronizers will only turn when the shaft itself turns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73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26F2-56BF-4077-9D05-222504636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8402-6376-49A9-BC6F-F4C7E3942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01371"/>
            <a:ext cx="9601196" cy="3974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B0F0"/>
                </a:solidFill>
                <a:effectLst/>
              </a:rPr>
              <a:t>       c) Transmission Shafts</a:t>
            </a:r>
            <a:r>
              <a:rPr lang="en-US" sz="2400" b="1" dirty="0">
                <a:solidFill>
                  <a:srgbClr val="00B0F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cont..</a:t>
            </a:r>
          </a:p>
          <a:p>
            <a:pPr marL="0" indent="0">
              <a:buNone/>
            </a:pPr>
            <a:r>
              <a:rPr lang="en-US" b="1" i="0" dirty="0">
                <a:solidFill>
                  <a:srgbClr val="FF0000"/>
                </a:solidFill>
                <a:effectLst/>
              </a:rPr>
              <a:t>d. Reverse Idler Shaft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 reverse idler shaft is a short shaft that supports the reverse idle gear.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It mounts stationary in the transmission case about halfway between the countershaft and output shaft, allowing the reverse idle gear to mesh with both shafts.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4207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EFB9-A041-46F7-B62D-9E3C588C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5FC91-8BAF-44A6-848D-3201C3DD7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17486"/>
            <a:ext cx="9601196" cy="385838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B0F0"/>
                </a:solidFill>
                <a:effectLst/>
              </a:rPr>
              <a:t>   d) Transmission Gears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Transmission gears can be classified into four groups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Input gear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Countershaft gears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Main shaft gears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Reverse idler gear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input gear turns the countershaft gears, the countershaft gears turns the main shaft gears, and, when engaged, the reverse idler gear.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992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921DEA-3D8F-49B3-A816-4A6871BE5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400" y="217715"/>
            <a:ext cx="11379200" cy="6502400"/>
          </a:xfrm>
        </p:spPr>
      </p:pic>
    </p:spTree>
    <p:extLst>
      <p:ext uri="{BB962C8B-B14F-4D97-AF65-F5344CB8AC3E}">
        <p14:creationId xmlns:p14="http://schemas.microsoft.com/office/powerpoint/2010/main" val="3369632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973E-97B8-418E-A720-AD6094012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90482-8DA9-4AB6-BABF-6330CDF0E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61029"/>
            <a:ext cx="9601196" cy="38148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00B0F0"/>
                </a:solidFill>
                <a:effectLst/>
              </a:rPr>
              <a:t>d)</a:t>
            </a:r>
            <a:r>
              <a:rPr lang="en-US" sz="2600" b="1" dirty="0">
                <a:solidFill>
                  <a:srgbClr val="00B0F0"/>
                </a:solidFill>
              </a:rPr>
              <a:t> </a:t>
            </a:r>
            <a:r>
              <a:rPr lang="en-US" sz="2600" b="1" i="0" dirty="0">
                <a:solidFill>
                  <a:srgbClr val="00B0F0"/>
                </a:solidFill>
                <a:effectLst/>
              </a:rPr>
              <a:t>Transmission Gears</a:t>
            </a:r>
            <a:r>
              <a:rPr lang="en-US" sz="2600" b="1" dirty="0">
                <a:solidFill>
                  <a:srgbClr val="00B0F0"/>
                </a:solidFill>
              </a:rPr>
              <a:t> </a:t>
            </a:r>
            <a:r>
              <a:rPr lang="en-US" sz="2600" b="1" dirty="0">
                <a:solidFill>
                  <a:schemeClr val="tx1"/>
                </a:solidFill>
              </a:rPr>
              <a:t>cont..</a:t>
            </a:r>
          </a:p>
          <a:p>
            <a:r>
              <a:rPr lang="en-US" sz="2600" b="0" i="0" dirty="0">
                <a:solidFill>
                  <a:srgbClr val="000000"/>
                </a:solidFill>
                <a:effectLst/>
              </a:rPr>
              <a:t>In low gear, a small gear on the countershaft drives a larger gear on the main shaft, providing for a high gear ratio for accelerating. </a:t>
            </a:r>
          </a:p>
          <a:p>
            <a:r>
              <a:rPr lang="en-US" sz="2600" b="0" i="0" dirty="0">
                <a:solidFill>
                  <a:srgbClr val="000000"/>
                </a:solidFill>
                <a:effectLst/>
              </a:rPr>
              <a:t>Then, in high gear, a larger countershaft gear turns a small main shaft gear or a gear of equal size, resulting in a low gear ratio, allowing the vehicle to move faster. </a:t>
            </a:r>
          </a:p>
          <a:p>
            <a:r>
              <a:rPr lang="en-US" sz="2600" b="0" i="0" dirty="0">
                <a:solidFill>
                  <a:srgbClr val="000000"/>
                </a:solidFill>
                <a:effectLst/>
              </a:rPr>
              <a:t>When reverse is engaged, power flows from the countershaft gear, to the reverse idler gear, and to the engaged main shaft gear. </a:t>
            </a:r>
          </a:p>
          <a:p>
            <a:r>
              <a:rPr lang="en-US" sz="2600" b="0" i="0" dirty="0">
                <a:solidFill>
                  <a:srgbClr val="000000"/>
                </a:solidFill>
                <a:effectLst/>
              </a:rPr>
              <a:t>This action reverses main shaft rotation</a:t>
            </a:r>
            <a:r>
              <a:rPr lang="en-US" sz="2600" dirty="0"/>
              <a:t> </a:t>
            </a:r>
            <a:br>
              <a:rPr lang="en-US" sz="2600" dirty="0"/>
            </a:b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10696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62EB-1C50-4DA6-95E9-D1FB6EFF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52425-BCC0-4C07-BDC1-D462657F9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2971"/>
            <a:ext cx="10515600" cy="4397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B0F0"/>
                </a:solidFill>
                <a:effectLst/>
              </a:rPr>
              <a:t>              e) Synchronizers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</a:rPr>
              <a:t>The synchronizer is a drum or sleeve that slides back and forth on the splined main shaft by means of the shifting fork.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A transmission synchronizer</a:t>
            </a:r>
            <a:r>
              <a:rPr lang="en-US" sz="2400" dirty="0"/>
              <a:t>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has two functions: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b="1" i="0" dirty="0">
                <a:solidFill>
                  <a:srgbClr val="000000"/>
                </a:solidFill>
                <a:effectLst/>
              </a:rPr>
              <a:t>1. Lock the main shaft gear to the main shaft</a:t>
            </a:r>
            <a:br>
              <a:rPr lang="en-US" sz="2400" b="1" i="0" dirty="0">
                <a:solidFill>
                  <a:srgbClr val="000000"/>
                </a:solidFill>
                <a:effectLst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</a:rPr>
              <a:t>2. Prevent the gear from clashing or grinding during shifting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When the synchronizer is moved along the main shaft, the cones act as a clutch.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Upon touching the gear that is to be engaged, the main shaft is accelerated or slowed down until the speeds of the main shaft and gear are synchronized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48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F7534-2400-427A-A22B-FB960198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1B8FA-CD88-4274-81C1-C6E518450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32000"/>
            <a:ext cx="9601196" cy="38438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00B0F0"/>
                </a:solidFill>
                <a:effectLst/>
              </a:rPr>
              <a:t>    f)</a:t>
            </a: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i="0" dirty="0">
                <a:solidFill>
                  <a:srgbClr val="00B0F0"/>
                </a:solidFill>
                <a:effectLst/>
              </a:rPr>
              <a:t>Shift Forks</a:t>
            </a:r>
            <a:r>
              <a:rPr lang="en-US" dirty="0">
                <a:solidFill>
                  <a:srgbClr val="00B0F0"/>
                </a:solidFill>
              </a:rPr>
              <a:t>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Shift forks fit around the synchronizer sleeves to transfer movement to the sleeves from the shift linkage.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 shift fork sits in a groove cut into the synchronizer sleeve.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 linkage rod or shifting rail connects the shift fork to the operator’s shift lever.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As the lever moves, the linkage or rail moves the shift fork and synchronizer sleeve to engage the correct transmission gear.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571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EM VQ Manual Transmission Shift Fork - 3rd and 4th - Z1 Motorsports -  Performance OEM and Aftermarket Engineered Parts Global Leader In 300ZX  350Z 370Z G35 G37 Q50 Q60">
            <a:extLst>
              <a:ext uri="{FF2B5EF4-FFF2-40B4-BE49-F238E27FC236}">
                <a16:creationId xmlns:a16="http://schemas.microsoft.com/office/drawing/2014/main" id="{3B7B76F2-9061-46BB-BDA8-F6502D39CD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14" y="1007053"/>
            <a:ext cx="5056683" cy="484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Shift Linkage and Shift Rails">
            <a:extLst>
              <a:ext uri="{FF2B5EF4-FFF2-40B4-BE49-F238E27FC236}">
                <a16:creationId xmlns:a16="http://schemas.microsoft.com/office/drawing/2014/main" id="{4026EBEC-C510-486E-977D-22BD853DDF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Shift Linkage and Shift Rails">
            <a:extLst>
              <a:ext uri="{FF2B5EF4-FFF2-40B4-BE49-F238E27FC236}">
                <a16:creationId xmlns:a16="http://schemas.microsoft.com/office/drawing/2014/main" id="{CE82A027-C537-4CFB-B083-2666A40718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6880A-F381-40B3-8657-9689CA3A0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504" y="1007052"/>
            <a:ext cx="5222731" cy="484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163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2F3B-CD06-4B8B-A96E-C52B02C9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74A11-C5E0-4667-8BD7-FDB7DBCCF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01371"/>
            <a:ext cx="9601196" cy="39744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chemeClr val="accent1"/>
                </a:solidFill>
                <a:effectLst/>
              </a:rPr>
              <a:t>   </a:t>
            </a:r>
            <a:r>
              <a:rPr lang="en-US" sz="2400" b="1" i="0" dirty="0">
                <a:solidFill>
                  <a:srgbClr val="00B0F0"/>
                </a:solidFill>
                <a:effectLst/>
              </a:rPr>
              <a:t>g) Shift Linkage and Levers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There are two types of shift linkages used on manual transmissions, </a:t>
            </a:r>
            <a:r>
              <a:rPr lang="en-US" sz="2400" dirty="0">
                <a:solidFill>
                  <a:srgbClr val="000000"/>
                </a:solidFill>
              </a:rPr>
              <a:t>which 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are  external rod and the internal shift rail.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They both perform the same function.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They connect the shift lever with the shift fork mechanism.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The transmission shift lever assembly can be moved to cause movement of the shift linkage, shift forks, and synchronizers. </a:t>
            </a:r>
          </a:p>
        </p:txBody>
      </p:sp>
    </p:spTree>
    <p:extLst>
      <p:ext uri="{BB962C8B-B14F-4D97-AF65-F5344CB8AC3E}">
        <p14:creationId xmlns:p14="http://schemas.microsoft.com/office/powerpoint/2010/main" val="3107001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F736-969E-46B9-8837-87485D3B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00000"/>
                </a:solidFill>
                <a:effectLst/>
                <a:latin typeface="+mn-lt"/>
              </a:rPr>
              <a:t>Transmission Construction</a:t>
            </a:r>
            <a:r>
              <a:rPr lang="en-US" sz="4400" dirty="0">
                <a:latin typeface="+mn-lt"/>
              </a:rPr>
              <a:t> 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EA72-5256-49F4-B873-2FEE479C3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872343"/>
            <a:ext cx="9601196" cy="4003525"/>
          </a:xfrm>
        </p:spPr>
        <p:txBody>
          <a:bodyPr/>
          <a:lstStyle/>
          <a:p>
            <a:pPr marL="0" indent="0">
              <a:buNone/>
            </a:pPr>
            <a:r>
              <a:rPr lang="en-US" sz="2400" b="1" i="0" dirty="0">
                <a:solidFill>
                  <a:srgbClr val="00B0F0"/>
                </a:solidFill>
                <a:effectLst/>
              </a:rPr>
              <a:t>   g) Shift Linkage and Levers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cont..</a:t>
            </a:r>
          </a:p>
          <a:p>
            <a:endParaRPr lang="en-US" sz="2400" b="0" i="0" dirty="0">
              <a:solidFill>
                <a:srgbClr val="000000"/>
              </a:solidFill>
              <a:effectLst/>
            </a:endParaRP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The shift lever may be either floor mounted or column mounted, depending upon the manufacturer.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Floor-mounted shift levers are generally used with an internal shift rail linkage, whereas column-mounted shift levers are generally used with an external rod linkage.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225650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at Happened To Column Shifters? - Seatco">
            <a:extLst>
              <a:ext uri="{FF2B5EF4-FFF2-40B4-BE49-F238E27FC236}">
                <a16:creationId xmlns:a16="http://schemas.microsoft.com/office/drawing/2014/main" id="{947A07FB-084D-4FFF-B633-2B5B8EC1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82781"/>
            <a:ext cx="4963463" cy="514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Why are floor gears more popular in cars than hand lever operated gears? -  Quora">
            <a:extLst>
              <a:ext uri="{FF2B5EF4-FFF2-40B4-BE49-F238E27FC236}">
                <a16:creationId xmlns:a16="http://schemas.microsoft.com/office/drawing/2014/main" id="{53D396F5-5210-43A1-8D57-E6011B6FC0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8" descr="Why are floor gears more popular in cars than hand lever operated gears? -  Quora">
            <a:extLst>
              <a:ext uri="{FF2B5EF4-FFF2-40B4-BE49-F238E27FC236}">
                <a16:creationId xmlns:a16="http://schemas.microsoft.com/office/drawing/2014/main" id="{D538599F-FD5D-4249-973A-BECD1636B4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0" descr="Why are floor gears more popular in cars than hand lever operated gears? -  Quora">
            <a:extLst>
              <a:ext uri="{FF2B5EF4-FFF2-40B4-BE49-F238E27FC236}">
                <a16:creationId xmlns:a16="http://schemas.microsoft.com/office/drawing/2014/main" id="{225F3DC7-8AC5-460D-95F0-E3CDCD1F8A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34BA2-BF34-4C68-BD01-63DD05848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07" y="782781"/>
            <a:ext cx="5338293" cy="514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47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ow a manual transmission works – x-engineer.org">
            <a:extLst>
              <a:ext uri="{FF2B5EF4-FFF2-40B4-BE49-F238E27FC236}">
                <a16:creationId xmlns:a16="http://schemas.microsoft.com/office/drawing/2014/main" id="{1E333296-07AA-4E9C-9CAF-5AEEA06C85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514" y="645324"/>
            <a:ext cx="8898035" cy="556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059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801CA4-1D47-4977-9199-5172046FE5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682" y="1584102"/>
            <a:ext cx="8152326" cy="3606083"/>
          </a:xfrm>
        </p:spPr>
      </p:pic>
    </p:spTree>
    <p:extLst>
      <p:ext uri="{BB962C8B-B14F-4D97-AF65-F5344CB8AC3E}">
        <p14:creationId xmlns:p14="http://schemas.microsoft.com/office/powerpoint/2010/main" val="2467325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E96B-50C4-4A2C-A214-A9173133B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+mn-lt"/>
              </a:rPr>
              <a:t>Transmission Power Flow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C8D8D-20BD-45E7-AE7F-D09875876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</a:rPr>
              <a:t>Now that you understand the main parts and operation of a manual transmission, we will examine the power flow through a simple three-speed unit. </a:t>
            </a:r>
          </a:p>
          <a:p>
            <a:pPr marL="0" indent="0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</a:rPr>
              <a:t>The principles are the same on transmissions with more speeds.</a:t>
            </a:r>
            <a:r>
              <a:rPr lang="en-US" sz="3200" dirty="0"/>
              <a:t>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56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1F706D-E608-46B8-93B0-7A000B196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525" y="688794"/>
            <a:ext cx="5324475" cy="56228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3B7FD7-D6B5-4E0B-BBA6-5BDB173D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714" y="831273"/>
            <a:ext cx="5844886" cy="548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51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D078A2-322C-4801-BCB8-2CE6C102F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873" y="872836"/>
            <a:ext cx="5666509" cy="541712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39B9B8-E39C-42F9-81DB-3226B0134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19" y="872836"/>
            <a:ext cx="5126182" cy="54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612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3E0C76-EB37-4E5F-8E23-86D1F5F78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144" y="574963"/>
            <a:ext cx="7109980" cy="5708073"/>
          </a:xfrm>
        </p:spPr>
      </p:pic>
    </p:spTree>
    <p:extLst>
      <p:ext uri="{BB962C8B-B14F-4D97-AF65-F5344CB8AC3E}">
        <p14:creationId xmlns:p14="http://schemas.microsoft.com/office/powerpoint/2010/main" val="18281782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9A66-ED77-469D-B43A-239A3E95A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effectLst/>
                <a:latin typeface="+mn-lt"/>
              </a:rPr>
              <a:t>Gear box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61FB7-BCF8-4906-B319-7C8786C28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i="0" dirty="0">
                <a:effectLst/>
                <a:latin typeface="+mn-lt"/>
              </a:rPr>
              <a:t>The most gear box problems are</a:t>
            </a:r>
          </a:p>
          <a:p>
            <a:r>
              <a:rPr lang="en-US" sz="2800" i="0" dirty="0">
                <a:effectLst/>
                <a:latin typeface="+mn-lt"/>
              </a:rPr>
              <a:t>Hard-to-shift gears</a:t>
            </a:r>
          </a:p>
          <a:p>
            <a:r>
              <a:rPr lang="en-US" sz="2800" dirty="0"/>
              <a:t>Noise</a:t>
            </a:r>
          </a:p>
          <a:p>
            <a:r>
              <a:rPr lang="en-US" sz="2800" dirty="0"/>
              <a:t>leakage</a:t>
            </a:r>
          </a:p>
        </p:txBody>
      </p:sp>
    </p:spTree>
    <p:extLst>
      <p:ext uri="{BB962C8B-B14F-4D97-AF65-F5344CB8AC3E}">
        <p14:creationId xmlns:p14="http://schemas.microsoft.com/office/powerpoint/2010/main" val="1056827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2434-416D-4125-8DAC-03E4C8DC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Gear box</a:t>
            </a:r>
            <a:r>
              <a:rPr lang="en-US" sz="4400" b="1" i="0" dirty="0">
                <a:effectLst/>
                <a:latin typeface="+mn-lt"/>
              </a:rPr>
              <a:t> Problem’s Diagnosis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2A77-1D0F-4695-8463-CFF1F7B78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73943"/>
            <a:ext cx="10910456" cy="42030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chemeClr val="accent2"/>
                </a:solidFill>
                <a:effectLst/>
                <a:latin typeface="+mn-lt"/>
              </a:rPr>
              <a:t>Hard-to-shift Problem </a:t>
            </a:r>
          </a:p>
          <a:p>
            <a:pPr marL="0" indent="0">
              <a:buNone/>
            </a:pPr>
            <a:endParaRPr lang="en-US" sz="3000" b="0" i="0" dirty="0">
              <a:effectLst/>
            </a:endParaRPr>
          </a:p>
          <a:p>
            <a:pPr marL="0" indent="0">
              <a:buNone/>
            </a:pPr>
            <a:r>
              <a:rPr lang="en-US" sz="3000" b="0" i="0" dirty="0">
                <a:effectLst/>
              </a:rPr>
              <a:t>Several reasons can cause a manual transmission to be difficult to shift </a:t>
            </a:r>
            <a:r>
              <a:rPr lang="en-US" sz="3000" dirty="0"/>
              <a:t>(</a:t>
            </a:r>
            <a:r>
              <a:rPr lang="en-US" sz="3000" b="0" i="0" dirty="0">
                <a:effectLst/>
              </a:rPr>
              <a:t>engage and disengage the gears) including</a:t>
            </a:r>
            <a:r>
              <a:rPr lang="en-US" sz="3000" dirty="0"/>
              <a:t> </a:t>
            </a:r>
          </a:p>
          <a:p>
            <a:r>
              <a:rPr lang="en-US" sz="3000" i="0" dirty="0">
                <a:effectLst/>
              </a:rPr>
              <a:t>Clutch not fully disengaging</a:t>
            </a:r>
          </a:p>
          <a:p>
            <a:r>
              <a:rPr lang="en-US" sz="3000" i="0" dirty="0">
                <a:effectLst/>
              </a:rPr>
              <a:t>Worn synchronizer</a:t>
            </a:r>
            <a:r>
              <a:rPr lang="en-US" sz="3000" dirty="0"/>
              <a:t> </a:t>
            </a:r>
          </a:p>
          <a:p>
            <a:r>
              <a:rPr lang="en-US" sz="3000" i="0" dirty="0">
                <a:effectLst/>
              </a:rPr>
              <a:t>Worn, cracked, or loose shift forks</a:t>
            </a:r>
            <a:r>
              <a:rPr lang="en-US" sz="3000" dirty="0"/>
              <a:t> </a:t>
            </a:r>
          </a:p>
          <a:p>
            <a:r>
              <a:rPr lang="en-US" sz="3000" i="0" dirty="0">
                <a:effectLst/>
              </a:rPr>
              <a:t>Excessive input- or main-shaft end play</a:t>
            </a:r>
            <a:r>
              <a:rPr lang="en-US" sz="3000" dirty="0"/>
              <a:t> </a:t>
            </a:r>
          </a:p>
          <a:p>
            <a:r>
              <a:rPr lang="en-US" sz="3000" i="0" dirty="0">
                <a:effectLst/>
              </a:rPr>
              <a:t>Improper lubrication</a:t>
            </a:r>
            <a:r>
              <a:rPr lang="en-US" sz="3000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7312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8368-5AFC-4105-8F33-7F554C39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Gear box</a:t>
            </a:r>
            <a:r>
              <a:rPr lang="en-US" sz="4400" b="1" i="0" dirty="0">
                <a:effectLst/>
                <a:latin typeface="+mn-lt"/>
              </a:rPr>
              <a:t> Problem’s Diagnosis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1947-DC3E-4550-A80C-79F106536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59428"/>
            <a:ext cx="9601196" cy="3916439"/>
          </a:xfrm>
        </p:spPr>
        <p:txBody>
          <a:bodyPr/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2"/>
                </a:solidFill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Gearbox Noisy</a:t>
            </a:r>
            <a:endParaRPr lang="en-US" b="1" dirty="0">
              <a:solidFill>
                <a:schemeClr val="accent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tabLst>
                <a:tab pos="685800" algn="l"/>
              </a:tabLst>
            </a:pPr>
            <a:endParaRPr lang="en-US" dirty="0">
              <a:effectLst/>
              <a:ea typeface="Batang" panose="020B0503020000020004" pitchFamily="18" charset="-127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tabLst>
                <a:tab pos="685800" algn="l"/>
              </a:tabLst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Worn bearings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tabLst>
                <a:tab pos="685800" algn="l"/>
              </a:tabLst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Worn gears 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tabLst>
                <a:tab pos="685800" algn="l"/>
              </a:tabLst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Insufficient oil in gearbox</a:t>
            </a: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tabLst>
                <a:tab pos="685800" algn="l"/>
              </a:tabLst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Incorrect grade oil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tabLst>
                <a:tab pos="685800" algn="l"/>
              </a:tabLst>
            </a:pPr>
            <a:endParaRPr lang="en-US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5078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84B8-1627-426E-AB1A-292C95B11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Gear box</a:t>
            </a:r>
            <a:r>
              <a:rPr lang="en-US" sz="4400" b="1" i="0" dirty="0">
                <a:effectLst/>
                <a:latin typeface="+mn-lt"/>
              </a:rPr>
              <a:t> Problem’s Diagnosis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A918-8DFD-4055-AE56-5661285BD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988457"/>
            <a:ext cx="9601196" cy="388741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leakage</a:t>
            </a:r>
          </a:p>
          <a:p>
            <a:endParaRPr lang="en-US" dirty="0"/>
          </a:p>
          <a:p>
            <a:r>
              <a:rPr lang="en-US" dirty="0"/>
              <a:t>Damaged oil seals</a:t>
            </a:r>
          </a:p>
          <a:p>
            <a:r>
              <a:rPr lang="en-US" dirty="0"/>
              <a:t>Cracks on cases</a:t>
            </a:r>
          </a:p>
          <a:p>
            <a:r>
              <a:rPr lang="en-US" dirty="0"/>
              <a:t>Overfilling of oil</a:t>
            </a:r>
          </a:p>
        </p:txBody>
      </p:sp>
    </p:spTree>
    <p:extLst>
      <p:ext uri="{BB962C8B-B14F-4D97-AF65-F5344CB8AC3E}">
        <p14:creationId xmlns:p14="http://schemas.microsoft.com/office/powerpoint/2010/main" val="516915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7D57-2DE6-412F-9197-19F56C69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Dotum" panose="020B0503020000020004" pitchFamily="34" charset="-127"/>
                <a:cs typeface="Times New Roman" panose="02020603050405020304" pitchFamily="18" charset="0"/>
              </a:rPr>
              <a:t>Gear Box Maintenance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F5243-DC84-449B-8ED5-B593DC300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Some of common checks that should be carried out on the gear box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The gear box selector linkages should be checked for signs of wear and should be lubricated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The gear box may need to be drained of oil and refilled with new, using he recommended type and grade at suitable intervals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The gear box casing should be inspected for signs of damage or oil leakage from the various oil seals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ea typeface="Batang" panose="020B0503020000020004" pitchFamily="18" charset="-127"/>
                <a:cs typeface="Times New Roman" panose="02020603050405020304" pitchFamily="18" charset="0"/>
              </a:rPr>
              <a:t>The gearbox mountings and securing bots should be checked for security and sign of deterioration</a:t>
            </a:r>
            <a:endParaRPr lang="en-US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1888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12755</TotalTime>
  <Words>1890</Words>
  <Application>Microsoft Office PowerPoint</Application>
  <PresentationFormat>Widescreen</PresentationFormat>
  <Paragraphs>187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Garamond</vt:lpstr>
      <vt:lpstr>Times New Roman</vt:lpstr>
      <vt:lpstr>Organic</vt:lpstr>
      <vt:lpstr>Lecture 2; Manual Gearbox</vt:lpstr>
      <vt:lpstr>What to be learned</vt:lpstr>
      <vt:lpstr>Introduction</vt:lpstr>
      <vt:lpstr>Introduction</vt:lpstr>
      <vt:lpstr>Introduction</vt:lpstr>
      <vt:lpstr>Manual gear Box</vt:lpstr>
      <vt:lpstr>Types of Manual gear box</vt:lpstr>
      <vt:lpstr>i. Sliding Mesh Gear Box </vt:lpstr>
      <vt:lpstr>i. Sliding Mesh Gear Box Cont..</vt:lpstr>
      <vt:lpstr>PowerPoint Presentation</vt:lpstr>
      <vt:lpstr>PowerPoint Presentation</vt:lpstr>
      <vt:lpstr>ii. Constant mesh gear box</vt:lpstr>
      <vt:lpstr>ii. Constant mesh gear box Cont..</vt:lpstr>
      <vt:lpstr>PowerPoint Presentation</vt:lpstr>
      <vt:lpstr>PowerPoint Presentation</vt:lpstr>
      <vt:lpstr>iii. Synchromesh Transmission </vt:lpstr>
      <vt:lpstr>iii. Synchromesh Transmission Cont..</vt:lpstr>
      <vt:lpstr>PowerPoint Presentation</vt:lpstr>
      <vt:lpstr>Transmission Construction </vt:lpstr>
      <vt:lpstr>Transmission Construction </vt:lpstr>
      <vt:lpstr>Transmission Construction </vt:lpstr>
      <vt:lpstr>Transmission case                      Extension housing</vt:lpstr>
      <vt:lpstr>Transmission Construction </vt:lpstr>
      <vt:lpstr>Transmission Construction </vt:lpstr>
      <vt:lpstr>Transmission Construction </vt:lpstr>
      <vt:lpstr>Transmission Construction </vt:lpstr>
      <vt:lpstr>Transmission Construction </vt:lpstr>
      <vt:lpstr>Transmission Construction </vt:lpstr>
      <vt:lpstr>PowerPoint Presentation</vt:lpstr>
      <vt:lpstr>Transmission Construction </vt:lpstr>
      <vt:lpstr>Transmission Construction </vt:lpstr>
      <vt:lpstr>Transmission Construction </vt:lpstr>
      <vt:lpstr>PowerPoint Presentation</vt:lpstr>
      <vt:lpstr>Transmission Construction </vt:lpstr>
      <vt:lpstr>Transmission Construction </vt:lpstr>
      <vt:lpstr>PowerPoint Presentation</vt:lpstr>
      <vt:lpstr>PowerPoint Presentation</vt:lpstr>
      <vt:lpstr>PowerPoint Presentation</vt:lpstr>
      <vt:lpstr>Transmission Power Flow</vt:lpstr>
      <vt:lpstr>PowerPoint Presentation</vt:lpstr>
      <vt:lpstr>PowerPoint Presentation</vt:lpstr>
      <vt:lpstr>PowerPoint Presentation</vt:lpstr>
      <vt:lpstr>Gear box Problems</vt:lpstr>
      <vt:lpstr>Gear box Problem’s Diagnosis</vt:lpstr>
      <vt:lpstr>Gear box Problem’s Diagnosis</vt:lpstr>
      <vt:lpstr>Gear box Problem’s Diagnosis</vt:lpstr>
      <vt:lpstr>Gear Box Maintenance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of Manual Gearbox</dc:title>
  <dc:creator>Shanel</dc:creator>
  <cp:lastModifiedBy>Shanel</cp:lastModifiedBy>
  <cp:revision>126</cp:revision>
  <dcterms:created xsi:type="dcterms:W3CDTF">2020-11-12T08:55:28Z</dcterms:created>
  <dcterms:modified xsi:type="dcterms:W3CDTF">2023-11-11T00:38:21Z</dcterms:modified>
</cp:coreProperties>
</file>