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8"/>
  </p:notesMasterIdLst>
  <p:sldIdLst>
    <p:sldId id="256" r:id="rId2"/>
    <p:sldId id="302" r:id="rId3"/>
    <p:sldId id="258" r:id="rId4"/>
    <p:sldId id="300" r:id="rId5"/>
    <p:sldId id="298" r:id="rId6"/>
    <p:sldId id="299" r:id="rId7"/>
    <p:sldId id="301" r:id="rId8"/>
    <p:sldId id="260" r:id="rId9"/>
    <p:sldId id="262" r:id="rId10"/>
    <p:sldId id="264" r:id="rId11"/>
    <p:sldId id="266" r:id="rId12"/>
    <p:sldId id="268" r:id="rId13"/>
    <p:sldId id="270" r:id="rId14"/>
    <p:sldId id="271" r:id="rId15"/>
    <p:sldId id="272" r:id="rId16"/>
    <p:sldId id="291" r:id="rId17"/>
    <p:sldId id="292" r:id="rId18"/>
    <p:sldId id="293" r:id="rId19"/>
    <p:sldId id="294" r:id="rId20"/>
    <p:sldId id="303" r:id="rId21"/>
    <p:sldId id="296" r:id="rId22"/>
    <p:sldId id="273" r:id="rId23"/>
    <p:sldId id="274" r:id="rId24"/>
    <p:sldId id="275" r:id="rId25"/>
    <p:sldId id="276" r:id="rId26"/>
    <p:sldId id="277" r:id="rId27"/>
    <p:sldId id="278" r:id="rId28"/>
    <p:sldId id="283" r:id="rId29"/>
    <p:sldId id="285" r:id="rId30"/>
    <p:sldId id="287" r:id="rId31"/>
    <p:sldId id="289" r:id="rId32"/>
    <p:sldId id="279" r:id="rId33"/>
    <p:sldId id="280" r:id="rId34"/>
    <p:sldId id="281" r:id="rId35"/>
    <p:sldId id="290" r:id="rId36"/>
    <p:sldId id="297"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D68C828-383D-4E0E-A430-3BC68D9EC48B}" type="datetimeFigureOut">
              <a:rPr lang="en-US" smtClean="0"/>
              <a:pPr/>
              <a:t>1/6/2022</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144199E-36AB-4143-B467-EB3DD3A69D90}"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144199E-36AB-4143-B467-EB3DD3A69D90}" type="slidenum">
              <a:rPr lang="en-US" smtClean="0"/>
              <a:pPr/>
              <a:t>25</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1AD0EFA-D5E7-44B3-8B27-9F10ED433A10}" type="datetimeFigureOut">
              <a:rPr lang="en-US" smtClean="0"/>
              <a:pPr/>
              <a:t>1/6/2022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A8A730C-C738-478B-9A61-891B2A3E238D}"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1AD0EFA-D5E7-44B3-8B27-9F10ED433A10}" type="datetimeFigureOut">
              <a:rPr lang="en-US" smtClean="0"/>
              <a:pPr/>
              <a:t>1/6/2022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A8A730C-C738-478B-9A61-891B2A3E238D}"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1AD0EFA-D5E7-44B3-8B27-9F10ED433A10}" type="datetimeFigureOut">
              <a:rPr lang="en-US" smtClean="0"/>
              <a:pPr/>
              <a:t>1/6/2022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A8A730C-C738-478B-9A61-891B2A3E238D}"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1AD0EFA-D5E7-44B3-8B27-9F10ED433A10}" type="datetimeFigureOut">
              <a:rPr lang="en-US" smtClean="0"/>
              <a:pPr/>
              <a:t>1/6/2022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A8A730C-C738-478B-9A61-891B2A3E238D}"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1AD0EFA-D5E7-44B3-8B27-9F10ED433A10}" type="datetimeFigureOut">
              <a:rPr lang="en-US" smtClean="0"/>
              <a:pPr/>
              <a:t>1/6/2022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A8A730C-C738-478B-9A61-891B2A3E238D}"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1AD0EFA-D5E7-44B3-8B27-9F10ED433A10}" type="datetimeFigureOut">
              <a:rPr lang="en-US" smtClean="0"/>
              <a:pPr/>
              <a:t>1/6/2022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5A8A730C-C738-478B-9A61-891B2A3E238D}"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AD0EFA-D5E7-44B3-8B27-9F10ED433A10}" type="datetimeFigureOut">
              <a:rPr lang="en-US" smtClean="0"/>
              <a:pPr/>
              <a:t>1/6/2022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5A8A730C-C738-478B-9A61-891B2A3E238D}"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1AD0EFA-D5E7-44B3-8B27-9F10ED433A10}" type="datetimeFigureOut">
              <a:rPr lang="en-US" smtClean="0"/>
              <a:pPr/>
              <a:t>1/6/2022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A8A730C-C738-478B-9A61-891B2A3E238D}"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1AD0EFA-D5E7-44B3-8B27-9F10ED433A10}" type="datetimeFigureOut">
              <a:rPr lang="en-US" smtClean="0"/>
              <a:pPr/>
              <a:t>1/6/2022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A8A730C-C738-478B-9A61-891B2A3E238D}"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1AD0EFA-D5E7-44B3-8B27-9F10ED433A10}" type="datetimeFigureOut">
              <a:rPr lang="en-US" smtClean="0"/>
              <a:pPr/>
              <a:t>1/6/2022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A8A730C-C738-478B-9A61-891B2A3E238D}"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1AD0EFA-D5E7-44B3-8B27-9F10ED433A10}" type="datetimeFigureOut">
              <a:rPr lang="en-US" smtClean="0"/>
              <a:pPr/>
              <a:t>1/6/2022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A8A730C-C738-478B-9A61-891B2A3E238D}"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AD0EFA-D5E7-44B3-8B27-9F10ED433A10}" type="datetimeFigureOut">
              <a:rPr lang="en-US" smtClean="0"/>
              <a:pPr/>
              <a:t>1/6/2022</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8A730C-C738-478B-9A61-891B2A3E238D}"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electrical4u.com/control-system-closed-loop-open-loop-control-system/" TargetMode="External"/><Relationship Id="rId2" Type="http://schemas.openxmlformats.org/officeDocument/2006/relationships/hyperlink" Target="https://www.electrical4u.com/control-engineering-historical-review-and-types-of-control-engineering/"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381001"/>
            <a:ext cx="8382000" cy="1142999"/>
          </a:xfrm>
          <a:solidFill>
            <a:schemeClr val="accent2"/>
          </a:solidFill>
        </p:spPr>
        <p:txBody>
          <a:bodyPr>
            <a:normAutofit/>
          </a:bodyPr>
          <a:lstStyle/>
          <a:p>
            <a:r>
              <a:rPr lang="en-US" dirty="0" smtClean="0"/>
              <a:t>SYSTEM CONTROLLERS</a:t>
            </a:r>
            <a:endParaRPr lang="en-US" dirty="0"/>
          </a:p>
        </p:txBody>
      </p:sp>
      <p:sp>
        <p:nvSpPr>
          <p:cNvPr id="3" name="Subtitle 2"/>
          <p:cNvSpPr>
            <a:spLocks noGrp="1"/>
          </p:cNvSpPr>
          <p:nvPr>
            <p:ph type="subTitle" idx="1"/>
          </p:nvPr>
        </p:nvSpPr>
        <p:spPr>
          <a:xfrm>
            <a:off x="381000" y="2209800"/>
            <a:ext cx="8382000" cy="3200400"/>
          </a:xfrm>
        </p:spPr>
        <p:txBody>
          <a:bodyPr>
            <a:normAutofit/>
          </a:bodyPr>
          <a:lstStyle/>
          <a:p>
            <a:endParaRPr lang="en-US" dirty="0" smtClean="0"/>
          </a:p>
          <a:p>
            <a:pPr>
              <a:buFont typeface="Arial" panose="020B0604020202020204" pitchFamily="34" charset="0"/>
              <a:buChar char="•"/>
            </a:pPr>
            <a:endParaRPr lang="en-US" dirty="0" smtClean="0"/>
          </a:p>
          <a:p>
            <a:r>
              <a:rPr lang="en-US" sz="4000" b="1" dirty="0" smtClean="0"/>
              <a:t>INTRODUCTION</a:t>
            </a:r>
            <a:endParaRPr lang="en-US" sz="4000" b="1"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r>
              <a:rPr lang="en-US" b="1" dirty="0" smtClean="0"/>
              <a:t/>
            </a:r>
            <a:br>
              <a:rPr lang="en-US" b="1" dirty="0" smtClean="0"/>
            </a:br>
            <a:r>
              <a:rPr lang="en-US" b="1" dirty="0" smtClean="0">
                <a:solidFill>
                  <a:srgbClr val="FF0000"/>
                </a:solidFill>
              </a:rPr>
              <a:t>Learning objective</a:t>
            </a:r>
            <a:r>
              <a:rPr lang="en-US" dirty="0" smtClean="0">
                <a:solidFill>
                  <a:srgbClr val="FF0000"/>
                </a:solidFill>
              </a:rPr>
              <a:t>.</a:t>
            </a:r>
            <a:br>
              <a:rPr lang="en-US" dirty="0" smtClean="0">
                <a:solidFill>
                  <a:srgbClr val="FF0000"/>
                </a:solidFill>
              </a:rPr>
            </a:br>
            <a:endParaRPr lang="en-US" dirty="0">
              <a:solidFill>
                <a:srgbClr val="FF0000"/>
              </a:solidFill>
            </a:endParaRPr>
          </a:p>
        </p:txBody>
      </p:sp>
      <p:sp>
        <p:nvSpPr>
          <p:cNvPr id="3" name="Content Placeholder 2"/>
          <p:cNvSpPr>
            <a:spLocks noGrp="1"/>
          </p:cNvSpPr>
          <p:nvPr>
            <p:ph idx="1"/>
          </p:nvPr>
        </p:nvSpPr>
        <p:spPr>
          <a:xfrm>
            <a:off x="304800" y="1143000"/>
            <a:ext cx="8610600" cy="5105400"/>
          </a:xfrm>
        </p:spPr>
        <p:txBody>
          <a:bodyPr>
            <a:normAutofit/>
          </a:bodyPr>
          <a:lstStyle/>
          <a:p>
            <a:pPr>
              <a:buNone/>
            </a:pPr>
            <a:r>
              <a:rPr lang="en-US" dirty="0" smtClean="0"/>
              <a:t>	At the end of this lecture participants should be able to;</a:t>
            </a:r>
          </a:p>
          <a:p>
            <a:pPr lvl="2"/>
            <a:r>
              <a:rPr lang="en-US" dirty="0" smtClean="0"/>
              <a:t> </a:t>
            </a:r>
            <a:r>
              <a:rPr lang="en-US" sz="3200" dirty="0" smtClean="0"/>
              <a:t>Define the term controller</a:t>
            </a:r>
          </a:p>
          <a:p>
            <a:pPr lvl="2"/>
            <a:r>
              <a:rPr lang="en-US" sz="3200" dirty="0" smtClean="0"/>
              <a:t> Describes electrical, electronic, pneumatic and  hydraulic controllers</a:t>
            </a:r>
          </a:p>
          <a:p>
            <a:pPr lvl="2"/>
            <a:r>
              <a:rPr lang="en-US" sz="3200" dirty="0" smtClean="0"/>
              <a:t> Identify pneumatic system components</a:t>
            </a:r>
          </a:p>
          <a:p>
            <a:pPr lvl="2"/>
            <a:r>
              <a:rPr lang="en-US" sz="3200" dirty="0" smtClean="0"/>
              <a:t> Identify hydraulic system components</a:t>
            </a:r>
          </a:p>
          <a:p>
            <a:pPr lvl="2"/>
            <a:r>
              <a:rPr lang="en-US" sz="3200" dirty="0" smtClean="0"/>
              <a:t> Describe importance of controllers</a:t>
            </a:r>
            <a:endParaRPr lang="en-US" sz="32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The concept of controllers</a:t>
            </a:r>
            <a:endParaRPr lang="en-US" dirty="0">
              <a:solidFill>
                <a:srgbClr val="FF0000"/>
              </a:solidFill>
            </a:endParaRPr>
          </a:p>
        </p:txBody>
      </p:sp>
      <p:sp>
        <p:nvSpPr>
          <p:cNvPr id="3" name="Content Placeholder 2"/>
          <p:cNvSpPr>
            <a:spLocks noGrp="1"/>
          </p:cNvSpPr>
          <p:nvPr>
            <p:ph idx="1"/>
          </p:nvPr>
        </p:nvSpPr>
        <p:spPr/>
        <p:txBody>
          <a:bodyPr>
            <a:normAutofit lnSpcReduction="10000"/>
          </a:bodyPr>
          <a:lstStyle/>
          <a:p>
            <a:pPr>
              <a:buNone/>
            </a:pPr>
            <a:r>
              <a:rPr lang="en-US" dirty="0" smtClean="0"/>
              <a:t>	Introduction</a:t>
            </a:r>
          </a:p>
          <a:p>
            <a:pPr>
              <a:buNone/>
            </a:pPr>
            <a:r>
              <a:rPr lang="en-US" dirty="0" smtClean="0"/>
              <a:t>	A controller is a </a:t>
            </a:r>
            <a:r>
              <a:rPr lang="en-US" dirty="0" smtClean="0">
                <a:solidFill>
                  <a:srgbClr val="FF0000"/>
                </a:solidFill>
              </a:rPr>
              <a:t>comparative device </a:t>
            </a:r>
            <a:r>
              <a:rPr lang="en-US" dirty="0" smtClean="0"/>
              <a:t>that receives an input signal from a measured process variable, compare this value with that of predetermined control point value (set point) and determine the appropriate amount of output signal required by the final control element by providing corrective action within a control loop.</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 cont….</a:t>
            </a:r>
            <a:endParaRPr lang="en-US" dirty="0"/>
          </a:p>
        </p:txBody>
      </p:sp>
      <p:sp>
        <p:nvSpPr>
          <p:cNvPr id="3" name="Content Placeholder 2"/>
          <p:cNvSpPr>
            <a:spLocks noGrp="1"/>
          </p:cNvSpPr>
          <p:nvPr>
            <p:ph idx="1"/>
          </p:nvPr>
        </p:nvSpPr>
        <p:spPr/>
        <p:txBody>
          <a:bodyPr/>
          <a:lstStyle/>
          <a:p>
            <a:r>
              <a:rPr lang="en-US" dirty="0" smtClean="0"/>
              <a:t>A controller is a mechanism that seeks to </a:t>
            </a:r>
            <a:r>
              <a:rPr lang="en-US" dirty="0" smtClean="0">
                <a:solidFill>
                  <a:srgbClr val="FF0000"/>
                </a:solidFill>
              </a:rPr>
              <a:t>minimize</a:t>
            </a:r>
            <a:r>
              <a:rPr lang="en-US" dirty="0" smtClean="0"/>
              <a:t> the difference between the </a:t>
            </a:r>
            <a:r>
              <a:rPr lang="en-US" b="1" i="1" dirty="0" smtClean="0"/>
              <a:t>actual </a:t>
            </a:r>
            <a:r>
              <a:rPr lang="en-US" dirty="0" smtClean="0"/>
              <a:t>value of a system (i.e. the process variable) and the </a:t>
            </a:r>
            <a:r>
              <a:rPr lang="en-US" b="1" i="1" dirty="0" smtClean="0"/>
              <a:t>desired</a:t>
            </a:r>
            <a:r>
              <a:rPr lang="en-US" dirty="0" smtClean="0"/>
              <a:t> value of the system (i.e. the set-point).</a:t>
            </a:r>
          </a:p>
          <a:p>
            <a:r>
              <a:rPr lang="en-US" dirty="0" smtClean="0"/>
              <a:t> Controllers are a fundamental part of </a:t>
            </a:r>
            <a:r>
              <a:rPr lang="en-US" dirty="0" smtClean="0">
                <a:hlinkClick r:id="rId2"/>
              </a:rPr>
              <a:t>control engineering</a:t>
            </a:r>
            <a:r>
              <a:rPr lang="en-US" dirty="0" smtClean="0"/>
              <a:t> and used in all complex </a:t>
            </a:r>
            <a:r>
              <a:rPr lang="en-US" dirty="0" smtClean="0">
                <a:hlinkClick r:id="rId3"/>
              </a:rPr>
              <a:t>control systems</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smtClean="0">
                <a:solidFill>
                  <a:srgbClr val="FF0000"/>
                </a:solidFill>
              </a:rPr>
              <a:t>Why system controllers?</a:t>
            </a:r>
            <a:endParaRPr lang="en-US" dirty="0">
              <a:solidFill>
                <a:srgbClr val="FF0000"/>
              </a:solidFill>
            </a:endParaRPr>
          </a:p>
        </p:txBody>
      </p:sp>
      <p:sp>
        <p:nvSpPr>
          <p:cNvPr id="3" name="Content Placeholder 2"/>
          <p:cNvSpPr>
            <a:spLocks noGrp="1"/>
          </p:cNvSpPr>
          <p:nvPr>
            <p:ph idx="1"/>
          </p:nvPr>
        </p:nvSpPr>
        <p:spPr>
          <a:xfrm>
            <a:off x="457200" y="1219200"/>
            <a:ext cx="8229600" cy="5334000"/>
          </a:xfrm>
        </p:spPr>
        <p:txBody>
          <a:bodyPr>
            <a:normAutofit/>
          </a:bodyPr>
          <a:lstStyle/>
          <a:p>
            <a:pPr lvl="0">
              <a:buFont typeface="Wingdings" pitchFamily="2" charset="2"/>
              <a:buChar char="ü"/>
            </a:pPr>
            <a:r>
              <a:rPr lang="en-US" sz="3000" dirty="0" smtClean="0">
                <a:latin typeface="Times New Roman" pitchFamily="18" charset="0"/>
                <a:cs typeface="Times New Roman" pitchFamily="18" charset="0"/>
              </a:rPr>
              <a:t>Controllers improve the steady-state accuracy by decreasing the steady state error.</a:t>
            </a:r>
          </a:p>
          <a:p>
            <a:pPr lvl="0">
              <a:buFont typeface="Wingdings" pitchFamily="2" charset="2"/>
              <a:buChar char="ü"/>
            </a:pPr>
            <a:r>
              <a:rPr lang="en-US" sz="3000" dirty="0" smtClean="0">
                <a:latin typeface="Times New Roman" pitchFamily="18" charset="0"/>
                <a:cs typeface="Times New Roman" pitchFamily="18" charset="0"/>
              </a:rPr>
              <a:t>As the steady-state accuracy improves, the stability also improves.</a:t>
            </a:r>
          </a:p>
          <a:p>
            <a:pPr lvl="0">
              <a:buFont typeface="Wingdings" pitchFamily="2" charset="2"/>
              <a:buChar char="ü"/>
            </a:pPr>
            <a:r>
              <a:rPr lang="en-US" sz="3000" dirty="0" smtClean="0">
                <a:latin typeface="Times New Roman" pitchFamily="18" charset="0"/>
                <a:cs typeface="Times New Roman" pitchFamily="18" charset="0"/>
              </a:rPr>
              <a:t>Controllers also help in reducing the unwanted offsets produced by the system.</a:t>
            </a:r>
          </a:p>
          <a:p>
            <a:pPr lvl="0">
              <a:buFont typeface="Wingdings" pitchFamily="2" charset="2"/>
              <a:buChar char="ü"/>
            </a:pPr>
            <a:r>
              <a:rPr lang="en-US" sz="3000" dirty="0" smtClean="0">
                <a:latin typeface="Times New Roman" pitchFamily="18" charset="0"/>
                <a:cs typeface="Times New Roman" pitchFamily="18" charset="0"/>
              </a:rPr>
              <a:t>Controllers can control the maximum overshoot of the system.</a:t>
            </a:r>
          </a:p>
          <a:p>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system controller cont…</a:t>
            </a:r>
            <a:endParaRPr lang="en-US" dirty="0"/>
          </a:p>
        </p:txBody>
      </p:sp>
      <p:sp>
        <p:nvSpPr>
          <p:cNvPr id="3" name="Content Placeholder 2"/>
          <p:cNvSpPr>
            <a:spLocks noGrp="1"/>
          </p:cNvSpPr>
          <p:nvPr>
            <p:ph idx="1"/>
          </p:nvPr>
        </p:nvSpPr>
        <p:spPr/>
        <p:txBody>
          <a:bodyPr/>
          <a:lstStyle/>
          <a:p>
            <a:pPr lvl="0">
              <a:buFont typeface="Wingdings" pitchFamily="2" charset="2"/>
              <a:buChar char="ü"/>
            </a:pPr>
            <a:r>
              <a:rPr lang="en-US" dirty="0" smtClean="0">
                <a:latin typeface="Times New Roman" pitchFamily="18" charset="0"/>
                <a:cs typeface="Times New Roman" pitchFamily="18" charset="0"/>
              </a:rPr>
              <a:t>Controllers can help in reducing the noise signals produced by the system.</a:t>
            </a:r>
          </a:p>
          <a:p>
            <a:pPr lvl="0">
              <a:buFont typeface="Wingdings" pitchFamily="2" charset="2"/>
              <a:buChar char="ü"/>
            </a:pPr>
            <a:r>
              <a:rPr lang="en-US" dirty="0" smtClean="0">
                <a:latin typeface="Times New Roman" pitchFamily="18" charset="0"/>
                <a:cs typeface="Times New Roman" pitchFamily="18" charset="0"/>
              </a:rPr>
              <a:t>Controllers can help to speed up the slow response of an over-damped system</a:t>
            </a:r>
            <a:r>
              <a:rPr lang="en-US" dirty="0" smtClean="0"/>
              <a:t>.</a:t>
            </a:r>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2"/>
          </a:solidFill>
        </p:spPr>
        <p:txBody>
          <a:bodyPr/>
          <a:lstStyle/>
          <a:p>
            <a:r>
              <a:rPr lang="en-US" dirty="0" smtClean="0"/>
              <a:t>Types of controllers</a:t>
            </a:r>
            <a:endParaRPr lang="en-US" dirty="0"/>
          </a:p>
        </p:txBody>
      </p:sp>
      <p:sp>
        <p:nvSpPr>
          <p:cNvPr id="3" name="Content Placeholder 2"/>
          <p:cNvSpPr>
            <a:spLocks noGrp="1"/>
          </p:cNvSpPr>
          <p:nvPr>
            <p:ph idx="1"/>
          </p:nvPr>
        </p:nvSpPr>
        <p:spPr/>
        <p:txBody>
          <a:bodyPr/>
          <a:lstStyle/>
          <a:p>
            <a:r>
              <a:rPr lang="en-US" dirty="0" smtClean="0"/>
              <a:t>System controllers may be divided into several categories depending on </a:t>
            </a:r>
            <a:r>
              <a:rPr lang="en-US" b="1" i="1" dirty="0" smtClean="0"/>
              <a:t>energy used</a:t>
            </a:r>
            <a:r>
              <a:rPr lang="en-US" dirty="0" smtClean="0"/>
              <a:t>, </a:t>
            </a:r>
            <a:r>
              <a:rPr lang="en-US" b="1" i="1" dirty="0" smtClean="0"/>
              <a:t>construction </a:t>
            </a:r>
            <a:r>
              <a:rPr lang="en-US" dirty="0" smtClean="0"/>
              <a:t>and </a:t>
            </a:r>
            <a:r>
              <a:rPr lang="en-US" b="1" i="1" dirty="0" smtClean="0"/>
              <a:t>parameters they control </a:t>
            </a:r>
            <a:r>
              <a:rPr lang="en-US" dirty="0" smtClean="0"/>
              <a:t>etc</a:t>
            </a:r>
          </a:p>
          <a:p>
            <a:r>
              <a:rPr lang="en-US" dirty="0" smtClean="0"/>
              <a:t>Basing on energy used; we have:</a:t>
            </a:r>
          </a:p>
          <a:p>
            <a:pPr lvl="1">
              <a:buFont typeface="Wingdings" pitchFamily="2" charset="2"/>
              <a:buChar char="ü"/>
            </a:pPr>
            <a:r>
              <a:rPr lang="en-US" sz="3200" dirty="0" smtClean="0"/>
              <a:t>Electrical controllers</a:t>
            </a:r>
          </a:p>
          <a:p>
            <a:pPr lvl="1">
              <a:buFont typeface="Wingdings" pitchFamily="2" charset="2"/>
              <a:buChar char="ü"/>
            </a:pPr>
            <a:r>
              <a:rPr lang="en-US" sz="3200" dirty="0" smtClean="0"/>
              <a:t>Pneumatic controllers </a:t>
            </a:r>
          </a:p>
          <a:p>
            <a:pPr lvl="1">
              <a:buFont typeface="Wingdings" pitchFamily="2" charset="2"/>
              <a:buChar char="ü"/>
            </a:pPr>
            <a:r>
              <a:rPr lang="en-US" sz="3200" dirty="0" smtClean="0"/>
              <a:t>Hydraulic controller</a:t>
            </a:r>
          </a:p>
          <a:p>
            <a:pPr>
              <a:buNone/>
            </a:pPr>
            <a:endParaRPr lang="en-US" dirty="0" smtClean="0"/>
          </a:p>
          <a:p>
            <a:pPr>
              <a:buNone/>
            </a:pP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1. Electrical controllers</a:t>
            </a:r>
            <a:endParaRPr lang="en-US" dirty="0">
              <a:solidFill>
                <a:srgbClr val="FF0000"/>
              </a:solidFill>
            </a:endParaRPr>
          </a:p>
        </p:txBody>
      </p:sp>
      <p:sp>
        <p:nvSpPr>
          <p:cNvPr id="3" name="Content Placeholder 2"/>
          <p:cNvSpPr>
            <a:spLocks noGrp="1"/>
          </p:cNvSpPr>
          <p:nvPr>
            <p:ph idx="1"/>
          </p:nvPr>
        </p:nvSpPr>
        <p:spPr/>
        <p:txBody>
          <a:bodyPr>
            <a:normAutofit fontScale="92500" lnSpcReduction="10000"/>
          </a:bodyPr>
          <a:lstStyle/>
          <a:p>
            <a:pPr>
              <a:buNone/>
            </a:pPr>
            <a:r>
              <a:rPr lang="en-US" dirty="0" smtClean="0"/>
              <a:t>	Electrical control device provide </a:t>
            </a:r>
            <a:r>
              <a:rPr lang="en-US" b="1" i="1" dirty="0" smtClean="0"/>
              <a:t>ON/OFF or two-position control</a:t>
            </a:r>
            <a:r>
              <a:rPr lang="en-US" dirty="0" smtClean="0"/>
              <a:t>. In residential and small commercial application low voltage electrical controls are most common.</a:t>
            </a:r>
          </a:p>
          <a:p>
            <a:pPr>
              <a:buNone/>
            </a:pPr>
            <a:r>
              <a:rPr lang="en-US" dirty="0"/>
              <a:t>	A</a:t>
            </a:r>
            <a:r>
              <a:rPr lang="en-US" dirty="0" smtClean="0"/>
              <a:t> transformer is used to reduce 220volts  alternating current (AC) to a normal 24 volts. This voltage signal is controlled by a thermostat and can open solenoid valves, energize oil burner, control electric heat, operate two position valves and dampers or turn ON/OFF fans and pumps.</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Electric controller cont………</a:t>
            </a:r>
            <a:endParaRPr lang="en-US" dirty="0"/>
          </a:p>
        </p:txBody>
      </p:sp>
      <p:sp>
        <p:nvSpPr>
          <p:cNvPr id="3" name="Content Placeholder 2"/>
          <p:cNvSpPr>
            <a:spLocks noGrp="1"/>
          </p:cNvSpPr>
          <p:nvPr>
            <p:ph idx="1"/>
          </p:nvPr>
        </p:nvSpPr>
        <p:spPr>
          <a:xfrm>
            <a:off x="304800" y="1371600"/>
            <a:ext cx="8229600" cy="4800600"/>
          </a:xfrm>
        </p:spPr>
        <p:txBody>
          <a:bodyPr>
            <a:normAutofit/>
          </a:bodyPr>
          <a:lstStyle/>
          <a:p>
            <a:pPr>
              <a:buNone/>
            </a:pPr>
            <a:r>
              <a:rPr lang="en-US" dirty="0" smtClean="0"/>
              <a:t>	A relay or contactor is used to switch the line voltage equipment with the low voltage control signal. Also the refrigerator guard is put in wall socket to protect the appliance form electric shocks. </a:t>
            </a:r>
          </a:p>
          <a:p>
            <a:pPr>
              <a:buNone/>
            </a:pPr>
            <a:r>
              <a:rPr lang="en-US" b="1" dirty="0" smtClean="0"/>
              <a:t>	</a:t>
            </a:r>
            <a:r>
              <a:rPr lang="en-US" b="1" dirty="0" smtClean="0">
                <a:solidFill>
                  <a:srgbClr val="FF0000"/>
                </a:solidFill>
              </a:rPr>
              <a:t>The advantage </a:t>
            </a:r>
            <a:r>
              <a:rPr lang="en-US" dirty="0" smtClean="0"/>
              <a:t>of electric controller system is that it</a:t>
            </a:r>
            <a:r>
              <a:rPr lang="en-US" b="1" dirty="0" smtClean="0"/>
              <a:t> </a:t>
            </a:r>
            <a:r>
              <a:rPr lang="en-US" b="1" i="1" dirty="0" smtClean="0"/>
              <a:t>enhance the personal safety and eliminate fire risk associated within the line voltage.</a:t>
            </a:r>
            <a:endParaRPr lang="en-US" b="1" i="1"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smtClean="0">
                <a:solidFill>
                  <a:srgbClr val="FF0000"/>
                </a:solidFill>
              </a:rPr>
              <a:t>Electronic controllers</a:t>
            </a:r>
            <a:endParaRPr lang="en-US" dirty="0">
              <a:solidFill>
                <a:srgbClr val="FF0000"/>
              </a:solidFill>
            </a:endParaRPr>
          </a:p>
        </p:txBody>
      </p:sp>
      <p:sp>
        <p:nvSpPr>
          <p:cNvPr id="3" name="Content Placeholder 2"/>
          <p:cNvSpPr>
            <a:spLocks noGrp="1"/>
          </p:cNvSpPr>
          <p:nvPr>
            <p:ph idx="1"/>
          </p:nvPr>
        </p:nvSpPr>
        <p:spPr>
          <a:xfrm>
            <a:off x="457200" y="1295400"/>
            <a:ext cx="8229600" cy="5334000"/>
          </a:xfrm>
        </p:spPr>
        <p:txBody>
          <a:bodyPr>
            <a:normAutofit fontScale="92500"/>
          </a:bodyPr>
          <a:lstStyle/>
          <a:p>
            <a:r>
              <a:rPr lang="en-US" dirty="0" smtClean="0"/>
              <a:t>An electronic sensor (thermocouple, Resistance Temperature Detector- RTD) installed at the measurement location continuously sends an input signal to the controllers.</a:t>
            </a:r>
          </a:p>
          <a:p>
            <a:r>
              <a:rPr lang="en-US" dirty="0" smtClean="0"/>
              <a:t>At set intervals the controllers compares this signal deviates to a predetermined set point. </a:t>
            </a:r>
          </a:p>
          <a:p>
            <a:r>
              <a:rPr lang="en-US" dirty="0" smtClean="0"/>
              <a:t>If the input signal deviates from the set point, the controller sends a corrective output signal to the control element. This electric signal must be converted to the appropriate signal for easy interpretation.</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Features of electronic controllers</a:t>
            </a:r>
            <a:endParaRPr lang="en-US" dirty="0"/>
          </a:p>
        </p:txBody>
      </p:sp>
      <p:sp>
        <p:nvSpPr>
          <p:cNvPr id="3" name="Content Placeholder 2"/>
          <p:cNvSpPr>
            <a:spLocks noGrp="1"/>
          </p:cNvSpPr>
          <p:nvPr>
            <p:ph idx="1"/>
          </p:nvPr>
        </p:nvSpPr>
        <p:spPr>
          <a:xfrm>
            <a:off x="533400" y="1828800"/>
            <a:ext cx="8229600" cy="3429000"/>
          </a:xfrm>
        </p:spPr>
        <p:txBody>
          <a:bodyPr/>
          <a:lstStyle/>
          <a:p>
            <a:r>
              <a:rPr lang="en-US" dirty="0" smtClean="0"/>
              <a:t>An electronic controller is best suited for application where</a:t>
            </a:r>
            <a:r>
              <a:rPr lang="en-US" i="1" dirty="0" smtClean="0"/>
              <a:t> </a:t>
            </a:r>
            <a:r>
              <a:rPr lang="en-US" b="1" i="1" dirty="0" smtClean="0"/>
              <a:t>large load changes are encountered</a:t>
            </a:r>
            <a:r>
              <a:rPr lang="en-US" b="1" dirty="0" smtClean="0"/>
              <a:t> </a:t>
            </a:r>
            <a:r>
              <a:rPr lang="en-US" dirty="0" smtClean="0"/>
              <a:t>and or </a:t>
            </a:r>
            <a:r>
              <a:rPr lang="en-US" b="1" i="1" dirty="0" smtClean="0"/>
              <a:t>fast response changes </a:t>
            </a:r>
            <a:r>
              <a:rPr lang="en-US" dirty="0" smtClean="0"/>
              <a:t>are required.</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Characteristics of electronic controllers</a:t>
            </a:r>
            <a:endParaRPr lang="en-US" dirty="0"/>
          </a:p>
        </p:txBody>
      </p:sp>
      <p:sp>
        <p:nvSpPr>
          <p:cNvPr id="3" name="Content Placeholder 2"/>
          <p:cNvSpPr>
            <a:spLocks noGrp="1"/>
          </p:cNvSpPr>
          <p:nvPr>
            <p:ph idx="1"/>
          </p:nvPr>
        </p:nvSpPr>
        <p:spPr/>
        <p:txBody>
          <a:bodyPr>
            <a:normAutofit lnSpcReduction="10000"/>
          </a:bodyPr>
          <a:lstStyle/>
          <a:p>
            <a:r>
              <a:rPr lang="en-US" b="1" dirty="0" smtClean="0"/>
              <a:t>The input</a:t>
            </a:r>
            <a:r>
              <a:rPr lang="en-US" dirty="0" smtClean="0"/>
              <a:t>: This is the measurement signal received by the controller from the sensor. A variety of input types are available including thermocouple, RTD, voltage, current etc.</a:t>
            </a:r>
          </a:p>
          <a:p>
            <a:r>
              <a:rPr lang="en-US" b="1" dirty="0" smtClean="0"/>
              <a:t>The control output:  </a:t>
            </a:r>
            <a:r>
              <a:rPr lang="en-US" dirty="0" smtClean="0"/>
              <a:t>This is the corrective signal transmitted from the controller to the control element. Various control output types are available including </a:t>
            </a:r>
            <a:r>
              <a:rPr lang="en-US" b="1" i="1" dirty="0" smtClean="0"/>
              <a:t>contact, voltage, current etc.</a:t>
            </a:r>
            <a:endParaRPr lang="en-US" b="1" i="1"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Characteristics cont…..</a:t>
            </a:r>
            <a:endParaRPr lang="en-US" dirty="0"/>
          </a:p>
        </p:txBody>
      </p:sp>
      <p:sp>
        <p:nvSpPr>
          <p:cNvPr id="3" name="Content Placeholder 2"/>
          <p:cNvSpPr>
            <a:spLocks noGrp="1"/>
          </p:cNvSpPr>
          <p:nvPr>
            <p:ph idx="1"/>
          </p:nvPr>
        </p:nvSpPr>
        <p:spPr/>
        <p:txBody>
          <a:bodyPr>
            <a:normAutofit lnSpcReduction="10000"/>
          </a:bodyPr>
          <a:lstStyle/>
          <a:p>
            <a:r>
              <a:rPr lang="en-US" b="1" dirty="0" smtClean="0"/>
              <a:t>Alarms</a:t>
            </a:r>
            <a:r>
              <a:rPr lang="en-US" dirty="0" smtClean="0"/>
              <a:t>: Most models can be ordered with alarms event outputs or heater break alarms, which signal an external device to perform a specific task at a predetermined set point.</a:t>
            </a:r>
          </a:p>
          <a:p>
            <a:r>
              <a:rPr lang="en-US" b="1" dirty="0" smtClean="0"/>
              <a:t>Setback function</a:t>
            </a:r>
            <a:r>
              <a:rPr lang="en-US" dirty="0" smtClean="0"/>
              <a:t>: This feature, optionally available on some models is designed to provide energy savings in application where the process is idle at regular intervals through the connection of an external time or switch.</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2. Pneumatic controllers</a:t>
            </a:r>
            <a:endParaRPr lang="en-US" dirty="0">
              <a:solidFill>
                <a:srgbClr val="FF0000"/>
              </a:solidFill>
            </a:endParaRPr>
          </a:p>
        </p:txBody>
      </p:sp>
      <p:sp>
        <p:nvSpPr>
          <p:cNvPr id="3" name="Content Placeholder 2"/>
          <p:cNvSpPr>
            <a:spLocks noGrp="1"/>
          </p:cNvSpPr>
          <p:nvPr>
            <p:ph idx="1"/>
          </p:nvPr>
        </p:nvSpPr>
        <p:spPr/>
        <p:txBody>
          <a:bodyPr>
            <a:normAutofit/>
          </a:bodyPr>
          <a:lstStyle/>
          <a:p>
            <a:pPr algn="ctr">
              <a:buNone/>
            </a:pPr>
            <a:r>
              <a:rPr lang="en-US" dirty="0" smtClean="0"/>
              <a:t>Introduction to pneumatics.</a:t>
            </a:r>
          </a:p>
          <a:p>
            <a:pPr>
              <a:buNone/>
            </a:pPr>
            <a:r>
              <a:rPr lang="en-US" dirty="0" smtClean="0"/>
              <a:t>	A pneumatic is a system that uses </a:t>
            </a:r>
            <a:r>
              <a:rPr lang="en-US" b="1" i="1" dirty="0" smtClean="0"/>
              <a:t>compressed air to transport a control energy</a:t>
            </a:r>
            <a:r>
              <a:rPr lang="en-US" dirty="0" smtClean="0"/>
              <a:t>. Air is first pressurerized to give energy in the cylinder. The signals are input in the system through the use of switches and the air is transferred through sealed pipes to the pneumatic parts for processing.</a:t>
            </a:r>
          </a:p>
          <a:p>
            <a:pPr>
              <a:buNone/>
            </a:pP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 cont…..</a:t>
            </a:r>
            <a:endParaRPr lang="en-US" dirty="0"/>
          </a:p>
        </p:txBody>
      </p:sp>
      <p:sp>
        <p:nvSpPr>
          <p:cNvPr id="3" name="Content Placeholder 2"/>
          <p:cNvSpPr>
            <a:spLocks noGrp="1"/>
          </p:cNvSpPr>
          <p:nvPr>
            <p:ph idx="1"/>
          </p:nvPr>
        </p:nvSpPr>
        <p:spPr/>
        <p:txBody>
          <a:bodyPr/>
          <a:lstStyle/>
          <a:p>
            <a:pPr>
              <a:buNone/>
            </a:pPr>
            <a:r>
              <a:rPr lang="en-US" dirty="0" smtClean="0"/>
              <a:t>	Finally the force produced by the pneumatic parts is utilized to finish the designated task.</a:t>
            </a:r>
          </a:p>
          <a:p>
            <a:pPr>
              <a:buNone/>
            </a:pPr>
            <a:r>
              <a:rPr lang="en-US" dirty="0" smtClean="0"/>
              <a:t>	The use of pneumatic system is very extensive for example in controlling the movement of train doors, automation of production lines etc.</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Components of pneumatic system</a:t>
            </a:r>
            <a:endParaRPr lang="en-US" dirty="0">
              <a:solidFill>
                <a:srgbClr val="FF0000"/>
              </a:solidFill>
            </a:endParaRPr>
          </a:p>
        </p:txBody>
      </p:sp>
      <p:sp>
        <p:nvSpPr>
          <p:cNvPr id="3" name="Content Placeholder 2"/>
          <p:cNvSpPr>
            <a:spLocks noGrp="1"/>
          </p:cNvSpPr>
          <p:nvPr>
            <p:ph idx="1"/>
          </p:nvPr>
        </p:nvSpPr>
        <p:spPr/>
        <p:txBody>
          <a:bodyPr/>
          <a:lstStyle/>
          <a:p>
            <a:pPr marL="514350" indent="-514350">
              <a:buAutoNum type="arabicPeriod"/>
            </a:pPr>
            <a:r>
              <a:rPr lang="en-US" dirty="0" smtClean="0"/>
              <a:t>Compressor</a:t>
            </a:r>
          </a:p>
          <a:p>
            <a:pPr marL="514350" indent="-514350">
              <a:buNone/>
            </a:pPr>
            <a:r>
              <a:rPr lang="en-US" dirty="0" smtClean="0"/>
              <a:t>	The compressed air supply for a pneumatic system should be adequately calculated and made available in the appropriate quality. </a:t>
            </a:r>
          </a:p>
          <a:p>
            <a:pPr marL="514350" indent="-514350">
              <a:buNone/>
            </a:pPr>
            <a:r>
              <a:rPr lang="en-US" dirty="0" smtClean="0"/>
              <a:t>	Air is compressed in an air compressor and delivered to an air distribution system.</a:t>
            </a:r>
          </a:p>
          <a:p>
            <a:pPr marL="514350" indent="-514350">
              <a:buNone/>
            </a:pPr>
            <a:endParaRPr lang="en-US" dirty="0" smtClean="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Components of pneumatic cont….</a:t>
            </a:r>
            <a:endParaRPr lang="en-US" dirty="0">
              <a:solidFill>
                <a:srgbClr val="FF0000"/>
              </a:solidFill>
            </a:endParaRPr>
          </a:p>
        </p:txBody>
      </p:sp>
      <p:sp>
        <p:nvSpPr>
          <p:cNvPr id="3" name="Content Placeholder 2"/>
          <p:cNvSpPr>
            <a:spLocks noGrp="1"/>
          </p:cNvSpPr>
          <p:nvPr>
            <p:ph idx="1"/>
          </p:nvPr>
        </p:nvSpPr>
        <p:spPr>
          <a:xfrm>
            <a:off x="457200" y="1447800"/>
            <a:ext cx="8229600" cy="4953000"/>
          </a:xfrm>
        </p:spPr>
        <p:txBody>
          <a:bodyPr>
            <a:normAutofit lnSpcReduction="10000"/>
          </a:bodyPr>
          <a:lstStyle/>
          <a:p>
            <a:pPr>
              <a:buNone/>
            </a:pPr>
            <a:r>
              <a:rPr lang="en-US" dirty="0" smtClean="0"/>
              <a:t>2. Valves</a:t>
            </a:r>
          </a:p>
          <a:p>
            <a:pPr>
              <a:buNone/>
            </a:pPr>
            <a:r>
              <a:rPr lang="en-US" dirty="0" smtClean="0"/>
              <a:t>	The function of a valve is to control the pressure or flow rate of pressure media. Depending on design valves are divided into the following categories</a:t>
            </a:r>
          </a:p>
          <a:p>
            <a:pPr marL="571500" indent="-571500">
              <a:buNone/>
            </a:pPr>
            <a:r>
              <a:rPr lang="en-US" dirty="0" smtClean="0"/>
              <a:t>   Directional valves</a:t>
            </a:r>
          </a:p>
          <a:p>
            <a:pPr marL="1371600" lvl="2" indent="-571500"/>
            <a:r>
              <a:rPr lang="en-US" sz="3200" dirty="0" smtClean="0">
                <a:solidFill>
                  <a:srgbClr val="0070C0"/>
                </a:solidFill>
              </a:rPr>
              <a:t>Input or signaling element</a:t>
            </a:r>
          </a:p>
          <a:p>
            <a:pPr marL="1371600" lvl="2" indent="-571500"/>
            <a:r>
              <a:rPr lang="en-US" sz="3200" dirty="0" smtClean="0">
                <a:solidFill>
                  <a:srgbClr val="0070C0"/>
                </a:solidFill>
              </a:rPr>
              <a:t>Processing element</a:t>
            </a:r>
          </a:p>
          <a:p>
            <a:pPr marL="1371600" lvl="2" indent="-571500"/>
            <a:r>
              <a:rPr lang="en-US" sz="3200" dirty="0" smtClean="0">
                <a:solidFill>
                  <a:srgbClr val="0070C0"/>
                </a:solidFill>
              </a:rPr>
              <a:t>Control elemen</a:t>
            </a:r>
            <a:r>
              <a:rPr lang="en-US" sz="3200" dirty="0" smtClean="0"/>
              <a:t>t</a:t>
            </a:r>
            <a:endParaRPr lang="en-US" sz="32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Categories of valves cont…</a:t>
            </a:r>
            <a:endParaRPr lang="en-US" dirty="0"/>
          </a:p>
        </p:txBody>
      </p:sp>
      <p:sp>
        <p:nvSpPr>
          <p:cNvPr id="3" name="Content Placeholder 2"/>
          <p:cNvSpPr>
            <a:spLocks noGrp="1"/>
          </p:cNvSpPr>
          <p:nvPr>
            <p:ph idx="1"/>
          </p:nvPr>
        </p:nvSpPr>
        <p:spPr/>
        <p:txBody>
          <a:bodyPr/>
          <a:lstStyle/>
          <a:p>
            <a:pPr>
              <a:buNone/>
            </a:pPr>
            <a:r>
              <a:rPr lang="en-US" dirty="0" smtClean="0"/>
              <a:t>ii. Non return valve</a:t>
            </a:r>
          </a:p>
          <a:p>
            <a:pPr>
              <a:buNone/>
            </a:pPr>
            <a:r>
              <a:rPr lang="en-US" dirty="0" smtClean="0"/>
              <a:t>iii. Flow control valve</a:t>
            </a:r>
          </a:p>
          <a:p>
            <a:pPr>
              <a:buNone/>
            </a:pPr>
            <a:r>
              <a:rPr lang="en-US" dirty="0" smtClean="0"/>
              <a:t>iv. Pressure control valve</a:t>
            </a:r>
          </a:p>
          <a:p>
            <a:pPr lvl="2"/>
            <a:r>
              <a:rPr lang="en-US" sz="2800" dirty="0" smtClean="0">
                <a:solidFill>
                  <a:srgbClr val="0070C0"/>
                </a:solidFill>
              </a:rPr>
              <a:t>Pressure limiting valve</a:t>
            </a:r>
          </a:p>
          <a:p>
            <a:pPr lvl="2"/>
            <a:r>
              <a:rPr lang="en-US" sz="2800" dirty="0" smtClean="0">
                <a:solidFill>
                  <a:srgbClr val="0070C0"/>
                </a:solidFill>
              </a:rPr>
              <a:t>Pressure regulator valve</a:t>
            </a:r>
          </a:p>
          <a:p>
            <a:pPr lvl="2"/>
            <a:r>
              <a:rPr lang="en-US" sz="2800" dirty="0" smtClean="0">
                <a:solidFill>
                  <a:srgbClr val="0070C0"/>
                </a:solidFill>
              </a:rPr>
              <a:t>Pressure sequence valve</a:t>
            </a:r>
          </a:p>
          <a:p>
            <a:pPr>
              <a:buNone/>
            </a:pPr>
            <a:r>
              <a:rPr lang="en-US" dirty="0" smtClean="0"/>
              <a:t>v. Shut-off valve</a:t>
            </a:r>
          </a:p>
          <a:p>
            <a:pPr>
              <a:buNone/>
            </a:pP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3. Processing element (processor)</a:t>
            </a:r>
            <a:endParaRPr lang="en-US" dirty="0">
              <a:solidFill>
                <a:srgbClr val="FF0000"/>
              </a:solidFill>
            </a:endParaRPr>
          </a:p>
        </p:txBody>
      </p:sp>
      <p:sp>
        <p:nvSpPr>
          <p:cNvPr id="3" name="Content Placeholder 2"/>
          <p:cNvSpPr>
            <a:spLocks noGrp="1"/>
          </p:cNvSpPr>
          <p:nvPr>
            <p:ph idx="1"/>
          </p:nvPr>
        </p:nvSpPr>
        <p:spPr/>
        <p:txBody>
          <a:bodyPr/>
          <a:lstStyle/>
          <a:p>
            <a:pPr>
              <a:buNone/>
            </a:pPr>
            <a:r>
              <a:rPr lang="en-US" dirty="0" smtClean="0"/>
              <a:t>	This is used to support the directional valve at the processing level, there are various elements which condition the control signals for a task. The elements are:</a:t>
            </a:r>
          </a:p>
          <a:p>
            <a:pPr lvl="2"/>
            <a:r>
              <a:rPr lang="en-US" sz="2800" dirty="0" smtClean="0"/>
              <a:t>Dual pressure valve (AND function)   </a:t>
            </a:r>
          </a:p>
          <a:p>
            <a:pPr lvl="2"/>
            <a:r>
              <a:rPr lang="en-US" sz="2800" dirty="0" smtClean="0"/>
              <a:t>Shut-off valve (OR function)</a:t>
            </a:r>
            <a:endParaRPr lang="en-US" sz="28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smtClean="0">
                <a:solidFill>
                  <a:srgbClr val="FF0000"/>
                </a:solidFill>
              </a:rPr>
              <a:t>4. The power section</a:t>
            </a:r>
            <a:endParaRPr lang="en-US" dirty="0">
              <a:solidFill>
                <a:srgbClr val="FF0000"/>
              </a:solidFill>
            </a:endParaRPr>
          </a:p>
        </p:txBody>
      </p:sp>
      <p:sp>
        <p:nvSpPr>
          <p:cNvPr id="3" name="Content Placeholder 2"/>
          <p:cNvSpPr>
            <a:spLocks noGrp="1"/>
          </p:cNvSpPr>
          <p:nvPr>
            <p:ph idx="1"/>
          </p:nvPr>
        </p:nvSpPr>
        <p:spPr>
          <a:xfrm>
            <a:off x="381000" y="1219200"/>
            <a:ext cx="8229600" cy="5410200"/>
          </a:xfrm>
        </p:spPr>
        <p:txBody>
          <a:bodyPr>
            <a:normAutofit/>
          </a:bodyPr>
          <a:lstStyle/>
          <a:p>
            <a:r>
              <a:rPr lang="en-US" dirty="0" smtClean="0"/>
              <a:t>The power section consists of control elements and  power components or actuators to transmit the power generated</a:t>
            </a:r>
          </a:p>
          <a:p>
            <a:r>
              <a:rPr lang="en-US" dirty="0" smtClean="0"/>
              <a:t>The characteristics are further divided into;</a:t>
            </a:r>
          </a:p>
          <a:p>
            <a:pPr>
              <a:buNone/>
            </a:pPr>
            <a:r>
              <a:rPr lang="en-US" dirty="0" smtClean="0"/>
              <a:t>    1. Linear actuators	</a:t>
            </a:r>
          </a:p>
          <a:p>
            <a:pPr lvl="1">
              <a:buFont typeface="Wingdings" pitchFamily="2" charset="2"/>
              <a:buChar char="Ø"/>
            </a:pPr>
            <a:r>
              <a:rPr lang="en-US" dirty="0" smtClean="0"/>
              <a:t> Single acting cylinder</a:t>
            </a:r>
          </a:p>
          <a:p>
            <a:pPr lvl="1">
              <a:buFont typeface="Wingdings" pitchFamily="2" charset="2"/>
              <a:buChar char="Ø"/>
            </a:pPr>
            <a:r>
              <a:rPr lang="en-US" dirty="0" smtClean="0"/>
              <a:t> double acting cylinder</a:t>
            </a:r>
          </a:p>
          <a:p>
            <a:pPr lvl="1">
              <a:buNone/>
            </a:pPr>
            <a:r>
              <a:rPr lang="en-US" dirty="0" smtClean="0"/>
              <a:t>2. Rotary actuators</a:t>
            </a:r>
          </a:p>
          <a:p>
            <a:pPr lvl="1">
              <a:buFont typeface="Wingdings" pitchFamily="2" charset="2"/>
              <a:buChar char="Ø"/>
            </a:pPr>
            <a:r>
              <a:rPr lang="en-US" dirty="0" smtClean="0"/>
              <a:t> Air motor</a:t>
            </a:r>
          </a:p>
          <a:p>
            <a:pPr lvl="1">
              <a:buFont typeface="Wingdings" pitchFamily="2" charset="2"/>
              <a:buChar char="Ø"/>
            </a:pPr>
            <a:r>
              <a:rPr lang="en-US" dirty="0" smtClean="0"/>
              <a:t> Rotary actuator</a:t>
            </a:r>
          </a:p>
          <a:p>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5. Systems</a:t>
            </a:r>
            <a:endParaRPr lang="en-US" dirty="0">
              <a:solidFill>
                <a:srgbClr val="FF0000"/>
              </a:solidFill>
            </a:endParaRPr>
          </a:p>
        </p:txBody>
      </p:sp>
      <p:sp>
        <p:nvSpPr>
          <p:cNvPr id="3" name="Content Placeholder 2"/>
          <p:cNvSpPr>
            <a:spLocks noGrp="1"/>
          </p:cNvSpPr>
          <p:nvPr>
            <p:ph idx="1"/>
          </p:nvPr>
        </p:nvSpPr>
        <p:spPr/>
        <p:txBody>
          <a:bodyPr/>
          <a:lstStyle/>
          <a:p>
            <a:pPr>
              <a:buNone/>
            </a:pPr>
            <a:r>
              <a:rPr lang="en-US" dirty="0" smtClean="0"/>
              <a:t>	Generally the actuation of cylinder is effected via directional control valve. The choice of such a directional control valve depends on the respective applications such as;</a:t>
            </a:r>
          </a:p>
          <a:p>
            <a:pPr lvl="2"/>
            <a:r>
              <a:rPr lang="en-US" sz="3200" dirty="0" smtClean="0"/>
              <a:t>Number of connections</a:t>
            </a:r>
          </a:p>
          <a:p>
            <a:pPr lvl="2"/>
            <a:r>
              <a:rPr lang="en-US" sz="3200" dirty="0" smtClean="0"/>
              <a:t>Number of switching position</a:t>
            </a:r>
          </a:p>
          <a:p>
            <a:pPr lvl="2"/>
            <a:r>
              <a:rPr lang="en-US" sz="3200" dirty="0" smtClean="0"/>
              <a:t>Type of actuation</a:t>
            </a:r>
          </a:p>
          <a:p>
            <a:pPr>
              <a:buNone/>
            </a:pP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Pneumatic system overview</a:t>
            </a:r>
            <a:endParaRPr lang="en-US" dirty="0">
              <a:solidFill>
                <a:srgbClr val="FF0000"/>
              </a:solidFill>
            </a:endParaRPr>
          </a:p>
        </p:txBody>
      </p:sp>
      <p:sp>
        <p:nvSpPr>
          <p:cNvPr id="3" name="Content Placeholder 2"/>
          <p:cNvSpPr>
            <a:spLocks noGrp="1"/>
          </p:cNvSpPr>
          <p:nvPr>
            <p:ph idx="1"/>
          </p:nvPr>
        </p:nvSpPr>
        <p:spPr/>
        <p:txBody>
          <a:bodyPr/>
          <a:lstStyle/>
          <a:p>
            <a:pPr>
              <a:buNone/>
            </a:pPr>
            <a:r>
              <a:rPr lang="en-US" dirty="0" smtClean="0"/>
              <a:t>	The system can be very simple, for example a  switch is only needed in controlling a light bulb to work.</a:t>
            </a:r>
          </a:p>
          <a:p>
            <a:pPr>
              <a:buNone/>
            </a:pPr>
            <a:r>
              <a:rPr lang="en-US" dirty="0"/>
              <a:t>	H</a:t>
            </a:r>
            <a:r>
              <a:rPr lang="en-US" dirty="0" smtClean="0"/>
              <a:t>owever the advancement of technology geared most of the control systems gradually became complicated and that various parts are involved. </a:t>
            </a:r>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overview cont…….</a:t>
            </a:r>
            <a:endParaRPr lang="en-US" dirty="0"/>
          </a:p>
        </p:txBody>
      </p:sp>
      <p:sp>
        <p:nvSpPr>
          <p:cNvPr id="3" name="Content Placeholder 2"/>
          <p:cNvSpPr>
            <a:spLocks noGrp="1"/>
          </p:cNvSpPr>
          <p:nvPr>
            <p:ph idx="1"/>
          </p:nvPr>
        </p:nvSpPr>
        <p:spPr/>
        <p:txBody>
          <a:bodyPr>
            <a:normAutofit lnSpcReduction="10000"/>
          </a:bodyPr>
          <a:lstStyle/>
          <a:p>
            <a:pPr>
              <a:buNone/>
            </a:pPr>
            <a:r>
              <a:rPr lang="en-US" dirty="0" smtClean="0"/>
              <a:t>	Consider a lift as an example, it needs a number of parts to be cooperative in operation so as to transport passengers to different station safely and at a set time.</a:t>
            </a:r>
          </a:p>
          <a:p>
            <a:pPr>
              <a:buNone/>
            </a:pPr>
            <a:r>
              <a:rPr lang="en-US" dirty="0"/>
              <a:t>	</a:t>
            </a:r>
            <a:r>
              <a:rPr lang="en-US" dirty="0" smtClean="0"/>
              <a:t>A system may comprise of some relative small parts known as sub systems. These includes driving system, door opening system, control system, safety system, lighting system, ventilation system and security system.</a:t>
            </a:r>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Lift system illustration</a:t>
            </a:r>
            <a:endParaRPr lang="en-US" dirty="0"/>
          </a:p>
        </p:txBody>
      </p:sp>
      <p:sp>
        <p:nvSpPr>
          <p:cNvPr id="3" name="Content Placeholder 2"/>
          <p:cNvSpPr>
            <a:spLocks noGrp="1"/>
          </p:cNvSpPr>
          <p:nvPr>
            <p:ph idx="1"/>
          </p:nvPr>
        </p:nvSpPr>
        <p:spPr>
          <a:xfrm>
            <a:off x="228600" y="1600200"/>
            <a:ext cx="8763000" cy="4525963"/>
          </a:xfrm>
        </p:spPr>
        <p:txBody>
          <a:bodyPr/>
          <a:lstStyle/>
          <a:p>
            <a:pPr>
              <a:buNone/>
            </a:pPr>
            <a:r>
              <a:rPr lang="en-US" dirty="0" smtClean="0"/>
              <a:t>The chart below illustrate lift system</a:t>
            </a:r>
            <a:endParaRPr lang="en-US" dirty="0"/>
          </a:p>
        </p:txBody>
      </p:sp>
      <p:sp>
        <p:nvSpPr>
          <p:cNvPr id="6" name="Flowchart: Process 5"/>
          <p:cNvSpPr/>
          <p:nvPr/>
        </p:nvSpPr>
        <p:spPr>
          <a:xfrm>
            <a:off x="3581400" y="2286000"/>
            <a:ext cx="2438400" cy="533400"/>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Lift system</a:t>
            </a:r>
            <a:endParaRPr lang="en-US" dirty="0"/>
          </a:p>
        </p:txBody>
      </p:sp>
      <p:sp>
        <p:nvSpPr>
          <p:cNvPr id="7" name="Flowchart: Process 6"/>
          <p:cNvSpPr/>
          <p:nvPr/>
        </p:nvSpPr>
        <p:spPr>
          <a:xfrm>
            <a:off x="533400" y="3505200"/>
            <a:ext cx="1752600" cy="533400"/>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Driving system</a:t>
            </a:r>
            <a:endParaRPr lang="en-US" dirty="0"/>
          </a:p>
        </p:txBody>
      </p:sp>
      <p:sp>
        <p:nvSpPr>
          <p:cNvPr id="8" name="Flowchart: Process 7"/>
          <p:cNvSpPr/>
          <p:nvPr/>
        </p:nvSpPr>
        <p:spPr>
          <a:xfrm>
            <a:off x="2667000" y="3505200"/>
            <a:ext cx="2057400" cy="533400"/>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Door opening system</a:t>
            </a:r>
            <a:endParaRPr lang="en-US" dirty="0"/>
          </a:p>
        </p:txBody>
      </p:sp>
      <p:sp>
        <p:nvSpPr>
          <p:cNvPr id="9" name="Flowchart: Process 8"/>
          <p:cNvSpPr/>
          <p:nvPr/>
        </p:nvSpPr>
        <p:spPr>
          <a:xfrm>
            <a:off x="5105400" y="3505200"/>
            <a:ext cx="1676400" cy="533400"/>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Control system</a:t>
            </a:r>
            <a:endParaRPr lang="en-US" dirty="0"/>
          </a:p>
        </p:txBody>
      </p:sp>
      <p:sp>
        <p:nvSpPr>
          <p:cNvPr id="10" name="Rectangle 9"/>
          <p:cNvSpPr/>
          <p:nvPr/>
        </p:nvSpPr>
        <p:spPr>
          <a:xfrm>
            <a:off x="7162800" y="3505200"/>
            <a:ext cx="16002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Safety system</a:t>
            </a:r>
            <a:endParaRPr lang="en-US" dirty="0"/>
          </a:p>
        </p:txBody>
      </p:sp>
      <p:sp>
        <p:nvSpPr>
          <p:cNvPr id="11" name="Flowchart: Process 10"/>
          <p:cNvSpPr/>
          <p:nvPr/>
        </p:nvSpPr>
        <p:spPr>
          <a:xfrm>
            <a:off x="1219200" y="4953000"/>
            <a:ext cx="2133600" cy="381000"/>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Lighting system</a:t>
            </a:r>
            <a:endParaRPr lang="en-US" dirty="0"/>
          </a:p>
        </p:txBody>
      </p:sp>
      <p:sp>
        <p:nvSpPr>
          <p:cNvPr id="12" name="Flowchart: Process 11"/>
          <p:cNvSpPr/>
          <p:nvPr/>
        </p:nvSpPr>
        <p:spPr>
          <a:xfrm>
            <a:off x="3886200" y="4953000"/>
            <a:ext cx="2057400" cy="381000"/>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Security system</a:t>
            </a:r>
            <a:endParaRPr lang="en-US" dirty="0"/>
          </a:p>
        </p:txBody>
      </p:sp>
      <p:sp>
        <p:nvSpPr>
          <p:cNvPr id="13" name="Flowchart: Process 12"/>
          <p:cNvSpPr/>
          <p:nvPr/>
        </p:nvSpPr>
        <p:spPr>
          <a:xfrm>
            <a:off x="6248400" y="4953000"/>
            <a:ext cx="1905000" cy="381000"/>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Ventilation system</a:t>
            </a:r>
            <a:endParaRPr lang="en-US" dirty="0"/>
          </a:p>
        </p:txBody>
      </p:sp>
      <p:cxnSp>
        <p:nvCxnSpPr>
          <p:cNvPr id="15" name="Straight Arrow Connector 14"/>
          <p:cNvCxnSpPr>
            <a:stCxn id="6" idx="2"/>
          </p:cNvCxnSpPr>
          <p:nvPr/>
        </p:nvCxnSpPr>
        <p:spPr>
          <a:xfrm rot="5400000">
            <a:off x="3733800" y="3886200"/>
            <a:ext cx="2133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143000" y="3048000"/>
            <a:ext cx="69342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rot="5400000">
            <a:off x="914400" y="3276600"/>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rot="5400000">
            <a:off x="3581400" y="3276600"/>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endCxn id="9" idx="0"/>
          </p:cNvCxnSpPr>
          <p:nvPr/>
        </p:nvCxnSpPr>
        <p:spPr>
          <a:xfrm rot="5400000">
            <a:off x="5715794" y="3276600"/>
            <a:ext cx="456406"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rot="5400000">
            <a:off x="7849394" y="3276600"/>
            <a:ext cx="456406"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rot="5400000">
            <a:off x="1562100" y="4000500"/>
            <a:ext cx="1905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p:nvPr/>
        </p:nvCxnSpPr>
        <p:spPr>
          <a:xfrm rot="5400000">
            <a:off x="6058694" y="4000500"/>
            <a:ext cx="1904206"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Lift system illustration cont…..</a:t>
            </a:r>
            <a:endParaRPr lang="en-US" dirty="0"/>
          </a:p>
        </p:txBody>
      </p:sp>
      <p:sp>
        <p:nvSpPr>
          <p:cNvPr id="3" name="Content Placeholder 2"/>
          <p:cNvSpPr>
            <a:spLocks noGrp="1"/>
          </p:cNvSpPr>
          <p:nvPr>
            <p:ph idx="1"/>
          </p:nvPr>
        </p:nvSpPr>
        <p:spPr/>
        <p:txBody>
          <a:bodyPr/>
          <a:lstStyle/>
          <a:p>
            <a:pPr>
              <a:buNone/>
            </a:pPr>
            <a:r>
              <a:rPr lang="en-US" dirty="0" smtClean="0"/>
              <a:t>	In fact each system can be considered as an independent system that includes input, process and out put. While there exist relationship between the sub-system that an output of one sub system may become the input of another system. The output generated from control system may affect the driving and door opening systems.</a:t>
            </a:r>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illustration cont…….</a:t>
            </a:r>
            <a:endParaRPr lang="en-US" dirty="0"/>
          </a:p>
        </p:txBody>
      </p:sp>
      <p:sp>
        <p:nvSpPr>
          <p:cNvPr id="3" name="Content Placeholder 2"/>
          <p:cNvSpPr>
            <a:spLocks noGrp="1"/>
          </p:cNvSpPr>
          <p:nvPr>
            <p:ph idx="1"/>
          </p:nvPr>
        </p:nvSpPr>
        <p:spPr/>
        <p:txBody>
          <a:bodyPr/>
          <a:lstStyle/>
          <a:p>
            <a:pPr>
              <a:buNone/>
            </a:pPr>
            <a:r>
              <a:rPr lang="en-US" dirty="0" smtClean="0"/>
              <a:t>	Therefore when analyzing a complicated control system, that system can be divided into several comparatively simple sub systems so as to familiarize with the operation of the whole system easily. Besides, based on the sub- system concept, we would understand the relationship of parts of the whole system much easier. </a:t>
            </a:r>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smtClean="0">
                <a:solidFill>
                  <a:srgbClr val="FF0000"/>
                </a:solidFill>
              </a:rPr>
              <a:t>Hydraulic system controllers</a:t>
            </a:r>
            <a:endParaRPr lang="en-US" dirty="0">
              <a:solidFill>
                <a:srgbClr val="FF0000"/>
              </a:solidFill>
            </a:endParaRPr>
          </a:p>
        </p:txBody>
      </p:sp>
      <p:sp>
        <p:nvSpPr>
          <p:cNvPr id="3" name="Content Placeholder 2"/>
          <p:cNvSpPr>
            <a:spLocks noGrp="1"/>
          </p:cNvSpPr>
          <p:nvPr>
            <p:ph idx="1"/>
          </p:nvPr>
        </p:nvSpPr>
        <p:spPr>
          <a:xfrm>
            <a:off x="457200" y="1371600"/>
            <a:ext cx="8229600" cy="5257800"/>
          </a:xfrm>
        </p:spPr>
        <p:txBody>
          <a:bodyPr>
            <a:normAutofit fontScale="92500" lnSpcReduction="10000"/>
          </a:bodyPr>
          <a:lstStyle/>
          <a:p>
            <a:pPr>
              <a:buNone/>
            </a:pPr>
            <a:r>
              <a:rPr lang="en-US" dirty="0" smtClean="0"/>
              <a:t>	Hydraulic systems are used to transfer power energy. Hydraulic means generation of force and motion for the purpose of power transmission. However not all fluids are suitable to transfer power energy, for instance water can not be used in hydraulic systems as a means of power energy transfer due to the following weakness;</a:t>
            </a:r>
          </a:p>
          <a:p>
            <a:pPr lvl="1">
              <a:buFont typeface="Wingdings" panose="05000000000000000000" pitchFamily="2" charset="2"/>
              <a:buChar char="Ø"/>
            </a:pPr>
            <a:r>
              <a:rPr lang="en-US" sz="3000" dirty="0" smtClean="0"/>
              <a:t> weak to corrosion resistance</a:t>
            </a:r>
          </a:p>
          <a:p>
            <a:pPr lvl="1">
              <a:buFont typeface="Wingdings" panose="05000000000000000000" pitchFamily="2" charset="2"/>
              <a:buChar char="Ø"/>
            </a:pPr>
            <a:r>
              <a:rPr lang="en-US" sz="3000" dirty="0" smtClean="0"/>
              <a:t> low  boiling point</a:t>
            </a:r>
          </a:p>
          <a:p>
            <a:pPr lvl="1">
              <a:buFont typeface="Wingdings" panose="05000000000000000000" pitchFamily="2" charset="2"/>
              <a:buChar char="Ø"/>
            </a:pPr>
            <a:r>
              <a:rPr lang="en-US" sz="3000" dirty="0" smtClean="0"/>
              <a:t> low freezing point</a:t>
            </a:r>
          </a:p>
          <a:p>
            <a:pPr lvl="1">
              <a:buFont typeface="Wingdings" panose="05000000000000000000" pitchFamily="2" charset="2"/>
              <a:buChar char="Ø"/>
            </a:pPr>
            <a:r>
              <a:rPr lang="en-US" sz="3000" dirty="0" smtClean="0"/>
              <a:t> low viscosity</a:t>
            </a:r>
          </a:p>
          <a:p>
            <a:pPr>
              <a:buFont typeface="Wingdings" panose="05000000000000000000" pitchFamily="2" charset="2"/>
              <a:buChar char="Ø"/>
            </a:pPr>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Components of hydraulic system</a:t>
            </a:r>
            <a:endParaRPr lang="en-US" dirty="0">
              <a:solidFill>
                <a:srgbClr val="FF0000"/>
              </a:solidFill>
            </a:endParaRPr>
          </a:p>
        </p:txBody>
      </p:sp>
      <p:sp>
        <p:nvSpPr>
          <p:cNvPr id="3" name="Content Placeholder 2"/>
          <p:cNvSpPr>
            <a:spLocks noGrp="1"/>
          </p:cNvSpPr>
          <p:nvPr>
            <p:ph idx="1"/>
          </p:nvPr>
        </p:nvSpPr>
        <p:spPr/>
        <p:txBody>
          <a:bodyPr/>
          <a:lstStyle/>
          <a:p>
            <a:pPr>
              <a:buNone/>
            </a:pPr>
            <a:r>
              <a:rPr lang="en-US" dirty="0" smtClean="0"/>
              <a:t>The following are the components of hydraulics systems.</a:t>
            </a:r>
          </a:p>
          <a:p>
            <a:pPr marL="571500" indent="-571500">
              <a:buAutoNum type="romanLcParenBoth"/>
            </a:pPr>
            <a:r>
              <a:rPr lang="en-US" b="1" dirty="0" smtClean="0"/>
              <a:t>Power supply section</a:t>
            </a:r>
          </a:p>
          <a:p>
            <a:pPr marL="571500" indent="-571500">
              <a:buNone/>
            </a:pPr>
            <a:r>
              <a:rPr lang="en-US" dirty="0" smtClean="0"/>
              <a:t>	The power supply unit provides the necessary hydraulics power by converting the mechanical power from the drive motor.</a:t>
            </a:r>
          </a:p>
          <a:p>
            <a:pPr marL="571500" indent="-571500">
              <a:buNone/>
            </a:pPr>
            <a:r>
              <a:rPr lang="en-US" dirty="0" smtClean="0"/>
              <a:t>	The most important component in the power supply unit is the </a:t>
            </a:r>
            <a:r>
              <a:rPr lang="en-US" i="1" dirty="0" smtClean="0"/>
              <a:t>hydraulic pump</a:t>
            </a:r>
            <a:r>
              <a:rPr lang="en-US" dirty="0" smtClean="0"/>
              <a:t>.</a:t>
            </a:r>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Power supply section cont…….</a:t>
            </a:r>
            <a:endParaRPr lang="en-US" dirty="0"/>
          </a:p>
        </p:txBody>
      </p:sp>
      <p:sp>
        <p:nvSpPr>
          <p:cNvPr id="3" name="Content Placeholder 2"/>
          <p:cNvSpPr>
            <a:spLocks noGrp="1"/>
          </p:cNvSpPr>
          <p:nvPr>
            <p:ph idx="1"/>
          </p:nvPr>
        </p:nvSpPr>
        <p:spPr/>
        <p:txBody>
          <a:bodyPr/>
          <a:lstStyle/>
          <a:p>
            <a:pPr>
              <a:buNone/>
            </a:pPr>
            <a:r>
              <a:rPr lang="en-US" dirty="0" smtClean="0"/>
              <a:t>	This draws in the hydraulic fluid from a reservoir (tank) and delivers it via a system of lines in the hydraulic installation against the opposing resistances.</a:t>
            </a:r>
          </a:p>
          <a:p>
            <a:pPr>
              <a:buNone/>
            </a:pPr>
            <a:r>
              <a:rPr lang="en-US" dirty="0" smtClean="0"/>
              <a:t>	Pressure does not build up until the flowing liquid encounter a resistance.</a:t>
            </a:r>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(ii). </a:t>
            </a:r>
            <a:r>
              <a:rPr lang="en-US" b="1" dirty="0" smtClean="0"/>
              <a:t>Hydraulic fluid</a:t>
            </a:r>
            <a:endParaRPr lang="en-US" b="1" dirty="0"/>
          </a:p>
        </p:txBody>
      </p:sp>
      <p:sp>
        <p:nvSpPr>
          <p:cNvPr id="3" name="Content Placeholder 2"/>
          <p:cNvSpPr>
            <a:spLocks noGrp="1"/>
          </p:cNvSpPr>
          <p:nvPr>
            <p:ph idx="1"/>
          </p:nvPr>
        </p:nvSpPr>
        <p:spPr/>
        <p:txBody>
          <a:bodyPr/>
          <a:lstStyle/>
          <a:p>
            <a:pPr>
              <a:buNone/>
            </a:pPr>
            <a:r>
              <a:rPr lang="en-US" dirty="0" smtClean="0"/>
              <a:t>   This is the working medium which transfers the prepared energy from the power supply unit to the drive section (cylinders or motors)</a:t>
            </a:r>
          </a:p>
          <a:p>
            <a:pPr>
              <a:buNone/>
            </a:pPr>
            <a:r>
              <a:rPr lang="en-US" dirty="0" smtClean="0"/>
              <a:t>   Hydraulic fluids have a wide variety of characteristics. Therefore they must be selected to suit the application. Hydraulics on a mineral oil base are frequently used, these are referred to as hydraulic oils. </a:t>
            </a:r>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(iii)</a:t>
            </a:r>
            <a:r>
              <a:rPr lang="en-US" b="1" dirty="0" smtClean="0"/>
              <a:t> Valves</a:t>
            </a:r>
            <a:endParaRPr lang="en-US" b="1" dirty="0"/>
          </a:p>
        </p:txBody>
      </p:sp>
      <p:sp>
        <p:nvSpPr>
          <p:cNvPr id="3" name="Content Placeholder 2"/>
          <p:cNvSpPr>
            <a:spLocks noGrp="1"/>
          </p:cNvSpPr>
          <p:nvPr>
            <p:ph idx="1"/>
          </p:nvPr>
        </p:nvSpPr>
        <p:spPr>
          <a:xfrm>
            <a:off x="457200" y="1600201"/>
            <a:ext cx="8229600" cy="3886200"/>
          </a:xfrm>
        </p:spPr>
        <p:txBody>
          <a:bodyPr/>
          <a:lstStyle/>
          <a:p>
            <a:pPr>
              <a:buNone/>
            </a:pPr>
            <a:r>
              <a:rPr lang="en-US" dirty="0" smtClean="0"/>
              <a:t>   These are devices for controlling the energy flow. They can control and regulate the flow direction of the hydraulic fluid, the pressure, the flow rate and consequently the flow velocity.</a:t>
            </a:r>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Qualities of hydraulic fluids</a:t>
            </a:r>
            <a:endParaRPr lang="en-US" dirty="0">
              <a:solidFill>
                <a:srgbClr val="FF0000"/>
              </a:solidFill>
            </a:endParaRPr>
          </a:p>
        </p:txBody>
      </p:sp>
      <p:sp>
        <p:nvSpPr>
          <p:cNvPr id="3" name="Content Placeholder 2"/>
          <p:cNvSpPr>
            <a:spLocks noGrp="1"/>
          </p:cNvSpPr>
          <p:nvPr>
            <p:ph idx="1"/>
          </p:nvPr>
        </p:nvSpPr>
        <p:spPr>
          <a:xfrm>
            <a:off x="457200" y="1600200"/>
            <a:ext cx="8229600" cy="4953000"/>
          </a:xfrm>
        </p:spPr>
        <p:txBody>
          <a:bodyPr>
            <a:normAutofit fontScale="92500" lnSpcReduction="20000"/>
          </a:bodyPr>
          <a:lstStyle/>
          <a:p>
            <a:r>
              <a:rPr lang="en-US" dirty="0" smtClean="0"/>
              <a:t>Lowest possible density</a:t>
            </a:r>
          </a:p>
          <a:p>
            <a:r>
              <a:rPr lang="en-US" dirty="0" smtClean="0"/>
              <a:t>Minimal compressibility</a:t>
            </a:r>
          </a:p>
          <a:p>
            <a:r>
              <a:rPr lang="en-US" dirty="0" smtClean="0"/>
              <a:t>Lubricating film viscosity</a:t>
            </a:r>
          </a:p>
          <a:p>
            <a:r>
              <a:rPr lang="en-US" dirty="0" smtClean="0"/>
              <a:t>Good viscosity-pressure characteristics</a:t>
            </a:r>
          </a:p>
          <a:p>
            <a:r>
              <a:rPr lang="en-US" dirty="0" smtClean="0"/>
              <a:t>Good viscosity- temperature characteristics</a:t>
            </a:r>
          </a:p>
          <a:p>
            <a:r>
              <a:rPr lang="en-US" dirty="0" smtClean="0"/>
              <a:t>Low flammability</a:t>
            </a:r>
          </a:p>
          <a:p>
            <a:r>
              <a:rPr lang="en-US" dirty="0" smtClean="0"/>
              <a:t>Resistant to cold</a:t>
            </a:r>
          </a:p>
          <a:p>
            <a:r>
              <a:rPr lang="en-US" dirty="0" smtClean="0"/>
              <a:t>Wear and corrosion protection</a:t>
            </a:r>
          </a:p>
          <a:p>
            <a:r>
              <a:rPr lang="en-US" dirty="0" smtClean="0"/>
              <a:t>Water separable</a:t>
            </a:r>
          </a:p>
          <a:p>
            <a:r>
              <a:rPr lang="en-US" dirty="0" smtClean="0"/>
              <a:t>Air release</a:t>
            </a:r>
          </a:p>
          <a:p>
            <a:endParaRPr lang="en-US" dirty="0" smtClean="0"/>
          </a:p>
          <a:p>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Functions of hydraulic fluids</a:t>
            </a:r>
            <a:endParaRPr lang="en-US" dirty="0">
              <a:solidFill>
                <a:srgbClr val="FF0000"/>
              </a:solidFill>
            </a:endParaRPr>
          </a:p>
        </p:txBody>
      </p:sp>
      <p:sp>
        <p:nvSpPr>
          <p:cNvPr id="3" name="Content Placeholder 2"/>
          <p:cNvSpPr>
            <a:spLocks noGrp="1"/>
          </p:cNvSpPr>
          <p:nvPr>
            <p:ph idx="1"/>
          </p:nvPr>
        </p:nvSpPr>
        <p:spPr>
          <a:xfrm>
            <a:off x="457200" y="1600200"/>
            <a:ext cx="8229600" cy="4953000"/>
          </a:xfrm>
        </p:spPr>
        <p:txBody>
          <a:bodyPr>
            <a:normAutofit fontScale="92500" lnSpcReduction="10000"/>
          </a:bodyPr>
          <a:lstStyle/>
          <a:p>
            <a:r>
              <a:rPr lang="en-US" dirty="0" smtClean="0"/>
              <a:t>The hydraulic fluid in hydraulic systems are used to perform the following functions</a:t>
            </a:r>
          </a:p>
          <a:p>
            <a:pPr>
              <a:buFont typeface="Wingdings" panose="05000000000000000000" pitchFamily="2" charset="2"/>
              <a:buChar char="Ø"/>
            </a:pPr>
            <a:r>
              <a:rPr lang="en-US" dirty="0" smtClean="0"/>
              <a:t>Transfer of power</a:t>
            </a:r>
          </a:p>
          <a:p>
            <a:pPr>
              <a:buFont typeface="Wingdings" panose="05000000000000000000" pitchFamily="2" charset="2"/>
              <a:buChar char="Ø"/>
            </a:pPr>
            <a:r>
              <a:rPr lang="en-US" dirty="0" smtClean="0"/>
              <a:t>Lubrication of moving parts of devices</a:t>
            </a:r>
          </a:p>
          <a:p>
            <a:pPr>
              <a:buFont typeface="Wingdings" panose="05000000000000000000" pitchFamily="2" charset="2"/>
              <a:buChar char="Ø"/>
            </a:pPr>
            <a:r>
              <a:rPr lang="en-US" dirty="0" smtClean="0"/>
              <a:t>Cooling i.e. diversion of heat produced by energy conversion</a:t>
            </a:r>
          </a:p>
          <a:p>
            <a:pPr>
              <a:buFont typeface="Wingdings" panose="05000000000000000000" pitchFamily="2" charset="2"/>
              <a:buChar char="Ø"/>
            </a:pPr>
            <a:r>
              <a:rPr lang="en-US" dirty="0" smtClean="0"/>
              <a:t>Cushioning of oscillations caused by power jerks</a:t>
            </a:r>
          </a:p>
          <a:p>
            <a:pPr>
              <a:buFont typeface="Wingdings" panose="05000000000000000000" pitchFamily="2" charset="2"/>
              <a:buChar char="Ø"/>
            </a:pPr>
            <a:r>
              <a:rPr lang="en-US" dirty="0" smtClean="0"/>
              <a:t>Corrosion resistance</a:t>
            </a:r>
          </a:p>
          <a:p>
            <a:pPr>
              <a:buFont typeface="Wingdings" panose="05000000000000000000" pitchFamily="2" charset="2"/>
              <a:buChar char="Ø"/>
            </a:pPr>
            <a:r>
              <a:rPr lang="en-US" dirty="0" smtClean="0"/>
              <a:t>Removal of scuff ( debris material)</a:t>
            </a:r>
          </a:p>
          <a:p>
            <a:pPr>
              <a:buFont typeface="Wingdings" panose="05000000000000000000" pitchFamily="2" charset="2"/>
              <a:buChar char="Ø"/>
            </a:pPr>
            <a:r>
              <a:rPr lang="en-US" dirty="0" smtClean="0"/>
              <a:t>Signal transmission</a:t>
            </a:r>
          </a:p>
          <a:p>
            <a:pPr>
              <a:buFont typeface="Wingdings" panose="05000000000000000000" pitchFamily="2" charset="2"/>
              <a:buChar char="Ø"/>
            </a:pPr>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 of hydraulics</a:t>
            </a:r>
            <a:endParaRPr lang="en-US" dirty="0"/>
          </a:p>
        </p:txBody>
      </p:sp>
      <p:sp>
        <p:nvSpPr>
          <p:cNvPr id="3" name="Content Placeholder 2"/>
          <p:cNvSpPr>
            <a:spLocks noGrp="1"/>
          </p:cNvSpPr>
          <p:nvPr>
            <p:ph idx="1"/>
          </p:nvPr>
        </p:nvSpPr>
        <p:spPr/>
        <p:txBody>
          <a:bodyPr/>
          <a:lstStyle/>
          <a:p>
            <a:pPr>
              <a:buNone/>
            </a:pPr>
            <a:r>
              <a:rPr lang="en-US" dirty="0" smtClean="0"/>
              <a:t>A: </a:t>
            </a:r>
            <a:r>
              <a:rPr lang="en-US" b="1" dirty="0" smtClean="0"/>
              <a:t>Stationary hydraulics</a:t>
            </a:r>
          </a:p>
          <a:p>
            <a:r>
              <a:rPr lang="en-US" dirty="0" smtClean="0"/>
              <a:t>Production and assembly machines</a:t>
            </a:r>
          </a:p>
          <a:p>
            <a:r>
              <a:rPr lang="en-US" dirty="0" smtClean="0"/>
              <a:t>Transfer lines</a:t>
            </a:r>
          </a:p>
          <a:p>
            <a:r>
              <a:rPr lang="en-US" dirty="0" smtClean="0"/>
              <a:t>Lifting conveying devices</a:t>
            </a:r>
          </a:p>
          <a:p>
            <a:r>
              <a:rPr lang="en-US" dirty="0" smtClean="0"/>
              <a:t>Press machines</a:t>
            </a:r>
          </a:p>
          <a:p>
            <a:r>
              <a:rPr lang="en-US" dirty="0" smtClean="0"/>
              <a:t>Rolling machines</a:t>
            </a:r>
          </a:p>
          <a:p>
            <a:r>
              <a:rPr lang="en-US" dirty="0" smtClean="0"/>
              <a:t>Lifts etc.</a:t>
            </a:r>
          </a:p>
          <a:p>
            <a:pPr>
              <a:buNone/>
            </a:pPr>
            <a:endParaRPr 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 of hydraulics cont…..</a:t>
            </a:r>
            <a:endParaRPr lang="en-US" dirty="0"/>
          </a:p>
        </p:txBody>
      </p:sp>
      <p:sp>
        <p:nvSpPr>
          <p:cNvPr id="3" name="Content Placeholder 2"/>
          <p:cNvSpPr>
            <a:spLocks noGrp="1"/>
          </p:cNvSpPr>
          <p:nvPr>
            <p:ph idx="1"/>
          </p:nvPr>
        </p:nvSpPr>
        <p:spPr/>
        <p:txBody>
          <a:bodyPr/>
          <a:lstStyle/>
          <a:p>
            <a:pPr>
              <a:buNone/>
            </a:pPr>
            <a:r>
              <a:rPr lang="en-US" dirty="0" smtClean="0"/>
              <a:t>B: </a:t>
            </a:r>
            <a:r>
              <a:rPr lang="en-US" b="1" dirty="0" smtClean="0"/>
              <a:t>Mobile hydraulics</a:t>
            </a:r>
          </a:p>
          <a:p>
            <a:r>
              <a:rPr lang="en-US" dirty="0" smtClean="0"/>
              <a:t>Construction machines</a:t>
            </a:r>
          </a:p>
          <a:p>
            <a:r>
              <a:rPr lang="en-US" dirty="0" smtClean="0"/>
              <a:t>Tippers, excavators, elevating platform</a:t>
            </a:r>
          </a:p>
          <a:p>
            <a:r>
              <a:rPr lang="en-US" dirty="0" smtClean="0"/>
              <a:t>Lifting and conveying devices</a:t>
            </a:r>
          </a:p>
          <a:p>
            <a:r>
              <a:rPr lang="en-US" dirty="0" smtClean="0"/>
              <a:t>Agricultural machinery</a:t>
            </a:r>
            <a:endParaRPr 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Importance of controllers</a:t>
            </a:r>
            <a:endParaRPr lang="en-US" dirty="0">
              <a:solidFill>
                <a:srgbClr val="FF0000"/>
              </a:solidFill>
            </a:endParaRPr>
          </a:p>
        </p:txBody>
      </p:sp>
      <p:sp>
        <p:nvSpPr>
          <p:cNvPr id="3" name="Content Placeholder 2"/>
          <p:cNvSpPr>
            <a:spLocks noGrp="1"/>
          </p:cNvSpPr>
          <p:nvPr>
            <p:ph idx="1"/>
          </p:nvPr>
        </p:nvSpPr>
        <p:spPr/>
        <p:txBody>
          <a:bodyPr/>
          <a:lstStyle/>
          <a:p>
            <a:r>
              <a:rPr lang="en-US" dirty="0" smtClean="0"/>
              <a:t>Providing feedback for system control and correctness of variables</a:t>
            </a:r>
          </a:p>
          <a:p>
            <a:r>
              <a:rPr lang="en-US" dirty="0" smtClean="0"/>
              <a:t>Enhance safety of production systems</a:t>
            </a:r>
          </a:p>
          <a:p>
            <a:r>
              <a:rPr lang="en-US" dirty="0" smtClean="0"/>
              <a:t>Promote higher production as it save time and minimize rejects</a:t>
            </a:r>
          </a:p>
          <a:p>
            <a:r>
              <a:rPr lang="en-US" dirty="0" smtClean="0"/>
              <a:t>Enhance smooth operation of machine and equipment</a:t>
            </a:r>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365</TotalTime>
  <Words>875</Words>
  <Application>WPS Presentation</Application>
  <PresentationFormat>On-screen Show (4:3)</PresentationFormat>
  <Paragraphs>171</Paragraphs>
  <Slides>36</Slides>
  <Notes>1</Notes>
  <HiddenSlides>0</HiddenSlides>
  <MMClips>0</MMClips>
  <ScaleCrop>false</ScaleCrop>
  <HeadingPairs>
    <vt:vector size="4" baseType="variant">
      <vt:variant>
        <vt:lpstr>Theme</vt:lpstr>
      </vt:variant>
      <vt:variant>
        <vt:i4>1</vt:i4>
      </vt:variant>
      <vt:variant>
        <vt:lpstr>Slide Titles</vt:lpstr>
      </vt:variant>
      <vt:variant>
        <vt:i4>36</vt:i4>
      </vt:variant>
    </vt:vector>
  </HeadingPairs>
  <TitlesOfParts>
    <vt:vector size="37" baseType="lpstr">
      <vt:lpstr>Office Theme</vt:lpstr>
      <vt:lpstr>SYSTEM CONTROLLERS</vt:lpstr>
      <vt:lpstr> Learning objective. </vt:lpstr>
      <vt:lpstr>The concept of controllers</vt:lpstr>
      <vt:lpstr>Introduction cont….</vt:lpstr>
      <vt:lpstr>Why system controllers?</vt:lpstr>
      <vt:lpstr>Why system controller cont…</vt:lpstr>
      <vt:lpstr>Types of controllers</vt:lpstr>
      <vt:lpstr>1. Electrical controllers</vt:lpstr>
      <vt:lpstr>Electric controller cont………</vt:lpstr>
      <vt:lpstr>Electronic controllers</vt:lpstr>
      <vt:lpstr>Features of electronic controllers</vt:lpstr>
      <vt:lpstr>Characteristics of electronic controllers</vt:lpstr>
      <vt:lpstr>Characteristics cont…..</vt:lpstr>
      <vt:lpstr>2. Pneumatic controllers</vt:lpstr>
      <vt:lpstr>Introduction cont…..</vt:lpstr>
      <vt:lpstr>Components of pneumatic system</vt:lpstr>
      <vt:lpstr>Components of pneumatic cont….</vt:lpstr>
      <vt:lpstr>Categories of valves cont…</vt:lpstr>
      <vt:lpstr>3. Processing element (processor)</vt:lpstr>
      <vt:lpstr>4. The power section</vt:lpstr>
      <vt:lpstr>5. Systems</vt:lpstr>
      <vt:lpstr>Pneumatic system overview</vt:lpstr>
      <vt:lpstr>System overview cont…….</vt:lpstr>
      <vt:lpstr>Lift system illustration</vt:lpstr>
      <vt:lpstr>Lift system illustration cont…..</vt:lpstr>
      <vt:lpstr>illustration cont…….</vt:lpstr>
      <vt:lpstr>Hydraulic system controllers</vt:lpstr>
      <vt:lpstr>Components of hydraulic system</vt:lpstr>
      <vt:lpstr>Power supply section cont…….</vt:lpstr>
      <vt:lpstr>(ii). Hydraulic fluid</vt:lpstr>
      <vt:lpstr>(iii) Valves</vt:lpstr>
      <vt:lpstr>Qualities of hydraulic fluids</vt:lpstr>
      <vt:lpstr>Functions of hydraulic fluids</vt:lpstr>
      <vt:lpstr>Application of hydraulics</vt:lpstr>
      <vt:lpstr>Application of hydraulics cont…..</vt:lpstr>
      <vt:lpstr>Importance of controllers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CONTROLLERS</dc:title>
  <dc:creator>mdende</dc:creator>
  <cp:lastModifiedBy>user</cp:lastModifiedBy>
  <cp:revision>97</cp:revision>
  <dcterms:created xsi:type="dcterms:W3CDTF">2016-01-06T07:24:00Z</dcterms:created>
  <dcterms:modified xsi:type="dcterms:W3CDTF">2022-01-06T15:11:02Z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1033-11.2.0.8991</vt:lpwstr>
  </property>
</Properties>
</file>