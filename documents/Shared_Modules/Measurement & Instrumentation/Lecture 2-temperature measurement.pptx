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8" r:id="rId2"/>
    <p:sldId id="280" r:id="rId3"/>
    <p:sldId id="281" r:id="rId4"/>
    <p:sldId id="279" r:id="rId5"/>
    <p:sldId id="257" r:id="rId6"/>
    <p:sldId id="258" r:id="rId7"/>
    <p:sldId id="282" r:id="rId8"/>
    <p:sldId id="259" r:id="rId9"/>
    <p:sldId id="263" r:id="rId10"/>
    <p:sldId id="260" r:id="rId11"/>
    <p:sldId id="262" r:id="rId12"/>
    <p:sldId id="266" r:id="rId13"/>
    <p:sldId id="267" r:id="rId14"/>
    <p:sldId id="268" r:id="rId15"/>
    <p:sldId id="286" r:id="rId16"/>
    <p:sldId id="270" r:id="rId17"/>
    <p:sldId id="271" r:id="rId18"/>
    <p:sldId id="272" r:id="rId19"/>
    <p:sldId id="273" r:id="rId20"/>
    <p:sldId id="285" r:id="rId21"/>
    <p:sldId id="274" r:id="rId22"/>
    <p:sldId id="283" r:id="rId23"/>
    <p:sldId id="277" r:id="rId24"/>
    <p:sldId id="276" r:id="rId25"/>
    <p:sldId id="28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135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EACE21-C006-4827-9F19-4C7F09BD6019}" type="datetimeFigureOut">
              <a:rPr lang="en-US" smtClean="0"/>
              <a:pPr/>
              <a:t>10/25/2022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CB806A-7832-4EBB-94EC-844CD17114B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EACE21-C006-4827-9F19-4C7F09BD6019}" type="datetimeFigureOut">
              <a:rPr lang="en-US" smtClean="0"/>
              <a:pPr/>
              <a:t>10/25/2022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CB806A-7832-4EBB-94EC-844CD17114B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C00000"/>
          </a:solidFill>
        </p:spPr>
        <p:txBody>
          <a:bodyPr/>
          <a:lstStyle/>
          <a:p>
            <a:r>
              <a:rPr lang="en-US" dirty="0" smtClean="0"/>
              <a:t>TEMPERATURE MEASUREMENT</a:t>
            </a:r>
            <a:endParaRPr lang="en-US" dirty="0"/>
          </a:p>
        </p:txBody>
      </p:sp>
      <p:sp>
        <p:nvSpPr>
          <p:cNvPr id="3" name="Content Placeholder 2"/>
          <p:cNvSpPr>
            <a:spLocks noGrp="1"/>
          </p:cNvSpPr>
          <p:nvPr>
            <p:ph idx="1"/>
          </p:nvPr>
        </p:nvSpPr>
        <p:spPr/>
        <p:txBody>
          <a:bodyPr/>
          <a:lstStyle/>
          <a:p>
            <a:pPr algn="ctr">
              <a:buNone/>
            </a:pPr>
            <a:r>
              <a:rPr lang="en-US" dirty="0" smtClean="0">
                <a:solidFill>
                  <a:srgbClr val="FF0000"/>
                </a:solidFill>
              </a:rPr>
              <a:t>INTRODUCTION</a:t>
            </a:r>
          </a:p>
          <a:p>
            <a:pPr>
              <a:buNone/>
            </a:pPr>
            <a:r>
              <a:rPr lang="en-US" dirty="0" smtClean="0"/>
              <a:t>	Temperature measurement in today’s industrial environment covers a wide variety of needs and applications. </a:t>
            </a:r>
          </a:p>
          <a:p>
            <a:pPr>
              <a:buNone/>
            </a:pPr>
            <a:r>
              <a:rPr lang="en-US" dirty="0" smtClean="0"/>
              <a:t>	To meet this demand, the process control industry has developed a large number of </a:t>
            </a:r>
            <a:r>
              <a:rPr lang="en-US" dirty="0" smtClean="0">
                <a:solidFill>
                  <a:srgbClr val="FF0000"/>
                </a:solidFill>
              </a:rPr>
              <a:t>sensors</a:t>
            </a:r>
            <a:r>
              <a:rPr lang="en-US" dirty="0" smtClean="0"/>
              <a:t> and </a:t>
            </a:r>
            <a:r>
              <a:rPr lang="en-US" dirty="0" smtClean="0">
                <a:solidFill>
                  <a:srgbClr val="FF0000"/>
                </a:solidFill>
              </a:rPr>
              <a:t>devices </a:t>
            </a:r>
            <a:r>
              <a:rPr lang="en-US" dirty="0" smtClean="0"/>
              <a:t>to handle this demand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Temperature is a critical and </a:t>
            </a:r>
            <a:r>
              <a:rPr lang="en-US" dirty="0" smtClean="0">
                <a:solidFill>
                  <a:srgbClr val="FF0000"/>
                </a:solidFill>
              </a:rPr>
              <a:t>widely measured variable</a:t>
            </a:r>
            <a:r>
              <a:rPr lang="en-US" dirty="0" smtClean="0"/>
              <a:t> for most engineering </a:t>
            </a:r>
            <a:r>
              <a:rPr lang="en-US" dirty="0" smtClean="0">
                <a:solidFill>
                  <a:srgbClr val="FF0000"/>
                </a:solidFill>
              </a:rPr>
              <a:t>system control</a:t>
            </a:r>
            <a:r>
              <a:rPr lang="en-US" dirty="0" smtClean="0"/>
              <a:t>. May processes have either </a:t>
            </a:r>
            <a:r>
              <a:rPr lang="en-US" dirty="0" smtClean="0">
                <a:solidFill>
                  <a:srgbClr val="0070C0"/>
                </a:solidFill>
              </a:rPr>
              <a:t>a monitoring </a:t>
            </a:r>
            <a:r>
              <a:rPr lang="en-US" dirty="0" smtClean="0"/>
              <a:t>or </a:t>
            </a:r>
            <a:r>
              <a:rPr lang="en-US" dirty="0" smtClean="0">
                <a:solidFill>
                  <a:srgbClr val="0070C0"/>
                </a:solidFill>
              </a:rPr>
              <a:t>controlled</a:t>
            </a:r>
            <a:r>
              <a:rPr lang="en-US" dirty="0" smtClean="0"/>
              <a:t> temperature.</a:t>
            </a:r>
          </a:p>
          <a:p>
            <a:r>
              <a:rPr lang="en-US" dirty="0" smtClean="0"/>
              <a:t>This can range from a </a:t>
            </a:r>
            <a:r>
              <a:rPr lang="en-US" dirty="0" smtClean="0">
                <a:solidFill>
                  <a:srgbClr val="FF0000"/>
                </a:solidFill>
              </a:rPr>
              <a:t>simple monitoring </a:t>
            </a:r>
            <a:r>
              <a:rPr lang="en-US" dirty="0" smtClean="0"/>
              <a:t>of temperature say, water temperature of an engine or load device or as </a:t>
            </a:r>
            <a:r>
              <a:rPr lang="en-US" dirty="0" smtClean="0">
                <a:solidFill>
                  <a:srgbClr val="FF0000"/>
                </a:solidFill>
              </a:rPr>
              <a:t>complex</a:t>
            </a:r>
            <a:r>
              <a:rPr lang="en-US" dirty="0" smtClean="0"/>
              <a:t> as temperature in welding practices.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a:t>
            </a:r>
            <a:endParaRPr lang="en-US" dirty="0"/>
          </a:p>
        </p:txBody>
      </p:sp>
      <p:sp>
        <p:nvSpPr>
          <p:cNvPr id="3" name="Content Placeholder 2"/>
          <p:cNvSpPr>
            <a:spLocks noGrp="1"/>
          </p:cNvSpPr>
          <p:nvPr>
            <p:ph idx="1"/>
          </p:nvPr>
        </p:nvSpPr>
        <p:spPr/>
        <p:txBody>
          <a:bodyPr/>
          <a:lstStyle/>
          <a:p>
            <a:r>
              <a:rPr lang="en-US" dirty="0" smtClean="0"/>
              <a:t>More difficult measurement such as the temperature of smoke stack gas from power generating plant or blast furnace or exhaust gas of rocker may require monitoring.</a:t>
            </a:r>
          </a:p>
          <a:p>
            <a:r>
              <a:rPr lang="en-US" dirty="0" smtClean="0"/>
              <a:t>Much more common are the temperature of fluids in processes or temperature of solid objects such as metal plates, bearings and shafts in machinery.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1"/>
            <a:ext cx="7772400" cy="1066800"/>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dirty="0" smtClean="0"/>
              <a:t>WHAT IS TEMPERETURE ?</a:t>
            </a:r>
            <a:endParaRPr lang="en-US" dirty="0"/>
          </a:p>
        </p:txBody>
      </p:sp>
      <p:sp>
        <p:nvSpPr>
          <p:cNvPr id="3" name="Subtitle 2"/>
          <p:cNvSpPr>
            <a:spLocks noGrp="1"/>
          </p:cNvSpPr>
          <p:nvPr>
            <p:ph type="subTitle" idx="1"/>
          </p:nvPr>
        </p:nvSpPr>
        <p:spPr>
          <a:xfrm>
            <a:off x="1219200" y="1905000"/>
            <a:ext cx="7391400" cy="4343400"/>
          </a:xfrm>
        </p:spPr>
        <p:txBody>
          <a:bodyPr>
            <a:normAutofit lnSpcReduction="10000"/>
          </a:bodyPr>
          <a:lstStyle/>
          <a:p>
            <a:pPr algn="l"/>
            <a:r>
              <a:rPr lang="en-US" dirty="0" smtClean="0"/>
              <a:t>The </a:t>
            </a:r>
            <a:r>
              <a:rPr lang="en-US" dirty="0"/>
              <a:t>temperature of a medium is an expression of its content of </a:t>
            </a:r>
            <a:r>
              <a:rPr lang="en-US" dirty="0">
                <a:solidFill>
                  <a:srgbClr val="FF0000"/>
                </a:solidFill>
              </a:rPr>
              <a:t>thermodynamic energy</a:t>
            </a:r>
            <a:r>
              <a:rPr lang="en-US" dirty="0"/>
              <a:t>.</a:t>
            </a:r>
          </a:p>
          <a:p>
            <a:pPr algn="l"/>
            <a:r>
              <a:rPr lang="en-US" dirty="0"/>
              <a:t>The thermodynamic energy represents the </a:t>
            </a:r>
            <a:r>
              <a:rPr lang="en-US" dirty="0">
                <a:solidFill>
                  <a:srgbClr val="FF0000"/>
                </a:solidFill>
              </a:rPr>
              <a:t>average velocity of the unarranged </a:t>
            </a:r>
            <a:r>
              <a:rPr lang="en-US" dirty="0" smtClean="0">
                <a:solidFill>
                  <a:srgbClr val="FF0000"/>
                </a:solidFill>
              </a:rPr>
              <a:t>molecular movement</a:t>
            </a:r>
            <a:r>
              <a:rPr lang="en-US" dirty="0" smtClean="0"/>
              <a:t> </a:t>
            </a:r>
            <a:r>
              <a:rPr lang="en-US" dirty="0"/>
              <a:t>in the </a:t>
            </a:r>
            <a:r>
              <a:rPr lang="en-US" dirty="0" smtClean="0"/>
              <a:t>material.</a:t>
            </a:r>
          </a:p>
          <a:p>
            <a:pPr algn="l"/>
            <a:r>
              <a:rPr lang="en-US" dirty="0" smtClean="0"/>
              <a:t>In other words, temperature </a:t>
            </a:r>
            <a:r>
              <a:rPr lang="en-US" dirty="0"/>
              <a:t>is a physical property of matter that expresses how hot and cold it is</a:t>
            </a:r>
            <a:r>
              <a:rPr lang="en-US" dirty="0" smtClean="0"/>
              <a:t>.</a:t>
            </a:r>
            <a:endParaRPr lang="en-US" dirty="0"/>
          </a:p>
        </p:txBody>
      </p:sp>
    </p:spTree>
  </p:cSld>
  <p:clrMapOvr>
    <a:masterClrMapping/>
  </p:clrMapOvr>
  <p:transition>
    <p:wipe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7772400" cy="1470025"/>
          </a:xfrm>
        </p:spPr>
        <p:style>
          <a:lnRef idx="3">
            <a:schemeClr val="lt1"/>
          </a:lnRef>
          <a:fillRef idx="1">
            <a:schemeClr val="accent1"/>
          </a:fillRef>
          <a:effectRef idx="1">
            <a:schemeClr val="accent1"/>
          </a:effectRef>
          <a:fontRef idx="minor">
            <a:schemeClr val="lt1"/>
          </a:fontRef>
        </p:style>
        <p:txBody>
          <a:bodyPr/>
          <a:lstStyle/>
          <a:p>
            <a:r>
              <a:rPr lang="en-US" dirty="0" smtClean="0"/>
              <a:t>Principles of temperature measurement</a:t>
            </a:r>
            <a:endParaRPr lang="en-US" dirty="0"/>
          </a:p>
        </p:txBody>
      </p:sp>
      <p:sp>
        <p:nvSpPr>
          <p:cNvPr id="3" name="Subtitle 2"/>
          <p:cNvSpPr>
            <a:spLocks noGrp="1"/>
          </p:cNvSpPr>
          <p:nvPr>
            <p:ph type="subTitle" idx="1"/>
          </p:nvPr>
        </p:nvSpPr>
        <p:spPr>
          <a:xfrm>
            <a:off x="457200" y="2286000"/>
            <a:ext cx="8077200" cy="4191000"/>
          </a:xfrm>
        </p:spPr>
        <p:txBody>
          <a:bodyPr>
            <a:normAutofit/>
          </a:bodyPr>
          <a:lstStyle/>
          <a:p>
            <a:pPr algn="l"/>
            <a:r>
              <a:rPr lang="en-US" dirty="0" smtClean="0"/>
              <a:t>The principle of measuring temperature depend upon the </a:t>
            </a:r>
            <a:r>
              <a:rPr lang="en-US" dirty="0" smtClean="0">
                <a:solidFill>
                  <a:srgbClr val="FF0000"/>
                </a:solidFill>
              </a:rPr>
              <a:t>type of device </a:t>
            </a:r>
            <a:r>
              <a:rPr lang="en-US" dirty="0" smtClean="0"/>
              <a:t>being used, </a:t>
            </a:r>
            <a:r>
              <a:rPr lang="en-US" dirty="0" smtClean="0">
                <a:solidFill>
                  <a:srgbClr val="FF0000"/>
                </a:solidFill>
              </a:rPr>
              <a:t>the accuracy required</a:t>
            </a:r>
            <a:r>
              <a:rPr lang="en-US" dirty="0" smtClean="0"/>
              <a:t>, whether is for </a:t>
            </a:r>
            <a:r>
              <a:rPr lang="en-US" dirty="0" smtClean="0">
                <a:solidFill>
                  <a:srgbClr val="FF0000"/>
                </a:solidFill>
              </a:rPr>
              <a:t>monitoring or control and whether you can touch it or not </a:t>
            </a:r>
            <a:r>
              <a:rPr lang="en-US" dirty="0" smtClean="0"/>
              <a:t>These measuring devices infer temperature by sensing some changes of </a:t>
            </a:r>
            <a:r>
              <a:rPr lang="en-US" dirty="0" smtClean="0">
                <a:solidFill>
                  <a:srgbClr val="FF0000"/>
                </a:solidFill>
              </a:rPr>
              <a:t>physical characteristics </a:t>
            </a:r>
            <a:r>
              <a:rPr lang="en-US" dirty="0" smtClean="0"/>
              <a:t>of body. </a:t>
            </a:r>
          </a:p>
        </p:txBody>
      </p:sp>
    </p:spTree>
  </p:cSld>
  <p:clrMapOvr>
    <a:masterClrMapping/>
  </p:clrMapOvr>
  <p:transition>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85801"/>
            <a:ext cx="7772400" cy="1066799"/>
          </a:xfrm>
        </p:spPr>
        <p:style>
          <a:lnRef idx="3">
            <a:schemeClr val="lt1"/>
          </a:lnRef>
          <a:fillRef idx="1">
            <a:schemeClr val="accent1"/>
          </a:fillRef>
          <a:effectRef idx="1">
            <a:schemeClr val="accent1"/>
          </a:effectRef>
          <a:fontRef idx="minor">
            <a:schemeClr val="lt1"/>
          </a:fontRef>
        </p:style>
        <p:txBody>
          <a:bodyPr/>
          <a:lstStyle/>
          <a:p>
            <a:r>
              <a:rPr lang="en-US" dirty="0" smtClean="0"/>
              <a:t>Temperature measuring devices</a:t>
            </a:r>
            <a:endParaRPr lang="en-US" dirty="0"/>
          </a:p>
        </p:txBody>
      </p:sp>
      <p:sp>
        <p:nvSpPr>
          <p:cNvPr id="3" name="Subtitle 2"/>
          <p:cNvSpPr>
            <a:spLocks noGrp="1"/>
          </p:cNvSpPr>
          <p:nvPr>
            <p:ph type="subTitle" idx="1"/>
          </p:nvPr>
        </p:nvSpPr>
        <p:spPr>
          <a:xfrm>
            <a:off x="685800" y="2133600"/>
            <a:ext cx="8001000" cy="3962400"/>
          </a:xfrm>
        </p:spPr>
        <p:txBody>
          <a:bodyPr>
            <a:normAutofit/>
          </a:bodyPr>
          <a:lstStyle/>
          <a:p>
            <a:pPr marL="514350" indent="-514350" algn="l"/>
            <a:r>
              <a:rPr lang="en-US" dirty="0" smtClean="0"/>
              <a:t>	</a:t>
            </a:r>
            <a:r>
              <a:rPr lang="en-US" sz="3600" dirty="0" smtClean="0"/>
              <a:t>The temperature measuring  devices are categorized into FOUR:</a:t>
            </a:r>
          </a:p>
          <a:p>
            <a:pPr marL="971550" lvl="1" indent="-514350" algn="l">
              <a:buFont typeface="Wingdings" pitchFamily="2" charset="2"/>
              <a:buChar char="Ø"/>
            </a:pPr>
            <a:r>
              <a:rPr lang="en-US" sz="3200" dirty="0" smtClean="0"/>
              <a:t>Mechanical devices</a:t>
            </a:r>
          </a:p>
          <a:p>
            <a:pPr marL="971550" lvl="1" indent="-514350" algn="l">
              <a:buFont typeface="Wingdings" pitchFamily="2" charset="2"/>
              <a:buChar char="Ø"/>
            </a:pPr>
            <a:r>
              <a:rPr lang="en-US" sz="3200" dirty="0" smtClean="0"/>
              <a:t>Thermocouples devices</a:t>
            </a:r>
          </a:p>
          <a:p>
            <a:pPr marL="971550" lvl="1" indent="-514350" algn="l">
              <a:buFont typeface="Wingdings" pitchFamily="2" charset="2"/>
              <a:buChar char="Ø"/>
            </a:pPr>
            <a:r>
              <a:rPr lang="en-US" sz="3200" dirty="0" smtClean="0"/>
              <a:t>Thermo resistive devices</a:t>
            </a:r>
          </a:p>
          <a:p>
            <a:pPr marL="971550" lvl="1" indent="-514350" algn="l">
              <a:buFont typeface="Wingdings" pitchFamily="2" charset="2"/>
              <a:buChar char="Ø"/>
            </a:pPr>
            <a:r>
              <a:rPr lang="en-US" sz="3200" dirty="0" smtClean="0"/>
              <a:t>Radiative devices</a:t>
            </a:r>
          </a:p>
          <a:p>
            <a:pPr marL="514350" indent="-514350" algn="l"/>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Description of temperature measuring devices</a:t>
            </a:r>
            <a:endParaRPr lang="en-US" dirty="0"/>
          </a:p>
        </p:txBody>
      </p:sp>
      <p:sp>
        <p:nvSpPr>
          <p:cNvPr id="3" name="Content Placeholder 2"/>
          <p:cNvSpPr>
            <a:spLocks noGrp="1"/>
          </p:cNvSpPr>
          <p:nvPr>
            <p:ph idx="1"/>
          </p:nvPr>
        </p:nvSpPr>
        <p:spPr/>
        <p:txBody>
          <a:bodyPr/>
          <a:lstStyle/>
          <a:p>
            <a:pPr marL="514350" indent="-514350">
              <a:buNone/>
            </a:pPr>
            <a:r>
              <a:rPr lang="en-US" b="1" dirty="0" smtClean="0"/>
              <a:t>1. 	Mechanical temperature measuring device.</a:t>
            </a:r>
          </a:p>
          <a:p>
            <a:pPr marL="514350" indent="-514350">
              <a:buNone/>
            </a:pPr>
            <a:r>
              <a:rPr lang="en-US" dirty="0" smtClean="0"/>
              <a:t>	A change in temperature causes some kind of </a:t>
            </a:r>
            <a:r>
              <a:rPr lang="en-US" i="1" dirty="0" smtClean="0">
                <a:solidFill>
                  <a:srgbClr val="FF0000"/>
                </a:solidFill>
              </a:rPr>
              <a:t>mechanical motion </a:t>
            </a:r>
            <a:r>
              <a:rPr lang="en-US" dirty="0" smtClean="0"/>
              <a:t>typically due to the fact that most material expand with the rise in temperature.</a:t>
            </a:r>
          </a:p>
          <a:p>
            <a:pPr marL="514350" indent="-514350">
              <a:buNone/>
            </a:pPr>
            <a:r>
              <a:rPr lang="en-US" dirty="0" smtClean="0"/>
              <a:t>	Mechanical thermometers can be constructed which use liquids, solids, or even gases as temperature sensitive material.</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1010"/>
            <a:ext cx="8382000" cy="1062990"/>
          </a:xfrm>
        </p:spPr>
        <p:style>
          <a:lnRef idx="3">
            <a:schemeClr val="lt1"/>
          </a:lnRef>
          <a:fillRef idx="1">
            <a:schemeClr val="accent1"/>
          </a:fillRef>
          <a:effectRef idx="1">
            <a:schemeClr val="accent1"/>
          </a:effectRef>
          <a:fontRef idx="minor">
            <a:schemeClr val="lt1"/>
          </a:fontRef>
        </p:style>
        <p:txBody>
          <a:bodyPr>
            <a:noAutofit/>
          </a:bodyPr>
          <a:lstStyle/>
          <a:p>
            <a:r>
              <a:rPr lang="en-US" sz="3600" dirty="0" smtClean="0"/>
              <a:t>Mechanical temperature measuring device cont………</a:t>
            </a:r>
            <a:endParaRPr lang="en-US" sz="3600" dirty="0"/>
          </a:p>
        </p:txBody>
      </p:sp>
      <p:sp>
        <p:nvSpPr>
          <p:cNvPr id="3" name="Content Placeholder 2"/>
          <p:cNvSpPr>
            <a:spLocks noGrp="1"/>
          </p:cNvSpPr>
          <p:nvPr>
            <p:ph idx="1"/>
          </p:nvPr>
        </p:nvSpPr>
        <p:spPr/>
        <p:txBody>
          <a:bodyPr>
            <a:normAutofit fontScale="92500"/>
          </a:bodyPr>
          <a:lstStyle/>
          <a:p>
            <a:pPr>
              <a:buNone/>
            </a:pPr>
            <a:r>
              <a:rPr lang="en-US" dirty="0" smtClean="0"/>
              <a:t>The mechanical motion is read on a physical scale to infer the temperature. The example includes;</a:t>
            </a:r>
          </a:p>
          <a:p>
            <a:pPr marL="571500" indent="-571500">
              <a:buAutoNum type="romanLcParenBoth"/>
            </a:pPr>
            <a:r>
              <a:rPr lang="en-US" b="1" dirty="0" smtClean="0"/>
              <a:t>liquid-in glass thermometer</a:t>
            </a:r>
          </a:p>
          <a:p>
            <a:pPr marL="571500" indent="-571500">
              <a:buNone/>
            </a:pPr>
            <a:r>
              <a:rPr lang="en-US" dirty="0"/>
              <a:t> </a:t>
            </a:r>
            <a:r>
              <a:rPr lang="en-US" dirty="0" smtClean="0"/>
              <a:t>     The most common and well known  thermometer is  the liquid in glass thermometer. As the temperature rises the liquid expands, moving up the tube. The scale is calibrated to read temperature directly.</a:t>
            </a:r>
          </a:p>
          <a:p>
            <a:pPr>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Liquid –in glass thermometer</a:t>
            </a:r>
            <a:endParaRPr lang="en-US" dirty="0"/>
          </a:p>
        </p:txBody>
      </p:sp>
      <p:pic>
        <p:nvPicPr>
          <p:cNvPr id="5123" name="Picture 3"/>
          <p:cNvPicPr>
            <a:picLocks noGrp="1" noChangeAspect="1" noChangeArrowheads="1"/>
          </p:cNvPicPr>
          <p:nvPr>
            <p:ph idx="1"/>
          </p:nvPr>
        </p:nvPicPr>
        <p:blipFill>
          <a:blip r:embed="rId2"/>
          <a:srcRect/>
          <a:stretch>
            <a:fillRect/>
          </a:stretch>
        </p:blipFill>
        <p:spPr bwMode="auto">
          <a:xfrm>
            <a:off x="3505200" y="1752600"/>
            <a:ext cx="2362200" cy="4191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57200"/>
            <a:ext cx="7772400" cy="1470025"/>
          </a:xfrm>
        </p:spPr>
        <p:style>
          <a:lnRef idx="3">
            <a:schemeClr val="lt1"/>
          </a:lnRef>
          <a:fillRef idx="1">
            <a:schemeClr val="accent1"/>
          </a:fillRef>
          <a:effectRef idx="1">
            <a:schemeClr val="accent1"/>
          </a:effectRef>
          <a:fontRef idx="minor">
            <a:schemeClr val="lt1"/>
          </a:fontRef>
        </p:style>
        <p:txBody>
          <a:bodyPr>
            <a:normAutofit/>
          </a:bodyPr>
          <a:lstStyle/>
          <a:p>
            <a:r>
              <a:rPr lang="en-US" sz="4000" dirty="0" smtClean="0"/>
              <a:t>Mechanical temperature measuring device cont……</a:t>
            </a:r>
            <a:endParaRPr lang="en-US" sz="4000" dirty="0"/>
          </a:p>
        </p:txBody>
      </p:sp>
      <p:sp>
        <p:nvSpPr>
          <p:cNvPr id="3" name="Subtitle 2"/>
          <p:cNvSpPr>
            <a:spLocks noGrp="1"/>
          </p:cNvSpPr>
          <p:nvPr>
            <p:ph type="subTitle" idx="1"/>
          </p:nvPr>
        </p:nvSpPr>
        <p:spPr>
          <a:xfrm>
            <a:off x="533400" y="2362200"/>
            <a:ext cx="8153400" cy="4191000"/>
          </a:xfrm>
        </p:spPr>
        <p:txBody>
          <a:bodyPr/>
          <a:lstStyle/>
          <a:p>
            <a:pPr marL="571500" indent="-571500" algn="l">
              <a:buAutoNum type="romanLcParenBoth" startAt="2"/>
            </a:pPr>
            <a:r>
              <a:rPr lang="en-US" b="1" dirty="0" smtClean="0"/>
              <a:t>Bimetallic strip thermometer</a:t>
            </a:r>
          </a:p>
          <a:p>
            <a:pPr marL="571500" indent="-571500" algn="l"/>
            <a:r>
              <a:rPr lang="en-US" dirty="0" smtClean="0"/>
              <a:t>	Two dissimilar metals are bonded together into what is called a bimetallic strip as shown in fig. below </a:t>
            </a:r>
          </a:p>
          <a:p>
            <a:pPr marL="571500" indent="-571500"/>
            <a:endParaRPr lang="en-US" dirty="0"/>
          </a:p>
        </p:txBody>
      </p:sp>
      <p:pic>
        <p:nvPicPr>
          <p:cNvPr id="4098" name="Picture 2"/>
          <p:cNvPicPr>
            <a:picLocks noChangeAspect="1" noChangeArrowheads="1"/>
          </p:cNvPicPr>
          <p:nvPr/>
        </p:nvPicPr>
        <p:blipFill>
          <a:blip r:embed="rId2"/>
          <a:srcRect/>
          <a:stretch>
            <a:fillRect/>
          </a:stretch>
        </p:blipFill>
        <p:spPr bwMode="auto">
          <a:xfrm>
            <a:off x="1828800" y="4572000"/>
            <a:ext cx="5257800" cy="1219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44962"/>
          </a:xfrm>
        </p:spPr>
        <p:txBody>
          <a:bodyPr>
            <a:normAutofit fontScale="90000"/>
          </a:bodyPr>
          <a:lstStyle/>
          <a:p>
            <a:pPr algn="l"/>
            <a:r>
              <a:rPr lang="en-US" dirty="0" smtClean="0"/>
              <a:t>Suppose metal A has smaller thermal coefficient of expansion than metal B does. As temperature increases metal B expand more than metal A does causing the bimetallic strip to curl upwards as shown in figure below.</a:t>
            </a:r>
            <a:endParaRPr lang="en-US" dirty="0"/>
          </a:p>
        </p:txBody>
      </p:sp>
      <p:pic>
        <p:nvPicPr>
          <p:cNvPr id="2051" name="Picture 3"/>
          <p:cNvPicPr>
            <a:picLocks noChangeAspect="1" noChangeArrowheads="1"/>
          </p:cNvPicPr>
          <p:nvPr/>
        </p:nvPicPr>
        <p:blipFill>
          <a:blip r:embed="rId2"/>
          <a:srcRect/>
          <a:stretch>
            <a:fillRect/>
          </a:stretch>
        </p:blipFill>
        <p:spPr bwMode="auto">
          <a:xfrm>
            <a:off x="990600" y="4648200"/>
            <a:ext cx="6477000" cy="114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1032510"/>
          </a:xfrm>
        </p:spPr>
        <p:style>
          <a:lnRef idx="3">
            <a:schemeClr val="lt1"/>
          </a:lnRef>
          <a:fillRef idx="1">
            <a:schemeClr val="accent1"/>
          </a:fillRef>
          <a:effectRef idx="1">
            <a:schemeClr val="accent1"/>
          </a:effectRef>
          <a:fontRef idx="minor">
            <a:schemeClr val="lt1"/>
          </a:fontRef>
        </p:style>
        <p:txBody>
          <a:bodyPr/>
          <a:lstStyle/>
          <a:p>
            <a:r>
              <a:rPr lang="en-US" dirty="0" smtClean="0"/>
              <a:t>2. Thermocouples</a:t>
            </a:r>
            <a:endParaRPr lang="en-US" dirty="0"/>
          </a:p>
        </p:txBody>
      </p:sp>
      <p:sp>
        <p:nvSpPr>
          <p:cNvPr id="3" name="Subtitle 2"/>
          <p:cNvSpPr>
            <a:spLocks noGrp="1"/>
          </p:cNvSpPr>
          <p:nvPr>
            <p:ph type="subTitle" idx="1"/>
          </p:nvPr>
        </p:nvSpPr>
        <p:spPr>
          <a:xfrm>
            <a:off x="533400" y="2133600"/>
            <a:ext cx="7848600" cy="3657600"/>
          </a:xfrm>
        </p:spPr>
        <p:txBody>
          <a:bodyPr/>
          <a:lstStyle/>
          <a:p>
            <a:pPr algn="l"/>
            <a:r>
              <a:rPr lang="en-US" dirty="0" smtClean="0">
                <a:latin typeface="Times New Roman" panose="02020603050405020304" pitchFamily="18" charset="0"/>
                <a:cs typeface="Times New Roman" panose="02020603050405020304" pitchFamily="18" charset="0"/>
              </a:rPr>
              <a:t>A thermocouple is made up of two dissimilar metals, joined together at one end that produce a voltage (in mV) with change in temperature. The junction of the two metals, called the sensing junction is connected to extension wires. Any two dissimilar metals may be used to make a thermocouple</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1"/>
            <a:ext cx="7772400" cy="685800"/>
          </a:xfrm>
        </p:spPr>
        <p:txBody>
          <a:bodyPr>
            <a:normAutofit fontScale="90000"/>
          </a:bodyPr>
          <a:lstStyle/>
          <a:p>
            <a:r>
              <a:rPr lang="en-US" dirty="0" smtClean="0"/>
              <a:t>Thermocouple …………</a:t>
            </a:r>
            <a:endParaRPr lang="en-US" dirty="0"/>
          </a:p>
        </p:txBody>
      </p:sp>
      <p:sp>
        <p:nvSpPr>
          <p:cNvPr id="3" name="Subtitle 2"/>
          <p:cNvSpPr>
            <a:spLocks noGrp="1"/>
          </p:cNvSpPr>
          <p:nvPr>
            <p:ph type="subTitle" idx="1"/>
          </p:nvPr>
        </p:nvSpPr>
        <p:spPr>
          <a:xfrm>
            <a:off x="685800" y="1447800"/>
            <a:ext cx="7696200" cy="4724400"/>
          </a:xfrm>
        </p:spPr>
        <p:txBody>
          <a:bodyPr/>
          <a:lstStyle/>
          <a:p>
            <a:r>
              <a:rPr lang="en-US" dirty="0" smtClean="0"/>
              <a:t>The figure below shows a simple circuit thermocouple </a:t>
            </a:r>
            <a:endParaRPr lang="en-US" dirty="0"/>
          </a:p>
        </p:txBody>
      </p:sp>
      <p:pic>
        <p:nvPicPr>
          <p:cNvPr id="8194" name="Picture 2"/>
          <p:cNvPicPr>
            <a:picLocks noChangeAspect="1" noChangeArrowheads="1"/>
          </p:cNvPicPr>
          <p:nvPr/>
        </p:nvPicPr>
        <p:blipFill>
          <a:blip r:embed="rId2"/>
          <a:srcRect/>
          <a:stretch>
            <a:fillRect/>
          </a:stretch>
        </p:blipFill>
        <p:spPr bwMode="auto">
          <a:xfrm>
            <a:off x="2057400" y="2743200"/>
            <a:ext cx="51816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81000"/>
            <a:ext cx="7772400" cy="762001"/>
          </a:xfrm>
        </p:spPr>
        <p:style>
          <a:lnRef idx="3">
            <a:schemeClr val="lt1"/>
          </a:lnRef>
          <a:fillRef idx="1">
            <a:schemeClr val="accent1"/>
          </a:fillRef>
          <a:effectRef idx="1">
            <a:schemeClr val="accent1"/>
          </a:effectRef>
          <a:fontRef idx="minor">
            <a:schemeClr val="lt1"/>
          </a:fontRef>
        </p:style>
        <p:txBody>
          <a:bodyPr>
            <a:normAutofit/>
          </a:bodyPr>
          <a:lstStyle/>
          <a:p>
            <a:r>
              <a:rPr lang="en-US" sz="3600" dirty="0" smtClean="0"/>
              <a:t>Principle of operation of a thermocouple</a:t>
            </a:r>
            <a:endParaRPr lang="en-US" sz="3600" dirty="0"/>
          </a:p>
        </p:txBody>
      </p:sp>
      <p:sp>
        <p:nvSpPr>
          <p:cNvPr id="3" name="Subtitle 2"/>
          <p:cNvSpPr>
            <a:spLocks noGrp="1"/>
          </p:cNvSpPr>
          <p:nvPr>
            <p:ph type="subTitle" idx="1"/>
          </p:nvPr>
        </p:nvSpPr>
        <p:spPr>
          <a:xfrm>
            <a:off x="304800" y="1371600"/>
            <a:ext cx="8001000" cy="5257800"/>
          </a:xfrm>
        </p:spPr>
        <p:txBody>
          <a:bodyPr>
            <a:normAutofit/>
          </a:bodyPr>
          <a:lstStyle/>
          <a:p>
            <a:pPr marL="571500" indent="-571500" algn="l"/>
            <a:r>
              <a:rPr lang="en-US" dirty="0" smtClean="0"/>
              <a:t>	When two dissimilar metals are connected together, a small voltage called </a:t>
            </a:r>
            <a:r>
              <a:rPr lang="en-US" dirty="0" smtClean="0">
                <a:solidFill>
                  <a:srgbClr val="FF0000"/>
                </a:solidFill>
              </a:rPr>
              <a:t>thermo-    </a:t>
            </a:r>
          </a:p>
          <a:p>
            <a:pPr marL="571500" indent="-571500" algn="l"/>
            <a:r>
              <a:rPr lang="en-US" dirty="0" smtClean="0">
                <a:solidFill>
                  <a:srgbClr val="FF0000"/>
                </a:solidFill>
              </a:rPr>
              <a:t>       junction voltage</a:t>
            </a:r>
            <a:r>
              <a:rPr lang="en-US" dirty="0" smtClean="0"/>
              <a:t> is generated at the junction. </a:t>
            </a:r>
          </a:p>
          <a:p>
            <a:pPr marL="571500" indent="-571500" algn="l"/>
            <a:r>
              <a:rPr lang="en-US" dirty="0" smtClean="0"/>
              <a:t>	If the temperature of the junction changes (a linear change) causes voltage to changes </a:t>
            </a:r>
            <a:r>
              <a:rPr lang="en-US" sz="2800" dirty="0" smtClean="0"/>
              <a:t>too</a:t>
            </a:r>
            <a:r>
              <a:rPr lang="en-US" dirty="0" smtClean="0"/>
              <a:t>, which can be measured by the input circuits of an electric controller.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Thermocouple cont…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800600" y="1828800"/>
            <a:ext cx="3886200" cy="4191000"/>
          </a:xfrm>
          <a:prstGeom prst="rect">
            <a:avLst/>
          </a:prstGeom>
          <a:noFill/>
          <a:ln w="9525">
            <a:noFill/>
            <a:miter lim="800000"/>
            <a:headEnd/>
            <a:tailEnd/>
          </a:ln>
          <a:effectLst/>
        </p:spPr>
      </p:pic>
      <p:sp>
        <p:nvSpPr>
          <p:cNvPr id="5" name="Rectangle 4"/>
          <p:cNvSpPr/>
          <p:nvPr/>
        </p:nvSpPr>
        <p:spPr>
          <a:xfrm>
            <a:off x="914400" y="2133600"/>
            <a:ext cx="4572000" cy="2246769"/>
          </a:xfrm>
          <a:prstGeom prst="rect">
            <a:avLst/>
          </a:prstGeom>
        </p:spPr>
        <p:txBody>
          <a:bodyPr wrap="square">
            <a:spAutoFit/>
          </a:bodyPr>
          <a:lstStyle/>
          <a:p>
            <a:r>
              <a:rPr lang="en-US" sz="2800" dirty="0" smtClean="0"/>
              <a:t>The output is a voltage proportional to the temperature difference between the junction and the free end.</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Autofit/>
          </a:bodyPr>
          <a:lstStyle/>
          <a:p>
            <a:r>
              <a:rPr lang="en-US" sz="3600" dirty="0" smtClean="0"/>
              <a:t> 3. Thermo resistive temperature measuring device</a:t>
            </a:r>
            <a:endParaRPr lang="en-US" sz="3600" dirty="0"/>
          </a:p>
        </p:txBody>
      </p:sp>
      <p:sp>
        <p:nvSpPr>
          <p:cNvPr id="4" name="Content Placeholder 3"/>
          <p:cNvSpPr>
            <a:spLocks noGrp="1"/>
          </p:cNvSpPr>
          <p:nvPr>
            <p:ph idx="1"/>
          </p:nvPr>
        </p:nvSpPr>
        <p:spPr>
          <a:xfrm>
            <a:off x="228600" y="1600200"/>
            <a:ext cx="8763000" cy="4525963"/>
          </a:xfrm>
        </p:spPr>
        <p:txBody>
          <a:bodyPr/>
          <a:lstStyle/>
          <a:p>
            <a:r>
              <a:rPr lang="en-US" dirty="0" smtClean="0"/>
              <a:t>A change in temperature causes the electrical resistance of material to change. The resistance change is measured to infer temperature change.</a:t>
            </a:r>
          </a:p>
          <a:p>
            <a:r>
              <a:rPr lang="en-US" dirty="0" smtClean="0"/>
              <a:t>There are two types of thermo-resistive devices.</a:t>
            </a:r>
          </a:p>
          <a:p>
            <a:pPr>
              <a:buNone/>
            </a:pPr>
            <a:r>
              <a:rPr lang="en-US" dirty="0" smtClean="0"/>
              <a:t>   </a:t>
            </a:r>
            <a:r>
              <a:rPr lang="en-US" dirty="0" smtClean="0">
                <a:solidFill>
                  <a:srgbClr val="FF0000"/>
                </a:solidFill>
              </a:rPr>
              <a:t>(i) Resistance Temperature Detector (RTD)</a:t>
            </a:r>
          </a:p>
          <a:p>
            <a:pPr>
              <a:buNone/>
            </a:pPr>
            <a:r>
              <a:rPr lang="en-US" dirty="0" smtClean="0">
                <a:solidFill>
                  <a:srgbClr val="FF0000"/>
                </a:solidFill>
              </a:rPr>
              <a:t>   (ii) Thermistors</a:t>
            </a:r>
          </a:p>
          <a:p>
            <a:pPr>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dirty="0" smtClean="0"/>
              <a:t>3.1. Resistance Temperature Detector</a:t>
            </a:r>
            <a:endParaRPr lang="en-US" dirty="0"/>
          </a:p>
        </p:txBody>
      </p:sp>
      <p:sp>
        <p:nvSpPr>
          <p:cNvPr id="4" name="Content Placeholder 3"/>
          <p:cNvSpPr>
            <a:spLocks noGrp="1"/>
          </p:cNvSpPr>
          <p:nvPr>
            <p:ph idx="1"/>
          </p:nvPr>
        </p:nvSpPr>
        <p:spPr>
          <a:xfrm>
            <a:off x="304800" y="1295400"/>
            <a:ext cx="8382000" cy="5105400"/>
          </a:xfrm>
        </p:spPr>
        <p:txBody>
          <a:bodyPr>
            <a:normAutofit/>
          </a:bodyPr>
          <a:lstStyle/>
          <a:p>
            <a:pPr>
              <a:buNone/>
            </a:pPr>
            <a:r>
              <a:rPr lang="en-US" dirty="0" smtClean="0"/>
              <a:t>    </a:t>
            </a:r>
            <a:r>
              <a:rPr lang="en-US" sz="3000" dirty="0" smtClean="0"/>
              <a:t>A resistance temperature detector is basically a long, small diameter metal wire wound in a coil.</a:t>
            </a:r>
          </a:p>
          <a:p>
            <a:pPr>
              <a:buNone/>
            </a:pPr>
            <a:r>
              <a:rPr lang="en-US" sz="3000" b="1" dirty="0" smtClean="0"/>
              <a:t>    Principle of operation</a:t>
            </a:r>
            <a:r>
              <a:rPr lang="en-US" sz="3000" dirty="0" smtClean="0"/>
              <a:t>.</a:t>
            </a:r>
          </a:p>
          <a:p>
            <a:pPr>
              <a:buNone/>
            </a:pPr>
            <a:r>
              <a:rPr lang="en-US" sz="3000" dirty="0" smtClean="0"/>
              <a:t>    Resistance Temperature Detector (RTD) operates in the principle of electrical resistance of a metal which changes predictably in an essential linear and repeatable manner which changes in temperature. The RTD has a positive temperature coefficient (resistance increases with temperature).</a:t>
            </a:r>
          </a:p>
          <a:p>
            <a:pPr>
              <a:buNone/>
            </a:pP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1143000"/>
          </a:xfrm>
        </p:spPr>
        <p:style>
          <a:lnRef idx="3">
            <a:schemeClr val="lt1"/>
          </a:lnRef>
          <a:fillRef idx="1">
            <a:schemeClr val="accent1"/>
          </a:fillRef>
          <a:effectRef idx="1">
            <a:schemeClr val="accent1"/>
          </a:effectRef>
          <a:fontRef idx="minor">
            <a:schemeClr val="lt1"/>
          </a:fontRef>
        </p:style>
        <p:txBody>
          <a:bodyPr/>
          <a:lstStyle/>
          <a:p>
            <a:r>
              <a:rPr lang="en-US" dirty="0" smtClean="0"/>
              <a:t>Principle of operation cont…</a:t>
            </a:r>
            <a:endParaRPr lang="en-US" dirty="0"/>
          </a:p>
        </p:txBody>
      </p:sp>
      <p:sp>
        <p:nvSpPr>
          <p:cNvPr id="4" name="Content Placeholder 3"/>
          <p:cNvSpPr>
            <a:spLocks noGrp="1"/>
          </p:cNvSpPr>
          <p:nvPr>
            <p:ph idx="1"/>
          </p:nvPr>
        </p:nvSpPr>
        <p:spPr/>
        <p:txBody>
          <a:bodyPr>
            <a:normAutofit fontScale="92500"/>
          </a:bodyPr>
          <a:lstStyle/>
          <a:p>
            <a:pPr>
              <a:buNone/>
            </a:pPr>
            <a:r>
              <a:rPr lang="en-US" dirty="0" smtClean="0"/>
              <a:t>	The resistance of the element at the base temperature is proportional to the length of the element and inverse to the cross sectional area.</a:t>
            </a:r>
          </a:p>
          <a:p>
            <a:pPr>
              <a:buNone/>
            </a:pPr>
            <a:r>
              <a:rPr lang="en-US" dirty="0" smtClean="0"/>
              <a:t>	A typical electrical circuit designed to measure temperature with RTD actually measures a change in resistance of the RTD which is then used to calculate a change in temperature. </a:t>
            </a:r>
          </a:p>
          <a:p>
            <a:pPr>
              <a:buNone/>
            </a:pPr>
            <a:r>
              <a:rPr lang="en-US" dirty="0" smtClean="0"/>
              <a:t>	The resistance of the RTD increases with increasing temperature. </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dirty="0" smtClean="0"/>
              <a:t>3.2. Thermistors</a:t>
            </a:r>
            <a:endParaRPr lang="en-US" dirty="0"/>
          </a:p>
        </p:txBody>
      </p:sp>
      <p:sp>
        <p:nvSpPr>
          <p:cNvPr id="4" name="Content Placeholder 3"/>
          <p:cNvSpPr>
            <a:spLocks noGrp="1"/>
          </p:cNvSpPr>
          <p:nvPr>
            <p:ph idx="1"/>
          </p:nvPr>
        </p:nvSpPr>
        <p:spPr>
          <a:xfrm>
            <a:off x="381000" y="1600200"/>
            <a:ext cx="8153400" cy="4495800"/>
          </a:xfrm>
        </p:spPr>
        <p:txBody>
          <a:bodyPr>
            <a:normAutofit/>
          </a:bodyPr>
          <a:lstStyle/>
          <a:p>
            <a:pPr algn="just">
              <a:buNone/>
            </a:pPr>
            <a:r>
              <a:rPr lang="en-US" dirty="0" smtClean="0"/>
              <a:t>   These are temperature sensitive semiconductors that shows a </a:t>
            </a:r>
            <a:r>
              <a:rPr lang="en-US" dirty="0" smtClean="0">
                <a:solidFill>
                  <a:srgbClr val="FF0000"/>
                </a:solidFill>
              </a:rPr>
              <a:t>large change </a:t>
            </a:r>
            <a:r>
              <a:rPr lang="en-US" dirty="0" smtClean="0"/>
              <a:t>in resistance over a relatively </a:t>
            </a:r>
            <a:r>
              <a:rPr lang="en-US" dirty="0" smtClean="0">
                <a:solidFill>
                  <a:srgbClr val="FF0000"/>
                </a:solidFill>
              </a:rPr>
              <a:t>small range of temperature</a:t>
            </a:r>
            <a:r>
              <a:rPr lang="en-US" dirty="0" smtClean="0"/>
              <a:t>. </a:t>
            </a:r>
          </a:p>
          <a:p>
            <a:pPr algn="just">
              <a:buNone/>
            </a:pPr>
            <a:r>
              <a:rPr lang="en-US" dirty="0" smtClean="0"/>
              <a:t>	There are two types of thermistors namely;</a:t>
            </a:r>
          </a:p>
          <a:p>
            <a:pPr algn="just">
              <a:buNone/>
            </a:pPr>
            <a:r>
              <a:rPr lang="en-US" dirty="0" smtClean="0"/>
              <a:t>    (i) Positive Temperature Coefficient-PTC</a:t>
            </a:r>
          </a:p>
          <a:p>
            <a:pPr algn="just">
              <a:buNone/>
            </a:pPr>
            <a:r>
              <a:rPr lang="en-US" dirty="0" smtClean="0"/>
              <a:t>    (ii) Negative temperature Coefficient-NTC</a:t>
            </a:r>
          </a:p>
          <a:p>
            <a:pPr algn="just">
              <a:buNone/>
            </a:pPr>
            <a:r>
              <a:rPr lang="en-US" dirty="0" smtClean="0"/>
              <a:t>   </a:t>
            </a:r>
          </a:p>
          <a:p>
            <a:pPr marL="514350" indent="-514350" algn="just">
              <a:buNone/>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Thermistors cont..</a:t>
            </a:r>
            <a:endParaRPr lang="en-US" dirty="0"/>
          </a:p>
        </p:txBody>
      </p:sp>
      <p:sp>
        <p:nvSpPr>
          <p:cNvPr id="3" name="Content Placeholder 2"/>
          <p:cNvSpPr>
            <a:spLocks noGrp="1"/>
          </p:cNvSpPr>
          <p:nvPr>
            <p:ph idx="1"/>
          </p:nvPr>
        </p:nvSpPr>
        <p:spPr>
          <a:xfrm>
            <a:off x="457200" y="1295400"/>
            <a:ext cx="8229600" cy="4525963"/>
          </a:xfrm>
        </p:spPr>
        <p:txBody>
          <a:bodyPr/>
          <a:lstStyle/>
          <a:p>
            <a:r>
              <a:rPr lang="en-US" dirty="0" smtClean="0"/>
              <a:t>The Negative Temperature Coefficient  (NTC) thermistors shows a characteristic of </a:t>
            </a:r>
            <a:r>
              <a:rPr lang="en-US" i="1" dirty="0" smtClean="0">
                <a:solidFill>
                  <a:srgbClr val="FF0000"/>
                </a:solidFill>
              </a:rPr>
              <a:t>resistance falling </a:t>
            </a:r>
            <a:r>
              <a:rPr lang="en-US" dirty="0" smtClean="0"/>
              <a:t>with </a:t>
            </a:r>
            <a:r>
              <a:rPr lang="en-US" i="1" dirty="0" smtClean="0">
                <a:solidFill>
                  <a:srgbClr val="FF0000"/>
                </a:solidFill>
              </a:rPr>
              <a:t>increase in temperature</a:t>
            </a:r>
            <a:r>
              <a:rPr lang="en-US" dirty="0" smtClean="0"/>
              <a:t>. These are commonly used for temperature measurement.</a:t>
            </a:r>
          </a:p>
          <a:p>
            <a:r>
              <a:rPr lang="en-US" dirty="0" smtClean="0"/>
              <a:t>The Positive Temperature Coefficient will show the </a:t>
            </a:r>
            <a:r>
              <a:rPr lang="en-US" i="1" dirty="0" smtClean="0">
                <a:solidFill>
                  <a:srgbClr val="FF0000"/>
                </a:solidFill>
              </a:rPr>
              <a:t>raising of resistance </a:t>
            </a:r>
            <a:r>
              <a:rPr lang="en-US" dirty="0" smtClean="0"/>
              <a:t>with </a:t>
            </a:r>
            <a:r>
              <a:rPr lang="en-US" i="1" dirty="0" smtClean="0">
                <a:solidFill>
                  <a:srgbClr val="FF0000"/>
                </a:solidFill>
              </a:rPr>
              <a:t>increase in temperature.</a:t>
            </a:r>
            <a:endParaRPr lang="en-US" i="1"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dirty="0" smtClean="0"/>
              <a:t>4.Radiative temperature measuring device </a:t>
            </a:r>
            <a:endParaRPr lang="en-US" dirty="0"/>
          </a:p>
        </p:txBody>
      </p:sp>
      <p:sp>
        <p:nvSpPr>
          <p:cNvPr id="4" name="Content Placeholder 3"/>
          <p:cNvSpPr>
            <a:spLocks noGrp="1"/>
          </p:cNvSpPr>
          <p:nvPr>
            <p:ph idx="1"/>
          </p:nvPr>
        </p:nvSpPr>
        <p:spPr>
          <a:xfrm>
            <a:off x="457200" y="1600200"/>
            <a:ext cx="8229600" cy="4800600"/>
          </a:xfrm>
        </p:spPr>
        <p:txBody>
          <a:bodyPr>
            <a:normAutofit fontScale="92500" lnSpcReduction="20000"/>
          </a:bodyPr>
          <a:lstStyle/>
          <a:p>
            <a:pPr>
              <a:buNone/>
            </a:pPr>
            <a:r>
              <a:rPr lang="en-US" dirty="0" smtClean="0"/>
              <a:t>    </a:t>
            </a:r>
            <a:r>
              <a:rPr lang="en-US" sz="3600" dirty="0" smtClean="0"/>
              <a:t>Two types of radiative measuring device are used; </a:t>
            </a:r>
          </a:p>
          <a:p>
            <a:pPr>
              <a:buNone/>
            </a:pPr>
            <a:r>
              <a:rPr lang="en-US" sz="3600" dirty="0" smtClean="0"/>
              <a:t>	(</a:t>
            </a:r>
            <a:r>
              <a:rPr lang="en-US" sz="3600" dirty="0" smtClean="0">
                <a:solidFill>
                  <a:srgbClr val="FF0000"/>
                </a:solidFill>
              </a:rPr>
              <a:t>i) infrared pyrometer (ii) optical pyrometers.</a:t>
            </a:r>
          </a:p>
          <a:p>
            <a:pPr>
              <a:buNone/>
            </a:pPr>
            <a:r>
              <a:rPr lang="en-US" sz="3600" dirty="0" smtClean="0"/>
              <a:t>    Infrared temperature sensors are also known as </a:t>
            </a:r>
            <a:r>
              <a:rPr lang="en-US" sz="3600" dirty="0" smtClean="0">
                <a:solidFill>
                  <a:srgbClr val="0070C0"/>
                </a:solidFill>
              </a:rPr>
              <a:t>pyrometer or non-contact</a:t>
            </a:r>
            <a:r>
              <a:rPr lang="en-US" sz="3600" dirty="0" smtClean="0"/>
              <a:t> temperature sensor are used to measure the temperature of an object </a:t>
            </a:r>
            <a:r>
              <a:rPr lang="en-US" sz="3600" dirty="0" smtClean="0">
                <a:solidFill>
                  <a:srgbClr val="FF0000"/>
                </a:solidFill>
              </a:rPr>
              <a:t>without contact</a:t>
            </a:r>
            <a:r>
              <a:rPr lang="en-US" sz="3600" dirty="0" smtClean="0"/>
              <a:t>. </a:t>
            </a:r>
          </a:p>
          <a:p>
            <a:pPr>
              <a:buNone/>
            </a:pPr>
            <a:r>
              <a:rPr lang="en-US" sz="3600" dirty="0" smtClean="0"/>
              <a:t>	This is different from most temperature measuring devices which require direct contact with the measured media. </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Radiative device cont..</a:t>
            </a:r>
            <a:endParaRPr lang="en-US" dirty="0"/>
          </a:p>
        </p:txBody>
      </p:sp>
      <p:sp>
        <p:nvSpPr>
          <p:cNvPr id="3" name="Content Placeholder 2"/>
          <p:cNvSpPr>
            <a:spLocks noGrp="1"/>
          </p:cNvSpPr>
          <p:nvPr>
            <p:ph idx="1"/>
          </p:nvPr>
        </p:nvSpPr>
        <p:spPr/>
        <p:txBody>
          <a:bodyPr/>
          <a:lstStyle/>
          <a:p>
            <a:r>
              <a:rPr lang="en-US" dirty="0" smtClean="0"/>
              <a:t>Non contact method of temperature measurement are advantageous where contact method is impossible or impractical such as when the target is inaccessible or so hot that the contact device will not survive</a:t>
            </a:r>
            <a:r>
              <a:rPr lang="en-US" sz="2400" dirty="0" smtClean="0"/>
              <a:t>.</a:t>
            </a:r>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dirty="0" smtClean="0"/>
              <a:t>Operation principle</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pPr>
              <a:buNone/>
            </a:pPr>
            <a:r>
              <a:rPr lang="en-US" dirty="0" smtClean="0"/>
              <a:t>   </a:t>
            </a:r>
            <a:r>
              <a:rPr lang="en-US" b="1" dirty="0" smtClean="0"/>
              <a:t>Infrared temperature </a:t>
            </a:r>
            <a:r>
              <a:rPr lang="en-US" dirty="0" smtClean="0"/>
              <a:t>sensors uses the principle of object </a:t>
            </a:r>
            <a:r>
              <a:rPr lang="en-US" dirty="0" smtClean="0">
                <a:solidFill>
                  <a:srgbClr val="FF0000"/>
                </a:solidFill>
              </a:rPr>
              <a:t>emits an amount of energy </a:t>
            </a:r>
            <a:r>
              <a:rPr lang="en-US" dirty="0" smtClean="0"/>
              <a:t>that is a function of its temperature. </a:t>
            </a:r>
          </a:p>
          <a:p>
            <a:pPr>
              <a:buNone/>
            </a:pPr>
            <a:r>
              <a:rPr lang="en-US" dirty="0" smtClean="0"/>
              <a:t>	This function dictates that </a:t>
            </a:r>
            <a:r>
              <a:rPr lang="en-US" dirty="0" smtClean="0">
                <a:solidFill>
                  <a:srgbClr val="FF0000"/>
                </a:solidFill>
              </a:rPr>
              <a:t>as the temperature of an object rises</a:t>
            </a:r>
            <a:r>
              <a:rPr lang="en-US" dirty="0" smtClean="0"/>
              <a:t>, so </a:t>
            </a:r>
            <a:r>
              <a:rPr lang="en-US" dirty="0" smtClean="0">
                <a:solidFill>
                  <a:srgbClr val="FF0000"/>
                </a:solidFill>
              </a:rPr>
              <a:t>does the amount of energy it emits. </a:t>
            </a:r>
          </a:p>
          <a:p>
            <a:pPr>
              <a:buNone/>
            </a:pPr>
            <a:r>
              <a:rPr lang="en-US" dirty="0" smtClean="0"/>
              <a:t>	An infrared temperature sensor determine temperature by sensing the </a:t>
            </a:r>
            <a:r>
              <a:rPr lang="en-US" dirty="0" smtClean="0">
                <a:solidFill>
                  <a:srgbClr val="0070C0"/>
                </a:solidFill>
              </a:rPr>
              <a:t>intensity of energy </a:t>
            </a:r>
            <a:r>
              <a:rPr lang="en-US" dirty="0" smtClean="0"/>
              <a:t>given off by an object.</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858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dirty="0" smtClean="0"/>
              <a:t>Optical pyrometer</a:t>
            </a:r>
            <a:endParaRPr lang="en-US" dirty="0"/>
          </a:p>
        </p:txBody>
      </p:sp>
      <p:sp>
        <p:nvSpPr>
          <p:cNvPr id="4" name="Content Placeholder 3"/>
          <p:cNvSpPr>
            <a:spLocks noGrp="1"/>
          </p:cNvSpPr>
          <p:nvPr>
            <p:ph idx="1"/>
          </p:nvPr>
        </p:nvSpPr>
        <p:spPr>
          <a:xfrm>
            <a:off x="457200" y="1600200"/>
            <a:ext cx="8229600" cy="4724400"/>
          </a:xfrm>
        </p:spPr>
        <p:txBody>
          <a:bodyPr>
            <a:normAutofit/>
          </a:bodyPr>
          <a:lstStyle/>
          <a:p>
            <a:pPr>
              <a:buNone/>
            </a:pPr>
            <a:r>
              <a:rPr lang="en-US" b="1" dirty="0" smtClean="0"/>
              <a:t>	An optical pyrometer </a:t>
            </a:r>
            <a:r>
              <a:rPr lang="en-US" dirty="0" smtClean="0"/>
              <a:t>is useful for measuring </a:t>
            </a:r>
            <a:r>
              <a:rPr lang="en-US" dirty="0" smtClean="0">
                <a:solidFill>
                  <a:srgbClr val="0070C0"/>
                </a:solidFill>
              </a:rPr>
              <a:t>very high </a:t>
            </a:r>
            <a:r>
              <a:rPr lang="en-US" dirty="0" smtClean="0"/>
              <a:t>temperature (</a:t>
            </a:r>
            <a:r>
              <a:rPr lang="en-US" dirty="0" smtClean="0">
                <a:solidFill>
                  <a:srgbClr val="FF0000"/>
                </a:solidFill>
              </a:rPr>
              <a:t>even flame</a:t>
            </a:r>
            <a:r>
              <a:rPr lang="en-US" dirty="0" smtClean="0"/>
              <a:t>). </a:t>
            </a:r>
          </a:p>
          <a:p>
            <a:pPr>
              <a:buNone/>
            </a:pPr>
            <a:r>
              <a:rPr lang="en-US" dirty="0" smtClean="0"/>
              <a:t>	The optical pyrometer uses an </a:t>
            </a:r>
            <a:r>
              <a:rPr lang="en-US" dirty="0" smtClean="0">
                <a:solidFill>
                  <a:srgbClr val="FF0000"/>
                </a:solidFill>
              </a:rPr>
              <a:t>infrared radiation sensitive sensor</a:t>
            </a:r>
            <a:r>
              <a:rPr lang="en-US" dirty="0" smtClean="0"/>
              <a:t>, e.g. a photodiode or photo- resistor to compare the radiation from the unknown with that from the source.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Optical cont..</a:t>
            </a:r>
            <a:endParaRPr lang="en-US" dirty="0"/>
          </a:p>
        </p:txBody>
      </p:sp>
      <p:sp>
        <p:nvSpPr>
          <p:cNvPr id="3" name="Content Placeholder 2"/>
          <p:cNvSpPr>
            <a:spLocks noGrp="1"/>
          </p:cNvSpPr>
          <p:nvPr>
            <p:ph idx="1"/>
          </p:nvPr>
        </p:nvSpPr>
        <p:spPr/>
        <p:txBody>
          <a:bodyPr/>
          <a:lstStyle/>
          <a:p>
            <a:pPr>
              <a:buNone/>
            </a:pPr>
            <a:r>
              <a:rPr lang="en-US" dirty="0" smtClean="0"/>
              <a:t>	The accuracy of the optical pyrometer is very much a function of the emissivity of the device that is radiating the heat. </a:t>
            </a:r>
          </a:p>
          <a:p>
            <a:pPr>
              <a:buNone/>
            </a:pPr>
            <a:r>
              <a:rPr lang="en-US" dirty="0" smtClean="0"/>
              <a:t>	The obvious advantage of using optical pyrometer at very high temperature is that it can measure in a non contacting media.</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722</Words>
  <Application>Microsoft Office PowerPoint</Application>
  <PresentationFormat>On-screen Show (4:3)</PresentationFormat>
  <Paragraphs>85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Office Theme</vt:lpstr>
      <vt:lpstr>TEMPERATURE MEASUREMENT</vt:lpstr>
      <vt:lpstr>Introduction…</vt:lpstr>
      <vt:lpstr>Intro…</vt:lpstr>
      <vt:lpstr>WHAT IS TEMPERETURE ?</vt:lpstr>
      <vt:lpstr>Principles of temperature measurement</vt:lpstr>
      <vt:lpstr>Temperature measuring devices</vt:lpstr>
      <vt:lpstr>Description of temperature measuring devices</vt:lpstr>
      <vt:lpstr>Mechanical temperature measuring device cont………</vt:lpstr>
      <vt:lpstr>Liquid –in glass thermometer</vt:lpstr>
      <vt:lpstr>Mechanical temperature measuring device cont……</vt:lpstr>
      <vt:lpstr>Suppose metal A has smaller thermal coefficient of expansion than metal B does. As temperature increases metal B expand more than metal A does causing the bimetallic strip to curl upwards as shown in figure below.</vt:lpstr>
      <vt:lpstr>2. Thermocouples</vt:lpstr>
      <vt:lpstr>Thermocouple …………</vt:lpstr>
      <vt:lpstr>Principle of operation of a thermocouple</vt:lpstr>
      <vt:lpstr>Thermocouple cont…</vt:lpstr>
      <vt:lpstr> 3. Thermo resistive temperature measuring device</vt:lpstr>
      <vt:lpstr>3.1. Resistance Temperature Detector</vt:lpstr>
      <vt:lpstr>Principle of operation cont…</vt:lpstr>
      <vt:lpstr>3.2. Thermistors</vt:lpstr>
      <vt:lpstr>Thermistors cont..</vt:lpstr>
      <vt:lpstr>4.Radiative temperature measuring device </vt:lpstr>
      <vt:lpstr>Radiative device cont..</vt:lpstr>
      <vt:lpstr>Operation principle</vt:lpstr>
      <vt:lpstr>Optical pyrometer</vt:lpstr>
      <vt:lpstr>Optical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TEMPERETURE MEASUREMENT</dc:title>
  <dc:creator>mdende</dc:creator>
  <cp:lastModifiedBy>User</cp:lastModifiedBy>
  <cp:revision>112</cp:revision>
  <dcterms:created xsi:type="dcterms:W3CDTF">2015-10-20T05:43:00Z</dcterms:created>
  <dcterms:modified xsi:type="dcterms:W3CDTF">2022-10-25T13:19:30Z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1033-10.2.0.7516</vt:lpwstr>
  </property>
</Properties>
</file>