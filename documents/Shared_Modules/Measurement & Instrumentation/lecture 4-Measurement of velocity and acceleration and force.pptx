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3" r:id="rId2"/>
    <p:sldId id="27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5" r:id="rId20"/>
    <p:sldId id="277" r:id="rId21"/>
    <p:sldId id="306" r:id="rId22"/>
    <p:sldId id="279" r:id="rId23"/>
    <p:sldId id="308" r:id="rId24"/>
    <p:sldId id="281" r:id="rId25"/>
    <p:sldId id="283" r:id="rId26"/>
    <p:sldId id="313" r:id="rId27"/>
    <p:sldId id="312" r:id="rId28"/>
    <p:sldId id="311" r:id="rId29"/>
    <p:sldId id="316" r:id="rId30"/>
    <p:sldId id="310" r:id="rId31"/>
    <p:sldId id="317" r:id="rId32"/>
    <p:sldId id="318" r:id="rId33"/>
    <p:sldId id="320" r:id="rId34"/>
    <p:sldId id="319" r:id="rId35"/>
    <p:sldId id="321" r:id="rId36"/>
    <p:sldId id="323" r:id="rId37"/>
    <p:sldId id="314" r:id="rId38"/>
    <p:sldId id="315" r:id="rId39"/>
    <p:sldId id="284" r:id="rId40"/>
    <p:sldId id="285" r:id="rId41"/>
    <p:sldId id="286" r:id="rId42"/>
    <p:sldId id="289" r:id="rId43"/>
    <p:sldId id="290" r:id="rId44"/>
    <p:sldId id="303" r:id="rId45"/>
    <p:sldId id="304"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E1F4629-C401-4786-82E1-6F7EDA4D570F}" type="datetimeFigureOut">
              <a:rPr lang="en-US" smtClean="0"/>
              <a:pPr/>
              <a:t>12/22/2021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8B5118-E93B-4A32-8F14-8A31C902E7F6}" type="slidenum">
              <a:rPr lang="en-US" smtClean="0"/>
              <a:pPr/>
              <a:t>‹#›</a:t>
            </a:fld>
            <a:endParaRPr lang="en-US"/>
          </a:p>
        </p:txBody>
      </p:sp>
    </p:spTree>
  </p:cSld>
  <p:clrMapOvr>
    <a:masterClrMapping/>
  </p:clrMapOvr>
  <p:transition>
    <p:wheel spokes="8"/>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1F4629-C401-4786-82E1-6F7EDA4D570F}" type="datetimeFigureOut">
              <a:rPr lang="en-US" smtClean="0"/>
              <a:pPr/>
              <a:t>12/22/2021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8B5118-E93B-4A32-8F14-8A31C902E7F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heel spokes="8"/>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www.edinformatics.com/math_science/vectors_scalars.ht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ww.edinformatics.com/math_science/vectors_scalars.ht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a:solidFill>
            <a:schemeClr val="accent2"/>
          </a:solidFill>
        </p:spPr>
        <p:txBody>
          <a:bodyPr>
            <a:noAutofit/>
          </a:bodyPr>
          <a:lstStyle/>
          <a:p>
            <a:pPr marL="0" indent="0"/>
            <a:r>
              <a:rPr lang="en-US" sz="3600" dirty="0" smtClean="0"/>
              <a:t>THE MEASUREMENT OF VELECITY ACCELERATION AND FORCE</a:t>
            </a:r>
            <a:endParaRPr lang="en-US" sz="3600" dirty="0"/>
          </a:p>
        </p:txBody>
      </p:sp>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smtClean="0"/>
          </a:p>
          <a:p>
            <a:pPr marL="0" indent="0" algn="ctr">
              <a:buNone/>
            </a:pPr>
            <a:endParaRPr lang="en-US" dirty="0" smtClean="0"/>
          </a:p>
          <a:p>
            <a:pPr marL="0" indent="0" algn="ctr">
              <a:buNone/>
            </a:pPr>
            <a:r>
              <a:rPr lang="en-US" dirty="0" smtClean="0"/>
              <a:t>INTRODUCTION </a:t>
            </a:r>
            <a:r>
              <a:rPr lang="en-US" dirty="0" smtClean="0"/>
              <a:t>OF THE MEASUREMENT OF VELECITY ACCELERATION AND FORCE</a:t>
            </a:r>
          </a:p>
          <a:p>
            <a:pPr marL="0" indent="0" algn="ctr">
              <a:buNone/>
            </a:pPr>
            <a:endParaRPr lang="en-US" dirty="0"/>
          </a:p>
        </p:txBody>
      </p:sp>
    </p:spTree>
  </p:cSld>
  <p:clrMapOvr>
    <a:masterClrMapping/>
  </p:clrMapOvr>
  <p:transition>
    <p:wheel spokes="8"/>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470025"/>
          </a:xfrm>
          <a:solidFill>
            <a:schemeClr val="accent2"/>
          </a:solidFill>
        </p:spPr>
        <p:txBody>
          <a:bodyPr>
            <a:normAutofit/>
          </a:bodyPr>
          <a:lstStyle/>
          <a:p>
            <a:r>
              <a:rPr lang="en-US" sz="3600" dirty="0" smtClean="0"/>
              <a:t>1.0. MEASUREMENT OF VELOCITY</a:t>
            </a:r>
            <a:endParaRPr lang="en-US" sz="3600" dirty="0"/>
          </a:p>
        </p:txBody>
      </p:sp>
      <p:sp>
        <p:nvSpPr>
          <p:cNvPr id="3" name="Subtitle 2"/>
          <p:cNvSpPr>
            <a:spLocks noGrp="1"/>
          </p:cNvSpPr>
          <p:nvPr>
            <p:ph type="subTitle" idx="1"/>
          </p:nvPr>
        </p:nvSpPr>
        <p:spPr>
          <a:xfrm>
            <a:off x="457200" y="1981200"/>
            <a:ext cx="8229600" cy="4495800"/>
          </a:xfrm>
        </p:spPr>
        <p:txBody>
          <a:bodyPr>
            <a:normAutofit/>
          </a:bodyPr>
          <a:lstStyle/>
          <a:p>
            <a:pPr algn="l"/>
            <a:r>
              <a:rPr lang="en-US" b="1" dirty="0" smtClean="0"/>
              <a:t>LEARNING OBJECTIVES</a:t>
            </a:r>
            <a:r>
              <a:rPr lang="en-US" dirty="0" smtClean="0"/>
              <a:t>: At the end of this discussion participant should be able to: </a:t>
            </a:r>
          </a:p>
          <a:p>
            <a:pPr marL="514350" indent="-514350" algn="l">
              <a:buAutoNum type="arabicPeriod"/>
            </a:pPr>
            <a:r>
              <a:rPr lang="en-US" dirty="0" smtClean="0"/>
              <a:t>Explain the </a:t>
            </a:r>
            <a:r>
              <a:rPr lang="en-US" dirty="0" smtClean="0">
                <a:solidFill>
                  <a:srgbClr val="FF0000"/>
                </a:solidFill>
              </a:rPr>
              <a:t>meaning of velocity </a:t>
            </a:r>
            <a:r>
              <a:rPr lang="en-US" dirty="0" smtClean="0"/>
              <a:t>and speed</a:t>
            </a:r>
          </a:p>
          <a:p>
            <a:pPr marL="514350" indent="-514350" algn="l">
              <a:buAutoNum type="arabicPeriod"/>
            </a:pPr>
            <a:r>
              <a:rPr lang="en-US" dirty="0" smtClean="0"/>
              <a:t>Differentiate between </a:t>
            </a:r>
            <a:r>
              <a:rPr lang="en-US" dirty="0" smtClean="0">
                <a:solidFill>
                  <a:srgbClr val="FF0000"/>
                </a:solidFill>
              </a:rPr>
              <a:t>speed</a:t>
            </a:r>
            <a:r>
              <a:rPr lang="en-US" dirty="0" smtClean="0"/>
              <a:t> and </a:t>
            </a:r>
            <a:r>
              <a:rPr lang="en-US" dirty="0" smtClean="0">
                <a:solidFill>
                  <a:srgbClr val="FF0000"/>
                </a:solidFill>
              </a:rPr>
              <a:t>velocity</a:t>
            </a:r>
          </a:p>
          <a:p>
            <a:pPr marL="514350" indent="-514350" algn="l">
              <a:buAutoNum type="arabicPeriod"/>
            </a:pPr>
            <a:r>
              <a:rPr lang="en-US" dirty="0" smtClean="0"/>
              <a:t>Describe </a:t>
            </a:r>
            <a:r>
              <a:rPr lang="en-US" b="1" i="1" dirty="0" smtClean="0"/>
              <a:t>methods</a:t>
            </a:r>
            <a:r>
              <a:rPr lang="en-US" dirty="0" smtClean="0"/>
              <a:t> of </a:t>
            </a:r>
            <a:r>
              <a:rPr lang="en-US" dirty="0" smtClean="0">
                <a:solidFill>
                  <a:srgbClr val="FF0000"/>
                </a:solidFill>
              </a:rPr>
              <a:t>velocity measurement</a:t>
            </a:r>
          </a:p>
          <a:p>
            <a:endParaRPr lang="en-US" dirty="0"/>
          </a:p>
        </p:txBody>
      </p:sp>
    </p:spTree>
  </p:cSld>
  <p:clrMapOvr>
    <a:masterClrMapping/>
  </p:clrMapOvr>
  <p:transition>
    <p:wheel spokes="8"/>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Introduction</a:t>
            </a:r>
            <a:endParaRPr lang="en-US" dirty="0"/>
          </a:p>
        </p:txBody>
      </p:sp>
      <p:sp>
        <p:nvSpPr>
          <p:cNvPr id="3" name="Content Placeholder 2"/>
          <p:cNvSpPr>
            <a:spLocks noGrp="1"/>
          </p:cNvSpPr>
          <p:nvPr>
            <p:ph idx="1"/>
          </p:nvPr>
        </p:nvSpPr>
        <p:spPr>
          <a:xfrm>
            <a:off x="457200" y="1295400"/>
            <a:ext cx="8229600" cy="5029200"/>
          </a:xfrm>
        </p:spPr>
        <p:txBody>
          <a:bodyPr>
            <a:normAutofit lnSpcReduction="10000"/>
          </a:bodyPr>
          <a:lstStyle/>
          <a:p>
            <a:pPr algn="ctr">
              <a:buNone/>
            </a:pPr>
            <a:r>
              <a:rPr lang="en-US" dirty="0" smtClean="0"/>
              <a:t>	</a:t>
            </a:r>
            <a:r>
              <a:rPr lang="en-US" u="sng" dirty="0" smtClean="0"/>
              <a:t>Velocity and Speed</a:t>
            </a:r>
          </a:p>
          <a:p>
            <a:pPr>
              <a:buNone/>
            </a:pPr>
            <a:r>
              <a:rPr lang="en-US" dirty="0" smtClean="0"/>
              <a:t>	The words speed and velocity are closely related each other but there exist a slight difference between the two.</a:t>
            </a:r>
          </a:p>
          <a:p>
            <a:pPr>
              <a:buNone/>
            </a:pPr>
            <a:r>
              <a:rPr lang="en-US" dirty="0" smtClean="0"/>
              <a:t>	</a:t>
            </a:r>
            <a:r>
              <a:rPr lang="en-US" b="1" dirty="0" smtClean="0"/>
              <a:t>A. SPEED</a:t>
            </a:r>
          </a:p>
          <a:p>
            <a:pPr>
              <a:buNone/>
            </a:pPr>
            <a:r>
              <a:rPr lang="en-US" dirty="0" smtClean="0"/>
              <a:t>	Speed is just defined as the distance moved by an object divided by how long it takes to cover such distance.</a:t>
            </a:r>
          </a:p>
          <a:p>
            <a:pPr>
              <a:buNone/>
            </a:pPr>
            <a:r>
              <a:rPr lang="en-US" dirty="0" smtClean="0"/>
              <a:t>	Mathematically it can be expressed by;</a:t>
            </a:r>
          </a:p>
          <a:p>
            <a:pPr>
              <a:buNone/>
            </a:pPr>
            <a:r>
              <a:rPr lang="en-US" dirty="0" smtClean="0"/>
              <a:t>	Speed = distance traveled/time, s = d/t  (m/s)</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lang="en-US" dirty="0" smtClean="0"/>
              <a:t>peed cont……</a:t>
            </a:r>
            <a:endParaRPr lang="en-US" dirty="0"/>
          </a:p>
        </p:txBody>
      </p:sp>
      <p:sp>
        <p:nvSpPr>
          <p:cNvPr id="3" name="Content Placeholder 2"/>
          <p:cNvSpPr>
            <a:spLocks noGrp="1"/>
          </p:cNvSpPr>
          <p:nvPr>
            <p:ph idx="1"/>
          </p:nvPr>
        </p:nvSpPr>
        <p:spPr/>
        <p:txBody>
          <a:bodyPr/>
          <a:lstStyle/>
          <a:p>
            <a:pPr>
              <a:buNone/>
            </a:pPr>
            <a:r>
              <a:rPr lang="en-US" dirty="0" smtClean="0"/>
              <a:t>	In other word, speed tells more about how fast an object is moving without specifying the direction of movement, thus it is a scalar quantity.</a:t>
            </a:r>
          </a:p>
          <a:p>
            <a:pPr>
              <a:buNone/>
            </a:pPr>
            <a:r>
              <a:rPr lang="en-US" dirty="0" smtClean="0"/>
              <a:t>	In order to measure speed we need to have instrument for measuring distance (meter), and time measuring instrument, </a:t>
            </a:r>
            <a:r>
              <a:rPr lang="en-US" dirty="0" err="1" smtClean="0"/>
              <a:t>eg</a:t>
            </a:r>
            <a:r>
              <a:rPr lang="en-US" dirty="0" smtClean="0"/>
              <a:t>. stop watch or clock</a:t>
            </a:r>
            <a:endParaRPr lang="en-US" dirty="0"/>
          </a:p>
        </p:txBody>
      </p:sp>
    </p:spTree>
  </p:cSld>
  <p:clrMapOvr>
    <a:masterClrMapping/>
  </p:clrMapOvr>
  <p:transition>
    <p:wheel spokes="8"/>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Speed cont…….</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	The SI unit for speed is m/s, other units being km/hr, miles /hour etc.</a:t>
            </a:r>
          </a:p>
          <a:p>
            <a:pPr>
              <a:buNone/>
            </a:pPr>
            <a:r>
              <a:rPr lang="en-US" dirty="0" smtClean="0"/>
              <a:t>	Example. If a car travel 100km  in 1hour, then its speed is?</a:t>
            </a:r>
          </a:p>
          <a:p>
            <a:pPr>
              <a:buNone/>
            </a:pPr>
            <a:r>
              <a:rPr lang="en-US" dirty="0" smtClean="0"/>
              <a:t>	Speed (s) = distance travelled (d) divide by the time taken to cover the distance (t)</a:t>
            </a:r>
          </a:p>
          <a:p>
            <a:pPr>
              <a:buNone/>
            </a:pPr>
            <a:r>
              <a:rPr lang="en-US" dirty="0"/>
              <a:t> </a:t>
            </a:r>
            <a:r>
              <a:rPr lang="en-US" dirty="0" smtClean="0"/>
              <a:t> 	s = d/t</a:t>
            </a:r>
          </a:p>
          <a:p>
            <a:pPr>
              <a:buNone/>
            </a:pPr>
            <a:r>
              <a:rPr lang="en-US" dirty="0"/>
              <a:t> </a:t>
            </a:r>
            <a:r>
              <a:rPr lang="en-US" dirty="0" smtClean="0"/>
              <a:t> 	s =100km/1hr</a:t>
            </a:r>
          </a:p>
          <a:p>
            <a:pPr>
              <a:buNone/>
            </a:pPr>
            <a:r>
              <a:rPr lang="en-US" dirty="0" smtClean="0"/>
              <a:t>  	</a:t>
            </a:r>
            <a:r>
              <a:rPr lang="en-US" sz="2600" dirty="0" smtClean="0"/>
              <a:t>S</a:t>
            </a:r>
            <a:r>
              <a:rPr lang="en-US" dirty="0" smtClean="0"/>
              <a:t> = </a:t>
            </a:r>
            <a:r>
              <a:rPr lang="en-US" u="sng" dirty="0" smtClean="0"/>
              <a:t>1ookm/hr</a:t>
            </a:r>
          </a:p>
          <a:p>
            <a:pPr>
              <a:buNone/>
            </a:pPr>
            <a:r>
              <a:rPr lang="en-US" dirty="0"/>
              <a:t> </a:t>
            </a:r>
            <a:r>
              <a:rPr lang="en-US" dirty="0" smtClean="0"/>
              <a:t> </a:t>
            </a:r>
            <a:endParaRPr lang="en-US" dirty="0"/>
          </a:p>
        </p:txBody>
      </p:sp>
    </p:spTree>
  </p:cSld>
  <p:clrMapOvr>
    <a:masterClrMapping/>
  </p:clrMapOvr>
  <p:transition>
    <p:wheel spokes="8"/>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average speed</a:t>
            </a:r>
            <a:endParaRPr lang="en-US" dirty="0"/>
          </a:p>
        </p:txBody>
      </p:sp>
      <p:sp>
        <p:nvSpPr>
          <p:cNvPr id="3" name="Content Placeholder 2"/>
          <p:cNvSpPr>
            <a:spLocks noGrp="1"/>
          </p:cNvSpPr>
          <p:nvPr>
            <p:ph idx="1"/>
          </p:nvPr>
        </p:nvSpPr>
        <p:spPr>
          <a:xfrm>
            <a:off x="457200" y="1600200"/>
            <a:ext cx="8229600" cy="4876800"/>
          </a:xfrm>
        </p:spPr>
        <p:txBody>
          <a:bodyPr/>
          <a:lstStyle/>
          <a:p>
            <a:pPr>
              <a:buNone/>
            </a:pPr>
            <a:r>
              <a:rPr lang="en-US" dirty="0" smtClean="0"/>
              <a:t>	Speed is usually not constant, it changes with time. The average speed is the total distance travelled over a total time taken.</a:t>
            </a:r>
          </a:p>
          <a:p>
            <a:pPr>
              <a:buNone/>
            </a:pPr>
            <a:r>
              <a:rPr lang="en-US" dirty="0"/>
              <a:t>	</a:t>
            </a:r>
            <a:r>
              <a:rPr lang="en-US" b="1" dirty="0" smtClean="0"/>
              <a:t>Calculating average speed</a:t>
            </a:r>
            <a:r>
              <a:rPr lang="en-US" dirty="0" smtClean="0"/>
              <a:t>.</a:t>
            </a:r>
          </a:p>
          <a:p>
            <a:pPr>
              <a:buNone/>
            </a:pPr>
            <a:r>
              <a:rPr lang="en-US" dirty="0" smtClean="0"/>
              <a:t>	</a:t>
            </a:r>
            <a:r>
              <a:rPr lang="en-US" b="1" dirty="0" smtClean="0"/>
              <a:t>Example: </a:t>
            </a:r>
            <a:r>
              <a:rPr lang="en-US" dirty="0" smtClean="0"/>
              <a:t>It took 1hr to go 40km on a highway. Then it took 2 more hrs to go 20km using the street. Calculate the average speed.</a:t>
            </a:r>
          </a:p>
          <a:p>
            <a:pPr>
              <a:buNone/>
            </a:pPr>
            <a:r>
              <a:rPr lang="en-US" dirty="0"/>
              <a:t>	</a:t>
            </a:r>
            <a:r>
              <a:rPr lang="en-US" dirty="0" smtClean="0"/>
              <a:t>average speed = total distance over total time.</a:t>
            </a:r>
          </a:p>
          <a:p>
            <a:pPr>
              <a:buNone/>
            </a:pPr>
            <a:endParaRPr lang="en-US" dirty="0" smtClean="0"/>
          </a:p>
          <a:p>
            <a:pPr>
              <a:buNone/>
            </a:pPr>
            <a:endParaRPr lang="en-US" baseline="-25000" dirty="0"/>
          </a:p>
        </p:txBody>
      </p:sp>
    </p:spTree>
  </p:cSld>
  <p:clrMapOvr>
    <a:masterClrMapping/>
  </p:clrMapOvr>
  <p:transition>
    <p:wheel spokes="8"/>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Average speed cont……….</a:t>
            </a:r>
            <a:endParaRPr lang="en-US" dirty="0"/>
          </a:p>
        </p:txBody>
      </p:sp>
      <p:sp>
        <p:nvSpPr>
          <p:cNvPr id="3" name="Content Placeholder 2"/>
          <p:cNvSpPr>
            <a:spLocks noGrp="1"/>
          </p:cNvSpPr>
          <p:nvPr>
            <p:ph idx="1"/>
          </p:nvPr>
        </p:nvSpPr>
        <p:spPr>
          <a:xfrm>
            <a:off x="685800" y="1371600"/>
            <a:ext cx="8229600" cy="5486400"/>
          </a:xfrm>
        </p:spPr>
        <p:txBody>
          <a:bodyPr>
            <a:normAutofit fontScale="25000" lnSpcReduction="20000"/>
          </a:bodyPr>
          <a:lstStyle/>
          <a:p>
            <a:pPr>
              <a:buNone/>
            </a:pPr>
            <a:r>
              <a:rPr lang="en-US" sz="14400" dirty="0" smtClean="0"/>
              <a:t>Average speed = total distance/total time</a:t>
            </a:r>
          </a:p>
          <a:p>
            <a:pPr>
              <a:buNone/>
            </a:pPr>
            <a:r>
              <a:rPr lang="en-US" sz="14400" dirty="0"/>
              <a:t> </a:t>
            </a:r>
            <a:r>
              <a:rPr lang="en-US" sz="14400" dirty="0" smtClean="0"/>
              <a:t>	s</a:t>
            </a:r>
            <a:r>
              <a:rPr lang="en-US" sz="14400" baseline="-25000" dirty="0" smtClean="0"/>
              <a:t>a</a:t>
            </a:r>
            <a:r>
              <a:rPr lang="en-US" sz="14400" dirty="0" smtClean="0"/>
              <a:t> = (d</a:t>
            </a:r>
            <a:r>
              <a:rPr lang="en-US" sz="14400" baseline="-25000" dirty="0" smtClean="0"/>
              <a:t>1</a:t>
            </a:r>
            <a:r>
              <a:rPr lang="en-US" sz="14400" dirty="0" smtClean="0"/>
              <a:t> + d</a:t>
            </a:r>
            <a:r>
              <a:rPr lang="en-US" sz="14400" baseline="-25000" dirty="0" smtClean="0"/>
              <a:t>2</a:t>
            </a:r>
            <a:r>
              <a:rPr lang="en-US" sz="14400" dirty="0" smtClean="0"/>
              <a:t>) / (t</a:t>
            </a:r>
            <a:r>
              <a:rPr lang="en-US" sz="14400" baseline="-25000" dirty="0" smtClean="0"/>
              <a:t>1</a:t>
            </a:r>
            <a:r>
              <a:rPr lang="en-US" sz="14400" dirty="0" smtClean="0"/>
              <a:t> +t</a:t>
            </a:r>
            <a:r>
              <a:rPr lang="en-US" sz="14400" baseline="-25000" dirty="0" smtClean="0"/>
              <a:t>2</a:t>
            </a:r>
            <a:r>
              <a:rPr lang="en-US" sz="14400" dirty="0" smtClean="0"/>
              <a:t>)</a:t>
            </a:r>
          </a:p>
          <a:p>
            <a:pPr>
              <a:buNone/>
            </a:pPr>
            <a:r>
              <a:rPr lang="en-US" sz="14400" dirty="0"/>
              <a:t>	 </a:t>
            </a:r>
            <a:r>
              <a:rPr lang="en-US" sz="14400" dirty="0" smtClean="0"/>
              <a:t>   = (40 +20)/ (1 + 2)</a:t>
            </a:r>
          </a:p>
          <a:p>
            <a:pPr>
              <a:buNone/>
            </a:pPr>
            <a:r>
              <a:rPr lang="en-US" sz="14400" dirty="0"/>
              <a:t> </a:t>
            </a:r>
            <a:r>
              <a:rPr lang="en-US" sz="14400" dirty="0" smtClean="0"/>
              <a:t>       = 60/3 km/hr</a:t>
            </a:r>
          </a:p>
          <a:p>
            <a:pPr>
              <a:buNone/>
            </a:pPr>
            <a:r>
              <a:rPr lang="en-US" sz="14400" dirty="0"/>
              <a:t> </a:t>
            </a:r>
            <a:r>
              <a:rPr lang="en-US" sz="14400" dirty="0" smtClean="0"/>
              <a:t>   s</a:t>
            </a:r>
            <a:r>
              <a:rPr lang="en-US" sz="14400" baseline="-25000" dirty="0" smtClean="0"/>
              <a:t>a</a:t>
            </a:r>
            <a:r>
              <a:rPr lang="en-US" sz="14400" dirty="0" smtClean="0"/>
              <a:t> = 20 km/hr</a:t>
            </a:r>
          </a:p>
          <a:p>
            <a:pPr>
              <a:buNone/>
            </a:pPr>
            <a:endParaRPr lang="en-US" sz="16000" baseline="-25000" dirty="0" smtClean="0"/>
          </a:p>
          <a:p>
            <a:pPr>
              <a:buNone/>
            </a:pPr>
            <a:endParaRPr lang="en-US" sz="16000" baseline="-25000" dirty="0"/>
          </a:p>
          <a:p>
            <a:pPr>
              <a:buNone/>
            </a:pPr>
            <a:endParaRPr lang="en-US" baseline="-25000" dirty="0" smtClean="0"/>
          </a:p>
          <a:p>
            <a:pPr>
              <a:buNone/>
            </a:pPr>
            <a:endParaRPr lang="en-US" baseline="-25000" dirty="0"/>
          </a:p>
          <a:p>
            <a:pPr>
              <a:buNone/>
            </a:pPr>
            <a:endParaRPr lang="en-US" baseline="-25000" dirty="0" smtClean="0"/>
          </a:p>
          <a:p>
            <a:pPr>
              <a:buNone/>
            </a:pPr>
            <a:endParaRPr lang="en-US" baseline="-25000" dirty="0"/>
          </a:p>
          <a:p>
            <a:pPr>
              <a:buNone/>
            </a:pPr>
            <a:endParaRPr lang="en-US" baseline="-25000" dirty="0" smtClean="0"/>
          </a:p>
          <a:p>
            <a:pPr>
              <a:buNone/>
            </a:pPr>
            <a:endParaRPr lang="en-US" baseline="-25000" dirty="0"/>
          </a:p>
          <a:p>
            <a:pPr>
              <a:buNone/>
            </a:pPr>
            <a:endParaRPr lang="en-US" baseline="-25000" dirty="0" smtClean="0"/>
          </a:p>
          <a:p>
            <a:pPr>
              <a:buNone/>
            </a:pPr>
            <a:endParaRPr lang="en-US" baseline="-25000" dirty="0"/>
          </a:p>
          <a:p>
            <a:pPr>
              <a:buNone/>
            </a:pPr>
            <a:endParaRPr lang="en-US" baseline="-25000" dirty="0" smtClean="0"/>
          </a:p>
          <a:p>
            <a:pPr>
              <a:buNone/>
            </a:pPr>
            <a:endParaRPr lang="en-US" baseline="-25000" dirty="0"/>
          </a:p>
          <a:p>
            <a:pPr>
              <a:buNone/>
            </a:pPr>
            <a:endParaRPr lang="en-US" baseline="-25000" dirty="0" smtClean="0"/>
          </a:p>
          <a:p>
            <a:pPr>
              <a:buNone/>
            </a:pPr>
            <a:r>
              <a:rPr lang="en-US" baseline="-25000" dirty="0"/>
              <a:t>	</a:t>
            </a:r>
            <a:endParaRPr lang="en-US" u="sng" baseline="-25000" dirty="0"/>
          </a:p>
        </p:txBody>
      </p:sp>
    </p:spTree>
  </p:cSld>
  <p:clrMapOvr>
    <a:masterClrMapping/>
  </p:clrMapOvr>
  <p:transition>
    <p:wheel spokes="8"/>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 Velocity</a:t>
            </a:r>
            <a:endParaRPr lang="en-US" dirty="0"/>
          </a:p>
        </p:txBody>
      </p:sp>
      <p:sp>
        <p:nvSpPr>
          <p:cNvPr id="3" name="Content Placeholder 2"/>
          <p:cNvSpPr>
            <a:spLocks noGrp="1"/>
          </p:cNvSpPr>
          <p:nvPr>
            <p:ph idx="1"/>
          </p:nvPr>
        </p:nvSpPr>
        <p:spPr/>
        <p:txBody>
          <a:bodyPr/>
          <a:lstStyle/>
          <a:p>
            <a:pPr>
              <a:buNone/>
            </a:pPr>
            <a:r>
              <a:rPr lang="en-US" dirty="0" smtClean="0"/>
              <a:t>	Speed differs slightly with velocity, velocity is considered to be the speed of an object in the direction it takes. Thus velocity is a vector quantity.</a:t>
            </a:r>
          </a:p>
          <a:p>
            <a:pPr>
              <a:buNone/>
            </a:pPr>
            <a:r>
              <a:rPr lang="en-US" dirty="0"/>
              <a:t>	T</a:t>
            </a:r>
            <a:r>
              <a:rPr lang="en-US" dirty="0" smtClean="0"/>
              <a:t>herefore speed is just the distance an object travel over the time it take while velocity include the direction the object takes to cover the given distance.</a:t>
            </a:r>
            <a:endParaRPr lang="en-US" dirty="0"/>
          </a:p>
        </p:txBody>
      </p:sp>
    </p:spTree>
  </p:cSld>
  <p:clrMapOvr>
    <a:masterClrMapping/>
  </p:clrMapOvr>
  <p:transition>
    <p:wheel spokes="8"/>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Measurement of Velocity</a:t>
            </a:r>
            <a:endParaRPr lang="en-US" dirty="0"/>
          </a:p>
        </p:txBody>
      </p:sp>
      <p:sp>
        <p:nvSpPr>
          <p:cNvPr id="3" name="Content Placeholder 2"/>
          <p:cNvSpPr>
            <a:spLocks noGrp="1"/>
          </p:cNvSpPr>
          <p:nvPr>
            <p:ph idx="1"/>
          </p:nvPr>
        </p:nvSpPr>
        <p:spPr>
          <a:xfrm>
            <a:off x="228600" y="1600200"/>
            <a:ext cx="8763000" cy="4525963"/>
          </a:xfrm>
        </p:spPr>
        <p:txBody>
          <a:bodyPr>
            <a:normAutofit lnSpcReduction="10000"/>
          </a:bodyPr>
          <a:lstStyle/>
          <a:p>
            <a:pPr marL="514350" indent="-514350">
              <a:buNone/>
            </a:pPr>
            <a:r>
              <a:rPr lang="en-US" dirty="0" smtClean="0"/>
              <a:t>	In order to measure velocity of a moving body, the following information should be known.</a:t>
            </a:r>
          </a:p>
          <a:p>
            <a:pPr marL="514350" indent="-514350">
              <a:buNone/>
            </a:pPr>
            <a:r>
              <a:rPr lang="en-US" dirty="0" smtClean="0"/>
              <a:t>	(</a:t>
            </a:r>
            <a:r>
              <a:rPr lang="en-US" dirty="0" err="1" smtClean="0"/>
              <a:t>i</a:t>
            </a:r>
            <a:r>
              <a:rPr lang="en-US" dirty="0" smtClean="0"/>
              <a:t>) The total distance covered by a moving object</a:t>
            </a:r>
          </a:p>
          <a:p>
            <a:pPr marL="514350" indent="-514350">
              <a:buNone/>
            </a:pPr>
            <a:r>
              <a:rPr lang="en-US" dirty="0" smtClean="0"/>
              <a:t>	(ii) The time taken for an object to cover such 	distance.</a:t>
            </a:r>
          </a:p>
          <a:p>
            <a:pPr marL="514350" indent="-514350">
              <a:buNone/>
            </a:pPr>
            <a:r>
              <a:rPr lang="en-US" dirty="0" smtClean="0"/>
              <a:t>	Thus, velocity of a body is found from the information above by taking the ratio of distance covered to the time taken by an object to cover the given distance. </a:t>
            </a:r>
            <a:endParaRPr lang="en-US" dirty="0"/>
          </a:p>
        </p:txBody>
      </p:sp>
    </p:spTree>
  </p:cSld>
  <p:clrMapOvr>
    <a:masterClrMapping/>
  </p:clrMapOvr>
  <p:transition>
    <p:wheel spokes="8"/>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normAutofit fontScale="90000"/>
          </a:bodyPr>
          <a:lstStyle/>
          <a:p>
            <a:r>
              <a:rPr lang="en-US" dirty="0" smtClean="0"/>
              <a:t>2. THE MEASUREMENT OF ACCELERATION</a:t>
            </a:r>
            <a:endParaRPr lang="en-US" dirty="0"/>
          </a:p>
        </p:txBody>
      </p:sp>
      <p:sp>
        <p:nvSpPr>
          <p:cNvPr id="3" name="Content Placeholder 2"/>
          <p:cNvSpPr>
            <a:spLocks noGrp="1"/>
          </p:cNvSpPr>
          <p:nvPr>
            <p:ph idx="1"/>
          </p:nvPr>
        </p:nvSpPr>
        <p:spPr/>
        <p:txBody>
          <a:bodyPr/>
          <a:lstStyle/>
          <a:p>
            <a:pPr>
              <a:buNone/>
            </a:pPr>
            <a:r>
              <a:rPr lang="en-US" b="1" dirty="0" smtClean="0"/>
              <a:t>Learning objectives</a:t>
            </a:r>
            <a:r>
              <a:rPr lang="en-US" dirty="0" smtClean="0"/>
              <a:t>: At the end of this discussion all participants should be able to:</a:t>
            </a:r>
          </a:p>
          <a:p>
            <a:pPr>
              <a:buFont typeface="Wingdings" panose="05000000000000000000" pitchFamily="2" charset="2"/>
              <a:buChar char="Ø"/>
            </a:pPr>
            <a:r>
              <a:rPr lang="en-US" dirty="0" smtClean="0"/>
              <a:t>Define the term acceleration</a:t>
            </a:r>
          </a:p>
          <a:p>
            <a:pPr>
              <a:buFont typeface="Wingdings" panose="05000000000000000000" pitchFamily="2" charset="2"/>
              <a:buChar char="Ø"/>
            </a:pPr>
            <a:r>
              <a:rPr lang="en-US" dirty="0" smtClean="0"/>
              <a:t>Identify various methods of measuring acceleration</a:t>
            </a:r>
          </a:p>
          <a:p>
            <a:pPr>
              <a:buFont typeface="Wingdings" panose="05000000000000000000" pitchFamily="2" charset="2"/>
              <a:buChar char="Ø"/>
            </a:pPr>
            <a:r>
              <a:rPr lang="en-US" dirty="0" smtClean="0"/>
              <a:t>Identify common types of accelerometer and their application.</a:t>
            </a:r>
            <a:endParaRPr lang="en-US" dirty="0"/>
          </a:p>
        </p:txBody>
      </p:sp>
    </p:spTree>
  </p:cSld>
  <p:clrMapOvr>
    <a:masterClrMapping/>
  </p:clrMapOvr>
  <p:transition>
    <p:wheel spokes="8"/>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	Acceleration is defined as the rate of change of velocity.</a:t>
            </a:r>
          </a:p>
          <a:p>
            <a:pPr>
              <a:buNone/>
            </a:pPr>
            <a:r>
              <a:rPr lang="en-US" dirty="0" smtClean="0"/>
              <a:t>	a = (v</a:t>
            </a:r>
            <a:r>
              <a:rPr lang="en-US" baseline="-25000" dirty="0" smtClean="0"/>
              <a:t>f</a:t>
            </a:r>
            <a:r>
              <a:rPr lang="en-US" dirty="0" smtClean="0"/>
              <a:t> – v</a:t>
            </a:r>
            <a:r>
              <a:rPr lang="en-US" baseline="-25000" dirty="0" smtClean="0"/>
              <a:t>i</a:t>
            </a:r>
            <a:r>
              <a:rPr lang="en-US" dirty="0" smtClean="0"/>
              <a:t>)/t </a:t>
            </a:r>
          </a:p>
          <a:p>
            <a:pPr>
              <a:buNone/>
            </a:pPr>
            <a:r>
              <a:rPr lang="en-US" dirty="0" smtClean="0"/>
              <a:t>	where;  a = acceleration</a:t>
            </a:r>
          </a:p>
          <a:p>
            <a:pPr>
              <a:buNone/>
            </a:pPr>
            <a:r>
              <a:rPr lang="en-US" dirty="0" smtClean="0"/>
              <a:t>			v</a:t>
            </a:r>
            <a:r>
              <a:rPr lang="en-US" baseline="-25000" dirty="0" smtClean="0"/>
              <a:t>f</a:t>
            </a:r>
            <a:r>
              <a:rPr lang="en-US" dirty="0" smtClean="0"/>
              <a:t> = final velocity (m/s)</a:t>
            </a:r>
          </a:p>
          <a:p>
            <a:pPr>
              <a:buNone/>
            </a:pPr>
            <a:r>
              <a:rPr lang="en-US" dirty="0" smtClean="0"/>
              <a:t>			v</a:t>
            </a:r>
            <a:r>
              <a:rPr lang="en-US" baseline="-25000" dirty="0" smtClean="0"/>
              <a:t>i</a:t>
            </a:r>
            <a:r>
              <a:rPr lang="en-US" dirty="0" smtClean="0"/>
              <a:t> = initial velocity (m/s)</a:t>
            </a:r>
          </a:p>
          <a:p>
            <a:pPr>
              <a:buNone/>
            </a:pPr>
            <a:r>
              <a:rPr lang="en-US" dirty="0" smtClean="0"/>
              <a:t>			t = time (s)</a:t>
            </a:r>
          </a:p>
          <a:p>
            <a:pPr>
              <a:buNone/>
            </a:pPr>
            <a:r>
              <a:rPr lang="en-US" dirty="0" smtClean="0"/>
              <a:t>	The SI unit for acceleration is m/s</a:t>
            </a:r>
            <a:r>
              <a:rPr lang="en-US" baseline="30000" dirty="0" smtClean="0"/>
              <a:t>2</a:t>
            </a:r>
            <a:endParaRPr lang="en-US" baseline="30000" dirty="0"/>
          </a:p>
        </p:txBody>
      </p:sp>
    </p:spTree>
  </p:cSld>
  <p:clrMapOvr>
    <a:masterClrMapping/>
  </p:clrMapOvr>
  <p:transition>
    <p:wheel spokes="8"/>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Acceleration of an object</a:t>
            </a: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pPr>
              <a:buNone/>
            </a:pPr>
            <a:r>
              <a:rPr lang="en-US" dirty="0" smtClean="0"/>
              <a:t>So, an object accelerate if;</a:t>
            </a:r>
          </a:p>
          <a:p>
            <a:r>
              <a:rPr lang="en-US" dirty="0" smtClean="0"/>
              <a:t>It speed up</a:t>
            </a:r>
          </a:p>
          <a:p>
            <a:r>
              <a:rPr lang="en-US" dirty="0" smtClean="0"/>
              <a:t>It slow down</a:t>
            </a:r>
          </a:p>
          <a:p>
            <a:r>
              <a:rPr lang="en-US" dirty="0" smtClean="0"/>
              <a:t>Changes direction of movement</a:t>
            </a:r>
          </a:p>
          <a:p>
            <a:pPr>
              <a:buNone/>
            </a:pPr>
            <a:r>
              <a:rPr lang="en-US" dirty="0" smtClean="0"/>
              <a:t>	When the object is moving along a straight line the direction of an object’s acceleration may be denoted by plus or negative sign.</a:t>
            </a:r>
          </a:p>
          <a:p>
            <a:pPr>
              <a:buNone/>
            </a:pPr>
            <a:r>
              <a:rPr lang="en-US" dirty="0" smtClean="0"/>
              <a:t>	When an object </a:t>
            </a:r>
            <a:r>
              <a:rPr lang="en-US" b="1" i="1" dirty="0" smtClean="0"/>
              <a:t>speed up </a:t>
            </a:r>
            <a:r>
              <a:rPr lang="en-US" dirty="0" smtClean="0"/>
              <a:t>we say its acceleration </a:t>
            </a:r>
            <a:r>
              <a:rPr lang="en-US" dirty="0" smtClean="0">
                <a:solidFill>
                  <a:srgbClr val="FF0000"/>
                </a:solidFill>
              </a:rPr>
              <a:t>is positive (+) </a:t>
            </a:r>
            <a:r>
              <a:rPr lang="en-US" dirty="0" smtClean="0"/>
              <a:t>and when it </a:t>
            </a:r>
            <a:r>
              <a:rPr lang="en-US" b="1" i="1" dirty="0" smtClean="0"/>
              <a:t>slows down </a:t>
            </a:r>
            <a:r>
              <a:rPr lang="en-US" dirty="0" smtClean="0"/>
              <a:t>we say it decelerate and it is denoted by a </a:t>
            </a:r>
            <a:r>
              <a:rPr lang="en-US" i="1" dirty="0" smtClean="0">
                <a:solidFill>
                  <a:srgbClr val="FF0000"/>
                </a:solidFill>
              </a:rPr>
              <a:t>negative</a:t>
            </a:r>
            <a:r>
              <a:rPr lang="en-US" dirty="0" smtClean="0"/>
              <a:t> sign.</a:t>
            </a:r>
            <a:endParaRPr lang="en-US" dirty="0"/>
          </a:p>
        </p:txBody>
      </p:sp>
    </p:spTree>
  </p:cSld>
  <p:clrMapOvr>
    <a:masterClrMapping/>
  </p:clrMapOvr>
  <p:transition>
    <p:wheel spokes="8"/>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Acceleration and deceleration</a:t>
            </a:r>
            <a:endParaRPr lang="en-US" dirty="0"/>
          </a:p>
        </p:txBody>
      </p:sp>
      <p:sp>
        <p:nvSpPr>
          <p:cNvPr id="3" name="Content Placeholder 2"/>
          <p:cNvSpPr>
            <a:spLocks noGrp="1"/>
          </p:cNvSpPr>
          <p:nvPr>
            <p:ph idx="1"/>
          </p:nvPr>
        </p:nvSpPr>
        <p:spPr>
          <a:xfrm>
            <a:off x="457200" y="1600200"/>
            <a:ext cx="8229600" cy="4953000"/>
          </a:xfrm>
        </p:spPr>
        <p:txBody>
          <a:bodyPr>
            <a:normAutofit lnSpcReduction="10000"/>
          </a:bodyPr>
          <a:lstStyle/>
          <a:p>
            <a:pPr>
              <a:buNone/>
            </a:pPr>
            <a:r>
              <a:rPr lang="en-US" dirty="0" smtClean="0"/>
              <a:t>	</a:t>
            </a:r>
            <a:r>
              <a:rPr lang="en-US" b="1" dirty="0" smtClean="0"/>
              <a:t>Example</a:t>
            </a:r>
            <a:r>
              <a:rPr lang="en-US" dirty="0" smtClean="0"/>
              <a:t>. A car accelerate from 20m/s to 40m/s in 2s; what is the average acceleration.</a:t>
            </a:r>
          </a:p>
          <a:p>
            <a:pPr>
              <a:buNone/>
            </a:pPr>
            <a:r>
              <a:rPr lang="en-US" dirty="0" smtClean="0"/>
              <a:t>	data: </a:t>
            </a:r>
            <a:r>
              <a:rPr lang="en-US" smtClean="0"/>
              <a:t>v</a:t>
            </a:r>
            <a:r>
              <a:rPr lang="en-US" baseline="-25000" smtClean="0"/>
              <a:t>i</a:t>
            </a:r>
            <a:r>
              <a:rPr lang="en-US" smtClean="0"/>
              <a:t>   = </a:t>
            </a:r>
            <a:r>
              <a:rPr lang="en-US" dirty="0" smtClean="0"/>
              <a:t>20m/s</a:t>
            </a:r>
          </a:p>
          <a:p>
            <a:pPr>
              <a:buNone/>
            </a:pPr>
            <a:r>
              <a:rPr lang="en-US" dirty="0" smtClean="0"/>
              <a:t>		    </a:t>
            </a:r>
            <a:r>
              <a:rPr lang="en-US" dirty="0" err="1" smtClean="0"/>
              <a:t>v</a:t>
            </a:r>
            <a:r>
              <a:rPr lang="en-US" baseline="-25000" dirty="0" err="1" smtClean="0"/>
              <a:t>f</a:t>
            </a:r>
            <a:r>
              <a:rPr lang="en-US" dirty="0" smtClean="0"/>
              <a:t>   = 40m/s</a:t>
            </a:r>
          </a:p>
          <a:p>
            <a:pPr>
              <a:buNone/>
            </a:pPr>
            <a:r>
              <a:rPr lang="en-US" dirty="0" smtClean="0"/>
              <a:t>		      t   = 2s</a:t>
            </a:r>
          </a:p>
          <a:p>
            <a:pPr>
              <a:buNone/>
            </a:pPr>
            <a:r>
              <a:rPr lang="en-US" dirty="0" smtClean="0"/>
              <a:t>		    average acceleration=?</a:t>
            </a:r>
          </a:p>
          <a:p>
            <a:pPr>
              <a:buNone/>
            </a:pPr>
            <a:r>
              <a:rPr lang="en-US" dirty="0" smtClean="0"/>
              <a:t>	solution: average acceleration =(vf – vi)/t</a:t>
            </a:r>
          </a:p>
          <a:p>
            <a:pPr>
              <a:buNone/>
            </a:pPr>
            <a:r>
              <a:rPr lang="en-US" dirty="0" smtClean="0"/>
              <a:t>	a</a:t>
            </a:r>
            <a:r>
              <a:rPr lang="en-US" baseline="-25000" dirty="0" smtClean="0"/>
              <a:t>av </a:t>
            </a:r>
            <a:r>
              <a:rPr lang="en-US" dirty="0" smtClean="0"/>
              <a:t>= (40-20)/2</a:t>
            </a:r>
          </a:p>
          <a:p>
            <a:pPr>
              <a:buNone/>
            </a:pPr>
            <a:r>
              <a:rPr lang="en-US" dirty="0" smtClean="0"/>
              <a:t>		 = </a:t>
            </a:r>
            <a:r>
              <a:rPr lang="en-US" u="sng" dirty="0" smtClean="0"/>
              <a:t>10m/s</a:t>
            </a:r>
            <a:r>
              <a:rPr lang="en-US" u="sng" baseline="30000" dirty="0" smtClean="0"/>
              <a:t>2</a:t>
            </a:r>
          </a:p>
          <a:p>
            <a:pPr>
              <a:buNone/>
            </a:pPr>
            <a:endParaRPr lang="en-US" dirty="0" smtClean="0"/>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Acceleration and deceleration cont..</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a:buNone/>
            </a:pPr>
            <a:r>
              <a:rPr lang="en-US" b="1" dirty="0" smtClean="0"/>
              <a:t>Example 2</a:t>
            </a:r>
            <a:r>
              <a:rPr lang="en-US" dirty="0" smtClean="0"/>
              <a:t>. A car decelerate from 40m/s to 20 m/s in 2s; what is its acceleration?</a:t>
            </a:r>
          </a:p>
          <a:p>
            <a:pPr>
              <a:buNone/>
            </a:pPr>
            <a:r>
              <a:rPr lang="en-US" dirty="0" smtClean="0"/>
              <a:t>Data: v</a:t>
            </a:r>
            <a:r>
              <a:rPr lang="en-US" baseline="-25000" dirty="0" smtClean="0"/>
              <a:t>i</a:t>
            </a:r>
            <a:r>
              <a:rPr lang="en-US" dirty="0" smtClean="0"/>
              <a:t> = 40m/s</a:t>
            </a:r>
          </a:p>
          <a:p>
            <a:pPr>
              <a:buNone/>
            </a:pPr>
            <a:r>
              <a:rPr lang="en-US" dirty="0" smtClean="0"/>
              <a:t>		v</a:t>
            </a:r>
            <a:r>
              <a:rPr lang="en-US" baseline="-25000" dirty="0" smtClean="0"/>
              <a:t>f</a:t>
            </a:r>
            <a:r>
              <a:rPr lang="en-US" dirty="0" smtClean="0"/>
              <a:t> 20m/s</a:t>
            </a:r>
          </a:p>
          <a:p>
            <a:pPr>
              <a:buNone/>
            </a:pPr>
            <a:r>
              <a:rPr lang="en-US" dirty="0" smtClean="0"/>
              <a:t>           t =  2s.</a:t>
            </a:r>
          </a:p>
          <a:p>
            <a:pPr>
              <a:buNone/>
            </a:pPr>
            <a:r>
              <a:rPr lang="en-US" dirty="0" smtClean="0"/>
              <a:t>		 a</a:t>
            </a:r>
            <a:r>
              <a:rPr lang="en-US" baseline="-25000" dirty="0" smtClean="0"/>
              <a:t>va</a:t>
            </a:r>
            <a:r>
              <a:rPr lang="en-US" dirty="0" smtClean="0"/>
              <a:t> = ?</a:t>
            </a:r>
          </a:p>
          <a:p>
            <a:pPr>
              <a:buNone/>
            </a:pPr>
            <a:r>
              <a:rPr lang="en-US" dirty="0" smtClean="0"/>
              <a:t>		a</a:t>
            </a:r>
            <a:r>
              <a:rPr lang="en-US" baseline="-25000" dirty="0" smtClean="0"/>
              <a:t>av</a:t>
            </a:r>
            <a:r>
              <a:rPr lang="en-US" dirty="0" smtClean="0"/>
              <a:t> = (v</a:t>
            </a:r>
            <a:r>
              <a:rPr lang="en-US" baseline="-25000" dirty="0" smtClean="0"/>
              <a:t>f</a:t>
            </a:r>
            <a:r>
              <a:rPr lang="en-US" dirty="0" smtClean="0"/>
              <a:t> – v</a:t>
            </a:r>
            <a:r>
              <a:rPr lang="en-US" baseline="-25000" dirty="0" smtClean="0"/>
              <a:t>i</a:t>
            </a:r>
            <a:r>
              <a:rPr lang="en-US" dirty="0" smtClean="0"/>
              <a:t>)/t</a:t>
            </a:r>
          </a:p>
          <a:p>
            <a:pPr>
              <a:buNone/>
            </a:pPr>
            <a:r>
              <a:rPr lang="en-US" dirty="0" smtClean="0"/>
              <a:t>		a</a:t>
            </a:r>
            <a:r>
              <a:rPr lang="en-US" baseline="-25000" dirty="0" smtClean="0"/>
              <a:t>av </a:t>
            </a:r>
            <a:r>
              <a:rPr lang="en-US" dirty="0" smtClean="0"/>
              <a:t>= (20-40)/2</a:t>
            </a:r>
          </a:p>
          <a:p>
            <a:pPr>
              <a:buNone/>
            </a:pPr>
            <a:r>
              <a:rPr lang="en-US" dirty="0" smtClean="0"/>
              <a:t>		a</a:t>
            </a:r>
            <a:r>
              <a:rPr lang="en-US" baseline="-25000" dirty="0" smtClean="0"/>
              <a:t>av</a:t>
            </a:r>
            <a:r>
              <a:rPr lang="en-US" dirty="0" smtClean="0"/>
              <a:t> = -10m/s</a:t>
            </a:r>
            <a:r>
              <a:rPr lang="en-US" baseline="30000" dirty="0" smtClean="0"/>
              <a:t>2</a:t>
            </a:r>
          </a:p>
          <a:p>
            <a:pPr>
              <a:buNone/>
            </a:pPr>
            <a:r>
              <a:rPr lang="en-US" dirty="0" smtClean="0"/>
              <a:t>Note: The negative sign denote that the object is slowing down (deceleration)</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Measurement of acceleration</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Measurement of acceleration is closely related to measurement of force. Effect of acceleration on mass gives rise to a force.</a:t>
            </a:r>
          </a:p>
          <a:p>
            <a:pPr>
              <a:buNone/>
            </a:pPr>
            <a:r>
              <a:rPr lang="en-US" dirty="0" smtClean="0"/>
              <a:t>	The force is directly proportional to the mass, which when known will give acceleration when it is divided by mass.</a:t>
            </a:r>
          </a:p>
          <a:p>
            <a:pPr>
              <a:buNone/>
            </a:pPr>
            <a:r>
              <a:rPr lang="en-US" dirty="0" smtClean="0"/>
              <a:t>	When an object falls from the top of a building to the ground, its change in speed downward is called acceleration due to gravitation force denoted by g which equals to 9.81m/s</a:t>
            </a:r>
            <a:r>
              <a:rPr lang="en-US" baseline="30000" dirty="0" smtClean="0"/>
              <a:t>2</a:t>
            </a:r>
            <a:endParaRPr lang="en-US" baseline="30000" dirty="0"/>
          </a:p>
        </p:txBody>
      </p:sp>
    </p:spTree>
  </p:cSld>
  <p:clrMapOvr>
    <a:masterClrMapping/>
  </p:clrMapOvr>
  <p:transition>
    <p:wheel spokes="8"/>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Importance of measuring acceleration</a:t>
            </a:r>
            <a:endParaRPr lang="en-US" dirty="0"/>
          </a:p>
        </p:txBody>
      </p:sp>
      <p:sp>
        <p:nvSpPr>
          <p:cNvPr id="3" name="Content Placeholder 2"/>
          <p:cNvSpPr>
            <a:spLocks noGrp="1"/>
          </p:cNvSpPr>
          <p:nvPr>
            <p:ph idx="1"/>
          </p:nvPr>
        </p:nvSpPr>
        <p:spPr>
          <a:xfrm>
            <a:off x="457200" y="1752600"/>
            <a:ext cx="8229600" cy="4525963"/>
          </a:xfrm>
        </p:spPr>
        <p:txBody>
          <a:bodyPr/>
          <a:lstStyle/>
          <a:p>
            <a:pPr>
              <a:buFont typeface="Wingdings" panose="05000000000000000000" pitchFamily="2" charset="2"/>
              <a:buChar char="ü"/>
            </a:pPr>
            <a:r>
              <a:rPr lang="en-US" dirty="0" smtClean="0"/>
              <a:t>Used to give physical characteristics of a system</a:t>
            </a:r>
          </a:p>
          <a:p>
            <a:pPr>
              <a:buFont typeface="Wingdings" panose="05000000000000000000" pitchFamily="2" charset="2"/>
              <a:buChar char="ü"/>
            </a:pPr>
            <a:r>
              <a:rPr lang="en-US" dirty="0" smtClean="0"/>
              <a:t>Used as an input to some of control system</a:t>
            </a:r>
          </a:p>
          <a:p>
            <a:pPr>
              <a:buFont typeface="Wingdings" panose="05000000000000000000" pitchFamily="2" charset="2"/>
              <a:buChar char="ü"/>
            </a:pPr>
            <a:r>
              <a:rPr lang="en-US" dirty="0" smtClean="0"/>
              <a:t>Some control systems uses measured acceleration to correct the changing dynamic condition.</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types of accelerometer</a:t>
            </a:r>
            <a:endParaRPr lang="en-US" dirty="0"/>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pPr>
              <a:buNone/>
            </a:pPr>
            <a:r>
              <a:rPr lang="en-US" dirty="0" smtClean="0"/>
              <a:t>	Accelerometers are sensor devices used to measure acceleration. Some of these sensor devices/components are;</a:t>
            </a:r>
          </a:p>
          <a:p>
            <a:pPr>
              <a:buFont typeface="Wingdings" panose="05000000000000000000" pitchFamily="2" charset="2"/>
              <a:buChar char="Ø"/>
            </a:pPr>
            <a:r>
              <a:rPr lang="en-US" b="1" dirty="0" smtClean="0"/>
              <a:t>Capacitive sensor- </a:t>
            </a:r>
            <a:r>
              <a:rPr lang="en-US" dirty="0" smtClean="0"/>
              <a:t>metal beam or micro machined feature produces capacitance related to acceleration</a:t>
            </a:r>
          </a:p>
          <a:p>
            <a:pPr>
              <a:buFont typeface="Wingdings" panose="05000000000000000000" pitchFamily="2" charset="2"/>
              <a:buChar char="Ø"/>
            </a:pPr>
            <a:r>
              <a:rPr lang="en-US" b="1" dirty="0" smtClean="0"/>
              <a:t>Piezoresistive sensor- </a:t>
            </a:r>
            <a:r>
              <a:rPr lang="en-US" dirty="0" smtClean="0"/>
              <a:t>Beam or micro machined feature whose resistance changes with acceleration</a:t>
            </a:r>
          </a:p>
          <a:p>
            <a:pPr>
              <a:buFont typeface="Wingdings" panose="05000000000000000000" pitchFamily="2" charset="2"/>
              <a:buChar char="Ø"/>
            </a:pPr>
            <a:r>
              <a:rPr lang="en-US" b="1" dirty="0" smtClean="0"/>
              <a:t>Hall effect sensor- </a:t>
            </a:r>
            <a:r>
              <a:rPr lang="en-US" dirty="0" smtClean="0"/>
              <a:t>motion converted into electrical signal by sensing changing of magnetic field</a:t>
            </a:r>
          </a:p>
          <a:p>
            <a:pPr>
              <a:buNone/>
            </a:pPr>
            <a:endParaRPr lang="en-US" dirty="0" smtClean="0"/>
          </a:p>
          <a:p>
            <a:pPr>
              <a:buFont typeface="Wingdings" panose="05000000000000000000" pitchFamily="2" charset="2"/>
              <a:buChar char="Ø"/>
            </a:pPr>
            <a:endParaRPr lang="en-US" dirty="0" smtClean="0"/>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accelerometer</a:t>
            </a: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r>
              <a:rPr lang="en-US" dirty="0" smtClean="0"/>
              <a:t>Tilt or roll detection for vehicle control</a:t>
            </a:r>
          </a:p>
          <a:p>
            <a:r>
              <a:rPr lang="en-US" dirty="0" smtClean="0"/>
              <a:t>Vibration or rough road detection</a:t>
            </a:r>
          </a:p>
          <a:p>
            <a:r>
              <a:rPr lang="en-US" dirty="0" smtClean="0"/>
              <a:t>Vehicle skid detection.</a:t>
            </a:r>
          </a:p>
          <a:p>
            <a:pPr>
              <a:buNone/>
            </a:pPr>
            <a:r>
              <a:rPr lang="en-US" dirty="0" smtClean="0"/>
              <a:t>	Often used with systems that deploy smart breaking to regain control of vehicle, </a:t>
            </a:r>
            <a:r>
              <a:rPr lang="en-US" dirty="0" err="1" smtClean="0"/>
              <a:t>eg</a:t>
            </a:r>
            <a:r>
              <a:rPr lang="en-US" dirty="0" smtClean="0"/>
              <a:t>. ABS sensor.</a:t>
            </a:r>
          </a:p>
          <a:p>
            <a:r>
              <a:rPr lang="en-US" dirty="0" smtClean="0"/>
              <a:t>Impact detection; determine the severity of impact or to log when an impact has occurred e.g. air bag sensor.</a:t>
            </a:r>
          </a:p>
          <a:p>
            <a:r>
              <a:rPr lang="en-US" dirty="0" smtClean="0"/>
              <a:t>Impact or feedback for active suspension control system; this control vehicle due to road irregularities.</a:t>
            </a:r>
          </a:p>
        </p:txBody>
      </p:sp>
    </p:spTree>
  </p:cSld>
  <p:clrMapOvr>
    <a:masterClrMapping/>
  </p:clrMapOvr>
  <p:transition>
    <p:wheel spokes="8"/>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a:t>3. THE MEASUREMENT OF FORCE</a:t>
            </a:r>
          </a:p>
        </p:txBody>
      </p:sp>
      <p:sp>
        <p:nvSpPr>
          <p:cNvPr id="3" name="Content Placeholder 2"/>
          <p:cNvSpPr>
            <a:spLocks noGrp="1"/>
          </p:cNvSpPr>
          <p:nvPr>
            <p:ph idx="1"/>
          </p:nvPr>
        </p:nvSpPr>
        <p:spPr/>
        <p:txBody>
          <a:bodyPr/>
          <a:lstStyle/>
          <a:p>
            <a:r>
              <a:rPr lang="en-US" b="1" dirty="0" smtClean="0">
                <a:sym typeface="+mn-ea"/>
              </a:rPr>
              <a:t>LEARNING OBJECTIVES</a:t>
            </a:r>
            <a:r>
              <a:rPr lang="en-US" dirty="0" smtClean="0">
                <a:sym typeface="+mn-ea"/>
              </a:rPr>
              <a:t>: at the end of this discussion participant should be able to:</a:t>
            </a:r>
            <a:endParaRPr lang="en-US" dirty="0" smtClean="0"/>
          </a:p>
          <a:p>
            <a:pPr marL="514350" indent="-514350" algn="l">
              <a:buAutoNum type="arabicPeriod"/>
            </a:pPr>
            <a:r>
              <a:rPr lang="en-US" dirty="0" smtClean="0">
                <a:sym typeface="+mn-ea"/>
              </a:rPr>
              <a:t>Explain the meaning of force</a:t>
            </a:r>
            <a:endParaRPr lang="en-US" dirty="0" smtClean="0"/>
          </a:p>
          <a:p>
            <a:pPr marL="514350" indent="-514350" algn="l">
              <a:buAutoNum type="arabicPeriod"/>
            </a:pPr>
            <a:r>
              <a:rPr lang="en-US" dirty="0" smtClean="0">
                <a:sym typeface="+mn-ea"/>
              </a:rPr>
              <a:t>Identify types of forces</a:t>
            </a:r>
            <a:endParaRPr lang="en-US" dirty="0" smtClean="0"/>
          </a:p>
          <a:p>
            <a:pPr marL="514350" indent="-514350" algn="l">
              <a:buAutoNum type="arabicPeriod"/>
            </a:pPr>
            <a:r>
              <a:rPr lang="en-US" dirty="0" smtClean="0">
                <a:sym typeface="+mn-ea"/>
              </a:rPr>
              <a:t>Explain principles of force measurement</a:t>
            </a:r>
            <a:endParaRPr lang="en-US"/>
          </a:p>
        </p:txBody>
      </p:sp>
    </p:spTree>
  </p:cSld>
  <p:clrMapOvr>
    <a:masterClrMapping/>
  </p:clrMapOvr>
  <p:transition>
    <p:wheel spokes="8"/>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FORCE MEASUREMENT</a:t>
            </a:r>
            <a:endParaRPr lang="en-US" dirty="0"/>
          </a:p>
        </p:txBody>
      </p:sp>
      <p:sp>
        <p:nvSpPr>
          <p:cNvPr id="3" name="Content Placeholder 2"/>
          <p:cNvSpPr>
            <a:spLocks noGrp="1"/>
          </p:cNvSpPr>
          <p:nvPr>
            <p:ph idx="1"/>
          </p:nvPr>
        </p:nvSpPr>
        <p:spPr>
          <a:xfrm>
            <a:off x="457200" y="1219200"/>
            <a:ext cx="8229600" cy="5486400"/>
          </a:xfrm>
        </p:spPr>
        <p:txBody>
          <a:bodyPr>
            <a:normAutofit fontScale="92500" lnSpcReduction="10000"/>
          </a:bodyPr>
          <a:lstStyle/>
          <a:p>
            <a:pPr algn="ctr">
              <a:buNone/>
            </a:pPr>
            <a:r>
              <a:rPr lang="en-US" dirty="0" smtClean="0"/>
              <a:t>INTRODUCTION</a:t>
            </a:r>
          </a:p>
          <a:p>
            <a:pPr>
              <a:buNone/>
            </a:pPr>
            <a:r>
              <a:rPr lang="en-US" dirty="0" smtClean="0"/>
              <a:t>	Force is a quantity capable of </a:t>
            </a:r>
            <a:r>
              <a:rPr lang="en-US" b="1" i="1" dirty="0" smtClean="0"/>
              <a:t>changing the size</a:t>
            </a:r>
            <a:r>
              <a:rPr lang="en-US" dirty="0" smtClean="0"/>
              <a:t>, </a:t>
            </a:r>
            <a:r>
              <a:rPr lang="en-US" b="1" i="1" dirty="0" smtClean="0"/>
              <a:t>shape</a:t>
            </a:r>
            <a:r>
              <a:rPr lang="en-US" b="1" i="1" dirty="0" smtClean="0"/>
              <a:t>, state of rest </a:t>
            </a:r>
            <a:r>
              <a:rPr lang="en-US" b="1" i="1" dirty="0" smtClean="0"/>
              <a:t>or motion </a:t>
            </a:r>
            <a:r>
              <a:rPr lang="en-US" dirty="0" smtClean="0"/>
              <a:t>of an object. </a:t>
            </a:r>
            <a:endParaRPr lang="en-US" dirty="0" smtClean="0"/>
          </a:p>
          <a:p>
            <a:pPr>
              <a:buNone/>
            </a:pPr>
            <a:r>
              <a:rPr lang="en-US" dirty="0" smtClean="0"/>
              <a:t>	</a:t>
            </a:r>
            <a:r>
              <a:rPr lang="en-US" dirty="0" smtClean="0"/>
              <a:t>In </a:t>
            </a:r>
            <a:r>
              <a:rPr lang="en-US" dirty="0" smtClean="0"/>
              <a:t>other words, force is considered to be a </a:t>
            </a:r>
            <a:r>
              <a:rPr lang="en-US" b="1" i="1" dirty="0" smtClean="0"/>
              <a:t>push</a:t>
            </a:r>
            <a:r>
              <a:rPr lang="en-US" dirty="0" smtClean="0"/>
              <a:t> or </a:t>
            </a:r>
            <a:r>
              <a:rPr lang="en-US" b="1" i="1" dirty="0" smtClean="0"/>
              <a:t>pull</a:t>
            </a:r>
            <a:r>
              <a:rPr lang="en-US" dirty="0" smtClean="0"/>
              <a:t>. </a:t>
            </a:r>
            <a:endParaRPr lang="en-US" dirty="0" smtClean="0"/>
          </a:p>
          <a:p>
            <a:pPr>
              <a:buNone/>
            </a:pPr>
            <a:r>
              <a:rPr lang="en-US" dirty="0" smtClean="0"/>
              <a:t>	</a:t>
            </a:r>
            <a:r>
              <a:rPr lang="en-US" dirty="0" smtClean="0"/>
              <a:t>Additionally, </a:t>
            </a:r>
            <a:r>
              <a:rPr lang="en-US" dirty="0" smtClean="0"/>
              <a:t>Force is the </a:t>
            </a:r>
            <a:r>
              <a:rPr lang="en-US" b="1" i="1" dirty="0" smtClean="0"/>
              <a:t>capacity</a:t>
            </a:r>
            <a:r>
              <a:rPr lang="en-US" dirty="0" smtClean="0"/>
              <a:t> to do work or cause physical change</a:t>
            </a:r>
            <a:endParaRPr lang="en-US" dirty="0" smtClean="0"/>
          </a:p>
          <a:p>
            <a:pPr>
              <a:buNone/>
            </a:pPr>
            <a:r>
              <a:rPr lang="en-US" dirty="0" smtClean="0"/>
              <a:t>	</a:t>
            </a:r>
            <a:r>
              <a:rPr lang="en-US" dirty="0" smtClean="0"/>
              <a:t>It </a:t>
            </a:r>
            <a:r>
              <a:rPr lang="en-US" dirty="0" smtClean="0"/>
              <a:t>is a vector quantity and, as such, it has both </a:t>
            </a:r>
            <a:r>
              <a:rPr lang="en-US" i="1" dirty="0" smtClean="0">
                <a:solidFill>
                  <a:srgbClr val="FF0000"/>
                </a:solidFill>
              </a:rPr>
              <a:t>direction and magnitude</a:t>
            </a:r>
            <a:r>
              <a:rPr lang="en-US" dirty="0" smtClean="0"/>
              <a:t>. In the SI system, the magnitude of a force is measured in units called </a:t>
            </a:r>
            <a:r>
              <a:rPr lang="en-US" i="1" dirty="0" smtClean="0">
                <a:solidFill>
                  <a:srgbClr val="FF0000"/>
                </a:solidFill>
              </a:rPr>
              <a:t>Newton</a:t>
            </a:r>
            <a:r>
              <a:rPr lang="en-US" dirty="0" smtClean="0"/>
              <a:t>, and in </a:t>
            </a:r>
            <a:r>
              <a:rPr lang="en-US" i="1" dirty="0" smtClean="0">
                <a:solidFill>
                  <a:srgbClr val="FF0000"/>
                </a:solidFill>
              </a:rPr>
              <a:t>pounds</a:t>
            </a:r>
            <a:r>
              <a:rPr lang="en-US" dirty="0" smtClean="0"/>
              <a:t> in the British/American system</a:t>
            </a:r>
          </a:p>
          <a:p>
            <a:endParaRPr lang="en-US" dirty="0"/>
          </a:p>
        </p:txBody>
      </p:sp>
    </p:spTree>
  </p:cSld>
  <p:clrMapOvr>
    <a:masterClrMapping/>
  </p:clrMapOvr>
  <p:transition>
    <p:wedg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cont…</a:t>
            </a:r>
            <a:endParaRPr lang="en-US" dirty="0"/>
          </a:p>
        </p:txBody>
      </p:sp>
      <p:sp>
        <p:nvSpPr>
          <p:cNvPr id="3" name="Content Placeholder 2"/>
          <p:cNvSpPr>
            <a:spLocks noGrp="1"/>
          </p:cNvSpPr>
          <p:nvPr>
            <p:ph idx="1"/>
          </p:nvPr>
        </p:nvSpPr>
        <p:spPr/>
        <p:txBody>
          <a:bodyPr/>
          <a:lstStyle/>
          <a:p>
            <a:r>
              <a:rPr lang="en-US" dirty="0" smtClean="0"/>
              <a:t>One Newton (N) of force is defined as the amount of force needed to </a:t>
            </a:r>
            <a:r>
              <a:rPr lang="en-US" dirty="0" smtClean="0">
                <a:solidFill>
                  <a:srgbClr val="FF0000"/>
                </a:solidFill>
              </a:rPr>
              <a:t>accelerate 1 kilogram (kg) of mass</a:t>
            </a:r>
            <a:r>
              <a:rPr lang="en-US" dirty="0" smtClean="0"/>
              <a:t> at a rate of </a:t>
            </a:r>
            <a:r>
              <a:rPr lang="en-US" dirty="0" smtClean="0">
                <a:solidFill>
                  <a:srgbClr val="FF0000"/>
                </a:solidFill>
              </a:rPr>
              <a:t>1 meter per second squared (m/s2).</a:t>
            </a:r>
          </a:p>
          <a:p>
            <a:r>
              <a:rPr lang="en-US" dirty="0" smtClean="0"/>
              <a:t>Therefore, 1 </a:t>
            </a:r>
            <a:r>
              <a:rPr lang="en-US" dirty="0" smtClean="0"/>
              <a:t>Newton = 1 kg m/sec2 </a:t>
            </a:r>
            <a:endParaRPr lang="en-US" dirty="0" smtClean="0"/>
          </a:p>
          <a:p>
            <a:r>
              <a:rPr lang="en-US" dirty="0" smtClean="0"/>
              <a:t>Also, a </a:t>
            </a:r>
            <a:r>
              <a:rPr lang="en-US" dirty="0" smtClean="0"/>
              <a:t>kilogram is the </a:t>
            </a:r>
            <a:r>
              <a:rPr lang="en-US" dirty="0" smtClean="0">
                <a:solidFill>
                  <a:srgbClr val="FF0000"/>
                </a:solidFill>
              </a:rPr>
              <a:t>amount of weight </a:t>
            </a:r>
            <a:r>
              <a:rPr lang="en-US" dirty="0" smtClean="0"/>
              <a:t>at which </a:t>
            </a:r>
            <a:r>
              <a:rPr lang="en-US" dirty="0" smtClean="0">
                <a:solidFill>
                  <a:srgbClr val="FF0000"/>
                </a:solidFill>
              </a:rPr>
              <a:t>1 N of force will accelerate </a:t>
            </a:r>
            <a:r>
              <a:rPr lang="en-US" dirty="0" smtClean="0"/>
              <a:t>at a rate of 1 m/s2.)</a:t>
            </a:r>
          </a:p>
          <a:p>
            <a:endParaRPr lang="en-US" dirty="0"/>
          </a:p>
        </p:txBody>
      </p:sp>
    </p:spTree>
  </p:cSld>
  <p:clrMapOvr>
    <a:masterClrMapping/>
  </p:clrMapOvr>
  <p:transition>
    <p:wheel spokes="8"/>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US" dirty="0"/>
          </a:p>
        </p:txBody>
      </p:sp>
      <p:sp>
        <p:nvSpPr>
          <p:cNvPr id="3" name="Content Placeholder 2"/>
          <p:cNvSpPr>
            <a:spLocks noGrp="1"/>
          </p:cNvSpPr>
          <p:nvPr>
            <p:ph idx="1"/>
          </p:nvPr>
        </p:nvSpPr>
        <p:spPr>
          <a:xfrm>
            <a:off x="457200" y="1600200"/>
            <a:ext cx="8229600" cy="4267199"/>
          </a:xfrm>
        </p:spPr>
        <p:txBody>
          <a:bodyPr/>
          <a:lstStyle/>
          <a:p>
            <a:pPr>
              <a:buNone/>
            </a:pPr>
            <a:r>
              <a:rPr lang="en-US" dirty="0" smtClean="0"/>
              <a:t>	If a body is in motion, the energy of that motion can be quantified as the </a:t>
            </a:r>
            <a:r>
              <a:rPr lang="en-US" i="1" dirty="0" smtClean="0">
                <a:solidFill>
                  <a:srgbClr val="FF0000"/>
                </a:solidFill>
              </a:rPr>
              <a:t>momentum of the object</a:t>
            </a:r>
            <a:r>
              <a:rPr lang="en-US" dirty="0" smtClean="0"/>
              <a:t>, the product of its mass and its velocity. </a:t>
            </a:r>
            <a:endParaRPr lang="en-US" dirty="0" smtClean="0"/>
          </a:p>
          <a:p>
            <a:pPr>
              <a:buNone/>
            </a:pPr>
            <a:r>
              <a:rPr lang="en-US" dirty="0" smtClean="0"/>
              <a:t>	</a:t>
            </a:r>
            <a:r>
              <a:rPr lang="en-US" dirty="0" smtClean="0"/>
              <a:t>If </a:t>
            </a:r>
            <a:r>
              <a:rPr lang="en-US" dirty="0" smtClean="0"/>
              <a:t>a body is free to move, the action of a force will change the velocity of the body</a:t>
            </a:r>
            <a:endParaRPr lang="en-US" dirty="0"/>
          </a:p>
        </p:txBody>
      </p:sp>
    </p:spTree>
  </p:cSld>
  <p:clrMapOvr>
    <a:masterClrMapping/>
  </p:clrMapOvr>
  <p:transition>
    <p:wedg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 of force</a:t>
            </a:r>
            <a:endParaRPr lang="en-US" dirty="0"/>
          </a:p>
        </p:txBody>
      </p:sp>
      <p:sp>
        <p:nvSpPr>
          <p:cNvPr id="3" name="Content Placeholder 2"/>
          <p:cNvSpPr>
            <a:spLocks noGrp="1"/>
          </p:cNvSpPr>
          <p:nvPr>
            <p:ph idx="1"/>
          </p:nvPr>
        </p:nvSpPr>
        <p:spPr>
          <a:xfrm>
            <a:off x="457200" y="1295400"/>
            <a:ext cx="8229600" cy="5334000"/>
          </a:xfrm>
        </p:spPr>
        <p:txBody>
          <a:bodyPr>
            <a:normAutofit fontScale="92500" lnSpcReduction="10000"/>
          </a:bodyPr>
          <a:lstStyle/>
          <a:p>
            <a:r>
              <a:rPr lang="en-US" dirty="0" smtClean="0"/>
              <a:t>In a broad perspective, </a:t>
            </a:r>
            <a:r>
              <a:rPr lang="en-US" dirty="0" smtClean="0"/>
              <a:t>all forces (interactions) between objects can be placed into two </a:t>
            </a:r>
            <a:r>
              <a:rPr lang="en-US" dirty="0" smtClean="0"/>
              <a:t>major </a:t>
            </a:r>
            <a:r>
              <a:rPr lang="en-US" dirty="0" smtClean="0"/>
              <a:t>categories: </a:t>
            </a:r>
            <a:endParaRPr lang="en-US" dirty="0" smtClean="0"/>
          </a:p>
          <a:p>
            <a:pPr>
              <a:buNone/>
            </a:pPr>
            <a:r>
              <a:rPr lang="en-US" dirty="0" smtClean="0"/>
              <a:t>	</a:t>
            </a:r>
            <a:r>
              <a:rPr lang="en-US" dirty="0" smtClean="0"/>
              <a:t>(</a:t>
            </a:r>
            <a:r>
              <a:rPr lang="en-US" dirty="0" err="1" smtClean="0"/>
              <a:t>i</a:t>
            </a:r>
            <a:r>
              <a:rPr lang="en-US" dirty="0" smtClean="0"/>
              <a:t>) </a:t>
            </a:r>
            <a:r>
              <a:rPr lang="en-US" b="1" i="1" dirty="0" smtClean="0"/>
              <a:t>contact </a:t>
            </a:r>
            <a:r>
              <a:rPr lang="en-US" b="1" i="1" dirty="0" smtClean="0"/>
              <a:t>forces</a:t>
            </a:r>
            <a:r>
              <a:rPr lang="en-US" dirty="0" smtClean="0"/>
              <a:t>, and </a:t>
            </a:r>
            <a:endParaRPr lang="en-US" dirty="0" smtClean="0"/>
          </a:p>
          <a:p>
            <a:pPr>
              <a:buNone/>
            </a:pPr>
            <a:r>
              <a:rPr lang="en-US" dirty="0" smtClean="0"/>
              <a:t>	</a:t>
            </a:r>
            <a:r>
              <a:rPr lang="en-US" dirty="0" smtClean="0"/>
              <a:t>(ii) forces </a:t>
            </a:r>
            <a:r>
              <a:rPr lang="en-US" dirty="0" smtClean="0"/>
              <a:t>resulting from </a:t>
            </a:r>
            <a:r>
              <a:rPr lang="en-US" b="1" i="1" dirty="0" smtClean="0"/>
              <a:t>action-at-a-distance (none contact force).</a:t>
            </a:r>
          </a:p>
          <a:p>
            <a:r>
              <a:rPr lang="en-US" u="sng" dirty="0" smtClean="0">
                <a:solidFill>
                  <a:srgbClr val="FF0000"/>
                </a:solidFill>
              </a:rPr>
              <a:t>Contact Forces</a:t>
            </a:r>
            <a:r>
              <a:rPr lang="en-US" dirty="0" smtClean="0"/>
              <a:t> include: </a:t>
            </a:r>
            <a:r>
              <a:rPr lang="en-US" dirty="0" smtClean="0">
                <a:solidFill>
                  <a:srgbClr val="0070C0"/>
                </a:solidFill>
              </a:rPr>
              <a:t>frictional forces, buoyant forces, normal forces, and air resistance forces</a:t>
            </a:r>
            <a:r>
              <a:rPr lang="en-US" dirty="0" smtClean="0"/>
              <a:t> </a:t>
            </a:r>
          </a:p>
          <a:p>
            <a:r>
              <a:rPr lang="en-US" u="sng" dirty="0" smtClean="0">
                <a:solidFill>
                  <a:srgbClr val="FF0000"/>
                </a:solidFill>
              </a:rPr>
              <a:t>Action-at-a-distance forces</a:t>
            </a:r>
            <a:r>
              <a:rPr lang="en-US" dirty="0" smtClean="0">
                <a:solidFill>
                  <a:srgbClr val="FF0000"/>
                </a:solidFill>
              </a:rPr>
              <a:t> (none contacting force</a:t>
            </a:r>
            <a:r>
              <a:rPr lang="en-US" dirty="0" smtClean="0"/>
              <a:t>) include: </a:t>
            </a:r>
            <a:r>
              <a:rPr lang="en-US" dirty="0" smtClean="0">
                <a:solidFill>
                  <a:srgbClr val="0070C0"/>
                </a:solidFill>
              </a:rPr>
              <a:t>gravitation, electrostatic and magnetic forces.</a:t>
            </a:r>
          </a:p>
          <a:p>
            <a:endParaRPr lang="en-US" dirty="0"/>
          </a:p>
        </p:txBody>
      </p:sp>
    </p:spTree>
  </p:cSld>
  <p:clrMapOvr>
    <a:masterClrMapping/>
  </p:clrMapOvr>
  <p:transition>
    <p:wheel spokes="8"/>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Types of forces</a:t>
            </a:r>
            <a:endParaRPr lang="en-US" dirty="0"/>
          </a:p>
        </p:txBody>
      </p:sp>
      <p:sp>
        <p:nvSpPr>
          <p:cNvPr id="3" name="Content Placeholder 2"/>
          <p:cNvSpPr>
            <a:spLocks noGrp="1"/>
          </p:cNvSpPr>
          <p:nvPr>
            <p:ph idx="1"/>
          </p:nvPr>
        </p:nvSpPr>
        <p:spPr>
          <a:xfrm>
            <a:off x="457200" y="1219200"/>
            <a:ext cx="8229600" cy="5257800"/>
          </a:xfrm>
        </p:spPr>
        <p:txBody>
          <a:bodyPr>
            <a:normAutofit/>
          </a:bodyPr>
          <a:lstStyle/>
          <a:p>
            <a:pPr>
              <a:lnSpc>
                <a:spcPct val="80000"/>
              </a:lnSpc>
              <a:buFont typeface="Wingdings" panose="05000000000000000000" pitchFamily="2" charset="2"/>
              <a:buNone/>
            </a:pPr>
            <a:r>
              <a:rPr lang="en-US" dirty="0" smtClean="0"/>
              <a:t>There are four basic forces in nature: </a:t>
            </a:r>
          </a:p>
          <a:p>
            <a:pPr lvl="1">
              <a:lnSpc>
                <a:spcPct val="80000"/>
              </a:lnSpc>
            </a:pPr>
            <a:r>
              <a:rPr lang="en-US" sz="3200" dirty="0" smtClean="0"/>
              <a:t>gravitational, </a:t>
            </a:r>
          </a:p>
          <a:p>
            <a:pPr lvl="1">
              <a:lnSpc>
                <a:spcPct val="80000"/>
              </a:lnSpc>
            </a:pPr>
            <a:r>
              <a:rPr lang="en-US" sz="3200" dirty="0" smtClean="0"/>
              <a:t>magnetic, </a:t>
            </a:r>
          </a:p>
          <a:p>
            <a:pPr lvl="1">
              <a:lnSpc>
                <a:spcPct val="80000"/>
              </a:lnSpc>
            </a:pPr>
            <a:r>
              <a:rPr lang="en-US" sz="3200" dirty="0" smtClean="0"/>
              <a:t>strong nuclear, and </a:t>
            </a:r>
          </a:p>
          <a:p>
            <a:pPr lvl="1">
              <a:lnSpc>
                <a:spcPct val="80000"/>
              </a:lnSpc>
            </a:pPr>
            <a:r>
              <a:rPr lang="en-US" sz="3200" dirty="0" smtClean="0"/>
              <a:t>weak nuclear forces</a:t>
            </a:r>
            <a:r>
              <a:rPr lang="en-US" dirty="0" smtClean="0"/>
              <a:t>. </a:t>
            </a:r>
          </a:p>
          <a:p>
            <a:pPr algn="just">
              <a:lnSpc>
                <a:spcPct val="80000"/>
              </a:lnSpc>
              <a:buFont typeface="Wingdings" panose="05000000000000000000" pitchFamily="2" charset="2"/>
              <a:buNone/>
            </a:pPr>
            <a:r>
              <a:rPr lang="en-US" dirty="0" smtClean="0"/>
              <a:t>   The weakest of the four is the gravitational force. It is also the easiest to observe, because it acts on all matter and it is always attractive, while having an infinite range. </a:t>
            </a:r>
            <a:endParaRPr lang="en-US" sz="4000" dirty="0"/>
          </a:p>
        </p:txBody>
      </p:sp>
    </p:spTree>
  </p:cSld>
  <p:clrMapOvr>
    <a:masterClrMapping/>
  </p:clrMapOvr>
  <p:transition>
    <p:wedg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Types cont……</a:t>
            </a:r>
            <a:endParaRPr lang="en-US" dirty="0"/>
          </a:p>
        </p:txBody>
      </p:sp>
      <p:sp>
        <p:nvSpPr>
          <p:cNvPr id="3" name="Content Placeholder 2"/>
          <p:cNvSpPr>
            <a:spLocks noGrp="1"/>
          </p:cNvSpPr>
          <p:nvPr>
            <p:ph idx="1"/>
          </p:nvPr>
        </p:nvSpPr>
        <p:spPr>
          <a:xfrm>
            <a:off x="457200" y="1371600"/>
            <a:ext cx="8229600" cy="4800600"/>
          </a:xfrm>
        </p:spPr>
        <p:txBody>
          <a:bodyPr/>
          <a:lstStyle/>
          <a:p>
            <a:pPr>
              <a:lnSpc>
                <a:spcPct val="80000"/>
              </a:lnSpc>
              <a:buFont typeface="Wingdings" panose="05000000000000000000" pitchFamily="2" charset="2"/>
              <a:buNone/>
            </a:pPr>
            <a:r>
              <a:rPr lang="en-US" dirty="0" smtClean="0"/>
              <a:t>    Its attraction decreases with distance, but is always measurable. </a:t>
            </a:r>
          </a:p>
          <a:p>
            <a:pPr>
              <a:lnSpc>
                <a:spcPct val="80000"/>
              </a:lnSpc>
              <a:buFont typeface="Wingdings" panose="05000000000000000000" pitchFamily="2" charset="2"/>
              <a:buNone/>
            </a:pPr>
            <a:r>
              <a:rPr lang="en-US" dirty="0" smtClean="0"/>
              <a:t>	Therefore, positional "equilibrium" of a body can only be achieved when gravitational pull is balanced by another force, such as the upward force exerted on our </a:t>
            </a:r>
          </a:p>
          <a:p>
            <a:pPr>
              <a:lnSpc>
                <a:spcPct val="80000"/>
              </a:lnSpc>
              <a:buFont typeface="Wingdings" panose="05000000000000000000" pitchFamily="2" charset="2"/>
              <a:buNone/>
            </a:pPr>
            <a:r>
              <a:rPr lang="en-US" dirty="0" smtClean="0"/>
              <a:t>    feet by the earth's surface. </a:t>
            </a:r>
          </a:p>
          <a:p>
            <a:endParaRPr lang="en-US" dirty="0"/>
          </a:p>
        </p:txBody>
      </p:sp>
    </p:spTree>
  </p:cSld>
  <p:clrMapOvr>
    <a:masterClrMapping/>
  </p:clrMapOvr>
  <p:transition>
    <p:wedg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smtClean="0"/>
              <a:t>Describing a Force</a:t>
            </a:r>
            <a:endParaRPr lang="en-US" dirty="0"/>
          </a:p>
        </p:txBody>
      </p:sp>
      <p:sp>
        <p:nvSpPr>
          <p:cNvPr id="3" name="Content Placeholder 2"/>
          <p:cNvSpPr>
            <a:spLocks noGrp="1"/>
          </p:cNvSpPr>
          <p:nvPr>
            <p:ph idx="1"/>
          </p:nvPr>
        </p:nvSpPr>
        <p:spPr>
          <a:xfrm>
            <a:off x="457200" y="1143000"/>
            <a:ext cx="8229600" cy="5105400"/>
          </a:xfrm>
        </p:spPr>
        <p:txBody>
          <a:bodyPr/>
          <a:lstStyle/>
          <a:p>
            <a:pPr>
              <a:buNone/>
            </a:pPr>
            <a:r>
              <a:rPr lang="en-US" dirty="0" smtClean="0"/>
              <a:t>	A </a:t>
            </a:r>
            <a:r>
              <a:rPr lang="en-US" dirty="0" smtClean="0"/>
              <a:t>force is a </a:t>
            </a:r>
            <a:r>
              <a:rPr lang="en-US" dirty="0" smtClean="0">
                <a:hlinkClick r:id="rId2"/>
              </a:rPr>
              <a:t>vector quantity</a:t>
            </a:r>
            <a:r>
              <a:rPr lang="en-US" dirty="0" smtClean="0"/>
              <a:t>. A vector quantity is a quantity which has both </a:t>
            </a:r>
            <a:r>
              <a:rPr lang="en-US" dirty="0" smtClean="0">
                <a:solidFill>
                  <a:srgbClr val="FF0000"/>
                </a:solidFill>
              </a:rPr>
              <a:t>magnitude</a:t>
            </a:r>
            <a:r>
              <a:rPr lang="en-US" dirty="0" smtClean="0"/>
              <a:t> and </a:t>
            </a:r>
            <a:r>
              <a:rPr lang="en-US" dirty="0" smtClean="0">
                <a:solidFill>
                  <a:srgbClr val="FF0000"/>
                </a:solidFill>
              </a:rPr>
              <a:t>direction</a:t>
            </a:r>
            <a:r>
              <a:rPr lang="en-US" dirty="0" smtClean="0"/>
              <a:t>. To fully describe the force acting upon an object, you must describe both its magnitude and direction. </a:t>
            </a:r>
            <a:endParaRPr lang="en-US" dirty="0" smtClean="0"/>
          </a:p>
          <a:p>
            <a:pPr>
              <a:buNone/>
            </a:pPr>
            <a:r>
              <a:rPr lang="en-US" dirty="0" smtClean="0"/>
              <a:t>	</a:t>
            </a:r>
            <a:r>
              <a:rPr lang="en-US" dirty="0" smtClean="0"/>
              <a:t>Thus</a:t>
            </a:r>
            <a:r>
              <a:rPr lang="en-US" dirty="0" smtClean="0"/>
              <a:t>, 10 Newtons of force is not a complete description of the force acting on an object. 10 Newtons, downwards is a complete description of the force acting upon an object</a:t>
            </a:r>
            <a:endParaRPr lang="en-US" dirty="0"/>
          </a:p>
        </p:txBody>
      </p:sp>
    </p:spTree>
  </p:cSld>
  <p:clrMapOvr>
    <a:masterClrMapping/>
  </p:clrMapOvr>
  <p:transition>
    <p:wheel spokes="8"/>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Difference between </a:t>
            </a:r>
            <a:r>
              <a:rPr lang="en-US" dirty="0" smtClean="0">
                <a:hlinkClick r:id="rId2"/>
              </a:rPr>
              <a:t>vector and scalar quantities</a:t>
            </a:r>
            <a:endParaRPr lang="en-US" dirty="0"/>
          </a:p>
        </p:txBody>
      </p:sp>
      <p:sp>
        <p:nvSpPr>
          <p:cNvPr id="3" name="Content Placeholder 2"/>
          <p:cNvSpPr>
            <a:spLocks noGrp="1"/>
          </p:cNvSpPr>
          <p:nvPr>
            <p:ph idx="1"/>
          </p:nvPr>
        </p:nvSpPr>
        <p:spPr>
          <a:xfrm>
            <a:off x="457200" y="1752600"/>
            <a:ext cx="8229600" cy="4267200"/>
          </a:xfrm>
        </p:spPr>
        <p:txBody>
          <a:bodyPr/>
          <a:lstStyle/>
          <a:p>
            <a:pPr>
              <a:buNone/>
            </a:pPr>
            <a:r>
              <a:rPr lang="en-US" dirty="0" smtClean="0"/>
              <a:t>	A </a:t>
            </a:r>
            <a:r>
              <a:rPr lang="en-US" dirty="0" smtClean="0"/>
              <a:t>vector has both strength and direction; a scalar quantity can be described using only 1 quantity, </a:t>
            </a:r>
            <a:r>
              <a:rPr lang="en-US" dirty="0" smtClean="0"/>
              <a:t>just ‘’</a:t>
            </a:r>
            <a:r>
              <a:rPr lang="en-US" dirty="0" smtClean="0">
                <a:solidFill>
                  <a:srgbClr val="FF0000"/>
                </a:solidFill>
              </a:rPr>
              <a:t>magnitude</a:t>
            </a:r>
            <a:r>
              <a:rPr lang="en-US" dirty="0" smtClean="0"/>
              <a:t>’’. </a:t>
            </a:r>
          </a:p>
          <a:p>
            <a:pPr>
              <a:buNone/>
            </a:pPr>
            <a:r>
              <a:rPr lang="en-US" dirty="0" smtClean="0"/>
              <a:t>	</a:t>
            </a:r>
            <a:r>
              <a:rPr lang="en-US" dirty="0" smtClean="0"/>
              <a:t>Examples </a:t>
            </a:r>
            <a:r>
              <a:rPr lang="en-US" dirty="0" smtClean="0"/>
              <a:t>of scalar quantities are: </a:t>
            </a:r>
            <a:r>
              <a:rPr lang="en-US" b="1" i="1" dirty="0" smtClean="0"/>
              <a:t>time, energy and volume</a:t>
            </a:r>
            <a:r>
              <a:rPr lang="en-US" dirty="0" smtClean="0"/>
              <a:t> since they only represent magnitude and no direction.</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normAutofit/>
          </a:bodyPr>
          <a:lstStyle/>
          <a:p>
            <a:r>
              <a:rPr lang="en-US" b="1" dirty="0" smtClean="0"/>
              <a:t>Mass Vs </a:t>
            </a:r>
            <a:r>
              <a:rPr lang="en-US" b="1" dirty="0" smtClean="0"/>
              <a:t>Weight</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10000"/>
          </a:bodyPr>
          <a:lstStyle/>
          <a:p>
            <a:pPr>
              <a:buNone/>
            </a:pPr>
            <a:r>
              <a:rPr lang="en-US" b="1" dirty="0" smtClean="0"/>
              <a:t>	What </a:t>
            </a:r>
            <a:r>
              <a:rPr lang="en-US" b="1" dirty="0" smtClean="0"/>
              <a:t>is Mass?</a:t>
            </a:r>
            <a:endParaRPr lang="en-US" dirty="0" smtClean="0"/>
          </a:p>
          <a:p>
            <a:pPr>
              <a:buNone/>
            </a:pPr>
            <a:r>
              <a:rPr lang="en-US" dirty="0" smtClean="0"/>
              <a:t>	Mass </a:t>
            </a:r>
            <a:r>
              <a:rPr lang="en-US" dirty="0" smtClean="0"/>
              <a:t>is the fundamental attribute of any physical body.</a:t>
            </a:r>
          </a:p>
          <a:p>
            <a:pPr>
              <a:buNone/>
            </a:pPr>
            <a:r>
              <a:rPr lang="en-US" dirty="0" smtClean="0"/>
              <a:t>	All </a:t>
            </a:r>
            <a:r>
              <a:rPr lang="en-US" dirty="0" smtClean="0"/>
              <a:t>the objects have a </a:t>
            </a:r>
            <a:r>
              <a:rPr lang="en-US" i="1" dirty="0" smtClean="0">
                <a:solidFill>
                  <a:srgbClr val="FF0000"/>
                </a:solidFill>
              </a:rPr>
              <a:t>matter inside them </a:t>
            </a:r>
            <a:r>
              <a:rPr lang="en-US" dirty="0" smtClean="0"/>
              <a:t>and the measurement of the matter is the mass. </a:t>
            </a:r>
          </a:p>
          <a:p>
            <a:pPr>
              <a:buNone/>
            </a:pPr>
            <a:r>
              <a:rPr lang="en-US" dirty="0" smtClean="0"/>
              <a:t>	The </a:t>
            </a:r>
            <a:r>
              <a:rPr lang="en-US" b="1" i="1" dirty="0" smtClean="0"/>
              <a:t>total mass of the system is assumed to be constant</a:t>
            </a:r>
            <a:r>
              <a:rPr lang="en-US" dirty="0" smtClean="0"/>
              <a:t>. </a:t>
            </a:r>
            <a:endParaRPr lang="en-US" dirty="0" smtClean="0"/>
          </a:p>
          <a:p>
            <a:pPr>
              <a:buNone/>
            </a:pPr>
            <a:r>
              <a:rPr lang="en-US" dirty="0" smtClean="0"/>
              <a:t>	</a:t>
            </a:r>
            <a:r>
              <a:rPr lang="en-US" dirty="0" smtClean="0"/>
              <a:t>This </a:t>
            </a:r>
            <a:r>
              <a:rPr lang="en-US" dirty="0" smtClean="0"/>
              <a:t>means that the mass remains </a:t>
            </a:r>
            <a:r>
              <a:rPr lang="en-US" i="1" dirty="0" smtClean="0">
                <a:solidFill>
                  <a:srgbClr val="FF0000"/>
                </a:solidFill>
              </a:rPr>
              <a:t>unaffected by the gravitational</a:t>
            </a:r>
            <a:r>
              <a:rPr lang="en-US" dirty="0" smtClean="0"/>
              <a:t> field strength, regardless of the location; the object or person is in.</a:t>
            </a:r>
          </a:p>
          <a:p>
            <a:endParaRPr lang="en-US" dirty="0" smtClean="0"/>
          </a:p>
          <a:p>
            <a:endParaRPr lang="en-US" dirty="0"/>
          </a:p>
        </p:txBody>
      </p:sp>
    </p:spTree>
  </p:cSld>
  <p:clrMapOvr>
    <a:masterClrMapping/>
  </p:clrMapOvr>
  <p:transition>
    <p:wheel spokes="8"/>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Mass cont..</a:t>
            </a:r>
            <a:endParaRPr lang="en-US" dirty="0"/>
          </a:p>
        </p:txBody>
      </p:sp>
      <p:sp>
        <p:nvSpPr>
          <p:cNvPr id="3" name="Content Placeholder 2"/>
          <p:cNvSpPr>
            <a:spLocks noGrp="1"/>
          </p:cNvSpPr>
          <p:nvPr>
            <p:ph idx="1"/>
          </p:nvPr>
        </p:nvSpPr>
        <p:spPr/>
        <p:txBody>
          <a:bodyPr>
            <a:normAutofit/>
          </a:bodyPr>
          <a:lstStyle/>
          <a:p>
            <a:pPr>
              <a:buNone/>
            </a:pPr>
            <a:r>
              <a:rPr lang="en-US" dirty="0" smtClean="0"/>
              <a:t>	Mass </a:t>
            </a:r>
            <a:r>
              <a:rPr lang="en-US" dirty="0" smtClean="0"/>
              <a:t>has a magnitude that is usually measured in </a:t>
            </a:r>
            <a:r>
              <a:rPr lang="en-US" b="1" i="1" dirty="0" smtClean="0"/>
              <a:t>kilogram</a:t>
            </a:r>
            <a:r>
              <a:rPr lang="en-US" dirty="0" smtClean="0"/>
              <a:t> and </a:t>
            </a:r>
            <a:r>
              <a:rPr lang="en-US" b="1" i="1" dirty="0" smtClean="0"/>
              <a:t>gram</a:t>
            </a:r>
            <a:r>
              <a:rPr lang="en-US" dirty="0" smtClean="0"/>
              <a:t>. Therefore, it is a scalar quantity.</a:t>
            </a:r>
          </a:p>
          <a:p>
            <a:pPr>
              <a:buNone/>
            </a:pPr>
            <a:r>
              <a:rPr lang="en-US" dirty="0" smtClean="0"/>
              <a:t>	We </a:t>
            </a:r>
            <a:r>
              <a:rPr lang="en-US" dirty="0" smtClean="0"/>
              <a:t>are on earth and we measure things on earth with </a:t>
            </a:r>
            <a:r>
              <a:rPr lang="en-US" dirty="0" smtClean="0">
                <a:solidFill>
                  <a:srgbClr val="FF0000"/>
                </a:solidFill>
              </a:rPr>
              <a:t>earth's gravity</a:t>
            </a:r>
            <a:r>
              <a:rPr lang="en-US" dirty="0" smtClean="0"/>
              <a:t>.</a:t>
            </a:r>
          </a:p>
          <a:p>
            <a:pPr>
              <a:buNone/>
            </a:pPr>
            <a:r>
              <a:rPr lang="en-US" dirty="0" smtClean="0"/>
              <a:t>	If </a:t>
            </a:r>
            <a:r>
              <a:rPr lang="en-US" dirty="0" smtClean="0"/>
              <a:t>your weight is 70 kg which means you weigh 70 kg and the scale would read it 70kg or 154 lbs.</a:t>
            </a:r>
          </a:p>
          <a:p>
            <a:endParaRPr lang="en-US" dirty="0"/>
          </a:p>
        </p:txBody>
      </p:sp>
    </p:spTree>
  </p:cSld>
  <p:clrMapOvr>
    <a:masterClrMapping/>
  </p:clrMapOvr>
  <p:transition>
    <p:wheel spokes="8"/>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44562"/>
          </a:xfrm>
          <a:solidFill>
            <a:schemeClr val="accent2"/>
          </a:solidFill>
        </p:spPr>
        <p:txBody>
          <a:bodyPr>
            <a:normAutofit fontScale="90000"/>
          </a:bodyPr>
          <a:lstStyle/>
          <a:p>
            <a:r>
              <a:rPr lang="en-US" b="1" dirty="0" smtClean="0"/>
              <a:t/>
            </a:r>
            <a:br>
              <a:rPr lang="en-US" b="1" dirty="0" smtClean="0"/>
            </a:br>
            <a:r>
              <a:rPr lang="en-US" b="1" dirty="0" smtClean="0"/>
              <a:t>Definition of </a:t>
            </a:r>
            <a:r>
              <a:rPr lang="en-US" b="1" dirty="0" smtClean="0"/>
              <a:t>Mass </a:t>
            </a:r>
            <a:r>
              <a:rPr lang="en-US" dirty="0" smtClean="0"/>
              <a:t/>
            </a:r>
            <a:br>
              <a:rPr lang="en-US" dirty="0" smtClean="0"/>
            </a:br>
            <a:endParaRPr lang="en-US" dirty="0"/>
          </a:p>
        </p:txBody>
      </p:sp>
      <p:sp>
        <p:nvSpPr>
          <p:cNvPr id="3" name="Content Placeholder 2"/>
          <p:cNvSpPr>
            <a:spLocks noGrp="1"/>
          </p:cNvSpPr>
          <p:nvPr>
            <p:ph idx="1"/>
          </p:nvPr>
        </p:nvSpPr>
        <p:spPr>
          <a:xfrm>
            <a:off x="457200" y="1371600"/>
            <a:ext cx="8458200" cy="4953000"/>
          </a:xfrm>
        </p:spPr>
        <p:txBody>
          <a:bodyPr>
            <a:normAutofit fontScale="92500" lnSpcReduction="20000"/>
          </a:bodyPr>
          <a:lstStyle/>
          <a:p>
            <a:pPr>
              <a:buNone/>
            </a:pPr>
            <a:r>
              <a:rPr lang="en-US" dirty="0" smtClean="0"/>
              <a:t>	</a:t>
            </a:r>
          </a:p>
          <a:p>
            <a:pPr>
              <a:buNone/>
            </a:pPr>
            <a:r>
              <a:rPr lang="en-US" dirty="0" smtClean="0"/>
              <a:t>	</a:t>
            </a:r>
            <a:r>
              <a:rPr lang="en-US" dirty="0" smtClean="0"/>
              <a:t>Mass </a:t>
            </a:r>
            <a:r>
              <a:rPr lang="en-US" dirty="0" smtClean="0"/>
              <a:t>is defined as the </a:t>
            </a:r>
            <a:r>
              <a:rPr lang="en-US" dirty="0" smtClean="0">
                <a:solidFill>
                  <a:srgbClr val="FF0000"/>
                </a:solidFill>
              </a:rPr>
              <a:t>measure of the matter inside a body.</a:t>
            </a:r>
          </a:p>
          <a:p>
            <a:pPr>
              <a:buNone/>
            </a:pPr>
            <a:r>
              <a:rPr lang="en-US" dirty="0" smtClean="0"/>
              <a:t>	In </a:t>
            </a:r>
            <a:r>
              <a:rPr lang="en-US" dirty="0" smtClean="0"/>
              <a:t>physics, mass is a </a:t>
            </a:r>
            <a:r>
              <a:rPr lang="en-US" b="1" i="1" dirty="0" smtClean="0"/>
              <a:t>quantitative</a:t>
            </a:r>
            <a:r>
              <a:rPr lang="en-US" dirty="0" smtClean="0"/>
              <a:t> measurement of inertia.</a:t>
            </a:r>
          </a:p>
          <a:p>
            <a:pPr>
              <a:buNone/>
            </a:pPr>
            <a:r>
              <a:rPr lang="en-US" dirty="0" smtClean="0"/>
              <a:t>	Let’s </a:t>
            </a:r>
            <a:r>
              <a:rPr lang="en-US" dirty="0" smtClean="0"/>
              <a:t>understand the concept of mass </a:t>
            </a:r>
            <a:r>
              <a:rPr lang="en-US" dirty="0" smtClean="0"/>
              <a:t>by understanding </a:t>
            </a:r>
            <a:r>
              <a:rPr lang="en-US" dirty="0" smtClean="0"/>
              <a:t>Newton's second law.</a:t>
            </a:r>
          </a:p>
          <a:p>
            <a:pPr>
              <a:buNone/>
            </a:pPr>
            <a:r>
              <a:rPr lang="en-US" dirty="0" smtClean="0"/>
              <a:t>	For </a:t>
            </a:r>
            <a:r>
              <a:rPr lang="en-US" dirty="0" smtClean="0"/>
              <a:t>example, a body of mass, ‘m’ is moving with an acceleration ‘a.’ The force, ‘F’ is applied to the body given by,</a:t>
            </a:r>
          </a:p>
          <a:p>
            <a:pPr>
              <a:buNone/>
            </a:pPr>
            <a:r>
              <a:rPr lang="en-US" dirty="0" smtClean="0"/>
              <a:t>                                F = ma</a:t>
            </a:r>
          </a:p>
          <a:p>
            <a:endParaRPr lang="en-US" dirty="0" smtClean="0"/>
          </a:p>
          <a:p>
            <a:endParaRPr lang="en-US" dirty="0"/>
          </a:p>
        </p:txBody>
      </p:sp>
    </p:spTree>
  </p:cSld>
  <p:clrMapOvr>
    <a:masterClrMapping/>
  </p:clrMapOvr>
  <p:transition>
    <p:wheel spokes="8"/>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Mass cont…</a:t>
            </a:r>
            <a:endParaRPr lang="en-US" dirty="0"/>
          </a:p>
        </p:txBody>
      </p:sp>
      <p:sp>
        <p:nvSpPr>
          <p:cNvPr id="3" name="Content Placeholder 2"/>
          <p:cNvSpPr>
            <a:spLocks noGrp="1"/>
          </p:cNvSpPr>
          <p:nvPr>
            <p:ph idx="1"/>
          </p:nvPr>
        </p:nvSpPr>
        <p:spPr/>
        <p:txBody>
          <a:bodyPr/>
          <a:lstStyle/>
          <a:p>
            <a:r>
              <a:rPr lang="en-US" dirty="0" smtClean="0"/>
              <a:t>Here, mass is a </a:t>
            </a:r>
            <a:r>
              <a:rPr lang="en-US" i="1" dirty="0" smtClean="0">
                <a:solidFill>
                  <a:srgbClr val="FF0000"/>
                </a:solidFill>
              </a:rPr>
              <a:t>measure of its resistance to acceleration </a:t>
            </a:r>
            <a:r>
              <a:rPr lang="en-US" dirty="0" smtClean="0"/>
              <a:t>when a force is applied on to the body.</a:t>
            </a:r>
          </a:p>
          <a:p>
            <a:r>
              <a:rPr lang="en-US" dirty="0" smtClean="0"/>
              <a:t>Therefore, </a:t>
            </a:r>
            <a:r>
              <a:rPr lang="en-US" b="1" i="1" dirty="0" smtClean="0"/>
              <a:t>greater the mass </a:t>
            </a:r>
            <a:r>
              <a:rPr lang="en-US" dirty="0" smtClean="0"/>
              <a:t>of a body, the </a:t>
            </a:r>
            <a:r>
              <a:rPr lang="en-US" b="1" i="1" dirty="0" smtClean="0"/>
              <a:t>minimum change </a:t>
            </a:r>
            <a:r>
              <a:rPr lang="en-US" dirty="0" smtClean="0"/>
              <a:t>produced by an applied force.</a:t>
            </a:r>
          </a:p>
          <a:p>
            <a:pPr>
              <a:buNone/>
            </a:pPr>
            <a:r>
              <a:rPr lang="en-US" b="1" dirty="0" smtClean="0"/>
              <a:t> </a:t>
            </a:r>
            <a:endParaRPr lang="en-US" dirty="0"/>
          </a:p>
        </p:txBody>
      </p:sp>
    </p:spTree>
  </p:cSld>
  <p:clrMapOvr>
    <a:masterClrMapping/>
  </p:clrMapOvr>
  <p:transition>
    <p:wheel spokes="8"/>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Mass cont…</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	Mass </a:t>
            </a:r>
            <a:r>
              <a:rPr lang="en-US" dirty="0" smtClean="0"/>
              <a:t>is referred to as the </a:t>
            </a:r>
            <a:r>
              <a:rPr lang="en-US" i="1" dirty="0" smtClean="0">
                <a:solidFill>
                  <a:srgbClr val="0070C0"/>
                </a:solidFill>
              </a:rPr>
              <a:t>amount of matter contained in a body.</a:t>
            </a:r>
          </a:p>
          <a:p>
            <a:pPr>
              <a:buNone/>
            </a:pPr>
            <a:r>
              <a:rPr lang="en-US" dirty="0" smtClean="0"/>
              <a:t>	For </a:t>
            </a:r>
            <a:r>
              <a:rPr lang="en-US" dirty="0" smtClean="0"/>
              <a:t>example, a human body has bones, muscles, tissues, RBC, WBC. As combined, they form a body’s mass.</a:t>
            </a:r>
          </a:p>
          <a:p>
            <a:pPr>
              <a:buNone/>
            </a:pPr>
            <a:r>
              <a:rPr lang="en-US" dirty="0" smtClean="0"/>
              <a:t>	A </a:t>
            </a:r>
            <a:r>
              <a:rPr lang="en-US" dirty="0" smtClean="0"/>
              <a:t>person or object may be </a:t>
            </a:r>
            <a:r>
              <a:rPr lang="en-US" i="1" dirty="0" smtClean="0">
                <a:solidFill>
                  <a:srgbClr val="FF0000"/>
                </a:solidFill>
              </a:rPr>
              <a:t>weightless on the moon</a:t>
            </a:r>
            <a:r>
              <a:rPr lang="en-US" dirty="0" smtClean="0"/>
              <a:t> because of </a:t>
            </a:r>
            <a:r>
              <a:rPr lang="en-US" b="1" dirty="0" smtClean="0"/>
              <a:t>lack of gravity </a:t>
            </a:r>
            <a:r>
              <a:rPr lang="en-US" dirty="0" smtClean="0"/>
              <a:t>while he maintains the same mass at all places without considering his location.</a:t>
            </a:r>
          </a:p>
          <a:p>
            <a:endParaRPr lang="en-US" dirty="0"/>
          </a:p>
        </p:txBody>
      </p:sp>
    </p:spTree>
  </p:cSld>
  <p:clrMapOvr>
    <a:masterClrMapping/>
  </p:clrMapOvr>
  <p:transition>
    <p:wheel spokes="8"/>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a:solidFill>
            <a:schemeClr val="accent2"/>
          </a:solidFill>
        </p:spPr>
        <p:txBody>
          <a:bodyPr>
            <a:normAutofit fontScale="90000"/>
          </a:bodyPr>
          <a:lstStyle/>
          <a:p>
            <a:r>
              <a:rPr lang="en-US" b="1" dirty="0" smtClean="0"/>
              <a:t/>
            </a:r>
            <a:br>
              <a:rPr lang="en-US" b="1" dirty="0" smtClean="0"/>
            </a:br>
            <a:r>
              <a:rPr lang="en-US" b="1" dirty="0" smtClean="0"/>
              <a:t>Definition of </a:t>
            </a:r>
            <a:r>
              <a:rPr lang="en-US" b="1" dirty="0" smtClean="0"/>
              <a:t>Weight </a:t>
            </a:r>
            <a:r>
              <a:rPr lang="en-US" dirty="0" smtClean="0"/>
              <a:t/>
            </a:r>
            <a:br>
              <a:rPr lang="en-US" dirty="0" smtClean="0"/>
            </a:br>
            <a:endParaRPr lang="en-US" dirty="0"/>
          </a:p>
        </p:txBody>
      </p:sp>
      <p:sp>
        <p:nvSpPr>
          <p:cNvPr id="3" name="Content Placeholder 2"/>
          <p:cNvSpPr>
            <a:spLocks noGrp="1"/>
          </p:cNvSpPr>
          <p:nvPr>
            <p:ph idx="1"/>
          </p:nvPr>
        </p:nvSpPr>
        <p:spPr>
          <a:xfrm>
            <a:off x="457200" y="1676400"/>
            <a:ext cx="8229600" cy="4800600"/>
          </a:xfrm>
        </p:spPr>
        <p:txBody>
          <a:bodyPr>
            <a:normAutofit/>
          </a:bodyPr>
          <a:lstStyle/>
          <a:p>
            <a:pPr>
              <a:buNone/>
            </a:pPr>
            <a:r>
              <a:rPr lang="en-US" dirty="0" smtClean="0"/>
              <a:t>	Basically</a:t>
            </a:r>
            <a:r>
              <a:rPr lang="en-US" dirty="0" smtClean="0"/>
              <a:t>, the weight is </a:t>
            </a:r>
            <a:r>
              <a:rPr lang="en-US" b="1" i="1" dirty="0" smtClean="0"/>
              <a:t>the amount that something </a:t>
            </a:r>
            <a:r>
              <a:rPr lang="en-US" b="1" i="1" dirty="0" smtClean="0"/>
              <a:t>it weighs</a:t>
            </a:r>
            <a:r>
              <a:rPr lang="en-US" b="1" i="1" dirty="0" smtClean="0"/>
              <a:t>. </a:t>
            </a:r>
          </a:p>
          <a:p>
            <a:pPr>
              <a:buNone/>
            </a:pPr>
            <a:r>
              <a:rPr lang="en-US" dirty="0" smtClean="0"/>
              <a:t>	It </a:t>
            </a:r>
            <a:r>
              <a:rPr lang="en-US" dirty="0" smtClean="0"/>
              <a:t>is defined as the </a:t>
            </a:r>
            <a:r>
              <a:rPr lang="en-US" i="1" dirty="0" smtClean="0">
                <a:solidFill>
                  <a:srgbClr val="FF0000"/>
                </a:solidFill>
              </a:rPr>
              <a:t>force that acts at all times on the objects near to the earth’s surface</a:t>
            </a:r>
            <a:r>
              <a:rPr lang="en-US" dirty="0" smtClean="0"/>
              <a:t>.</a:t>
            </a:r>
          </a:p>
          <a:p>
            <a:pPr>
              <a:buNone/>
            </a:pPr>
            <a:r>
              <a:rPr lang="en-US" dirty="0" smtClean="0"/>
              <a:t>	In </a:t>
            </a:r>
            <a:r>
              <a:rPr lang="en-US" dirty="0" smtClean="0"/>
              <a:t>the </a:t>
            </a:r>
            <a:r>
              <a:rPr lang="en-US" dirty="0" smtClean="0"/>
              <a:t>engineering point of view, </a:t>
            </a:r>
            <a:r>
              <a:rPr lang="en-US" dirty="0" smtClean="0"/>
              <a:t>the weight of an object is related to </a:t>
            </a:r>
            <a:r>
              <a:rPr lang="en-US" b="1" i="1" dirty="0" smtClean="0"/>
              <a:t>the force acting on that object</a:t>
            </a:r>
            <a:r>
              <a:rPr lang="en-US" dirty="0" smtClean="0"/>
              <a:t>, either due to gravity or due to a reaction force that holds it in a place. </a:t>
            </a:r>
          </a:p>
          <a:p>
            <a:pPr>
              <a:buNone/>
            </a:pPr>
            <a:r>
              <a:rPr lang="en-US" dirty="0" smtClean="0"/>
              <a:t>	</a:t>
            </a:r>
            <a:endParaRPr lang="en-US" dirty="0" smtClean="0"/>
          </a:p>
          <a:p>
            <a:endParaRPr lang="en-US" dirty="0"/>
          </a:p>
        </p:txBody>
      </p:sp>
    </p:spTree>
  </p:cSld>
  <p:clrMapOvr>
    <a:masterClrMapping/>
  </p:clrMapOvr>
  <p:transition>
    <p:wheel spokes="8"/>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Weight cont…</a:t>
            </a:r>
            <a:endParaRPr lang="en-US" dirty="0"/>
          </a:p>
        </p:txBody>
      </p:sp>
      <p:sp>
        <p:nvSpPr>
          <p:cNvPr id="3" name="Content Placeholder 2"/>
          <p:cNvSpPr>
            <a:spLocks noGrp="1"/>
          </p:cNvSpPr>
          <p:nvPr>
            <p:ph idx="1"/>
          </p:nvPr>
        </p:nvSpPr>
        <p:spPr>
          <a:xfrm>
            <a:off x="457200" y="1295400"/>
            <a:ext cx="8229600" cy="5410200"/>
          </a:xfrm>
        </p:spPr>
        <p:txBody>
          <a:bodyPr>
            <a:normAutofit fontScale="92500" lnSpcReduction="10000"/>
          </a:bodyPr>
          <a:lstStyle/>
          <a:p>
            <a:pPr>
              <a:buNone/>
            </a:pPr>
            <a:r>
              <a:rPr lang="en-US" dirty="0" smtClean="0"/>
              <a:t>	In </a:t>
            </a:r>
            <a:r>
              <a:rPr lang="en-US" dirty="0" smtClean="0"/>
              <a:t>simple terms, it is the </a:t>
            </a:r>
            <a:r>
              <a:rPr lang="en-US" i="1" dirty="0" smtClean="0">
                <a:solidFill>
                  <a:srgbClr val="FF0000"/>
                </a:solidFill>
              </a:rPr>
              <a:t>force with which a body is pulled towards the earth.</a:t>
            </a:r>
          </a:p>
          <a:p>
            <a:pPr>
              <a:buNone/>
            </a:pPr>
            <a:r>
              <a:rPr lang="en-US" dirty="0" smtClean="0"/>
              <a:t>	Therefore, weight is the measure of the heaviness of an object</a:t>
            </a:r>
            <a:r>
              <a:rPr lang="en-US" dirty="0" smtClean="0"/>
              <a:t>.</a:t>
            </a:r>
          </a:p>
          <a:p>
            <a:pPr>
              <a:buNone/>
            </a:pPr>
            <a:r>
              <a:rPr lang="en-US" dirty="0" smtClean="0"/>
              <a:t>	</a:t>
            </a:r>
            <a:r>
              <a:rPr lang="en-US" dirty="0" smtClean="0"/>
              <a:t>Here</a:t>
            </a:r>
            <a:r>
              <a:rPr lang="en-US" dirty="0" smtClean="0"/>
              <a:t>, W is the weight of the body</a:t>
            </a:r>
          </a:p>
          <a:p>
            <a:pPr>
              <a:buNone/>
            </a:pPr>
            <a:r>
              <a:rPr lang="en-US" dirty="0" smtClean="0"/>
              <a:t>	F </a:t>
            </a:r>
            <a:r>
              <a:rPr lang="en-US" dirty="0" smtClean="0"/>
              <a:t>= external force</a:t>
            </a:r>
          </a:p>
          <a:p>
            <a:pPr>
              <a:buNone/>
            </a:pPr>
            <a:r>
              <a:rPr lang="en-US" dirty="0" smtClean="0"/>
              <a:t>	m</a:t>
            </a:r>
            <a:r>
              <a:rPr lang="en-US" dirty="0" smtClean="0"/>
              <a:t>  = mass of the body</a:t>
            </a:r>
          </a:p>
          <a:p>
            <a:pPr>
              <a:buNone/>
            </a:pPr>
            <a:r>
              <a:rPr lang="en-US" dirty="0" smtClean="0"/>
              <a:t>	g</a:t>
            </a:r>
            <a:r>
              <a:rPr lang="en-US" dirty="0" smtClean="0"/>
              <a:t>  = acceleration due to gravity</a:t>
            </a:r>
          </a:p>
          <a:p>
            <a:pPr>
              <a:buNone/>
            </a:pPr>
            <a:r>
              <a:rPr lang="en-US" dirty="0" smtClean="0"/>
              <a:t>	Here</a:t>
            </a:r>
            <a:r>
              <a:rPr lang="en-US" dirty="0" smtClean="0"/>
              <a:t>, g is the measure of the intensity of the gravity field in N/kg at any location</a:t>
            </a:r>
          </a:p>
          <a:p>
            <a:pPr>
              <a:buNone/>
            </a:pPr>
            <a:r>
              <a:rPr lang="en-US" dirty="0" smtClean="0"/>
              <a:t> </a:t>
            </a:r>
            <a:endParaRPr lang="en-US" dirty="0"/>
          </a:p>
        </p:txBody>
      </p:sp>
    </p:spTree>
  </p:cSld>
  <p:clrMapOvr>
    <a:masterClrMapping/>
  </p:clrMapOvr>
  <p:transition>
    <p:wheel spokes="8"/>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Weight cont..</a:t>
            </a:r>
            <a:endParaRPr lang="en-US" dirty="0"/>
          </a:p>
        </p:txBody>
      </p:sp>
      <p:sp>
        <p:nvSpPr>
          <p:cNvPr id="3" name="Content Placeholder 2"/>
          <p:cNvSpPr>
            <a:spLocks noGrp="1"/>
          </p:cNvSpPr>
          <p:nvPr>
            <p:ph idx="1"/>
          </p:nvPr>
        </p:nvSpPr>
        <p:spPr/>
        <p:txBody>
          <a:bodyPr/>
          <a:lstStyle/>
          <a:p>
            <a:r>
              <a:rPr lang="en-US" dirty="0" smtClean="0"/>
              <a:t>For example, if I weigh 24 kg on earth, then my mass on the moon will be 1/ 6 to the weight on the earth i.e., 4 kg on the moon.</a:t>
            </a:r>
          </a:p>
          <a:p>
            <a:r>
              <a:rPr lang="en-US" dirty="0" smtClean="0"/>
              <a:t>The mass on the Moon is less than the Earth. However, its gravity is less than the Earth.</a:t>
            </a:r>
          </a:p>
          <a:p>
            <a:pPr>
              <a:buNone/>
            </a:pPr>
            <a:r>
              <a:rPr lang="en-US" b="1" dirty="0" smtClean="0"/>
              <a:t>  </a:t>
            </a:r>
            <a:endParaRPr lang="en-US" dirty="0"/>
          </a:p>
        </p:txBody>
      </p:sp>
    </p:spTree>
  </p:cSld>
  <p:clrMapOvr>
    <a:masterClrMapping/>
  </p:clrMapOvr>
  <p:transition>
    <p:wheel spokes="8"/>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normAutofit fontScale="90000"/>
          </a:bodyPr>
          <a:lstStyle/>
          <a:p>
            <a:r>
              <a:rPr lang="en-US" b="1" dirty="0" smtClean="0"/>
              <a:t/>
            </a:r>
            <a:br>
              <a:rPr lang="en-US" b="1" dirty="0" smtClean="0"/>
            </a:br>
            <a:r>
              <a:rPr lang="en-US" b="1" dirty="0" smtClean="0"/>
              <a:t>Relationship between Mass and Weight</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Weight </a:t>
            </a:r>
            <a:r>
              <a:rPr lang="en-US" dirty="0" smtClean="0"/>
              <a:t>is defined as the force of gravity with which a body is attracted to Earth </a:t>
            </a:r>
            <a:r>
              <a:rPr lang="en-US" dirty="0" smtClean="0"/>
              <a:t>and </a:t>
            </a:r>
            <a:r>
              <a:rPr lang="en-US" dirty="0" smtClean="0"/>
              <a:t>is equal to the product of the object's mass, and the acceleration of gravity given by,</a:t>
            </a:r>
          </a:p>
          <a:p>
            <a:pPr>
              <a:buNone/>
            </a:pPr>
            <a:r>
              <a:rPr lang="en-US" dirty="0" smtClean="0"/>
              <a:t>                                  W =  F = mg</a:t>
            </a:r>
          </a:p>
          <a:p>
            <a:r>
              <a:rPr lang="en-US" dirty="0" smtClean="0"/>
              <a:t>The above equation is applicable at all times even when the object is not accelerating. This means the object is under free-fall and no external force other than gravity is acting upon it.  </a:t>
            </a:r>
            <a:endParaRPr lang="en-US" dirty="0"/>
          </a:p>
        </p:txBody>
      </p:sp>
    </p:spTree>
  </p:cSld>
  <p:clrMapOvr>
    <a:masterClrMapping/>
  </p:clrMapOvr>
  <p:transition>
    <p:wheel spokes="8"/>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t>The friction</a:t>
            </a:r>
            <a:endParaRPr lang="en-US" dirty="0"/>
          </a:p>
        </p:txBody>
      </p:sp>
      <p:sp>
        <p:nvSpPr>
          <p:cNvPr id="3" name="Content Placeholder 2"/>
          <p:cNvSpPr>
            <a:spLocks noGrp="1"/>
          </p:cNvSpPr>
          <p:nvPr>
            <p:ph idx="1"/>
          </p:nvPr>
        </p:nvSpPr>
        <p:spPr>
          <a:xfrm>
            <a:off x="381000" y="1447800"/>
            <a:ext cx="8229600" cy="4525963"/>
          </a:xfrm>
        </p:spPr>
        <p:txBody>
          <a:bodyPr>
            <a:normAutofit/>
          </a:bodyPr>
          <a:lstStyle/>
          <a:p>
            <a:pPr>
              <a:buNone/>
            </a:pPr>
            <a:r>
              <a:rPr lang="en-US" dirty="0" smtClean="0"/>
              <a:t>	Friction </a:t>
            </a:r>
            <a:r>
              <a:rPr lang="en-US" dirty="0" smtClean="0"/>
              <a:t>is the force that opposes the relative motion or tendency to such motion of two bodies in contact. </a:t>
            </a:r>
            <a:endParaRPr lang="en-US" dirty="0" smtClean="0"/>
          </a:p>
          <a:p>
            <a:pPr>
              <a:buNone/>
            </a:pPr>
            <a:r>
              <a:rPr lang="en-US" dirty="0" smtClean="0"/>
              <a:t>	</a:t>
            </a:r>
            <a:r>
              <a:rPr lang="en-US" dirty="0" smtClean="0"/>
              <a:t>If </a:t>
            </a:r>
            <a:r>
              <a:rPr lang="en-US" dirty="0" smtClean="0"/>
              <a:t>we try to push a block of wood across a table, there are two opposing forces that act: the force associated with the </a:t>
            </a:r>
            <a:r>
              <a:rPr lang="en-US" i="1" dirty="0" smtClean="0">
                <a:solidFill>
                  <a:srgbClr val="FF0000"/>
                </a:solidFill>
              </a:rPr>
              <a:t>push</a:t>
            </a:r>
            <a:r>
              <a:rPr lang="en-US" dirty="0" smtClean="0"/>
              <a:t>, and a force that is associated with the </a:t>
            </a:r>
            <a:r>
              <a:rPr lang="en-US" i="1" dirty="0" smtClean="0">
                <a:solidFill>
                  <a:srgbClr val="FF0000"/>
                </a:solidFill>
              </a:rPr>
              <a:t>friction</a:t>
            </a:r>
            <a:r>
              <a:rPr lang="en-US" dirty="0" smtClean="0"/>
              <a:t> which acts in the opposite direction. </a:t>
            </a:r>
            <a:endParaRPr lang="en-US" dirty="0"/>
          </a:p>
        </p:txBody>
      </p:sp>
    </p:spTree>
  </p:cSld>
  <p:clrMapOvr>
    <a:masterClrMapping/>
  </p:clrMapOvr>
  <p:transition>
    <p:wheel spokes="8"/>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Friction cont…</a:t>
            </a:r>
            <a:endParaRPr lang="en-US" dirty="0"/>
          </a:p>
        </p:txBody>
      </p:sp>
      <p:sp>
        <p:nvSpPr>
          <p:cNvPr id="3" name="Content Placeholder 2"/>
          <p:cNvSpPr>
            <a:spLocks noGrp="1"/>
          </p:cNvSpPr>
          <p:nvPr>
            <p:ph idx="1"/>
          </p:nvPr>
        </p:nvSpPr>
        <p:spPr/>
        <p:txBody>
          <a:bodyPr/>
          <a:lstStyle/>
          <a:p>
            <a:pPr>
              <a:buNone/>
            </a:pPr>
            <a:r>
              <a:rPr lang="en-US" dirty="0" smtClean="0"/>
              <a:t>	As</a:t>
            </a:r>
            <a:r>
              <a:rPr lang="en-US" dirty="0" smtClean="0"/>
              <a:t> frictional forces are decreased (for example, by placing oil on the table) the object moves </a:t>
            </a:r>
            <a:r>
              <a:rPr lang="en-US" dirty="0" smtClean="0"/>
              <a:t>more freely before </a:t>
            </a:r>
            <a:r>
              <a:rPr lang="en-US" dirty="0" smtClean="0"/>
              <a:t>stopping. </a:t>
            </a:r>
            <a:endParaRPr lang="en-US" dirty="0" smtClean="0"/>
          </a:p>
          <a:p>
            <a:pPr>
              <a:buNone/>
            </a:pPr>
            <a:r>
              <a:rPr lang="en-US" dirty="0" smtClean="0"/>
              <a:t>	</a:t>
            </a:r>
            <a:r>
              <a:rPr lang="en-US" dirty="0" smtClean="0"/>
              <a:t>This </a:t>
            </a:r>
            <a:r>
              <a:rPr lang="en-US" dirty="0" smtClean="0"/>
              <a:t>demonstrates </a:t>
            </a:r>
            <a:r>
              <a:rPr lang="en-US" i="1" dirty="0" smtClean="0">
                <a:solidFill>
                  <a:srgbClr val="FF0000"/>
                </a:solidFill>
              </a:rPr>
              <a:t>Galileo's law of inertia </a:t>
            </a:r>
            <a:r>
              <a:rPr lang="en-US" dirty="0" smtClean="0"/>
              <a:t>which states: </a:t>
            </a:r>
            <a:r>
              <a:rPr lang="en-US" i="1" dirty="0" smtClean="0"/>
              <a:t>an object in a state of motion possesses an ``inertia'' that causes it to remain in that state of motion unless an external force acts on it</a:t>
            </a:r>
            <a:endParaRPr lang="en-US" i="1" dirty="0"/>
          </a:p>
        </p:txBody>
      </p:sp>
    </p:spTree>
  </p:cSld>
  <p:clrMapOvr>
    <a:masterClrMapping/>
  </p:clrMapOvr>
  <p:transition>
    <p:wheel spokes="8"/>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a:t>The concept of force measurement</a:t>
            </a:r>
          </a:p>
        </p:txBody>
      </p:sp>
      <p:sp>
        <p:nvSpPr>
          <p:cNvPr id="3" name="Content Placeholder 2"/>
          <p:cNvSpPr>
            <a:spLocks noGrp="1"/>
          </p:cNvSpPr>
          <p:nvPr>
            <p:ph idx="1"/>
          </p:nvPr>
        </p:nvSpPr>
        <p:spPr/>
        <p:txBody>
          <a:bodyPr>
            <a:normAutofit lnSpcReduction="10000"/>
          </a:bodyPr>
          <a:lstStyle/>
          <a:p>
            <a:pPr marL="0" indent="0">
              <a:buNone/>
            </a:pPr>
            <a:r>
              <a:rPr lang="en-US" dirty="0"/>
              <a:t>If a force of magnitude F is applied to a body of mass M, the body will accelerate to a rate of A  </a:t>
            </a:r>
          </a:p>
          <a:p>
            <a:pPr marL="0" indent="0">
              <a:buNone/>
            </a:pPr>
            <a:r>
              <a:rPr lang="en-US" dirty="0"/>
              <a:t>Therefore;  </a:t>
            </a:r>
          </a:p>
          <a:p>
            <a:pPr marL="0" indent="0">
              <a:buNone/>
            </a:pPr>
            <a:r>
              <a:rPr lang="en-US" dirty="0"/>
              <a:t>	Force (F) = Mass (M) X acceleration (A)</a:t>
            </a:r>
          </a:p>
          <a:p>
            <a:pPr marL="0" indent="0">
              <a:buNone/>
            </a:pPr>
            <a:r>
              <a:rPr lang="en-US" dirty="0"/>
              <a:t>	F = MA</a:t>
            </a:r>
          </a:p>
          <a:p>
            <a:pPr marL="0" indent="0">
              <a:buNone/>
            </a:pPr>
            <a:r>
              <a:rPr lang="en-US" dirty="0"/>
              <a:t>The standard unit of force is Newton; this being the force that will produce an acceleration of 1m/s</a:t>
            </a:r>
            <a:r>
              <a:rPr lang="en-US" baseline="30000" dirty="0"/>
              <a:t>2</a:t>
            </a:r>
            <a:r>
              <a:rPr lang="en-US" dirty="0"/>
              <a:t> in the direction of the force when it is applied to a body of known mass.</a:t>
            </a:r>
          </a:p>
        </p:txBody>
      </p:sp>
    </p:spTree>
  </p:cSld>
  <p:clrMapOvr>
    <a:masterClrMapping/>
  </p:clrMapOvr>
  <p:transition>
    <p:wheel spokes="8"/>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Methods of force measurement</a:t>
            </a:r>
          </a:p>
        </p:txBody>
      </p:sp>
      <p:sp>
        <p:nvSpPr>
          <p:cNvPr id="3" name="Content Placeholder 2"/>
          <p:cNvSpPr>
            <a:spLocks noGrp="1"/>
          </p:cNvSpPr>
          <p:nvPr>
            <p:ph idx="1"/>
          </p:nvPr>
        </p:nvSpPr>
        <p:spPr/>
        <p:txBody>
          <a:bodyPr/>
          <a:lstStyle/>
          <a:p>
            <a:r>
              <a:rPr lang="en-US"/>
              <a:t>There are several methods used in force measurement, some of which include; </a:t>
            </a:r>
          </a:p>
          <a:p>
            <a:pPr marL="0" indent="0">
              <a:buNone/>
            </a:pPr>
            <a:r>
              <a:rPr lang="en-US"/>
              <a:t>(i) </a:t>
            </a:r>
            <a:r>
              <a:rPr lang="en-US" b="1"/>
              <a:t>Mechanical balancing method</a:t>
            </a:r>
            <a:r>
              <a:rPr lang="en-US"/>
              <a:t>- this uses a beam balancing device to mesure mass of body. When a mass of a body is known, it can be multiplied by gravitational acceleration to determin the force action on it.</a:t>
            </a:r>
          </a:p>
          <a:p>
            <a:pPr marL="0" indent="0">
              <a:buNone/>
            </a:pPr>
            <a:r>
              <a:rPr lang="en-US"/>
              <a:t>Thus 		F = mg</a:t>
            </a:r>
          </a:p>
        </p:txBody>
      </p:sp>
    </p:spTree>
  </p:cSld>
  <p:clrMapOvr>
    <a:masterClrMapping/>
  </p:clrMapOvr>
  <p:transition>
    <p:wheel spokes="8"/>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beam balancing device</a:t>
            </a:r>
          </a:p>
        </p:txBody>
      </p:sp>
      <p:sp>
        <p:nvSpPr>
          <p:cNvPr id="3" name="Content Placeholder 2"/>
          <p:cNvSpPr>
            <a:spLocks noGrp="1"/>
          </p:cNvSpPr>
          <p:nvPr>
            <p:ph idx="1"/>
          </p:nvPr>
        </p:nvSpPr>
        <p:spPr/>
        <p:txBody>
          <a:bodyPr/>
          <a:lstStyle/>
          <a:p>
            <a:pPr marL="0" indent="0">
              <a:buNone/>
            </a:pPr>
            <a:r>
              <a:rPr lang="en-US"/>
              <a:t> </a:t>
            </a:r>
          </a:p>
        </p:txBody>
      </p:sp>
      <p:pic>
        <p:nvPicPr>
          <p:cNvPr id="1026" name="Picture 2"/>
          <p:cNvPicPr>
            <a:picLocks noGrp="1" noChangeAspect="1" noChangeArrowheads="1"/>
          </p:cNvPicPr>
          <p:nvPr>
            <p:ph sz="half" idx="4294967295"/>
          </p:nvPr>
        </p:nvPicPr>
        <p:blipFill>
          <a:blip r:embed="rId2"/>
          <a:srcRect/>
          <a:stretch>
            <a:fillRect/>
          </a:stretch>
        </p:blipFill>
        <p:spPr bwMode="auto">
          <a:xfrm>
            <a:off x="0" y="1417955"/>
            <a:ext cx="7140575" cy="4573270"/>
          </a:xfrm>
          <a:prstGeom prst="rect">
            <a:avLst/>
          </a:prstGeom>
          <a:noFill/>
          <a:ln w="9525">
            <a:noFill/>
            <a:miter lim="800000"/>
            <a:headEnd/>
            <a:tailEnd/>
          </a:ln>
          <a:effectLst/>
        </p:spPr>
      </p:pic>
    </p:spTree>
  </p:cSld>
  <p:clrMapOvr>
    <a:masterClrMapping/>
  </p:clrMapOvr>
  <p:transition>
    <p:wheel spokes="8"/>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Methods .....</a:t>
            </a:r>
          </a:p>
        </p:txBody>
      </p:sp>
      <p:sp>
        <p:nvSpPr>
          <p:cNvPr id="3" name="Content Placeholder 2"/>
          <p:cNvSpPr>
            <a:spLocks noGrp="1"/>
          </p:cNvSpPr>
          <p:nvPr>
            <p:ph idx="1"/>
          </p:nvPr>
        </p:nvSpPr>
        <p:spPr/>
        <p:txBody>
          <a:bodyPr/>
          <a:lstStyle/>
          <a:p>
            <a:pPr marL="0" indent="0">
              <a:buNone/>
            </a:pPr>
            <a:r>
              <a:rPr lang="en-US"/>
              <a:t>       (ii) Spring displacement method</a:t>
            </a:r>
          </a:p>
          <a:p>
            <a:pPr marL="0" indent="0">
              <a:buNone/>
            </a:pPr>
            <a:endParaRPr lang="en-US"/>
          </a:p>
        </p:txBody>
      </p:sp>
      <p:pic>
        <p:nvPicPr>
          <p:cNvPr id="6" name="Content Placeholder 5"/>
          <p:cNvPicPr>
            <a:picLocks noGrp="1" noChangeAspect="1"/>
          </p:cNvPicPr>
          <p:nvPr>
            <p:ph sz="half" idx="4294967295"/>
          </p:nvPr>
        </p:nvPicPr>
        <p:blipFill>
          <a:blip r:embed="rId2"/>
          <a:stretch>
            <a:fillRect/>
          </a:stretch>
        </p:blipFill>
        <p:spPr>
          <a:xfrm>
            <a:off x="1435100" y="2127250"/>
            <a:ext cx="6114415" cy="4453890"/>
          </a:xfrm>
          <a:prstGeom prst="rect">
            <a:avLst/>
          </a:prstGeom>
        </p:spPr>
      </p:pic>
    </p:spTree>
  </p:cSld>
  <p:clrMapOvr>
    <a:masterClrMapping/>
  </p:clrMapOvr>
  <p:transition>
    <p:wheel spokes="8"/>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spring method.....</a:t>
            </a:r>
          </a:p>
        </p:txBody>
      </p:sp>
      <p:sp>
        <p:nvSpPr>
          <p:cNvPr id="3" name="Content Placeholder 2"/>
          <p:cNvSpPr>
            <a:spLocks noGrp="1"/>
          </p:cNvSpPr>
          <p:nvPr>
            <p:ph idx="1"/>
          </p:nvPr>
        </p:nvSpPr>
        <p:spPr>
          <a:xfrm>
            <a:off x="457200" y="1294765"/>
            <a:ext cx="8229600" cy="5070475"/>
          </a:xfrm>
        </p:spPr>
        <p:txBody>
          <a:bodyPr>
            <a:normAutofit fontScale="90000"/>
          </a:bodyPr>
          <a:lstStyle/>
          <a:p>
            <a:r>
              <a:rPr lang="en-US" dirty="0"/>
              <a:t>When a body of </a:t>
            </a:r>
            <a:r>
              <a:rPr lang="en-US" dirty="0" smtClean="0"/>
              <a:t>weight </a:t>
            </a:r>
            <a:r>
              <a:rPr lang="en-US" dirty="0"/>
              <a:t>W is attached to a free end of a spring it will pull a spring to a displacement x. </a:t>
            </a:r>
          </a:p>
          <a:p>
            <a:r>
              <a:rPr lang="en-US" dirty="0"/>
              <a:t>The force can be determined from the expression F = </a:t>
            </a:r>
            <a:r>
              <a:rPr lang="en-US" dirty="0" err="1"/>
              <a:t>Kx</a:t>
            </a:r>
            <a:r>
              <a:rPr lang="en-US" dirty="0"/>
              <a:t>  where K is the spring </a:t>
            </a:r>
            <a:r>
              <a:rPr lang="en-US" dirty="0" smtClean="0"/>
              <a:t>constant </a:t>
            </a:r>
            <a:r>
              <a:rPr lang="en-US" dirty="0"/>
              <a:t>given by </a:t>
            </a:r>
          </a:p>
          <a:p>
            <a:pPr marL="0" indent="0">
              <a:buNone/>
            </a:pPr>
            <a:r>
              <a:rPr lang="en-US" dirty="0"/>
              <a:t>	K = (E</a:t>
            </a:r>
            <a:r>
              <a:rPr lang="en-US" baseline="-25000" dirty="0"/>
              <a:t>s</a:t>
            </a:r>
            <a:r>
              <a:rPr lang="en-US" dirty="0"/>
              <a:t>D</a:t>
            </a:r>
            <a:r>
              <a:rPr lang="en-US" baseline="30000" dirty="0"/>
              <a:t>4</a:t>
            </a:r>
            <a:r>
              <a:rPr lang="en-US" dirty="0"/>
              <a:t>) /8D</a:t>
            </a:r>
            <a:r>
              <a:rPr lang="en-US" baseline="30000" dirty="0"/>
              <a:t>3</a:t>
            </a:r>
            <a:r>
              <a:rPr lang="en-US" dirty="0"/>
              <a:t>mN </a:t>
            </a:r>
          </a:p>
          <a:p>
            <a:pPr marL="0" indent="0">
              <a:buNone/>
            </a:pPr>
            <a:r>
              <a:rPr lang="en-US" dirty="0"/>
              <a:t>	where </a:t>
            </a:r>
          </a:p>
          <a:p>
            <a:pPr marL="0" indent="0">
              <a:buNone/>
            </a:pPr>
            <a:r>
              <a:rPr lang="en-US" dirty="0"/>
              <a:t>	Es = shear </a:t>
            </a:r>
            <a:r>
              <a:rPr lang="en-US" dirty="0" smtClean="0"/>
              <a:t>modulus </a:t>
            </a:r>
            <a:r>
              <a:rPr lang="en-US" dirty="0"/>
              <a:t>of spring material</a:t>
            </a:r>
          </a:p>
          <a:p>
            <a:pPr marL="0" indent="0">
              <a:buNone/>
            </a:pPr>
            <a:r>
              <a:rPr lang="en-US" dirty="0"/>
              <a:t>         D</a:t>
            </a:r>
            <a:r>
              <a:rPr lang="en-US" baseline="-25000" dirty="0"/>
              <a:t>m</a:t>
            </a:r>
            <a:r>
              <a:rPr lang="en-US" dirty="0"/>
              <a:t> = mean diameter of spring coil and </a:t>
            </a:r>
          </a:p>
          <a:p>
            <a:pPr marL="0" indent="0">
              <a:buNone/>
            </a:pPr>
            <a:r>
              <a:rPr lang="en-US" dirty="0"/>
              <a:t>	N = </a:t>
            </a:r>
            <a:r>
              <a:rPr lang="en-US" dirty="0" err="1"/>
              <a:t>namber</a:t>
            </a:r>
            <a:r>
              <a:rPr lang="en-US" dirty="0"/>
              <a:t> of spring coils</a:t>
            </a:r>
          </a:p>
          <a:p>
            <a:pPr marL="0" indent="0">
              <a:buNone/>
            </a:pPr>
            <a:r>
              <a:rPr lang="en-US" baseline="-25000" dirty="0"/>
              <a:t> </a:t>
            </a:r>
          </a:p>
        </p:txBody>
      </p:sp>
    </p:spTree>
  </p:cSld>
  <p:clrMapOvr>
    <a:masterClrMapping/>
  </p:clrMapOvr>
  <p:transition>
    <p:wheel spokes="8"/>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methods ....</a:t>
            </a:r>
          </a:p>
        </p:txBody>
      </p:sp>
      <p:sp>
        <p:nvSpPr>
          <p:cNvPr id="3" name="Content Placeholder 2"/>
          <p:cNvSpPr>
            <a:spLocks noGrp="1"/>
          </p:cNvSpPr>
          <p:nvPr>
            <p:ph idx="1"/>
          </p:nvPr>
        </p:nvSpPr>
        <p:spPr/>
        <p:txBody>
          <a:bodyPr/>
          <a:lstStyle/>
          <a:p>
            <a:pPr marL="0" indent="0">
              <a:buNone/>
            </a:pPr>
            <a:r>
              <a:rPr lang="en-US"/>
              <a:t>(iii) Pressure transducer method</a:t>
            </a:r>
          </a:p>
          <a:p>
            <a:pPr marL="0" indent="0">
              <a:buNone/>
            </a:pPr>
            <a:r>
              <a:rPr lang="en-US"/>
              <a:t>The force applied to a hydraulic fluid can be measured by converting it into hyrdaulic pressure created in a piston cylinder device as  the exerted  pressure equals to the applied force. </a:t>
            </a:r>
          </a:p>
        </p:txBody>
      </p:sp>
    </p:spTree>
  </p:cSld>
  <p:clrMapOvr>
    <a:masterClrMapping/>
  </p:clrMapOvr>
  <p:transition>
    <p:wheel spokes="8"/>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Hydraulic pressure</a:t>
            </a:r>
          </a:p>
        </p:txBody>
      </p:sp>
      <p:pic>
        <p:nvPicPr>
          <p:cNvPr id="4" name="Content Placeholder 3"/>
          <p:cNvPicPr>
            <a:picLocks noGrp="1" noChangeAspect="1"/>
          </p:cNvPicPr>
          <p:nvPr>
            <p:ph idx="1"/>
          </p:nvPr>
        </p:nvPicPr>
        <p:blipFill>
          <a:blip r:embed="rId2"/>
          <a:stretch>
            <a:fillRect/>
          </a:stretch>
        </p:blipFill>
        <p:spPr>
          <a:xfrm>
            <a:off x="2118995" y="2505710"/>
            <a:ext cx="4905375" cy="2714625"/>
          </a:xfrm>
          <a:prstGeom prst="rect">
            <a:avLst/>
          </a:prstGeom>
        </p:spPr>
      </p:pic>
    </p:spTree>
  </p:cSld>
  <p:clrMapOvr>
    <a:masterClrMapping/>
  </p:clrMapOvr>
  <p:transition>
    <p:wheel spokes="8"/>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TotalTime>
  <Words>751</Words>
  <Application>WPS Presentation</Application>
  <PresentationFormat>On-screen Show (4:3)</PresentationFormat>
  <Paragraphs>242</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THE MEASUREMENT OF VELECITY ACCELERATION AND FORCE</vt:lpstr>
      <vt:lpstr>1.0. MEASUREMENT OF VELOCITY</vt:lpstr>
      <vt:lpstr>Introduction</vt:lpstr>
      <vt:lpstr>Speed cont……</vt:lpstr>
      <vt:lpstr>Speed cont…….</vt:lpstr>
      <vt:lpstr>The average speed</vt:lpstr>
      <vt:lpstr>Average speed cont……….</vt:lpstr>
      <vt:lpstr>B. Velocity</vt:lpstr>
      <vt:lpstr>Measurement of Velocity</vt:lpstr>
      <vt:lpstr>2. THE MEASUREMENT OF ACCELERATION</vt:lpstr>
      <vt:lpstr>Introduction</vt:lpstr>
      <vt:lpstr>Acceleration of an object</vt:lpstr>
      <vt:lpstr>Acceleration and deceleration</vt:lpstr>
      <vt:lpstr>Acceleration and deceleration cont..</vt:lpstr>
      <vt:lpstr>Measurement of acceleration</vt:lpstr>
      <vt:lpstr>Importance of measuring acceleration</vt:lpstr>
      <vt:lpstr>Common types of accelerometer</vt:lpstr>
      <vt:lpstr>Application of accelerometer</vt:lpstr>
      <vt:lpstr>3. THE MEASUREMENT OF FORCE</vt:lpstr>
      <vt:lpstr>FORCE MEASUREMENT</vt:lpstr>
      <vt:lpstr>Introduction cont…</vt:lpstr>
      <vt:lpstr>Introduction ……….</vt:lpstr>
      <vt:lpstr>Classification of force</vt:lpstr>
      <vt:lpstr>Types of forces</vt:lpstr>
      <vt:lpstr>Types cont……</vt:lpstr>
      <vt:lpstr>Describing a Force</vt:lpstr>
      <vt:lpstr>Difference between vector and scalar quantities</vt:lpstr>
      <vt:lpstr>Mass Vs Weight</vt:lpstr>
      <vt:lpstr>Mass cont..</vt:lpstr>
      <vt:lpstr> Definition of Mass  </vt:lpstr>
      <vt:lpstr>Mass cont…</vt:lpstr>
      <vt:lpstr>Mass cont…</vt:lpstr>
      <vt:lpstr> Definition of Weight  </vt:lpstr>
      <vt:lpstr>Weight cont…</vt:lpstr>
      <vt:lpstr>Weight cont..</vt:lpstr>
      <vt:lpstr> Relationship between Mass and Weight </vt:lpstr>
      <vt:lpstr>The friction</vt:lpstr>
      <vt:lpstr>Friction cont…</vt:lpstr>
      <vt:lpstr>The concept of force measurement</vt:lpstr>
      <vt:lpstr>Methods of force measurement</vt:lpstr>
      <vt:lpstr>beam balancing device</vt:lpstr>
      <vt:lpstr>Methods .....</vt:lpstr>
      <vt:lpstr>spring method.....</vt:lpstr>
      <vt:lpstr>methods ....</vt:lpstr>
      <vt:lpstr>Hydraulic pressure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MEASUREMENT OF TIME</dc:title>
  <dc:creator>mdende</dc:creator>
  <cp:lastModifiedBy>user</cp:lastModifiedBy>
  <cp:revision>68</cp:revision>
  <dcterms:created xsi:type="dcterms:W3CDTF">2015-12-15T07:05:00Z</dcterms:created>
  <dcterms:modified xsi:type="dcterms:W3CDTF">2021-12-22T15:20:33Z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1033-10.2.0.7549</vt:lpwstr>
  </property>
</Properties>
</file>