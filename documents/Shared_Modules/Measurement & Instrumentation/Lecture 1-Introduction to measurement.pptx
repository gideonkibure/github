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6" r:id="rId2"/>
    <p:sldId id="321" r:id="rId3"/>
    <p:sldId id="322" r:id="rId4"/>
    <p:sldId id="323" r:id="rId5"/>
    <p:sldId id="324" r:id="rId6"/>
    <p:sldId id="325" r:id="rId7"/>
    <p:sldId id="285" r:id="rId8"/>
    <p:sldId id="326" r:id="rId9"/>
    <p:sldId id="281" r:id="rId10"/>
    <p:sldId id="283" r:id="rId11"/>
    <p:sldId id="257" r:id="rId12"/>
    <p:sldId id="288" r:id="rId13"/>
    <p:sldId id="290" r:id="rId14"/>
    <p:sldId id="292" r:id="rId15"/>
    <p:sldId id="286" r:id="rId16"/>
    <p:sldId id="278" r:id="rId17"/>
    <p:sldId id="279" r:id="rId18"/>
    <p:sldId id="259" r:id="rId19"/>
    <p:sldId id="260" r:id="rId20"/>
    <p:sldId id="261" r:id="rId21"/>
    <p:sldId id="262" r:id="rId22"/>
    <p:sldId id="263" r:id="rId23"/>
    <p:sldId id="264" r:id="rId24"/>
    <p:sldId id="271" r:id="rId25"/>
    <p:sldId id="265"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296" r:id="rId41"/>
    <p:sldId id="297" r:id="rId42"/>
    <p:sldId id="298" r:id="rId43"/>
    <p:sldId id="299" r:id="rId44"/>
    <p:sldId id="300" r:id="rId45"/>
    <p:sldId id="301" r:id="rId46"/>
    <p:sldId id="302" r:id="rId47"/>
    <p:sldId id="303" r:id="rId48"/>
    <p:sldId id="267" r:id="rId49"/>
    <p:sldId id="295" r:id="rId50"/>
    <p:sldId id="269" r:id="rId51"/>
    <p:sldId id="272" r:id="rId52"/>
    <p:sldId id="293" r:id="rId53"/>
    <p:sldId id="273" r:id="rId54"/>
    <p:sldId id="274" r:id="rId55"/>
    <p:sldId id="275" r:id="rId56"/>
    <p:sldId id="266" r:id="rId57"/>
    <p:sldId id="294" r:id="rId58"/>
    <p:sldId id="318"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72" autoAdjust="0"/>
  </p:normalViewPr>
  <p:slideViewPr>
    <p:cSldViewPr>
      <p:cViewPr varScale="1">
        <p:scale>
          <a:sx n="65" d="100"/>
          <a:sy n="65" d="100"/>
        </p:scale>
        <p:origin x="15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3EF97F-72E9-45A1-9A31-0C49A2191C08}" type="datetimeFigureOut">
              <a:rPr lang="en-US" smtClean="0"/>
              <a:pPr/>
              <a:t>11/14/2024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2A4942-E806-4C28-9064-819075F6267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2A4942-E806-4C28-9064-819075F6267F}" type="slidenum">
              <a:rPr lang="en-US" smtClean="0"/>
              <a:pPr/>
              <a:t>12</a:t>
            </a:fld>
            <a:endParaRPr lang="en-US"/>
          </a:p>
        </p:txBody>
      </p:sp>
    </p:spTree>
    <p:extLst>
      <p:ext uri="{BB962C8B-B14F-4D97-AF65-F5344CB8AC3E}">
        <p14:creationId xmlns:p14="http://schemas.microsoft.com/office/powerpoint/2010/main" val="347713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7272B96-4604-460E-A6CE-30A907B3C20F}" type="slidenum">
              <a:rPr lang="en-US" smtClean="0"/>
              <a:pPr/>
              <a:t>‹#›</a:t>
            </a:fld>
            <a:endParaRPr lang="en-US" dirty="0"/>
          </a:p>
        </p:txBody>
      </p:sp>
    </p:spTree>
  </p:cSld>
  <p:clrMapOvr>
    <a:masterClrMapping/>
  </p:clrMapOvr>
  <p:transition>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B784E-ED4D-49D9-AB7C-109F4E4DCF48}" type="datetimeFigureOut">
              <a:rPr lang="en-US" smtClean="0"/>
              <a:pPr/>
              <a:t>11/14/2024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72B96-4604-460E-A6CE-30A907B3C20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heel spokes="8"/>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143000"/>
            <a:ext cx="7772400" cy="1470025"/>
          </a:xfrm>
        </p:spPr>
        <p:txBody>
          <a:bodyPr>
            <a:normAutofit fontScale="90000"/>
          </a:bodyPr>
          <a:lstStyle/>
          <a:p>
            <a:r>
              <a:rPr lang="en-US" dirty="0" smtClean="0">
                <a:solidFill>
                  <a:schemeClr val="accent6">
                    <a:lumMod val="75000"/>
                  </a:schemeClr>
                </a:solidFill>
                <a:latin typeface="Arial Narrow" panose="020B0606020202030204" pitchFamily="34" charset="0"/>
              </a:rPr>
              <a:t>ME 6224: ENGINEERING MEASUREMENT&amp;INSTRUMENTATION</a:t>
            </a:r>
            <a:endParaRPr lang="en-US" dirty="0">
              <a:solidFill>
                <a:schemeClr val="accent6">
                  <a:lumMod val="75000"/>
                </a:schemeClr>
              </a:solidFill>
              <a:latin typeface="Arial Narrow" panose="020B0606020202030204" pitchFamily="34" charset="0"/>
            </a:endParaRPr>
          </a:p>
        </p:txBody>
      </p:sp>
      <p:sp>
        <p:nvSpPr>
          <p:cNvPr id="3" name="Subtitle 2"/>
          <p:cNvSpPr>
            <a:spLocks noGrp="1"/>
          </p:cNvSpPr>
          <p:nvPr>
            <p:ph type="subTitle" idx="1"/>
          </p:nvPr>
        </p:nvSpPr>
        <p:spPr>
          <a:xfrm>
            <a:off x="609600" y="3200400"/>
            <a:ext cx="7162800" cy="1981200"/>
          </a:xfrm>
        </p:spPr>
        <p:txBody>
          <a:bodyPr>
            <a:noAutofit/>
          </a:bodyPr>
          <a:lstStyle/>
          <a:p>
            <a:r>
              <a:rPr lang="en-US" sz="4400" dirty="0" smtClean="0">
                <a:solidFill>
                  <a:schemeClr val="accent6">
                    <a:lumMod val="75000"/>
                  </a:schemeClr>
                </a:solidFill>
                <a:latin typeface="Arial Narrow" panose="020B0606020202030204" pitchFamily="34" charset="0"/>
              </a:rPr>
              <a:t>ME 6207: ENGINEERING </a:t>
            </a:r>
            <a:r>
              <a:rPr lang="en-US" sz="4400" dirty="0">
                <a:solidFill>
                  <a:schemeClr val="accent6">
                    <a:lumMod val="75000"/>
                  </a:schemeClr>
                </a:solidFill>
                <a:latin typeface="Arial Narrow" panose="020B0606020202030204" pitchFamily="34" charset="0"/>
              </a:rPr>
              <a:t>MEASUREMENT &amp; </a:t>
            </a:r>
            <a:r>
              <a:rPr lang="en-US" sz="4400" dirty="0" smtClean="0">
                <a:solidFill>
                  <a:schemeClr val="accent6">
                    <a:lumMod val="75000"/>
                  </a:schemeClr>
                </a:solidFill>
                <a:latin typeface="Arial Narrow" panose="020B0606020202030204" pitchFamily="34" charset="0"/>
              </a:rPr>
              <a:t>CONTROL</a:t>
            </a:r>
            <a:endParaRPr lang="en-US" sz="4400" dirty="0">
              <a:latin typeface="Arial Narrow" panose="020B0606020202030204" pitchFamily="34" charset="0"/>
            </a:endParaRPr>
          </a:p>
        </p:txBody>
      </p:sp>
    </p:spTree>
  </p:cSld>
  <p:clrMapOvr>
    <a:masterClrMapping/>
  </p:clrMapOvr>
  <p:transition>
    <p:wheel spokes="8"/>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7886700" cy="973931"/>
          </a:xfrm>
        </p:spPr>
        <p:txBody>
          <a:bodyPr>
            <a:noAutofit/>
          </a:bodyPr>
          <a:lstStyle/>
          <a:p>
            <a:pPr algn="ctr"/>
            <a:r>
              <a:rPr lang="en-US" sz="3600" b="1" dirty="0">
                <a:latin typeface="Arial Narrow" panose="020B0606020202030204" pitchFamily="34" charset="0"/>
                <a:cs typeface="Times New Roman" panose="02020603050405020304" pitchFamily="18" charset="0"/>
              </a:rPr>
              <a:t>MODE OF TEACHING AND LEARNING ACTIVITIES </a:t>
            </a:r>
            <a:endParaRPr lang="en-US" sz="3600" dirty="0">
              <a:latin typeface="Arial Narrow" panose="020B0606020202030204" pitchFamily="34" charset="0"/>
              <a:cs typeface="Times New Roman" panose="02020603050405020304" pitchFamily="18" charset="0"/>
            </a:endParaRPr>
          </a:p>
        </p:txBody>
      </p:sp>
      <p:sp>
        <p:nvSpPr>
          <p:cNvPr id="3" name="Content Placeholder 2"/>
          <p:cNvSpPr>
            <a:spLocks noGrp="1"/>
          </p:cNvSpPr>
          <p:nvPr>
            <p:ph idx="1"/>
          </p:nvPr>
        </p:nvSpPr>
        <p:spPr>
          <a:xfrm>
            <a:off x="628650" y="2314576"/>
            <a:ext cx="7886700" cy="3305174"/>
          </a:xfrm>
        </p:spPr>
        <p:txBody>
          <a:bodyPr>
            <a:normAutofit lnSpcReduction="10000"/>
          </a:bodyPr>
          <a:lstStyle/>
          <a:p>
            <a:pPr marL="0" indent="0">
              <a:buNone/>
            </a:pPr>
            <a:r>
              <a:rPr lang="en-US" dirty="0">
                <a:latin typeface="Arial Narrow" panose="020B0606020202030204" pitchFamily="34" charset="0"/>
                <a:cs typeface="Times New Roman" panose="02020603050405020304" pitchFamily="18" charset="0"/>
              </a:rPr>
              <a:t>1.Teaching and learning activities include </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Lectures </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Tutorials</a:t>
            </a:r>
          </a:p>
          <a:p>
            <a:pPr marL="0" indent="0">
              <a:buNone/>
            </a:pPr>
            <a:r>
              <a:rPr lang="en-US" dirty="0">
                <a:latin typeface="Arial Narrow" panose="020B0606020202030204" pitchFamily="34" charset="0"/>
                <a:cs typeface="Times New Roman" panose="02020603050405020304" pitchFamily="18" charset="0"/>
              </a:rPr>
              <a:t>2.Mode of Assessments include</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Continuous Assessment(CA)     40%</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Semester Examination(SE)        60%</a:t>
            </a:r>
          </a:p>
          <a:p>
            <a:pPr marL="0" indent="0">
              <a:buNone/>
            </a:pPr>
            <a:endParaRPr lang="en-US"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969575297"/>
      </p:ext>
    </p:extLst>
  </p:cSld>
  <p:clrMapOvr>
    <a:masterClrMapping/>
  </p:clrMapOvr>
  <p:transition>
    <p:wheel spokes="8"/>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Narrow" panose="020B0606020202030204" pitchFamily="34" charset="0"/>
                <a:cs typeface="Times New Roman" panose="02020603050405020304" pitchFamily="18" charset="0"/>
              </a:rPr>
              <a:t>ASSESSMENT TOOLS</a:t>
            </a:r>
            <a:endParaRPr lang="en-US" sz="3600" b="1" dirty="0">
              <a:latin typeface="Arial Narrow" panose="020B0606020202030204" pitchFamily="34"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Test One              30</a:t>
            </a:r>
            <a:r>
              <a:rPr lang="en-US" dirty="0" smtClean="0">
                <a:latin typeface="Arial Narrow" panose="020B0606020202030204" pitchFamily="34" charset="0"/>
                <a:cs typeface="Times New Roman" panose="02020603050405020304" pitchFamily="18" charset="0"/>
              </a:rPr>
              <a:t>%</a:t>
            </a:r>
            <a:endParaRPr lang="en-US" dirty="0">
              <a:latin typeface="Arial Narrow" panose="020B0606020202030204" pitchFamily="34" charset="0"/>
              <a:cs typeface="Times New Roman" panose="02020603050405020304" pitchFamily="18" charset="0"/>
            </a:endParaRPr>
          </a:p>
          <a:p>
            <a:pPr>
              <a:buFont typeface="Wingdings" panose="05000000000000000000" pitchFamily="2" charset="2"/>
              <a:buChar char="Ø"/>
            </a:pPr>
            <a:r>
              <a:rPr lang="en-US" dirty="0" smtClean="0">
                <a:latin typeface="Arial Narrow" panose="020B0606020202030204" pitchFamily="34" charset="0"/>
                <a:cs typeface="Times New Roman" panose="02020603050405020304" pitchFamily="18" charset="0"/>
              </a:rPr>
              <a:t>Assignment          </a:t>
            </a:r>
            <a:r>
              <a:rPr lang="en-US" dirty="0">
                <a:latin typeface="Arial Narrow" panose="020B0606020202030204" pitchFamily="34" charset="0"/>
                <a:cs typeface="Times New Roman" panose="02020603050405020304" pitchFamily="18" charset="0"/>
              </a:rPr>
              <a:t>1</a:t>
            </a:r>
            <a:r>
              <a:rPr lang="en-US" dirty="0" smtClean="0">
                <a:latin typeface="Arial Narrow" panose="020B0606020202030204" pitchFamily="34" charset="0"/>
                <a:cs typeface="Times New Roman" panose="02020603050405020304" pitchFamily="18" charset="0"/>
              </a:rPr>
              <a:t>0</a:t>
            </a:r>
            <a:r>
              <a:rPr lang="en-US" dirty="0">
                <a:latin typeface="Arial Narrow" panose="020B0606020202030204" pitchFamily="34" charset="0"/>
                <a:cs typeface="Times New Roman" panose="02020603050405020304" pitchFamily="18" charset="0"/>
              </a:rPr>
              <a:t>%</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Semester Examination(SE)        60%</a:t>
            </a:r>
          </a:p>
          <a:p>
            <a:pPr>
              <a:buFont typeface="Wingdings" panose="05000000000000000000" pitchFamily="2" charset="2"/>
              <a:buChar char="Ø"/>
            </a:pPr>
            <a:r>
              <a:rPr lang="en-US" dirty="0">
                <a:latin typeface="Arial Narrow" panose="020B0606020202030204" pitchFamily="34" charset="0"/>
                <a:cs typeface="Times New Roman" panose="02020603050405020304" pitchFamily="18" charset="0"/>
              </a:rPr>
              <a:t>Total                                          100%</a:t>
            </a:r>
          </a:p>
          <a:p>
            <a:pPr marL="685800" lvl="2" indent="0">
              <a:buNone/>
            </a:pPr>
            <a:endParaRPr lang="en-US" sz="3200" dirty="0">
              <a:latin typeface="Arial Narrow" panose="020B0606020202030204" pitchFamily="34" charset="0"/>
            </a:endParaRPr>
          </a:p>
        </p:txBody>
      </p:sp>
    </p:spTree>
    <p:extLst>
      <p:ext uri="{BB962C8B-B14F-4D97-AF65-F5344CB8AC3E}">
        <p14:creationId xmlns:p14="http://schemas.microsoft.com/office/powerpoint/2010/main" val="1586712597"/>
      </p:ext>
    </p:extLst>
  </p:cSld>
  <p:clrMapOvr>
    <a:masterClrMapping/>
  </p:clrMapOvr>
  <p:transition>
    <p:wheel spokes="8"/>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anose="020B0606020202030204" pitchFamily="34" charset="0"/>
              </a:rPr>
              <a:t>COURSE CONTENTS</a:t>
            </a:r>
            <a:endParaRPr lang="en-US"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pPr marL="0" indent="0" algn="just">
              <a:buNone/>
            </a:pPr>
            <a:r>
              <a:rPr lang="en-GB" sz="3000" b="1" dirty="0">
                <a:latin typeface="Arial Narrow" panose="020B0606020202030204" pitchFamily="34" charset="0"/>
              </a:rPr>
              <a:t>Fundamentals of Measurements</a:t>
            </a:r>
            <a:r>
              <a:rPr lang="en-GB" sz="3000" dirty="0">
                <a:latin typeface="Arial Narrow" panose="020B0606020202030204" pitchFamily="34" charset="0"/>
              </a:rPr>
              <a:t>:  </a:t>
            </a:r>
            <a:endParaRPr lang="en-GB" sz="3000" dirty="0" smtClean="0">
              <a:latin typeface="Arial Narrow" panose="020B0606020202030204" pitchFamily="34" charset="0"/>
            </a:endParaRPr>
          </a:p>
          <a:p>
            <a:pPr marL="0" indent="0" algn="just">
              <a:buNone/>
            </a:pPr>
            <a:r>
              <a:rPr lang="en-GB" sz="3000" dirty="0" smtClean="0">
                <a:latin typeface="Arial Narrow" panose="020B0606020202030204" pitchFamily="34" charset="0"/>
              </a:rPr>
              <a:t>Terms</a:t>
            </a:r>
            <a:r>
              <a:rPr lang="en-GB" sz="3000" dirty="0">
                <a:latin typeface="Arial Narrow" panose="020B0606020202030204" pitchFamily="34" charset="0"/>
              </a:rPr>
              <a:t>, Quantities and Units (Measuring value, Measuring range, Analogue indication, Digital indication); Errors in measurements (accidental and systematic errors</a:t>
            </a:r>
            <a:r>
              <a:rPr lang="en-GB" sz="3000" dirty="0" smtClean="0">
                <a:latin typeface="Arial Narrow" panose="020B0606020202030204" pitchFamily="34" charset="0"/>
              </a:rPr>
              <a:t>).</a:t>
            </a:r>
          </a:p>
          <a:p>
            <a:pPr marL="0" indent="0" algn="just">
              <a:buNone/>
            </a:pPr>
            <a:r>
              <a:rPr lang="en-GB" sz="3000" b="1" dirty="0" smtClean="0">
                <a:latin typeface="Arial Narrow" panose="020B0606020202030204" pitchFamily="34" charset="0"/>
              </a:rPr>
              <a:t>Measurements</a:t>
            </a:r>
            <a:r>
              <a:rPr lang="en-GB" sz="3000" dirty="0" smtClean="0">
                <a:latin typeface="Arial Narrow" panose="020B0606020202030204" pitchFamily="34" charset="0"/>
              </a:rPr>
              <a:t>:</a:t>
            </a:r>
          </a:p>
          <a:p>
            <a:pPr marL="0" indent="0" algn="just">
              <a:buNone/>
            </a:pPr>
            <a:r>
              <a:rPr lang="en-GB" sz="3000" dirty="0" smtClean="0">
                <a:latin typeface="Arial Narrow" panose="020B0606020202030204" pitchFamily="34" charset="0"/>
              </a:rPr>
              <a:t>Temperature Measurements</a:t>
            </a:r>
            <a:r>
              <a:rPr lang="en-GB" sz="3000" b="1" dirty="0" smtClean="0">
                <a:latin typeface="Arial Narrow" panose="020B0606020202030204" pitchFamily="34" charset="0"/>
              </a:rPr>
              <a:t>(</a:t>
            </a:r>
            <a:r>
              <a:rPr lang="en-GB" sz="3000" dirty="0" smtClean="0">
                <a:latin typeface="Arial Narrow" panose="020B0606020202030204" pitchFamily="34" charset="0"/>
              </a:rPr>
              <a:t>Definition </a:t>
            </a:r>
            <a:r>
              <a:rPr lang="en-GB" sz="3000" dirty="0">
                <a:latin typeface="Arial Narrow" panose="020B0606020202030204" pitchFamily="34" charset="0"/>
              </a:rPr>
              <a:t>and methods of </a:t>
            </a:r>
            <a:r>
              <a:rPr lang="en-GB" sz="3000" dirty="0" smtClean="0">
                <a:latin typeface="Arial Narrow" panose="020B0606020202030204" pitchFamily="34" charset="0"/>
              </a:rPr>
              <a:t>measurements);Resistance </a:t>
            </a:r>
            <a:r>
              <a:rPr lang="en-GB" sz="3000" dirty="0">
                <a:latin typeface="Arial Narrow" panose="020B0606020202030204" pitchFamily="34" charset="0"/>
              </a:rPr>
              <a:t>thermometer, </a:t>
            </a:r>
            <a:r>
              <a:rPr lang="en-GB" sz="3000" dirty="0" smtClean="0">
                <a:latin typeface="Arial Narrow" panose="020B0606020202030204" pitchFamily="34" charset="0"/>
              </a:rPr>
              <a:t>Bi-metallic thermometer(function </a:t>
            </a:r>
            <a:r>
              <a:rPr lang="en-GB" sz="3000" dirty="0">
                <a:latin typeface="Arial Narrow" panose="020B0606020202030204" pitchFamily="34" charset="0"/>
              </a:rPr>
              <a:t>and </a:t>
            </a:r>
            <a:r>
              <a:rPr lang="en-GB" sz="3000" dirty="0" smtClean="0">
                <a:latin typeface="Arial Narrow" panose="020B0606020202030204" pitchFamily="34" charset="0"/>
              </a:rPr>
              <a:t>application), </a:t>
            </a:r>
            <a:r>
              <a:rPr lang="en-GB" sz="3000" dirty="0">
                <a:latin typeface="Arial Narrow" panose="020B0606020202030204" pitchFamily="34" charset="0"/>
              </a:rPr>
              <a:t>Force and Pressure </a:t>
            </a:r>
            <a:r>
              <a:rPr lang="en-GB" sz="3000" dirty="0" smtClean="0">
                <a:latin typeface="Arial Narrow" panose="020B0606020202030204" pitchFamily="34" charset="0"/>
              </a:rPr>
              <a:t>Measurements, </a:t>
            </a:r>
            <a:r>
              <a:rPr lang="en-GB" sz="3000" dirty="0">
                <a:latin typeface="Arial Narrow" panose="020B0606020202030204" pitchFamily="34" charset="0"/>
              </a:rPr>
              <a:t>Measurement of </a:t>
            </a:r>
            <a:r>
              <a:rPr lang="en-GB" sz="3000" dirty="0" smtClean="0">
                <a:latin typeface="Arial Narrow" panose="020B0606020202030204" pitchFamily="34" charset="0"/>
              </a:rPr>
              <a:t>Speed, </a:t>
            </a:r>
            <a:r>
              <a:rPr lang="en-GB" sz="3000" dirty="0">
                <a:latin typeface="Arial Narrow" panose="020B0606020202030204" pitchFamily="34" charset="0"/>
              </a:rPr>
              <a:t>Liquid Level and Quantity Measurements</a:t>
            </a:r>
            <a:r>
              <a:rPr lang="en-GB" sz="3000" b="1" dirty="0">
                <a:latin typeface="Arial Narrow" panose="020B0606020202030204" pitchFamily="34" charset="0"/>
              </a:rPr>
              <a:t> </a:t>
            </a:r>
            <a:r>
              <a:rPr lang="en-GB" sz="3000" b="1" dirty="0">
                <a:latin typeface="Arial Narrow" panose="020B0606020202030204" pitchFamily="34" charset="0"/>
              </a:rPr>
              <a:t>(</a:t>
            </a:r>
            <a:r>
              <a:rPr lang="en-GB" sz="3000" dirty="0" smtClean="0">
                <a:latin typeface="Arial Narrow" panose="020B0606020202030204" pitchFamily="34" charset="0"/>
              </a:rPr>
              <a:t>floating </a:t>
            </a:r>
            <a:r>
              <a:rPr lang="en-GB" sz="3000" dirty="0">
                <a:latin typeface="Arial Narrow" panose="020B0606020202030204" pitchFamily="34" charset="0"/>
              </a:rPr>
              <a:t>ball, U-tube, load cells, flow meter</a:t>
            </a:r>
            <a:r>
              <a:rPr lang="en-GB" sz="3000" dirty="0" smtClean="0">
                <a:latin typeface="Arial Narrow" panose="020B0606020202030204" pitchFamily="34" charset="0"/>
              </a:rPr>
              <a:t>)</a:t>
            </a:r>
            <a:endParaRPr lang="en-US" sz="3000" dirty="0">
              <a:latin typeface="Arial Narrow" panose="020B0606020202030204" pitchFamily="34" charset="0"/>
            </a:endParaRPr>
          </a:p>
          <a:p>
            <a:pPr marL="0" indent="0">
              <a:buNone/>
            </a:pPr>
            <a:endParaRPr lang="en-US" dirty="0"/>
          </a:p>
        </p:txBody>
      </p:sp>
    </p:spTree>
    <p:extLst>
      <p:ext uri="{BB962C8B-B14F-4D97-AF65-F5344CB8AC3E}">
        <p14:creationId xmlns:p14="http://schemas.microsoft.com/office/powerpoint/2010/main" val="3716893448"/>
      </p:ext>
    </p:extLst>
  </p:cSld>
  <p:clrMapOvr>
    <a:masterClrMapping/>
  </p:clrMapOvr>
  <p:transition>
    <p:wheel spokes="8"/>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COURSE </a:t>
            </a:r>
            <a:r>
              <a:rPr lang="en-US" b="1" dirty="0" smtClean="0">
                <a:latin typeface="Arial Narrow" panose="020B0606020202030204" pitchFamily="34" charset="0"/>
              </a:rPr>
              <a:t>CONTENTS….</a:t>
            </a:r>
            <a:endParaRPr lang="en-US" dirty="0"/>
          </a:p>
        </p:txBody>
      </p:sp>
      <p:sp>
        <p:nvSpPr>
          <p:cNvPr id="3" name="Content Placeholder 2"/>
          <p:cNvSpPr>
            <a:spLocks noGrp="1"/>
          </p:cNvSpPr>
          <p:nvPr>
            <p:ph idx="1"/>
          </p:nvPr>
        </p:nvSpPr>
        <p:spPr/>
        <p:txBody>
          <a:bodyPr>
            <a:normAutofit lnSpcReduction="10000"/>
          </a:bodyPr>
          <a:lstStyle/>
          <a:p>
            <a:pPr algn="just"/>
            <a:r>
              <a:rPr lang="en-GB" sz="3000" b="1" dirty="0">
                <a:latin typeface="Arial Narrow" panose="020B0606020202030204" pitchFamily="34" charset="0"/>
              </a:rPr>
              <a:t>Fundamentals of Control Systems</a:t>
            </a:r>
            <a:r>
              <a:rPr lang="en-GB" sz="3000" dirty="0">
                <a:latin typeface="Arial Narrow" panose="020B0606020202030204" pitchFamily="34" charset="0"/>
              </a:rPr>
              <a:t>:  Open and closed loops; Application; Signal flow, Schematic and Block diagrams, Discontinuous controllers (Two step controller, three step controller); Continuous controllers (P-controllers, I-controllers and PI-controllers).</a:t>
            </a:r>
            <a:endParaRPr lang="en-US" sz="3000" dirty="0">
              <a:latin typeface="Arial Narrow" panose="020B0606020202030204" pitchFamily="34" charset="0"/>
            </a:endParaRPr>
          </a:p>
          <a:p>
            <a:pPr algn="just"/>
            <a:r>
              <a:rPr lang="en-GB" sz="3000" b="1" dirty="0">
                <a:latin typeface="Arial Narrow" panose="020B0606020202030204" pitchFamily="34" charset="0"/>
              </a:rPr>
              <a:t>Electrical and Electronic Components</a:t>
            </a:r>
            <a:r>
              <a:rPr lang="en-GB" sz="3000" dirty="0">
                <a:latin typeface="Arial Narrow" panose="020B0606020202030204" pitchFamily="34" charset="0"/>
              </a:rPr>
              <a:t>: Identify and explain electrical components with contacts (relay, switches, regulators, </a:t>
            </a:r>
            <a:r>
              <a:rPr lang="en-GB" sz="3000" dirty="0" err="1">
                <a:latin typeface="Arial Narrow" panose="020B0606020202030204" pitchFamily="34" charset="0"/>
              </a:rPr>
              <a:t>etc</a:t>
            </a:r>
            <a:r>
              <a:rPr lang="en-GB" sz="3000" dirty="0">
                <a:latin typeface="Arial Narrow" panose="020B0606020202030204" pitchFamily="34" charset="0"/>
              </a:rPr>
              <a:t>); Identify and explain electronic contactless components (diodes, transistors, </a:t>
            </a:r>
            <a:r>
              <a:rPr lang="en-GB" sz="3000" dirty="0" err="1">
                <a:latin typeface="Arial Narrow" panose="020B0606020202030204" pitchFamily="34" charset="0"/>
              </a:rPr>
              <a:t>etc</a:t>
            </a:r>
            <a:r>
              <a:rPr lang="en-GB" sz="3000" dirty="0">
                <a:latin typeface="Arial Narrow" panose="020B0606020202030204" pitchFamily="34" charset="0"/>
              </a:rPr>
              <a:t>).</a:t>
            </a:r>
            <a:endParaRPr lang="en-US" sz="3000" dirty="0">
              <a:latin typeface="Arial Narrow" panose="020B0606020202030204" pitchFamily="34" charset="0"/>
            </a:endParaRPr>
          </a:p>
          <a:p>
            <a:pPr marL="0" indent="0">
              <a:buNone/>
            </a:pPr>
            <a:endParaRPr lang="en-US" dirty="0"/>
          </a:p>
        </p:txBody>
      </p:sp>
    </p:spTree>
    <p:extLst>
      <p:ext uri="{BB962C8B-B14F-4D97-AF65-F5344CB8AC3E}">
        <p14:creationId xmlns:p14="http://schemas.microsoft.com/office/powerpoint/2010/main" val="3022775209"/>
      </p:ext>
    </p:extLst>
  </p:cSld>
  <p:clrMapOvr>
    <a:masterClrMapping/>
  </p:clrMapOvr>
  <p:transition>
    <p:wheel spokes="8"/>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COURSE </a:t>
            </a:r>
            <a:r>
              <a:rPr lang="en-US" b="1" dirty="0" smtClean="0">
                <a:latin typeface="Arial Narrow" panose="020B0606020202030204" pitchFamily="34" charset="0"/>
              </a:rPr>
              <a:t>CONTENTS….</a:t>
            </a:r>
            <a:endParaRPr lang="en-US" dirty="0"/>
          </a:p>
        </p:txBody>
      </p:sp>
      <p:sp>
        <p:nvSpPr>
          <p:cNvPr id="3" name="Content Placeholder 2"/>
          <p:cNvSpPr>
            <a:spLocks noGrp="1"/>
          </p:cNvSpPr>
          <p:nvPr>
            <p:ph idx="1"/>
          </p:nvPr>
        </p:nvSpPr>
        <p:spPr/>
        <p:txBody>
          <a:bodyPr>
            <a:normAutofit lnSpcReduction="10000"/>
          </a:bodyPr>
          <a:lstStyle/>
          <a:p>
            <a:pPr algn="just"/>
            <a:r>
              <a:rPr lang="en-GB" sz="3000" b="1" dirty="0" smtClean="0">
                <a:latin typeface="Arial Narrow" panose="020B0606020202030204" pitchFamily="34" charset="0"/>
              </a:rPr>
              <a:t>Pneumatics:</a:t>
            </a:r>
            <a:r>
              <a:rPr lang="en-GB" sz="3000" dirty="0">
                <a:latin typeface="Arial Narrow" panose="020B0606020202030204" pitchFamily="34" charset="0"/>
              </a:rPr>
              <a:t> </a:t>
            </a:r>
            <a:r>
              <a:rPr lang="en-GB" sz="3000" dirty="0" smtClean="0">
                <a:latin typeface="Arial Narrow" panose="020B0606020202030204" pitchFamily="34" charset="0"/>
              </a:rPr>
              <a:t>Physical </a:t>
            </a:r>
            <a:r>
              <a:rPr lang="en-GB" sz="3000" dirty="0">
                <a:latin typeface="Arial Narrow" panose="020B0606020202030204" pitchFamily="34" charset="0"/>
              </a:rPr>
              <a:t>fundamentals (physical quantities, properties), Pneumatic components and symbols.</a:t>
            </a:r>
            <a:endParaRPr lang="en-US" sz="3000" dirty="0">
              <a:latin typeface="Arial Narrow" panose="020B0606020202030204" pitchFamily="34" charset="0"/>
            </a:endParaRPr>
          </a:p>
          <a:p>
            <a:pPr algn="just"/>
            <a:r>
              <a:rPr lang="en-GB" sz="3000" b="1" dirty="0">
                <a:latin typeface="Arial Narrow" panose="020B0606020202030204" pitchFamily="34" charset="0"/>
              </a:rPr>
              <a:t>Hydraulics</a:t>
            </a:r>
            <a:r>
              <a:rPr lang="en-GB" sz="3000" dirty="0">
                <a:latin typeface="Arial Narrow" panose="020B0606020202030204" pitchFamily="34" charset="0"/>
              </a:rPr>
              <a:t>: Physical fundamentals (properties, physical quantities and units of hydraulics); hydraulic components and symbols; </a:t>
            </a:r>
            <a:endParaRPr lang="en-US" sz="3000" dirty="0">
              <a:latin typeface="Arial Narrow" panose="020B0606020202030204" pitchFamily="34" charset="0"/>
            </a:endParaRPr>
          </a:p>
          <a:p>
            <a:pPr algn="just"/>
            <a:r>
              <a:rPr lang="en-GB" sz="3000" b="1" dirty="0">
                <a:latin typeface="Arial Narrow" panose="020B0606020202030204" pitchFamily="34" charset="0"/>
              </a:rPr>
              <a:t>Logic Junctions Elements:</a:t>
            </a:r>
            <a:r>
              <a:rPr lang="en-GB" sz="3000" dirty="0">
                <a:latin typeface="Arial Narrow" panose="020B0606020202030204" pitchFamily="34" charset="0"/>
              </a:rPr>
              <a:t> Logic operations (junction elements, truth tables); Fundamentals of switching algebra (logic circuits, Boolean algebra, Boolean equations); Stores (pulse stores, time elements, </a:t>
            </a:r>
            <a:r>
              <a:rPr lang="en-GB" sz="3000" dirty="0" err="1">
                <a:latin typeface="Arial Narrow" panose="020B0606020202030204" pitchFamily="34" charset="0"/>
              </a:rPr>
              <a:t>etc</a:t>
            </a:r>
            <a:r>
              <a:rPr lang="en-GB" sz="3000" dirty="0">
                <a:latin typeface="Arial Narrow" panose="020B0606020202030204" pitchFamily="34" charset="0"/>
              </a:rPr>
              <a:t>).</a:t>
            </a:r>
            <a:endParaRPr lang="en-US" sz="3000" dirty="0">
              <a:latin typeface="Arial Narrow" panose="020B0606020202030204" pitchFamily="34" charset="0"/>
            </a:endParaRPr>
          </a:p>
          <a:p>
            <a:pPr marL="0" indent="0">
              <a:buNone/>
            </a:pPr>
            <a:endParaRPr lang="en-US" dirty="0"/>
          </a:p>
        </p:txBody>
      </p:sp>
    </p:spTree>
    <p:extLst>
      <p:ext uri="{BB962C8B-B14F-4D97-AF65-F5344CB8AC3E}">
        <p14:creationId xmlns:p14="http://schemas.microsoft.com/office/powerpoint/2010/main" val="2499355965"/>
      </p:ext>
    </p:extLst>
  </p:cSld>
  <p:clrMapOvr>
    <a:masterClrMapping/>
  </p:clrMapOvr>
  <p:transition>
    <p:wheel spokes="8"/>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Learning objectives</a:t>
            </a: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At the end of this lecture participants should be able to;</a:t>
            </a:r>
          </a:p>
          <a:p>
            <a:r>
              <a:rPr lang="en-US" dirty="0" smtClean="0"/>
              <a:t>Define the term measurement</a:t>
            </a:r>
          </a:p>
          <a:p>
            <a:r>
              <a:rPr lang="en-US" dirty="0" smtClean="0"/>
              <a:t>Describe  the basic SI units of measurement</a:t>
            </a:r>
          </a:p>
          <a:p>
            <a:r>
              <a:rPr lang="en-US" dirty="0" smtClean="0"/>
              <a:t>Explain methods of measurement </a:t>
            </a:r>
          </a:p>
          <a:p>
            <a:r>
              <a:rPr lang="en-US" dirty="0" smtClean="0"/>
              <a:t>Describe the elements of measurement</a:t>
            </a:r>
          </a:p>
          <a:p>
            <a:r>
              <a:rPr lang="en-US" dirty="0" smtClean="0"/>
              <a:t>Explain the application of measurement systems</a:t>
            </a:r>
          </a:p>
          <a:p>
            <a:r>
              <a:rPr lang="en-US" dirty="0" smtClean="0"/>
              <a:t>Describe  factors affecting measurement</a:t>
            </a:r>
          </a:p>
          <a:p>
            <a:pPr>
              <a:buNone/>
            </a:pPr>
            <a:endParaRPr lang="en-US" dirty="0" smtClean="0"/>
          </a:p>
          <a:p>
            <a:pPr>
              <a:buNone/>
            </a:pPr>
            <a:endParaRPr lang="en-US" dirty="0"/>
          </a:p>
        </p:txBody>
      </p:sp>
    </p:spTree>
    <p:extLst>
      <p:ext uri="{BB962C8B-B14F-4D97-AF65-F5344CB8AC3E}">
        <p14:creationId xmlns:p14="http://schemas.microsoft.com/office/powerpoint/2010/main" val="3992273694"/>
      </p:ext>
    </p:extLst>
  </p:cSld>
  <p:clrMapOvr>
    <a:masterClrMapping/>
  </p:clrMapOvr>
  <p:transition>
    <p:wheel spokes="8"/>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5745162"/>
          </a:xfrm>
        </p:spPr>
        <p:txBody>
          <a:bodyPr>
            <a:normAutofit/>
          </a:bodyPr>
          <a:lstStyle/>
          <a:p>
            <a:r>
              <a:rPr lang="en-US" b="1" dirty="0">
                <a:latin typeface="Arial Narrow" panose="020B0606020202030204" pitchFamily="34" charset="0"/>
              </a:rPr>
              <a:t>INTROUCTION TO MEASUREMENT</a:t>
            </a:r>
            <a:br>
              <a:rPr lang="en-US" b="1" dirty="0">
                <a:latin typeface="Arial Narrow" panose="020B0606020202030204" pitchFamily="34" charset="0"/>
              </a:rPr>
            </a:br>
            <a:endParaRPr lang="en-US" dirty="0"/>
          </a:p>
        </p:txBody>
      </p:sp>
    </p:spTree>
    <p:extLst>
      <p:ext uri="{BB962C8B-B14F-4D97-AF65-F5344CB8AC3E}">
        <p14:creationId xmlns:p14="http://schemas.microsoft.com/office/powerpoint/2010/main" val="1041424700"/>
      </p:ext>
    </p:extLst>
  </p:cSld>
  <p:clrMapOvr>
    <a:masterClrMapping/>
  </p:clrMapOvr>
  <p:transition>
    <p:wheel spokes="8"/>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INTRODUCTION</a:t>
            </a:r>
            <a:endParaRPr lang="en-US" dirty="0"/>
          </a:p>
        </p:txBody>
      </p:sp>
      <p:sp>
        <p:nvSpPr>
          <p:cNvPr id="3" name="Content Placeholder 2"/>
          <p:cNvSpPr>
            <a:spLocks noGrp="1"/>
          </p:cNvSpPr>
          <p:nvPr>
            <p:ph idx="1"/>
          </p:nvPr>
        </p:nvSpPr>
        <p:spPr>
          <a:xfrm>
            <a:off x="228600" y="914400"/>
            <a:ext cx="8763000" cy="5791200"/>
          </a:xfrm>
        </p:spPr>
        <p:txBody>
          <a:bodyPr>
            <a:normAutofit/>
          </a:bodyPr>
          <a:lstStyle/>
          <a:p>
            <a:r>
              <a:rPr lang="en-US" dirty="0" smtClean="0"/>
              <a:t>Measurement techniques have been of immense important ever since the start of </a:t>
            </a:r>
            <a:r>
              <a:rPr lang="en-US" dirty="0" smtClean="0">
                <a:solidFill>
                  <a:srgbClr val="FF0000"/>
                </a:solidFill>
              </a:rPr>
              <a:t>human civilization</a:t>
            </a:r>
            <a:r>
              <a:rPr lang="en-US" dirty="0" smtClean="0"/>
              <a:t>, when measurement were first needed for </a:t>
            </a:r>
            <a:r>
              <a:rPr lang="en-US" dirty="0" smtClean="0">
                <a:solidFill>
                  <a:srgbClr val="FF0000"/>
                </a:solidFill>
              </a:rPr>
              <a:t>transfer of goods </a:t>
            </a:r>
            <a:r>
              <a:rPr lang="en-US" dirty="0" smtClean="0"/>
              <a:t>in batter trade in order to ensure for a fair exchange.</a:t>
            </a:r>
          </a:p>
          <a:p>
            <a:r>
              <a:rPr lang="en-US" dirty="0" smtClean="0"/>
              <a:t>The </a:t>
            </a:r>
            <a:r>
              <a:rPr lang="en-US" b="1" dirty="0" smtClean="0">
                <a:solidFill>
                  <a:srgbClr val="00B0F0"/>
                </a:solidFill>
              </a:rPr>
              <a:t>industrial revolution </a:t>
            </a:r>
            <a:r>
              <a:rPr lang="en-US" dirty="0" smtClean="0"/>
              <a:t>during 19</a:t>
            </a:r>
            <a:r>
              <a:rPr lang="en-US" baseline="30000" dirty="0" smtClean="0"/>
              <a:t>th</a:t>
            </a:r>
            <a:r>
              <a:rPr lang="en-US" dirty="0" smtClean="0"/>
              <a:t> century brought about a </a:t>
            </a:r>
            <a:r>
              <a:rPr lang="en-US" dirty="0" smtClean="0">
                <a:solidFill>
                  <a:srgbClr val="FF0000"/>
                </a:solidFill>
              </a:rPr>
              <a:t>rapid development </a:t>
            </a:r>
            <a:r>
              <a:rPr lang="en-US" dirty="0" smtClean="0"/>
              <a:t>of new instruments and measurement techniques to satisfy the needs for industrialized production techniques.</a:t>
            </a:r>
          </a:p>
          <a:p>
            <a:endParaRPr lang="en-US" dirty="0"/>
          </a:p>
        </p:txBody>
      </p:sp>
    </p:spTree>
    <p:extLst>
      <p:ext uri="{BB962C8B-B14F-4D97-AF65-F5344CB8AC3E}">
        <p14:creationId xmlns:p14="http://schemas.microsoft.com/office/powerpoint/2010/main" val="2750046367"/>
      </p:ext>
    </p:extLst>
  </p:cSld>
  <p:clrMapOvr>
    <a:masterClrMapping/>
  </p:clrMapOvr>
  <p:transition>
    <p:wheel spokes="8"/>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Since that time, there has been a large and rapid growth in new industrial technology. In turn, this has required a parallel growth in instrument and measurement techniques.</a:t>
            </a:r>
          </a:p>
          <a:p>
            <a:pPr marL="0" indent="0">
              <a:buNone/>
            </a:pPr>
            <a:endParaRPr lang="en-US" dirty="0" smtClean="0"/>
          </a:p>
          <a:p>
            <a:endParaRPr lang="en-US" dirty="0"/>
          </a:p>
        </p:txBody>
      </p:sp>
    </p:spTree>
    <p:extLst>
      <p:ext uri="{BB962C8B-B14F-4D97-AF65-F5344CB8AC3E}">
        <p14:creationId xmlns:p14="http://schemas.microsoft.com/office/powerpoint/2010/main" val="500775790"/>
      </p:ext>
    </p:extLst>
  </p:cSld>
  <p:clrMapOvr>
    <a:masterClrMapping/>
  </p:clrMapOvr>
  <p:transition>
    <p:wheel spokes="8"/>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28600"/>
            <a:ext cx="8153400" cy="838200"/>
          </a:xfrm>
          <a:solidFill>
            <a:schemeClr val="accent2"/>
          </a:solidFill>
        </p:spPr>
        <p:txBody>
          <a:bodyPr>
            <a:normAutofit/>
          </a:bodyPr>
          <a:lstStyle/>
          <a:p>
            <a:r>
              <a:rPr lang="en-US" dirty="0" smtClean="0"/>
              <a:t>THE CONCEPT OF MEASUREMENT</a:t>
            </a:r>
            <a:endParaRPr lang="en-US" dirty="0"/>
          </a:p>
        </p:txBody>
      </p:sp>
      <p:sp>
        <p:nvSpPr>
          <p:cNvPr id="3" name="Subtitle 2"/>
          <p:cNvSpPr>
            <a:spLocks noGrp="1"/>
          </p:cNvSpPr>
          <p:nvPr>
            <p:ph type="subTitle" idx="1"/>
          </p:nvPr>
        </p:nvSpPr>
        <p:spPr>
          <a:xfrm>
            <a:off x="304800" y="1295400"/>
            <a:ext cx="8534400" cy="5334000"/>
          </a:xfrm>
        </p:spPr>
        <p:txBody>
          <a:bodyPr>
            <a:normAutofit/>
          </a:bodyPr>
          <a:lstStyle/>
          <a:p>
            <a:pPr algn="l"/>
            <a:r>
              <a:rPr lang="en-US" dirty="0" smtClean="0"/>
              <a:t>Measurement can be defined in various ways. It may be referred to as a process of </a:t>
            </a:r>
            <a:r>
              <a:rPr lang="en-US" dirty="0" smtClean="0">
                <a:solidFill>
                  <a:srgbClr val="FF0000"/>
                </a:solidFill>
              </a:rPr>
              <a:t>gathering information</a:t>
            </a:r>
            <a:r>
              <a:rPr lang="en-US" dirty="0" smtClean="0"/>
              <a:t> from the physical world and </a:t>
            </a:r>
            <a:r>
              <a:rPr lang="en-US" dirty="0" smtClean="0">
                <a:solidFill>
                  <a:srgbClr val="0070C0"/>
                </a:solidFill>
              </a:rPr>
              <a:t>compare</a:t>
            </a:r>
            <a:r>
              <a:rPr lang="en-US" dirty="0" smtClean="0"/>
              <a:t> it with the </a:t>
            </a:r>
            <a:r>
              <a:rPr lang="en-US" dirty="0" smtClean="0">
                <a:solidFill>
                  <a:srgbClr val="FF0000"/>
                </a:solidFill>
              </a:rPr>
              <a:t>agreed standards</a:t>
            </a:r>
            <a:r>
              <a:rPr lang="en-US" dirty="0" smtClean="0"/>
              <a:t>. </a:t>
            </a:r>
          </a:p>
          <a:p>
            <a:pPr algn="l"/>
            <a:r>
              <a:rPr lang="en-US" dirty="0" smtClean="0"/>
              <a:t>In other words it is the process of </a:t>
            </a:r>
            <a:r>
              <a:rPr lang="en-US" b="1" u="sng" dirty="0" smtClean="0"/>
              <a:t>comparing</a:t>
            </a:r>
            <a:r>
              <a:rPr lang="en-US" dirty="0" smtClean="0"/>
              <a:t> physical quantities with the </a:t>
            </a:r>
            <a:r>
              <a:rPr lang="en-US" b="1" u="sng" dirty="0" smtClean="0"/>
              <a:t>known standards </a:t>
            </a:r>
            <a:r>
              <a:rPr lang="en-US" dirty="0" smtClean="0"/>
              <a:t>or a process of assigning digits to some parameters.</a:t>
            </a:r>
          </a:p>
          <a:p>
            <a:pPr algn="l"/>
            <a:endParaRPr lang="en-US" dirty="0"/>
          </a:p>
        </p:txBody>
      </p:sp>
    </p:spTree>
  </p:cSld>
  <p:clrMapOvr>
    <a:masterClrMapping/>
  </p:clrMapOvr>
  <p:transition>
    <p:wheel spokes="8"/>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381001"/>
            <a:ext cx="8458200" cy="1219200"/>
          </a:xfrm>
          <a:solidFill>
            <a:schemeClr val="accent2"/>
          </a:solidFill>
        </p:spPr>
        <p:txBody>
          <a:bodyPr>
            <a:normAutofit/>
          </a:bodyPr>
          <a:lstStyle/>
          <a:p>
            <a:r>
              <a:rPr lang="en-US" dirty="0" smtClean="0"/>
              <a:t>Concept….</a:t>
            </a:r>
            <a:endParaRPr lang="en-US" dirty="0"/>
          </a:p>
        </p:txBody>
      </p:sp>
      <p:sp>
        <p:nvSpPr>
          <p:cNvPr id="3" name="Subtitle 2"/>
          <p:cNvSpPr>
            <a:spLocks noGrp="1"/>
          </p:cNvSpPr>
          <p:nvPr>
            <p:ph type="subTitle" idx="1"/>
          </p:nvPr>
        </p:nvSpPr>
        <p:spPr>
          <a:xfrm>
            <a:off x="609600" y="1600200"/>
            <a:ext cx="8153400" cy="4724400"/>
          </a:xfrm>
        </p:spPr>
        <p:txBody>
          <a:bodyPr/>
          <a:lstStyle/>
          <a:p>
            <a:pPr algn="l"/>
            <a:r>
              <a:rPr lang="en-US" dirty="0" smtClean="0"/>
              <a:t>Measurement is carried out with instruments that are designed and manufactured </a:t>
            </a:r>
            <a:r>
              <a:rPr lang="en-US" dirty="0" smtClean="0">
                <a:solidFill>
                  <a:srgbClr val="0070C0"/>
                </a:solidFill>
              </a:rPr>
              <a:t>to fulfill the given specifications.</a:t>
            </a:r>
          </a:p>
          <a:p>
            <a:pPr algn="l"/>
            <a:r>
              <a:rPr lang="en-US" dirty="0" smtClean="0"/>
              <a:t> In the application of measurement, the information about a physical variable is collected, organized and interpreted. </a:t>
            </a:r>
          </a:p>
          <a:p>
            <a:pPr algn="l"/>
            <a:r>
              <a:rPr lang="en-US" dirty="0" smtClean="0"/>
              <a:t>The process of using instrument designed to comprehend a certain information during measurement is known </a:t>
            </a:r>
            <a:r>
              <a:rPr lang="en-US" dirty="0" smtClean="0">
                <a:solidFill>
                  <a:schemeClr val="tx1"/>
                </a:solidFill>
              </a:rPr>
              <a:t>as</a:t>
            </a:r>
            <a:r>
              <a:rPr lang="en-US" dirty="0" smtClean="0">
                <a:solidFill>
                  <a:srgbClr val="0070C0"/>
                </a:solidFill>
              </a:rPr>
              <a:t> </a:t>
            </a:r>
            <a:r>
              <a:rPr lang="en-US" i="1" dirty="0" smtClean="0">
                <a:solidFill>
                  <a:srgbClr val="0070C0"/>
                </a:solidFill>
              </a:rPr>
              <a:t>instrumentation</a:t>
            </a:r>
            <a:r>
              <a:rPr lang="en-US" i="1" dirty="0" smtClean="0"/>
              <a:t>.</a:t>
            </a:r>
            <a:endParaRPr lang="en-US" i="1" dirty="0"/>
          </a:p>
        </p:txBody>
      </p:sp>
    </p:spTree>
    <p:extLst>
      <p:ext uri="{BB962C8B-B14F-4D97-AF65-F5344CB8AC3E}">
        <p14:creationId xmlns:p14="http://schemas.microsoft.com/office/powerpoint/2010/main" val="164045160"/>
      </p:ext>
    </p:extLst>
  </p:cSld>
  <p:clrMapOvr>
    <a:masterClrMapping/>
  </p:clrMapOvr>
  <p:transition>
    <p:wheel spokes="8"/>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a:t>
            </a:r>
            <a:endParaRPr lang="en-US" dirty="0"/>
          </a:p>
        </p:txBody>
      </p:sp>
      <p:sp>
        <p:nvSpPr>
          <p:cNvPr id="3" name="Content Placeholder 2"/>
          <p:cNvSpPr>
            <a:spLocks noGrp="1"/>
          </p:cNvSpPr>
          <p:nvPr>
            <p:ph idx="1"/>
          </p:nvPr>
        </p:nvSpPr>
        <p:spPr/>
        <p:txBody>
          <a:bodyPr>
            <a:normAutofit/>
          </a:bodyPr>
          <a:lstStyle/>
          <a:p>
            <a:pPr>
              <a:buNone/>
            </a:pPr>
            <a:r>
              <a:rPr lang="en-US" dirty="0" smtClean="0"/>
              <a:t>	A measurement instrument is a </a:t>
            </a:r>
            <a:r>
              <a:rPr lang="en-US" i="1" dirty="0" smtClean="0">
                <a:solidFill>
                  <a:srgbClr val="0070C0"/>
                </a:solidFill>
              </a:rPr>
              <a:t>device </a:t>
            </a:r>
            <a:r>
              <a:rPr lang="en-US" dirty="0" smtClean="0"/>
              <a:t>capable of detecting </a:t>
            </a:r>
            <a:r>
              <a:rPr lang="en-US" dirty="0" smtClean="0">
                <a:solidFill>
                  <a:srgbClr val="FF0000"/>
                </a:solidFill>
              </a:rPr>
              <a:t>changes, display physical</a:t>
            </a:r>
            <a:r>
              <a:rPr lang="en-US" dirty="0" smtClean="0"/>
              <a:t> or otherwise, in a particular process. </a:t>
            </a:r>
          </a:p>
          <a:p>
            <a:pPr>
              <a:buNone/>
            </a:pPr>
            <a:r>
              <a:rPr lang="en-US" dirty="0" smtClean="0"/>
              <a:t>	It then converts these physical changes into some form of information understandable by the user</a:t>
            </a:r>
          </a:p>
          <a:p>
            <a:pPr>
              <a:buNone/>
            </a:pPr>
            <a:r>
              <a:rPr lang="en-US" dirty="0" smtClean="0"/>
              <a:t>	</a:t>
            </a:r>
            <a:endParaRPr lang="en-US" dirty="0"/>
          </a:p>
        </p:txBody>
      </p:sp>
    </p:spTree>
    <p:extLst>
      <p:ext uri="{BB962C8B-B14F-4D97-AF65-F5344CB8AC3E}">
        <p14:creationId xmlns:p14="http://schemas.microsoft.com/office/powerpoint/2010/main" val="2169486856"/>
      </p:ext>
    </p:extLst>
  </p:cSld>
  <p:clrMapOvr>
    <a:masterClrMapping/>
  </p:clrMapOvr>
  <p:transition>
    <p:wheel spokes="8"/>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a:t>
            </a:r>
            <a:endParaRPr lang="en-US" dirty="0"/>
          </a:p>
        </p:txBody>
      </p:sp>
      <p:sp>
        <p:nvSpPr>
          <p:cNvPr id="3" name="Content Placeholder 2"/>
          <p:cNvSpPr>
            <a:spLocks noGrp="1"/>
          </p:cNvSpPr>
          <p:nvPr>
            <p:ph idx="1"/>
          </p:nvPr>
        </p:nvSpPr>
        <p:spPr/>
        <p:txBody>
          <a:bodyPr/>
          <a:lstStyle/>
          <a:p>
            <a:endParaRPr lang="en-US" dirty="0" smtClean="0"/>
          </a:p>
          <a:p>
            <a:endParaRPr lang="en-US" dirty="0"/>
          </a:p>
        </p:txBody>
      </p:sp>
      <p:sp>
        <p:nvSpPr>
          <p:cNvPr id="4" name="Rectangle 3"/>
          <p:cNvSpPr/>
          <p:nvPr/>
        </p:nvSpPr>
        <p:spPr>
          <a:xfrm>
            <a:off x="990600" y="1676400"/>
            <a:ext cx="7772400" cy="4524315"/>
          </a:xfrm>
          <a:prstGeom prst="rect">
            <a:avLst/>
          </a:prstGeom>
        </p:spPr>
        <p:txBody>
          <a:bodyPr wrap="square">
            <a:spAutoFit/>
          </a:bodyPr>
          <a:lstStyle/>
          <a:p>
            <a:pPr>
              <a:buNone/>
            </a:pPr>
            <a:r>
              <a:rPr lang="en-US" sz="3200" dirty="0" smtClean="0"/>
              <a:t>Human senses can be very keen but are lacking in some circumstances.</a:t>
            </a:r>
          </a:p>
          <a:p>
            <a:pPr>
              <a:buNone/>
            </a:pPr>
            <a:r>
              <a:rPr lang="en-US" sz="3200" dirty="0" smtClean="0"/>
              <a:t>Our ability to sense for instance hot or cold is only relative and can be limited over a certain temperature ranges. </a:t>
            </a:r>
          </a:p>
          <a:p>
            <a:pPr>
              <a:buNone/>
            </a:pPr>
            <a:r>
              <a:rPr lang="en-US" sz="3200" dirty="0" smtClean="0"/>
              <a:t>However measurement of very high electric voltage with human senses can be hazardous; thus the use of instruments in measurements become vital. </a:t>
            </a:r>
            <a:endParaRPr lang="en-US" sz="3200" dirty="0"/>
          </a:p>
        </p:txBody>
      </p:sp>
    </p:spTree>
    <p:extLst>
      <p:ext uri="{BB962C8B-B14F-4D97-AF65-F5344CB8AC3E}">
        <p14:creationId xmlns:p14="http://schemas.microsoft.com/office/powerpoint/2010/main" val="256378181"/>
      </p:ext>
    </p:extLst>
  </p:cSld>
  <p:clrMapOvr>
    <a:masterClrMapping/>
  </p:clrMapOvr>
  <p:transition>
    <p:wheel spokes="8"/>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measurement?</a:t>
            </a:r>
            <a:endParaRPr lang="en-US" dirty="0"/>
          </a:p>
        </p:txBody>
      </p:sp>
      <p:sp>
        <p:nvSpPr>
          <p:cNvPr id="3" name="Content Placeholder 2"/>
          <p:cNvSpPr>
            <a:spLocks noGrp="1"/>
          </p:cNvSpPr>
          <p:nvPr>
            <p:ph idx="1"/>
          </p:nvPr>
        </p:nvSpPr>
        <p:spPr>
          <a:xfrm>
            <a:off x="304800" y="1600200"/>
            <a:ext cx="8610600" cy="4953000"/>
          </a:xfrm>
        </p:spPr>
        <p:txBody>
          <a:bodyPr>
            <a:normAutofit/>
          </a:bodyPr>
          <a:lstStyle/>
          <a:p>
            <a:r>
              <a:rPr lang="en-US" dirty="0"/>
              <a:t>People makes measurement for several reasons, some of which are;</a:t>
            </a:r>
          </a:p>
          <a:p>
            <a:pPr lvl="1">
              <a:buFont typeface="Wingdings" panose="05000000000000000000" pitchFamily="2" charset="2"/>
              <a:buChar char="ü"/>
            </a:pPr>
            <a:r>
              <a:rPr lang="en-US" dirty="0" smtClean="0"/>
              <a:t>To </a:t>
            </a:r>
            <a:r>
              <a:rPr lang="en-US" dirty="0"/>
              <a:t>ensure that an item will fit.eg. Bolt and nut</a:t>
            </a:r>
          </a:p>
          <a:p>
            <a:pPr lvl="1">
              <a:buFont typeface="Wingdings" panose="05000000000000000000" pitchFamily="2" charset="2"/>
              <a:buChar char="ü"/>
            </a:pPr>
            <a:r>
              <a:rPr lang="en-US" dirty="0" smtClean="0"/>
              <a:t>To </a:t>
            </a:r>
            <a:r>
              <a:rPr lang="en-US" dirty="0"/>
              <a:t>check that the manufactured item is within </a:t>
            </a:r>
          </a:p>
          <a:p>
            <a:pPr marL="457200" lvl="1" indent="0">
              <a:buNone/>
            </a:pPr>
            <a:r>
              <a:rPr lang="en-US" dirty="0"/>
              <a:t> </a:t>
            </a:r>
            <a:r>
              <a:rPr lang="en-US" dirty="0" smtClean="0"/>
              <a:t>   specification</a:t>
            </a:r>
            <a:endParaRPr lang="en-US" dirty="0"/>
          </a:p>
          <a:p>
            <a:pPr lvl="1">
              <a:buFont typeface="Wingdings" panose="05000000000000000000" pitchFamily="2" charset="2"/>
              <a:buChar char="ü"/>
            </a:pPr>
            <a:r>
              <a:rPr lang="en-US" dirty="0" smtClean="0"/>
              <a:t>To </a:t>
            </a:r>
            <a:r>
              <a:rPr lang="en-US" dirty="0"/>
              <a:t>determine the correct price to pay for </a:t>
            </a:r>
          </a:p>
          <a:p>
            <a:pPr marL="457200" lvl="1" indent="0">
              <a:buNone/>
            </a:pPr>
            <a:r>
              <a:rPr lang="en-US" dirty="0"/>
              <a:t> </a:t>
            </a:r>
            <a:r>
              <a:rPr lang="en-US" dirty="0" smtClean="0"/>
              <a:t>   something </a:t>
            </a:r>
            <a:r>
              <a:rPr lang="en-US" dirty="0"/>
              <a:t>etc.</a:t>
            </a:r>
          </a:p>
          <a:p>
            <a:pPr lvl="1">
              <a:buFont typeface="Wingdings" panose="05000000000000000000" pitchFamily="2" charset="2"/>
              <a:buChar char="ü"/>
            </a:pPr>
            <a:endParaRPr lang="en-US" dirty="0"/>
          </a:p>
        </p:txBody>
      </p:sp>
    </p:spTree>
    <p:extLst>
      <p:ext uri="{BB962C8B-B14F-4D97-AF65-F5344CB8AC3E}">
        <p14:creationId xmlns:p14="http://schemas.microsoft.com/office/powerpoint/2010/main" val="198144582"/>
      </p:ext>
    </p:extLst>
  </p:cSld>
  <p:clrMapOvr>
    <a:masterClrMapping/>
  </p:clrMapOvr>
  <p:transition>
    <p:wheel spokes="8"/>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Forms of measuring instrument</a:t>
            </a:r>
            <a:endParaRPr lang="en-US" dirty="0"/>
          </a:p>
        </p:txBody>
      </p:sp>
      <p:sp>
        <p:nvSpPr>
          <p:cNvPr id="3" name="Content Placeholder 2"/>
          <p:cNvSpPr>
            <a:spLocks noGrp="1"/>
          </p:cNvSpPr>
          <p:nvPr>
            <p:ph idx="1"/>
          </p:nvPr>
        </p:nvSpPr>
        <p:spPr/>
        <p:txBody>
          <a:bodyPr/>
          <a:lstStyle/>
          <a:p>
            <a:pPr>
              <a:buNone/>
            </a:pPr>
            <a:r>
              <a:rPr lang="en-US" dirty="0" smtClean="0"/>
              <a:t>(i) Indication</a:t>
            </a:r>
          </a:p>
          <a:p>
            <a:r>
              <a:rPr lang="en-US" dirty="0" smtClean="0"/>
              <a:t>This is the simplest form of measurement; it allows us to know the current state of the variable.</a:t>
            </a:r>
          </a:p>
          <a:p>
            <a:endParaRPr lang="en-US" dirty="0" smtClean="0"/>
          </a:p>
          <a:p>
            <a:endParaRPr lang="en-US" dirty="0"/>
          </a:p>
        </p:txBody>
      </p:sp>
      <p:pic>
        <p:nvPicPr>
          <p:cNvPr id="1026" name="Picture 2" descr="https://www.allaboutcircuits.com/uploads/articles/IC_THERMOMETER.jpg"/>
          <p:cNvPicPr>
            <a:picLocks noChangeAspect="1" noChangeArrowheads="1"/>
          </p:cNvPicPr>
          <p:nvPr/>
        </p:nvPicPr>
        <p:blipFill>
          <a:blip r:embed="rId2"/>
          <a:srcRect/>
          <a:stretch>
            <a:fillRect/>
          </a:stretch>
        </p:blipFill>
        <p:spPr bwMode="auto">
          <a:xfrm>
            <a:off x="2743200" y="3733800"/>
            <a:ext cx="3325813" cy="2487613"/>
          </a:xfrm>
          <a:prstGeom prst="rect">
            <a:avLst/>
          </a:prstGeom>
          <a:noFill/>
          <a:ln w="9525">
            <a:noFill/>
            <a:miter lim="800000"/>
            <a:headEnd/>
            <a:tailEnd/>
          </a:ln>
        </p:spPr>
      </p:pic>
    </p:spTree>
  </p:cSld>
  <p:clrMapOvr>
    <a:masterClrMapping/>
  </p:clrMapOvr>
  <p:transition>
    <p:wheel spokes="8"/>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a:solidFill>
            <a:schemeClr val="accent2"/>
          </a:solidFill>
        </p:spPr>
        <p:txBody>
          <a:bodyPr/>
          <a:lstStyle/>
          <a:p>
            <a:r>
              <a:rPr lang="en-US" dirty="0" smtClean="0"/>
              <a:t>Forms of measuring instrument</a:t>
            </a:r>
            <a:endParaRPr lang="en-US" dirty="0"/>
          </a:p>
        </p:txBody>
      </p:sp>
      <p:sp>
        <p:nvSpPr>
          <p:cNvPr id="3" name="Content Placeholder 2"/>
          <p:cNvSpPr>
            <a:spLocks noGrp="1"/>
          </p:cNvSpPr>
          <p:nvPr>
            <p:ph idx="1"/>
          </p:nvPr>
        </p:nvSpPr>
        <p:spPr>
          <a:xfrm>
            <a:off x="457200" y="1524000"/>
            <a:ext cx="8229600" cy="5029200"/>
          </a:xfrm>
        </p:spPr>
        <p:txBody>
          <a:bodyPr/>
          <a:lstStyle/>
          <a:p>
            <a:pPr>
              <a:buNone/>
            </a:pPr>
            <a:r>
              <a:rPr lang="en-US" dirty="0" smtClean="0"/>
              <a:t>	(ii) Recorder</a:t>
            </a:r>
          </a:p>
          <a:p>
            <a:r>
              <a:rPr lang="en-US" dirty="0" smtClean="0"/>
              <a:t>A device that can store data allows us to observe the current state of the variable and how it behaved in the past. A recorder provides us with the history of the variable.</a:t>
            </a:r>
          </a:p>
          <a:p>
            <a:pPr marL="0" indent="0">
              <a:buNone/>
            </a:pPr>
            <a:endParaRPr lang="en-US" dirty="0" smtClean="0"/>
          </a:p>
          <a:p>
            <a:pPr marL="0" indent="0">
              <a:buNone/>
            </a:pPr>
            <a:endParaRPr lang="en-US" dirty="0"/>
          </a:p>
        </p:txBody>
      </p:sp>
      <p:pic>
        <p:nvPicPr>
          <p:cNvPr id="2050" name="Picture 3" descr="https://www.allaboutcircuits.com/uploads/articles/IC_TREND2.jpg"/>
          <p:cNvPicPr>
            <a:picLocks noChangeAspect="1" noChangeArrowheads="1"/>
          </p:cNvPicPr>
          <p:nvPr/>
        </p:nvPicPr>
        <p:blipFill>
          <a:blip r:embed="rId2" cstate="print"/>
          <a:srcRect/>
          <a:stretch>
            <a:fillRect/>
          </a:stretch>
        </p:blipFill>
        <p:spPr bwMode="auto">
          <a:xfrm>
            <a:off x="2743200" y="4114800"/>
            <a:ext cx="3276600" cy="2438400"/>
          </a:xfrm>
          <a:prstGeom prst="rect">
            <a:avLst/>
          </a:prstGeom>
          <a:noFill/>
          <a:ln w="9525">
            <a:noFill/>
            <a:miter lim="800000"/>
            <a:headEnd/>
            <a:tailEnd/>
          </a:ln>
        </p:spPr>
      </p:pic>
    </p:spTree>
  </p:cSld>
  <p:clrMapOvr>
    <a:masterClrMapping/>
  </p:clrMapOvr>
  <p:transition>
    <p:wheel spokes="8"/>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09601"/>
            <a:ext cx="7772400" cy="1143000"/>
          </a:xfrm>
          <a:solidFill>
            <a:schemeClr val="accent2"/>
          </a:solidFill>
        </p:spPr>
        <p:txBody>
          <a:bodyPr>
            <a:noAutofit/>
          </a:bodyPr>
          <a:lstStyle/>
          <a:p>
            <a:r>
              <a:rPr lang="en-US" sz="3200" dirty="0" smtClean="0"/>
              <a:t>THE INTERNATIONAL SYSTEM OF SI-UNITS</a:t>
            </a:r>
            <a:endParaRPr lang="en-US" sz="3200" dirty="0"/>
          </a:p>
        </p:txBody>
      </p:sp>
      <p:sp>
        <p:nvSpPr>
          <p:cNvPr id="3" name="Subtitle 2"/>
          <p:cNvSpPr>
            <a:spLocks noGrp="1"/>
          </p:cNvSpPr>
          <p:nvPr>
            <p:ph type="subTitle" idx="1"/>
          </p:nvPr>
        </p:nvSpPr>
        <p:spPr>
          <a:xfrm>
            <a:off x="1066800" y="1752600"/>
            <a:ext cx="7162800" cy="4876800"/>
          </a:xfrm>
        </p:spPr>
        <p:txBody>
          <a:bodyPr>
            <a:normAutofit/>
          </a:bodyPr>
          <a:lstStyle/>
          <a:p>
            <a:pPr algn="l"/>
            <a:r>
              <a:rPr lang="en-US" dirty="0" smtClean="0"/>
              <a:t>The International system of units has the abbreviation SI and it is considered to be a centre of all modern science and technology worldwide which ensure that measurement can be put in </a:t>
            </a:r>
            <a:r>
              <a:rPr lang="en-US" dirty="0" smtClean="0">
                <a:solidFill>
                  <a:srgbClr val="FF0000"/>
                </a:solidFill>
              </a:rPr>
              <a:t>standards</a:t>
            </a:r>
            <a:r>
              <a:rPr lang="en-US" dirty="0" smtClean="0"/>
              <a:t>.</a:t>
            </a:r>
          </a:p>
          <a:p>
            <a:pPr algn="l"/>
            <a:r>
              <a:rPr lang="en-US" dirty="0" smtClean="0"/>
              <a:t>This keeps measurement made in various countries to be </a:t>
            </a:r>
            <a:r>
              <a:rPr lang="en-US" dirty="0" smtClean="0">
                <a:solidFill>
                  <a:srgbClr val="FF0000"/>
                </a:solidFill>
              </a:rPr>
              <a:t>compatible</a:t>
            </a:r>
            <a:r>
              <a:rPr lang="en-US" dirty="0" smtClean="0"/>
              <a:t> to one another.</a:t>
            </a:r>
            <a:endParaRPr lang="en-US" dirty="0"/>
          </a:p>
        </p:txBody>
      </p:sp>
    </p:spTree>
  </p:cSld>
  <p:clrMapOvr>
    <a:masterClrMapping/>
  </p:clrMapOvr>
  <p:transition>
    <p:wheel spokes="8"/>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85801"/>
            <a:ext cx="7772400" cy="685799"/>
          </a:xfrm>
          <a:solidFill>
            <a:schemeClr val="accent2"/>
          </a:solidFill>
        </p:spPr>
        <p:txBody>
          <a:bodyPr>
            <a:normAutofit fontScale="90000"/>
          </a:bodyPr>
          <a:lstStyle/>
          <a:p>
            <a:r>
              <a:rPr lang="en-US" dirty="0" smtClean="0"/>
              <a:t>FUNDAMENTAL BASIC SI UNITS</a:t>
            </a:r>
            <a:endParaRPr lang="en-US" dirty="0"/>
          </a:p>
        </p:txBody>
      </p:sp>
      <p:sp>
        <p:nvSpPr>
          <p:cNvPr id="3" name="Subtitle 2"/>
          <p:cNvSpPr>
            <a:spLocks noGrp="1"/>
          </p:cNvSpPr>
          <p:nvPr>
            <p:ph type="subTitle" idx="1"/>
          </p:nvPr>
        </p:nvSpPr>
        <p:spPr>
          <a:xfrm>
            <a:off x="762000" y="1371600"/>
            <a:ext cx="7772400" cy="5181600"/>
          </a:xfrm>
        </p:spPr>
        <p:txBody>
          <a:bodyPr/>
          <a:lstStyle/>
          <a:p>
            <a:pPr algn="l"/>
            <a:r>
              <a:rPr lang="en-US" dirty="0" smtClean="0"/>
              <a:t>There are seven basic SI units in which all physical quantities can be expressed; these are:</a:t>
            </a:r>
          </a:p>
          <a:p>
            <a:pPr algn="l"/>
            <a:endParaRPr lang="en-US" dirty="0" smtClean="0"/>
          </a:p>
          <a:p>
            <a:pPr algn="l"/>
            <a:endParaRPr lang="en-US" dirty="0" smtClean="0"/>
          </a:p>
          <a:p>
            <a:pPr algn="l"/>
            <a:endParaRPr lang="en-US" dirty="0"/>
          </a:p>
        </p:txBody>
      </p:sp>
      <p:graphicFrame>
        <p:nvGraphicFramePr>
          <p:cNvPr id="6" name="Table 5"/>
          <p:cNvGraphicFramePr>
            <a:graphicFrameLocks noGrp="1"/>
          </p:cNvGraphicFramePr>
          <p:nvPr/>
        </p:nvGraphicFramePr>
        <p:xfrm>
          <a:off x="1371600" y="2895603"/>
          <a:ext cx="6096000" cy="3657600"/>
        </p:xfrm>
        <a:graphic>
          <a:graphicData uri="http://schemas.openxmlformats.org/drawingml/2006/table">
            <a:tbl>
              <a:tblPr firstRow="1" bandRow="1">
                <a:tableStyleId>{93296810-A885-4BE3-A3E7-6D5BEEA58F35}</a:tableStyleId>
              </a:tblPr>
              <a:tblGrid>
                <a:gridCol w="28956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95246">
                <a:tc>
                  <a:txBody>
                    <a:bodyPr/>
                    <a:lstStyle/>
                    <a:p>
                      <a:r>
                        <a:rPr lang="en-US" sz="2400" dirty="0" smtClean="0"/>
                        <a:t>Quantity</a:t>
                      </a:r>
                      <a:endParaRPr lang="en-US" sz="2400" dirty="0"/>
                    </a:p>
                  </a:txBody>
                  <a:tcPr/>
                </a:tc>
                <a:tc>
                  <a:txBody>
                    <a:bodyPr/>
                    <a:lstStyle/>
                    <a:p>
                      <a:r>
                        <a:rPr lang="en-US" sz="2400" dirty="0" smtClean="0"/>
                        <a:t>SI Units</a:t>
                      </a:r>
                      <a:endParaRPr lang="en-US" sz="2400" dirty="0"/>
                    </a:p>
                  </a:txBody>
                  <a:tcPr/>
                </a:tc>
                <a:tc>
                  <a:txBody>
                    <a:bodyPr/>
                    <a:lstStyle/>
                    <a:p>
                      <a:r>
                        <a:rPr lang="en-US" sz="2400" dirty="0" smtClean="0"/>
                        <a:t>Symbol</a:t>
                      </a:r>
                      <a:endParaRPr lang="en-US" sz="2400" dirty="0"/>
                    </a:p>
                  </a:txBody>
                  <a:tcPr/>
                </a:tc>
                <a:extLst>
                  <a:ext uri="{0D108BD9-81ED-4DB2-BD59-A6C34878D82A}">
                    <a16:rowId xmlns:a16="http://schemas.microsoft.com/office/drawing/2014/main" val="10000"/>
                  </a:ext>
                </a:extLst>
              </a:tr>
              <a:tr h="400736">
                <a:tc>
                  <a:txBody>
                    <a:bodyPr/>
                    <a:lstStyle/>
                    <a:p>
                      <a:r>
                        <a:rPr lang="en-US" sz="2400" dirty="0" smtClean="0"/>
                        <a:t>Length</a:t>
                      </a:r>
                      <a:endParaRPr lang="en-US" sz="2400" dirty="0"/>
                    </a:p>
                  </a:txBody>
                  <a:tcPr/>
                </a:tc>
                <a:tc>
                  <a:txBody>
                    <a:bodyPr/>
                    <a:lstStyle/>
                    <a:p>
                      <a:r>
                        <a:rPr lang="en-US" sz="2400" dirty="0" smtClean="0"/>
                        <a:t>meter</a:t>
                      </a:r>
                      <a:endParaRPr lang="en-US" sz="2400" dirty="0"/>
                    </a:p>
                  </a:txBody>
                  <a:tcPr/>
                </a:tc>
                <a:tc>
                  <a:txBody>
                    <a:bodyPr/>
                    <a:lstStyle/>
                    <a:p>
                      <a:r>
                        <a:rPr lang="en-US" sz="2400" dirty="0" smtClean="0"/>
                        <a:t>m</a:t>
                      </a:r>
                      <a:endParaRPr lang="en-US" sz="2400" dirty="0"/>
                    </a:p>
                  </a:txBody>
                  <a:tcPr/>
                </a:tc>
                <a:extLst>
                  <a:ext uri="{0D108BD9-81ED-4DB2-BD59-A6C34878D82A}">
                    <a16:rowId xmlns:a16="http://schemas.microsoft.com/office/drawing/2014/main" val="10001"/>
                  </a:ext>
                </a:extLst>
              </a:tr>
              <a:tr h="400736">
                <a:tc>
                  <a:txBody>
                    <a:bodyPr/>
                    <a:lstStyle/>
                    <a:p>
                      <a:r>
                        <a:rPr lang="en-US" sz="2400" dirty="0" smtClean="0"/>
                        <a:t>Mass</a:t>
                      </a:r>
                      <a:endParaRPr lang="en-US" sz="2400" dirty="0"/>
                    </a:p>
                  </a:txBody>
                  <a:tcPr/>
                </a:tc>
                <a:tc>
                  <a:txBody>
                    <a:bodyPr/>
                    <a:lstStyle/>
                    <a:p>
                      <a:r>
                        <a:rPr lang="en-US" sz="2400" dirty="0" smtClean="0"/>
                        <a:t>kilogram</a:t>
                      </a:r>
                      <a:endParaRPr lang="en-US" sz="2400" dirty="0"/>
                    </a:p>
                  </a:txBody>
                  <a:tcPr/>
                </a:tc>
                <a:tc>
                  <a:txBody>
                    <a:bodyPr/>
                    <a:lstStyle/>
                    <a:p>
                      <a:r>
                        <a:rPr lang="en-US" sz="2400" dirty="0" smtClean="0"/>
                        <a:t>kg</a:t>
                      </a:r>
                      <a:endParaRPr lang="en-US" sz="2400" dirty="0"/>
                    </a:p>
                  </a:txBody>
                  <a:tcPr/>
                </a:tc>
                <a:extLst>
                  <a:ext uri="{0D108BD9-81ED-4DB2-BD59-A6C34878D82A}">
                    <a16:rowId xmlns:a16="http://schemas.microsoft.com/office/drawing/2014/main" val="10002"/>
                  </a:ext>
                </a:extLst>
              </a:tr>
              <a:tr h="400736">
                <a:tc>
                  <a:txBody>
                    <a:bodyPr/>
                    <a:lstStyle/>
                    <a:p>
                      <a:r>
                        <a:rPr lang="en-US" sz="2400" dirty="0" smtClean="0"/>
                        <a:t>Time</a:t>
                      </a:r>
                      <a:endParaRPr lang="en-US" sz="2400" dirty="0"/>
                    </a:p>
                  </a:txBody>
                  <a:tcPr/>
                </a:tc>
                <a:tc>
                  <a:txBody>
                    <a:bodyPr/>
                    <a:lstStyle/>
                    <a:p>
                      <a:r>
                        <a:rPr lang="en-US" sz="2400" dirty="0" smtClean="0"/>
                        <a:t>second</a:t>
                      </a:r>
                      <a:endParaRPr lang="en-US" sz="2400" dirty="0"/>
                    </a:p>
                  </a:txBody>
                  <a:tcPr/>
                </a:tc>
                <a:tc>
                  <a:txBody>
                    <a:bodyPr/>
                    <a:lstStyle/>
                    <a:p>
                      <a:r>
                        <a:rPr lang="en-US" sz="2400" dirty="0" smtClean="0"/>
                        <a:t>S</a:t>
                      </a:r>
                      <a:endParaRPr lang="en-US" sz="2400" dirty="0"/>
                    </a:p>
                  </a:txBody>
                  <a:tcPr/>
                </a:tc>
                <a:extLst>
                  <a:ext uri="{0D108BD9-81ED-4DB2-BD59-A6C34878D82A}">
                    <a16:rowId xmlns:a16="http://schemas.microsoft.com/office/drawing/2014/main" val="10003"/>
                  </a:ext>
                </a:extLst>
              </a:tr>
              <a:tr h="400736">
                <a:tc>
                  <a:txBody>
                    <a:bodyPr/>
                    <a:lstStyle/>
                    <a:p>
                      <a:r>
                        <a:rPr lang="en-US" sz="2400" dirty="0" smtClean="0"/>
                        <a:t>Electrical current</a:t>
                      </a:r>
                      <a:endParaRPr lang="en-US" sz="2400" dirty="0"/>
                    </a:p>
                  </a:txBody>
                  <a:tcPr/>
                </a:tc>
                <a:tc>
                  <a:txBody>
                    <a:bodyPr/>
                    <a:lstStyle/>
                    <a:p>
                      <a:r>
                        <a:rPr lang="en-US" sz="2400" dirty="0" smtClean="0"/>
                        <a:t>ampere</a:t>
                      </a:r>
                      <a:endParaRPr lang="en-US" sz="2400" dirty="0"/>
                    </a:p>
                  </a:txBody>
                  <a:tcPr/>
                </a:tc>
                <a:tc>
                  <a:txBody>
                    <a:bodyPr/>
                    <a:lstStyle/>
                    <a:p>
                      <a:r>
                        <a:rPr lang="en-US" sz="2400" dirty="0" smtClean="0"/>
                        <a:t>A</a:t>
                      </a:r>
                      <a:endParaRPr lang="en-US" sz="2400" dirty="0"/>
                    </a:p>
                  </a:txBody>
                  <a:tcPr/>
                </a:tc>
                <a:extLst>
                  <a:ext uri="{0D108BD9-81ED-4DB2-BD59-A6C34878D82A}">
                    <a16:rowId xmlns:a16="http://schemas.microsoft.com/office/drawing/2014/main" val="10004"/>
                  </a:ext>
                </a:extLst>
              </a:tr>
              <a:tr h="400736">
                <a:tc>
                  <a:txBody>
                    <a:bodyPr/>
                    <a:lstStyle/>
                    <a:p>
                      <a:r>
                        <a:rPr lang="en-US" sz="2400" dirty="0" smtClean="0"/>
                        <a:t>Temperature</a:t>
                      </a:r>
                      <a:endParaRPr lang="en-US" sz="2400" dirty="0"/>
                    </a:p>
                  </a:txBody>
                  <a:tcPr/>
                </a:tc>
                <a:tc>
                  <a:txBody>
                    <a:bodyPr/>
                    <a:lstStyle/>
                    <a:p>
                      <a:r>
                        <a:rPr lang="en-US" sz="2400" dirty="0" smtClean="0"/>
                        <a:t>Kelvin/degree </a:t>
                      </a:r>
                      <a:endParaRPr lang="en-US" sz="2400" dirty="0"/>
                    </a:p>
                  </a:txBody>
                  <a:tcPr/>
                </a:tc>
                <a:tc>
                  <a:txBody>
                    <a:bodyPr/>
                    <a:lstStyle/>
                    <a:p>
                      <a:r>
                        <a:rPr lang="en-US" sz="2400" dirty="0" smtClean="0"/>
                        <a:t>K/C</a:t>
                      </a:r>
                      <a:endParaRPr lang="en-US" sz="2400" dirty="0" smtClean="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400736">
                <a:tc>
                  <a:txBody>
                    <a:bodyPr/>
                    <a:lstStyle/>
                    <a:p>
                      <a:r>
                        <a:rPr lang="en-US" sz="2400" dirty="0" smtClean="0"/>
                        <a:t>Luminous Intensity</a:t>
                      </a:r>
                      <a:endParaRPr lang="en-US" sz="2400" dirty="0"/>
                    </a:p>
                  </a:txBody>
                  <a:tcPr/>
                </a:tc>
                <a:tc>
                  <a:txBody>
                    <a:bodyPr/>
                    <a:lstStyle/>
                    <a:p>
                      <a:r>
                        <a:rPr lang="en-US" sz="2400" dirty="0" smtClean="0"/>
                        <a:t>candela</a:t>
                      </a:r>
                      <a:endParaRPr lang="en-US" sz="2400" dirty="0"/>
                    </a:p>
                  </a:txBody>
                  <a:tcPr/>
                </a:tc>
                <a:tc>
                  <a:txBody>
                    <a:bodyPr/>
                    <a:lstStyle/>
                    <a:p>
                      <a:r>
                        <a:rPr lang="en-US" sz="2400" dirty="0" smtClean="0"/>
                        <a:t>cd</a:t>
                      </a:r>
                      <a:endParaRPr lang="en-US" sz="2400" dirty="0"/>
                    </a:p>
                  </a:txBody>
                  <a:tcPr/>
                </a:tc>
                <a:extLst>
                  <a:ext uri="{0D108BD9-81ED-4DB2-BD59-A6C34878D82A}">
                    <a16:rowId xmlns:a16="http://schemas.microsoft.com/office/drawing/2014/main" val="10006"/>
                  </a:ext>
                </a:extLst>
              </a:tr>
              <a:tr h="400736">
                <a:tc>
                  <a:txBody>
                    <a:bodyPr/>
                    <a:lstStyle/>
                    <a:p>
                      <a:r>
                        <a:rPr lang="en-US" sz="2400" dirty="0" smtClean="0"/>
                        <a:t>Amount</a:t>
                      </a:r>
                      <a:r>
                        <a:rPr lang="en-US" sz="2400" baseline="0" dirty="0" smtClean="0"/>
                        <a:t> of substance</a:t>
                      </a:r>
                      <a:endParaRPr lang="en-US" sz="2400" dirty="0"/>
                    </a:p>
                  </a:txBody>
                  <a:tcPr/>
                </a:tc>
                <a:tc>
                  <a:txBody>
                    <a:bodyPr/>
                    <a:lstStyle/>
                    <a:p>
                      <a:r>
                        <a:rPr lang="en-US" sz="2400" dirty="0" smtClean="0"/>
                        <a:t>mole</a:t>
                      </a:r>
                      <a:endParaRPr lang="en-US" sz="2400" dirty="0"/>
                    </a:p>
                  </a:txBody>
                  <a:tcPr/>
                </a:tc>
                <a:tc>
                  <a:txBody>
                    <a:bodyPr/>
                    <a:lstStyle/>
                    <a:p>
                      <a:r>
                        <a:rPr lang="en-US" sz="2400" dirty="0" smtClean="0"/>
                        <a:t>mol</a:t>
                      </a:r>
                      <a:endParaRPr lang="en-US" sz="2400" dirty="0"/>
                    </a:p>
                  </a:txBody>
                  <a:tcPr/>
                </a:tc>
                <a:extLst>
                  <a:ext uri="{0D108BD9-81ED-4DB2-BD59-A6C34878D82A}">
                    <a16:rowId xmlns:a16="http://schemas.microsoft.com/office/drawing/2014/main" val="10007"/>
                  </a:ext>
                </a:extLst>
              </a:tr>
            </a:tbl>
          </a:graphicData>
        </a:graphic>
      </p:graphicFrame>
    </p:spTree>
  </p:cSld>
  <p:clrMapOvr>
    <a:masterClrMapping/>
  </p:clrMapOvr>
  <p:transition>
    <p:wheel spokes="8"/>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Derived SI units</a:t>
            </a:r>
            <a:endParaRPr lang="en-US" dirty="0"/>
          </a:p>
        </p:txBody>
      </p:sp>
      <p:sp>
        <p:nvSpPr>
          <p:cNvPr id="3" name="Content Placeholder 2"/>
          <p:cNvSpPr>
            <a:spLocks noGrp="1"/>
          </p:cNvSpPr>
          <p:nvPr>
            <p:ph idx="1"/>
          </p:nvPr>
        </p:nvSpPr>
        <p:spPr>
          <a:xfrm>
            <a:off x="457200" y="990600"/>
            <a:ext cx="8229600" cy="5867400"/>
          </a:xfrm>
        </p:spPr>
        <p:txBody>
          <a:bodyPr/>
          <a:lstStyle/>
          <a:p>
            <a:pPr>
              <a:buNone/>
            </a:pPr>
            <a:r>
              <a:rPr lang="en-US" sz="2800" dirty="0" smtClean="0"/>
              <a:t>	All measurement can be expressed using combination of seven basic units </a:t>
            </a:r>
            <a:r>
              <a:rPr lang="en-US" sz="2800" smtClean="0"/>
              <a:t>is known as </a:t>
            </a:r>
            <a:r>
              <a:rPr lang="en-US" sz="2800" dirty="0" smtClean="0"/>
              <a:t>the derived units.</a:t>
            </a:r>
          </a:p>
          <a:p>
            <a:pPr>
              <a:buNone/>
            </a:pPr>
            <a:endParaRPr lang="en-US" dirty="0"/>
          </a:p>
        </p:txBody>
      </p:sp>
      <p:graphicFrame>
        <p:nvGraphicFramePr>
          <p:cNvPr id="4" name="Table 3"/>
          <p:cNvGraphicFramePr>
            <a:graphicFrameLocks noGrp="1"/>
          </p:cNvGraphicFramePr>
          <p:nvPr/>
        </p:nvGraphicFramePr>
        <p:xfrm>
          <a:off x="838200" y="2590800"/>
          <a:ext cx="7848601" cy="3657600"/>
        </p:xfrm>
        <a:graphic>
          <a:graphicData uri="http://schemas.openxmlformats.org/drawingml/2006/table">
            <a:tbl>
              <a:tblPr firstRow="1" bandRow="1">
                <a:tableStyleId>{93296810-A885-4BE3-A3E7-6D5BEEA58F35}</a:tableStyleId>
              </a:tblPr>
              <a:tblGrid>
                <a:gridCol w="2441787">
                  <a:extLst>
                    <a:ext uri="{9D8B030D-6E8A-4147-A177-3AD203B41FA5}">
                      <a16:colId xmlns:a16="http://schemas.microsoft.com/office/drawing/2014/main" val="20000"/>
                    </a:ext>
                  </a:extLst>
                </a:gridCol>
                <a:gridCol w="3935201">
                  <a:extLst>
                    <a:ext uri="{9D8B030D-6E8A-4147-A177-3AD203B41FA5}">
                      <a16:colId xmlns:a16="http://schemas.microsoft.com/office/drawing/2014/main" val="20001"/>
                    </a:ext>
                  </a:extLst>
                </a:gridCol>
                <a:gridCol w="1471613">
                  <a:extLst>
                    <a:ext uri="{9D8B030D-6E8A-4147-A177-3AD203B41FA5}">
                      <a16:colId xmlns:a16="http://schemas.microsoft.com/office/drawing/2014/main" val="20002"/>
                    </a:ext>
                  </a:extLst>
                </a:gridCol>
              </a:tblGrid>
              <a:tr h="424295">
                <a:tc>
                  <a:txBody>
                    <a:bodyPr/>
                    <a:lstStyle/>
                    <a:p>
                      <a:r>
                        <a:rPr lang="en-US" sz="2400" dirty="0" smtClean="0"/>
                        <a:t>Quantity</a:t>
                      </a:r>
                      <a:endParaRPr lang="en-US" sz="2400" dirty="0"/>
                    </a:p>
                  </a:txBody>
                  <a:tcPr/>
                </a:tc>
                <a:tc>
                  <a:txBody>
                    <a:bodyPr/>
                    <a:lstStyle/>
                    <a:p>
                      <a:pPr algn="ctr"/>
                      <a:r>
                        <a:rPr lang="en-US" sz="2400" dirty="0" smtClean="0"/>
                        <a:t>Unit</a:t>
                      </a:r>
                      <a:endParaRPr lang="en-US" sz="2400" dirty="0"/>
                    </a:p>
                  </a:txBody>
                  <a:tcPr/>
                </a:tc>
                <a:tc>
                  <a:txBody>
                    <a:bodyPr/>
                    <a:lstStyle/>
                    <a:p>
                      <a:pPr algn="ctr"/>
                      <a:r>
                        <a:rPr lang="en-US" sz="2400" dirty="0" smtClean="0"/>
                        <a:t>symbol</a:t>
                      </a:r>
                      <a:endParaRPr lang="en-US" sz="2400" dirty="0"/>
                    </a:p>
                  </a:txBody>
                  <a:tcPr/>
                </a:tc>
                <a:extLst>
                  <a:ext uri="{0D108BD9-81ED-4DB2-BD59-A6C34878D82A}">
                    <a16:rowId xmlns:a16="http://schemas.microsoft.com/office/drawing/2014/main" val="10000"/>
                  </a:ext>
                </a:extLst>
              </a:tr>
              <a:tr h="424295">
                <a:tc>
                  <a:txBody>
                    <a:bodyPr/>
                    <a:lstStyle/>
                    <a:p>
                      <a:pPr marL="342900" indent="-342900">
                        <a:buAutoNum type="arabicPeriod"/>
                      </a:pPr>
                      <a:r>
                        <a:rPr lang="en-US" sz="2400" dirty="0" smtClean="0"/>
                        <a:t>Area</a:t>
                      </a:r>
                      <a:endParaRPr lang="en-US" sz="2400" dirty="0"/>
                    </a:p>
                  </a:txBody>
                  <a:tcPr/>
                </a:tc>
                <a:tc>
                  <a:txBody>
                    <a:bodyPr/>
                    <a:lstStyle/>
                    <a:p>
                      <a:r>
                        <a:rPr lang="en-US" sz="2400" dirty="0" smtClean="0"/>
                        <a:t>Square meter</a:t>
                      </a:r>
                      <a:endParaRPr lang="en-US" sz="2400" dirty="0"/>
                    </a:p>
                  </a:txBody>
                  <a:tcPr/>
                </a:tc>
                <a:tc>
                  <a:txBody>
                    <a:bodyPr/>
                    <a:lstStyle/>
                    <a:p>
                      <a:r>
                        <a:rPr lang="en-US" sz="2400" dirty="0" smtClean="0"/>
                        <a:t>m</a:t>
                      </a:r>
                      <a:r>
                        <a:rPr lang="en-US" sz="2400" baseline="30000" dirty="0" smtClean="0"/>
                        <a:t>2</a:t>
                      </a:r>
                      <a:endParaRPr lang="en-US" sz="2400" baseline="30000" dirty="0"/>
                    </a:p>
                  </a:txBody>
                  <a:tcPr/>
                </a:tc>
                <a:extLst>
                  <a:ext uri="{0D108BD9-81ED-4DB2-BD59-A6C34878D82A}">
                    <a16:rowId xmlns:a16="http://schemas.microsoft.com/office/drawing/2014/main" val="10001"/>
                  </a:ext>
                </a:extLst>
              </a:tr>
              <a:tr h="381000">
                <a:tc>
                  <a:txBody>
                    <a:bodyPr/>
                    <a:lstStyle/>
                    <a:p>
                      <a:r>
                        <a:rPr lang="en-US" sz="2400" dirty="0" smtClean="0"/>
                        <a:t>2. Volume</a:t>
                      </a:r>
                      <a:endParaRPr lang="en-US" sz="2400" dirty="0"/>
                    </a:p>
                  </a:txBody>
                  <a:tcPr/>
                </a:tc>
                <a:tc>
                  <a:txBody>
                    <a:bodyPr/>
                    <a:lstStyle/>
                    <a:p>
                      <a:r>
                        <a:rPr lang="en-US" sz="2400" dirty="0" smtClean="0"/>
                        <a:t>Cubic meter</a:t>
                      </a:r>
                      <a:endParaRPr lang="en-US" sz="2400" dirty="0"/>
                    </a:p>
                  </a:txBody>
                  <a:tcPr/>
                </a:tc>
                <a:tc>
                  <a:txBody>
                    <a:bodyPr/>
                    <a:lstStyle/>
                    <a:p>
                      <a:r>
                        <a:rPr lang="en-US" sz="2400" dirty="0" smtClean="0"/>
                        <a:t>m</a:t>
                      </a:r>
                      <a:r>
                        <a:rPr lang="en-US" sz="2400" baseline="30000" dirty="0" smtClean="0"/>
                        <a:t>3</a:t>
                      </a:r>
                      <a:endParaRPr lang="en-US" sz="2400" baseline="30000" dirty="0"/>
                    </a:p>
                  </a:txBody>
                  <a:tcPr/>
                </a:tc>
                <a:extLst>
                  <a:ext uri="{0D108BD9-81ED-4DB2-BD59-A6C34878D82A}">
                    <a16:rowId xmlns:a16="http://schemas.microsoft.com/office/drawing/2014/main" val="10002"/>
                  </a:ext>
                </a:extLst>
              </a:tr>
              <a:tr h="424295">
                <a:tc>
                  <a:txBody>
                    <a:bodyPr/>
                    <a:lstStyle/>
                    <a:p>
                      <a:r>
                        <a:rPr lang="en-US" sz="2400" dirty="0" smtClean="0"/>
                        <a:t>3. Speed</a:t>
                      </a:r>
                      <a:endParaRPr lang="en-US" sz="2400" dirty="0"/>
                    </a:p>
                  </a:txBody>
                  <a:tcPr/>
                </a:tc>
                <a:tc>
                  <a:txBody>
                    <a:bodyPr/>
                    <a:lstStyle/>
                    <a:p>
                      <a:r>
                        <a:rPr lang="en-US" sz="2400" dirty="0" smtClean="0"/>
                        <a:t>Meter per second</a:t>
                      </a:r>
                      <a:endParaRPr lang="en-US" sz="2400" dirty="0"/>
                    </a:p>
                  </a:txBody>
                  <a:tcPr/>
                </a:tc>
                <a:tc>
                  <a:txBody>
                    <a:bodyPr/>
                    <a:lstStyle/>
                    <a:p>
                      <a:r>
                        <a:rPr lang="en-US" sz="2400" dirty="0" smtClean="0"/>
                        <a:t>m/s</a:t>
                      </a:r>
                      <a:endParaRPr lang="en-US" sz="2400" dirty="0"/>
                    </a:p>
                  </a:txBody>
                  <a:tcPr/>
                </a:tc>
                <a:extLst>
                  <a:ext uri="{0D108BD9-81ED-4DB2-BD59-A6C34878D82A}">
                    <a16:rowId xmlns:a16="http://schemas.microsoft.com/office/drawing/2014/main" val="10003"/>
                  </a:ext>
                </a:extLst>
              </a:tr>
              <a:tr h="457200">
                <a:tc>
                  <a:txBody>
                    <a:bodyPr/>
                    <a:lstStyle/>
                    <a:p>
                      <a:r>
                        <a:rPr lang="en-US" sz="2400" dirty="0" smtClean="0"/>
                        <a:t>4. Acceleration</a:t>
                      </a:r>
                      <a:endParaRPr lang="en-US" sz="2400" dirty="0"/>
                    </a:p>
                  </a:txBody>
                  <a:tcPr/>
                </a:tc>
                <a:tc>
                  <a:txBody>
                    <a:bodyPr/>
                    <a:lstStyle/>
                    <a:p>
                      <a:r>
                        <a:rPr lang="en-US" sz="2400" dirty="0" smtClean="0"/>
                        <a:t>Meter per second per second</a:t>
                      </a:r>
                      <a:endParaRPr lang="en-US" sz="2400" dirty="0"/>
                    </a:p>
                  </a:txBody>
                  <a:tcPr/>
                </a:tc>
                <a:tc>
                  <a:txBody>
                    <a:bodyPr/>
                    <a:lstStyle/>
                    <a:p>
                      <a:r>
                        <a:rPr lang="en-US" sz="2400" dirty="0" smtClean="0"/>
                        <a:t>m/s</a:t>
                      </a:r>
                      <a:r>
                        <a:rPr lang="en-US" sz="2400" baseline="30000" dirty="0" smtClean="0"/>
                        <a:t>2</a:t>
                      </a:r>
                      <a:endParaRPr lang="en-US" sz="2400" baseline="30000" dirty="0"/>
                    </a:p>
                  </a:txBody>
                  <a:tcPr/>
                </a:tc>
                <a:extLst>
                  <a:ext uri="{0D108BD9-81ED-4DB2-BD59-A6C34878D82A}">
                    <a16:rowId xmlns:a16="http://schemas.microsoft.com/office/drawing/2014/main" val="10004"/>
                  </a:ext>
                </a:extLst>
              </a:tr>
              <a:tr h="424295">
                <a:tc>
                  <a:txBody>
                    <a:bodyPr/>
                    <a:lstStyle/>
                    <a:p>
                      <a:r>
                        <a:rPr lang="en-US" sz="2400" dirty="0" smtClean="0"/>
                        <a:t>5. Force</a:t>
                      </a:r>
                      <a:endParaRPr lang="en-US" sz="2400" dirty="0"/>
                    </a:p>
                  </a:txBody>
                  <a:tcPr/>
                </a:tc>
                <a:tc>
                  <a:txBody>
                    <a:bodyPr/>
                    <a:lstStyle/>
                    <a:p>
                      <a:r>
                        <a:rPr lang="en-US" sz="2400" dirty="0" smtClean="0"/>
                        <a:t>Newton</a:t>
                      </a:r>
                      <a:endParaRPr lang="en-US" sz="2400" dirty="0"/>
                    </a:p>
                  </a:txBody>
                  <a:tcPr/>
                </a:tc>
                <a:tc>
                  <a:txBody>
                    <a:bodyPr/>
                    <a:lstStyle/>
                    <a:p>
                      <a:r>
                        <a:rPr lang="en-US" sz="2400" dirty="0" smtClean="0"/>
                        <a:t>N</a:t>
                      </a:r>
                      <a:endParaRPr lang="en-US" sz="2400" dirty="0"/>
                    </a:p>
                  </a:txBody>
                  <a:tcPr/>
                </a:tc>
                <a:extLst>
                  <a:ext uri="{0D108BD9-81ED-4DB2-BD59-A6C34878D82A}">
                    <a16:rowId xmlns:a16="http://schemas.microsoft.com/office/drawing/2014/main" val="10005"/>
                  </a:ext>
                </a:extLst>
              </a:tr>
              <a:tr h="424295">
                <a:tc>
                  <a:txBody>
                    <a:bodyPr/>
                    <a:lstStyle/>
                    <a:p>
                      <a:r>
                        <a:rPr lang="en-US" sz="2400" dirty="0" smtClean="0"/>
                        <a:t>6. Energy</a:t>
                      </a:r>
                      <a:endParaRPr lang="en-US" sz="2400" dirty="0"/>
                    </a:p>
                  </a:txBody>
                  <a:tcPr/>
                </a:tc>
                <a:tc>
                  <a:txBody>
                    <a:bodyPr/>
                    <a:lstStyle/>
                    <a:p>
                      <a:r>
                        <a:rPr lang="en-US" sz="2400" dirty="0" smtClean="0"/>
                        <a:t>Joule</a:t>
                      </a:r>
                      <a:endParaRPr lang="en-US" sz="2400" dirty="0"/>
                    </a:p>
                  </a:txBody>
                  <a:tcPr/>
                </a:tc>
                <a:tc>
                  <a:txBody>
                    <a:bodyPr/>
                    <a:lstStyle/>
                    <a:p>
                      <a:r>
                        <a:rPr lang="en-US" sz="2400" dirty="0" smtClean="0"/>
                        <a:t>J</a:t>
                      </a:r>
                      <a:endParaRPr lang="en-US" sz="2400" dirty="0"/>
                    </a:p>
                  </a:txBody>
                  <a:tcPr/>
                </a:tc>
                <a:extLst>
                  <a:ext uri="{0D108BD9-81ED-4DB2-BD59-A6C34878D82A}">
                    <a16:rowId xmlns:a16="http://schemas.microsoft.com/office/drawing/2014/main" val="10006"/>
                  </a:ext>
                </a:extLst>
              </a:tr>
              <a:tr h="424295">
                <a:tc>
                  <a:txBody>
                    <a:bodyPr/>
                    <a:lstStyle/>
                    <a:p>
                      <a:r>
                        <a:rPr lang="en-US" sz="2400" dirty="0" smtClean="0"/>
                        <a:t>7. Power </a:t>
                      </a:r>
                      <a:endParaRPr lang="en-US" sz="2400" dirty="0"/>
                    </a:p>
                  </a:txBody>
                  <a:tcPr/>
                </a:tc>
                <a:tc>
                  <a:txBody>
                    <a:bodyPr/>
                    <a:lstStyle/>
                    <a:p>
                      <a:r>
                        <a:rPr lang="en-US" sz="2400" dirty="0" smtClean="0"/>
                        <a:t>watt</a:t>
                      </a:r>
                      <a:endParaRPr lang="en-US" sz="2400" dirty="0"/>
                    </a:p>
                  </a:txBody>
                  <a:tcPr/>
                </a:tc>
                <a:tc>
                  <a:txBody>
                    <a:bodyPr/>
                    <a:lstStyle/>
                    <a:p>
                      <a:r>
                        <a:rPr lang="en-US" sz="2400" dirty="0" smtClean="0"/>
                        <a:t>W</a:t>
                      </a:r>
                      <a:endParaRPr lang="en-US" sz="2400" dirty="0"/>
                    </a:p>
                  </a:txBody>
                  <a:tcPr/>
                </a:tc>
                <a:extLst>
                  <a:ext uri="{0D108BD9-81ED-4DB2-BD59-A6C34878D82A}">
                    <a16:rowId xmlns:a16="http://schemas.microsoft.com/office/drawing/2014/main" val="10007"/>
                  </a:ext>
                </a:extLst>
              </a:tr>
            </a:tbl>
          </a:graphicData>
        </a:graphic>
      </p:graphicFrame>
    </p:spTree>
  </p:cSld>
  <p:clrMapOvr>
    <a:masterClrMapping/>
  </p:clrMapOvr>
  <p:transition>
    <p:wheel spokes="8"/>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1"/>
            <a:ext cx="7772400" cy="990600"/>
          </a:xfrm>
        </p:spPr>
        <p:txBody>
          <a:bodyPr>
            <a:normAutofit/>
          </a:bodyPr>
          <a:lstStyle/>
          <a:p>
            <a:r>
              <a:rPr lang="en-US" dirty="0" smtClean="0"/>
              <a:t>Prefixes for multiple units</a:t>
            </a:r>
            <a:endParaRPr lang="en-US" dirty="0"/>
          </a:p>
        </p:txBody>
      </p:sp>
      <p:sp>
        <p:nvSpPr>
          <p:cNvPr id="3" name="Subtitle 2"/>
          <p:cNvSpPr>
            <a:spLocks noGrp="1"/>
          </p:cNvSpPr>
          <p:nvPr>
            <p:ph type="subTitle" idx="1"/>
          </p:nvPr>
        </p:nvSpPr>
        <p:spPr>
          <a:xfrm>
            <a:off x="685800" y="1524000"/>
            <a:ext cx="8001000" cy="4876800"/>
          </a:xfrm>
        </p:spPr>
        <p:txBody>
          <a:bodyPr>
            <a:normAutofit/>
          </a:bodyPr>
          <a:lstStyle/>
          <a:p>
            <a:pPr algn="l"/>
            <a:r>
              <a:rPr lang="en-US" dirty="0" smtClean="0"/>
              <a:t>A shorthand system of prefixes was agreed  as part of the SI unit. All prefixes are related to each other by power of 10 making it very easy to use.</a:t>
            </a:r>
          </a:p>
          <a:p>
            <a:pPr algn="l"/>
            <a:r>
              <a:rPr lang="en-US" dirty="0" smtClean="0"/>
              <a:t>There are a number of prefixes agreed to be used in engineering, hereunder are some common prefixes in use.</a:t>
            </a:r>
            <a:endParaRPr lang="en-US" dirty="0"/>
          </a:p>
        </p:txBody>
      </p:sp>
    </p:spTree>
  </p:cSld>
  <p:clrMapOvr>
    <a:masterClrMapping/>
  </p:clrMapOvr>
  <p:transition>
    <p:wheel spokes="8"/>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Prefixes for multiple units cont….</a:t>
            </a:r>
            <a:endParaRPr lang="en-US" dirty="0"/>
          </a:p>
        </p:txBody>
      </p:sp>
      <p:graphicFrame>
        <p:nvGraphicFramePr>
          <p:cNvPr id="4" name="Content Placeholder 3"/>
          <p:cNvGraphicFramePr>
            <a:graphicFrameLocks noGrp="1"/>
          </p:cNvGraphicFramePr>
          <p:nvPr>
            <p:ph idx="1"/>
          </p:nvPr>
        </p:nvGraphicFramePr>
        <p:xfrm>
          <a:off x="762000" y="990600"/>
          <a:ext cx="7924800" cy="5151120"/>
        </p:xfrm>
        <a:graphic>
          <a:graphicData uri="http://schemas.openxmlformats.org/drawingml/2006/table">
            <a:tbl>
              <a:tblPr firstRow="1" bandRow="1">
                <a:tableStyleId>{93296810-A885-4BE3-A3E7-6D5BEEA58F35}</a:tableStyleId>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333002">
                  <a:extLst>
                    <a:ext uri="{9D8B030D-6E8A-4147-A177-3AD203B41FA5}">
                      <a16:colId xmlns:a16="http://schemas.microsoft.com/office/drawing/2014/main" val="20002"/>
                    </a:ext>
                  </a:extLst>
                </a:gridCol>
                <a:gridCol w="1629398">
                  <a:extLst>
                    <a:ext uri="{9D8B030D-6E8A-4147-A177-3AD203B41FA5}">
                      <a16:colId xmlns:a16="http://schemas.microsoft.com/office/drawing/2014/main" val="20003"/>
                    </a:ext>
                  </a:extLst>
                </a:gridCol>
              </a:tblGrid>
              <a:tr h="370840">
                <a:tc>
                  <a:txBody>
                    <a:bodyPr/>
                    <a:lstStyle/>
                    <a:p>
                      <a:r>
                        <a:rPr lang="en-US" sz="2000" dirty="0" smtClean="0"/>
                        <a:t>Prefix</a:t>
                      </a:r>
                      <a:endParaRPr lang="en-US" sz="2000" dirty="0"/>
                    </a:p>
                  </a:txBody>
                  <a:tcPr/>
                </a:tc>
                <a:tc>
                  <a:txBody>
                    <a:bodyPr/>
                    <a:lstStyle/>
                    <a:p>
                      <a:r>
                        <a:rPr lang="en-US" sz="2000" dirty="0" smtClean="0"/>
                        <a:t>Symbol</a:t>
                      </a:r>
                      <a:endParaRPr lang="en-US" sz="2000" dirty="0"/>
                    </a:p>
                  </a:txBody>
                  <a:tcPr/>
                </a:tc>
                <a:tc>
                  <a:txBody>
                    <a:bodyPr/>
                    <a:lstStyle/>
                    <a:p>
                      <a:r>
                        <a:rPr lang="en-US" sz="2000" dirty="0" smtClean="0"/>
                        <a:t>decimal</a:t>
                      </a:r>
                      <a:endParaRPr lang="en-US" sz="2000" dirty="0"/>
                    </a:p>
                  </a:txBody>
                  <a:tcPr/>
                </a:tc>
                <a:tc>
                  <a:txBody>
                    <a:bodyPr/>
                    <a:lstStyle/>
                    <a:p>
                      <a:r>
                        <a:rPr lang="en-US" sz="2000" dirty="0" smtClean="0"/>
                        <a:t>Power of 10</a:t>
                      </a:r>
                      <a:endParaRPr lang="en-US" sz="2000" dirty="0"/>
                    </a:p>
                  </a:txBody>
                  <a:tcPr/>
                </a:tc>
                <a:extLst>
                  <a:ext uri="{0D108BD9-81ED-4DB2-BD59-A6C34878D82A}">
                    <a16:rowId xmlns:a16="http://schemas.microsoft.com/office/drawing/2014/main" val="10000"/>
                  </a:ext>
                </a:extLst>
              </a:tr>
              <a:tr h="370840">
                <a:tc>
                  <a:txBody>
                    <a:bodyPr/>
                    <a:lstStyle/>
                    <a:p>
                      <a:pPr marL="342900" indent="-342900">
                        <a:buNone/>
                      </a:pPr>
                      <a:r>
                        <a:rPr lang="en-US" sz="2000" dirty="0" smtClean="0"/>
                        <a:t>1. </a:t>
                      </a:r>
                      <a:r>
                        <a:rPr lang="en-US" sz="2000" dirty="0" err="1" smtClean="0"/>
                        <a:t>tera</a:t>
                      </a:r>
                      <a:endParaRPr lang="en-US" sz="2000" dirty="0"/>
                    </a:p>
                  </a:txBody>
                  <a:tcPr/>
                </a:tc>
                <a:tc>
                  <a:txBody>
                    <a:bodyPr/>
                    <a:lstStyle/>
                    <a:p>
                      <a:r>
                        <a:rPr lang="en-US" sz="2000" dirty="0" smtClean="0"/>
                        <a:t>T</a:t>
                      </a:r>
                      <a:endParaRPr lang="en-US" sz="2000" dirty="0"/>
                    </a:p>
                  </a:txBody>
                  <a:tcPr/>
                </a:tc>
                <a:tc>
                  <a:txBody>
                    <a:bodyPr/>
                    <a:lstStyle/>
                    <a:p>
                      <a:r>
                        <a:rPr lang="en-US" sz="2000" dirty="0" smtClean="0"/>
                        <a:t>1 000 000 000 000</a:t>
                      </a:r>
                      <a:endParaRPr lang="en-US" sz="2000" dirty="0"/>
                    </a:p>
                  </a:txBody>
                  <a:tcPr/>
                </a:tc>
                <a:tc>
                  <a:txBody>
                    <a:bodyPr/>
                    <a:lstStyle/>
                    <a:p>
                      <a:r>
                        <a:rPr lang="en-US" sz="2000" dirty="0" smtClean="0"/>
                        <a:t>10 </a:t>
                      </a:r>
                      <a:r>
                        <a:rPr lang="en-US" sz="2000" b="1" baseline="30000" dirty="0" smtClean="0"/>
                        <a:t>12</a:t>
                      </a:r>
                      <a:endParaRPr lang="en-US" sz="2000" dirty="0"/>
                    </a:p>
                  </a:txBody>
                  <a:tcPr/>
                </a:tc>
                <a:extLst>
                  <a:ext uri="{0D108BD9-81ED-4DB2-BD59-A6C34878D82A}">
                    <a16:rowId xmlns:a16="http://schemas.microsoft.com/office/drawing/2014/main" val="10001"/>
                  </a:ext>
                </a:extLst>
              </a:tr>
              <a:tr h="370840">
                <a:tc>
                  <a:txBody>
                    <a:bodyPr/>
                    <a:lstStyle/>
                    <a:p>
                      <a:r>
                        <a:rPr lang="en-US" sz="2000" dirty="0" smtClean="0"/>
                        <a:t>2. </a:t>
                      </a:r>
                      <a:r>
                        <a:rPr lang="en-US" sz="2000" dirty="0" err="1" smtClean="0"/>
                        <a:t>giga</a:t>
                      </a:r>
                      <a:r>
                        <a:rPr lang="en-US" sz="2000" dirty="0" smtClean="0"/>
                        <a:t> </a:t>
                      </a:r>
                      <a:endParaRPr lang="en-US" sz="2000" dirty="0"/>
                    </a:p>
                  </a:txBody>
                  <a:tcPr/>
                </a:tc>
                <a:tc>
                  <a:txBody>
                    <a:bodyPr/>
                    <a:lstStyle/>
                    <a:p>
                      <a:r>
                        <a:rPr lang="en-US" sz="2000" dirty="0" smtClean="0"/>
                        <a:t>G</a:t>
                      </a:r>
                      <a:endParaRPr lang="en-US" sz="2000" dirty="0"/>
                    </a:p>
                  </a:txBody>
                  <a:tcPr/>
                </a:tc>
                <a:tc>
                  <a:txBody>
                    <a:bodyPr/>
                    <a:lstStyle/>
                    <a:p>
                      <a:r>
                        <a:rPr lang="en-US" sz="2000" dirty="0" smtClean="0"/>
                        <a:t>1 000 000 000</a:t>
                      </a:r>
                      <a:endParaRPr lang="en-US" sz="2000" dirty="0"/>
                    </a:p>
                  </a:txBody>
                  <a:tcPr/>
                </a:tc>
                <a:tc>
                  <a:txBody>
                    <a:bodyPr/>
                    <a:lstStyle/>
                    <a:p>
                      <a:r>
                        <a:rPr lang="en-US" sz="2000" dirty="0" smtClean="0"/>
                        <a:t>10</a:t>
                      </a:r>
                      <a:r>
                        <a:rPr lang="en-US" sz="2000" baseline="30000" dirty="0" smtClean="0"/>
                        <a:t>9</a:t>
                      </a:r>
                      <a:endParaRPr lang="en-US" sz="2000" baseline="30000" dirty="0"/>
                    </a:p>
                  </a:txBody>
                  <a:tcPr/>
                </a:tc>
                <a:extLst>
                  <a:ext uri="{0D108BD9-81ED-4DB2-BD59-A6C34878D82A}">
                    <a16:rowId xmlns:a16="http://schemas.microsoft.com/office/drawing/2014/main" val="10002"/>
                  </a:ext>
                </a:extLst>
              </a:tr>
              <a:tr h="370840">
                <a:tc>
                  <a:txBody>
                    <a:bodyPr/>
                    <a:lstStyle/>
                    <a:p>
                      <a:r>
                        <a:rPr lang="en-US" sz="2000" dirty="0" smtClean="0"/>
                        <a:t>3. Mega</a:t>
                      </a:r>
                      <a:endParaRPr lang="en-US" sz="2000" dirty="0"/>
                    </a:p>
                  </a:txBody>
                  <a:tcPr/>
                </a:tc>
                <a:tc>
                  <a:txBody>
                    <a:bodyPr/>
                    <a:lstStyle/>
                    <a:p>
                      <a:r>
                        <a:rPr lang="en-US" sz="2000" dirty="0" smtClean="0"/>
                        <a:t>M</a:t>
                      </a:r>
                      <a:endParaRPr lang="en-US" sz="2000" dirty="0"/>
                    </a:p>
                  </a:txBody>
                  <a:tcPr/>
                </a:tc>
                <a:tc>
                  <a:txBody>
                    <a:bodyPr/>
                    <a:lstStyle/>
                    <a:p>
                      <a:r>
                        <a:rPr lang="en-US" sz="2000" dirty="0" smtClean="0"/>
                        <a:t>1 000 000</a:t>
                      </a:r>
                      <a:endParaRPr lang="en-US" sz="2000" dirty="0"/>
                    </a:p>
                  </a:txBody>
                  <a:tcPr/>
                </a:tc>
                <a:tc>
                  <a:txBody>
                    <a:bodyPr/>
                    <a:lstStyle/>
                    <a:p>
                      <a:r>
                        <a:rPr lang="en-US" sz="2000" dirty="0" smtClean="0"/>
                        <a:t>10</a:t>
                      </a:r>
                      <a:r>
                        <a:rPr lang="en-US" sz="2000" baseline="30000" dirty="0" smtClean="0"/>
                        <a:t>6</a:t>
                      </a:r>
                      <a:endParaRPr lang="en-US" sz="2000" baseline="30000" dirty="0"/>
                    </a:p>
                  </a:txBody>
                  <a:tcPr/>
                </a:tc>
                <a:extLst>
                  <a:ext uri="{0D108BD9-81ED-4DB2-BD59-A6C34878D82A}">
                    <a16:rowId xmlns:a16="http://schemas.microsoft.com/office/drawing/2014/main" val="10003"/>
                  </a:ext>
                </a:extLst>
              </a:tr>
              <a:tr h="370840">
                <a:tc>
                  <a:txBody>
                    <a:bodyPr/>
                    <a:lstStyle/>
                    <a:p>
                      <a:r>
                        <a:rPr lang="en-US" sz="2000" dirty="0" smtClean="0"/>
                        <a:t>4. Kilo</a:t>
                      </a:r>
                      <a:endParaRPr lang="en-US" sz="2000" dirty="0"/>
                    </a:p>
                  </a:txBody>
                  <a:tcPr/>
                </a:tc>
                <a:tc>
                  <a:txBody>
                    <a:bodyPr/>
                    <a:lstStyle/>
                    <a:p>
                      <a:r>
                        <a:rPr lang="en-US" sz="2000" dirty="0" smtClean="0"/>
                        <a:t>k</a:t>
                      </a:r>
                      <a:endParaRPr lang="en-US" sz="2000" dirty="0"/>
                    </a:p>
                  </a:txBody>
                  <a:tcPr/>
                </a:tc>
                <a:tc>
                  <a:txBody>
                    <a:bodyPr/>
                    <a:lstStyle/>
                    <a:p>
                      <a:r>
                        <a:rPr lang="en-US" sz="2000" dirty="0" smtClean="0"/>
                        <a:t>1 000</a:t>
                      </a:r>
                      <a:endParaRPr lang="en-US" sz="2000" dirty="0"/>
                    </a:p>
                  </a:txBody>
                  <a:tcPr/>
                </a:tc>
                <a:tc>
                  <a:txBody>
                    <a:bodyPr/>
                    <a:lstStyle/>
                    <a:p>
                      <a:r>
                        <a:rPr lang="en-US" sz="2000" dirty="0" smtClean="0"/>
                        <a:t>10</a:t>
                      </a:r>
                      <a:r>
                        <a:rPr lang="en-US" sz="2000" baseline="30000" dirty="0" smtClean="0"/>
                        <a:t>3</a:t>
                      </a:r>
                      <a:endParaRPr lang="en-US" sz="2000" baseline="30000" dirty="0"/>
                    </a:p>
                  </a:txBody>
                  <a:tcPr/>
                </a:tc>
                <a:extLst>
                  <a:ext uri="{0D108BD9-81ED-4DB2-BD59-A6C34878D82A}">
                    <a16:rowId xmlns:a16="http://schemas.microsoft.com/office/drawing/2014/main" val="10004"/>
                  </a:ext>
                </a:extLst>
              </a:tr>
              <a:tr h="370840">
                <a:tc>
                  <a:txBody>
                    <a:bodyPr/>
                    <a:lstStyle/>
                    <a:p>
                      <a:r>
                        <a:rPr lang="en-US" sz="2000" dirty="0" smtClean="0"/>
                        <a:t>5. </a:t>
                      </a:r>
                      <a:r>
                        <a:rPr lang="en-US" sz="2000" dirty="0" err="1" smtClean="0"/>
                        <a:t>Hecto</a:t>
                      </a:r>
                      <a:endParaRPr lang="en-US" sz="2000" dirty="0"/>
                    </a:p>
                  </a:txBody>
                  <a:tcPr/>
                </a:tc>
                <a:tc>
                  <a:txBody>
                    <a:bodyPr/>
                    <a:lstStyle/>
                    <a:p>
                      <a:r>
                        <a:rPr lang="en-US" sz="2000" dirty="0" smtClean="0"/>
                        <a:t>h</a:t>
                      </a:r>
                      <a:endParaRPr lang="en-US" sz="2000" dirty="0"/>
                    </a:p>
                  </a:txBody>
                  <a:tcPr/>
                </a:tc>
                <a:tc>
                  <a:txBody>
                    <a:bodyPr/>
                    <a:lstStyle/>
                    <a:p>
                      <a:r>
                        <a:rPr lang="en-US" sz="2000" dirty="0" smtClean="0"/>
                        <a:t>1 00</a:t>
                      </a:r>
                      <a:endParaRPr lang="en-US" sz="2000" dirty="0"/>
                    </a:p>
                  </a:txBody>
                  <a:tcPr/>
                </a:tc>
                <a:tc>
                  <a:txBody>
                    <a:bodyPr/>
                    <a:lstStyle/>
                    <a:p>
                      <a:r>
                        <a:rPr lang="en-US" sz="2000" dirty="0" smtClean="0"/>
                        <a:t>10</a:t>
                      </a:r>
                      <a:r>
                        <a:rPr lang="en-US" sz="2000" baseline="30000" dirty="0" smtClean="0"/>
                        <a:t>2</a:t>
                      </a:r>
                      <a:endParaRPr lang="en-US" sz="2000" baseline="30000" dirty="0"/>
                    </a:p>
                  </a:txBody>
                  <a:tcPr/>
                </a:tc>
                <a:extLst>
                  <a:ext uri="{0D108BD9-81ED-4DB2-BD59-A6C34878D82A}">
                    <a16:rowId xmlns:a16="http://schemas.microsoft.com/office/drawing/2014/main" val="10005"/>
                  </a:ext>
                </a:extLst>
              </a:tr>
              <a:tr h="370840">
                <a:tc>
                  <a:txBody>
                    <a:bodyPr/>
                    <a:lstStyle/>
                    <a:p>
                      <a:r>
                        <a:rPr lang="en-US" sz="2000" dirty="0" smtClean="0"/>
                        <a:t>6. </a:t>
                      </a:r>
                      <a:r>
                        <a:rPr lang="en-US" sz="2000" dirty="0" err="1" smtClean="0"/>
                        <a:t>Deca</a:t>
                      </a:r>
                      <a:endParaRPr lang="en-US" sz="2000" dirty="0"/>
                    </a:p>
                  </a:txBody>
                  <a:tcPr/>
                </a:tc>
                <a:tc>
                  <a:txBody>
                    <a:bodyPr/>
                    <a:lstStyle/>
                    <a:p>
                      <a:r>
                        <a:rPr lang="en-US" sz="2000" dirty="0" err="1" smtClean="0"/>
                        <a:t>da</a:t>
                      </a:r>
                      <a:endParaRPr lang="en-US" sz="2000" dirty="0"/>
                    </a:p>
                  </a:txBody>
                  <a:tcPr/>
                </a:tc>
                <a:tc>
                  <a:txBody>
                    <a:bodyPr/>
                    <a:lstStyle/>
                    <a:p>
                      <a:r>
                        <a:rPr lang="en-US" sz="2000" dirty="0" smtClean="0"/>
                        <a:t>10</a:t>
                      </a:r>
                      <a:endParaRPr lang="en-US" sz="2000" dirty="0"/>
                    </a:p>
                  </a:txBody>
                  <a:tcPr/>
                </a:tc>
                <a:tc>
                  <a:txBody>
                    <a:bodyPr/>
                    <a:lstStyle/>
                    <a:p>
                      <a:r>
                        <a:rPr lang="en-US" sz="2000" dirty="0" smtClean="0"/>
                        <a:t>10</a:t>
                      </a:r>
                      <a:endParaRPr lang="en-US" sz="2000" dirty="0"/>
                    </a:p>
                  </a:txBody>
                  <a:tcPr/>
                </a:tc>
                <a:extLst>
                  <a:ext uri="{0D108BD9-81ED-4DB2-BD59-A6C34878D82A}">
                    <a16:rowId xmlns:a16="http://schemas.microsoft.com/office/drawing/2014/main" val="10006"/>
                  </a:ext>
                </a:extLst>
              </a:tr>
              <a:tr h="370840">
                <a:tc>
                  <a:txBody>
                    <a:bodyPr/>
                    <a:lstStyle/>
                    <a:p>
                      <a:r>
                        <a:rPr lang="en-US" sz="2000" dirty="0" smtClean="0"/>
                        <a:t>7. </a:t>
                      </a:r>
                      <a:r>
                        <a:rPr lang="en-US" sz="2000" dirty="0" err="1" smtClean="0"/>
                        <a:t>Deci</a:t>
                      </a:r>
                      <a:endParaRPr lang="en-US" sz="2000" dirty="0"/>
                    </a:p>
                  </a:txBody>
                  <a:tcPr/>
                </a:tc>
                <a:tc>
                  <a:txBody>
                    <a:bodyPr/>
                    <a:lstStyle/>
                    <a:p>
                      <a:r>
                        <a:rPr lang="en-US" sz="2000" dirty="0" smtClean="0"/>
                        <a:t>D</a:t>
                      </a:r>
                      <a:endParaRPr lang="en-US" sz="2000" dirty="0"/>
                    </a:p>
                  </a:txBody>
                  <a:tcPr/>
                </a:tc>
                <a:tc>
                  <a:txBody>
                    <a:bodyPr/>
                    <a:lstStyle/>
                    <a:p>
                      <a:r>
                        <a:rPr lang="en-US" sz="2000" dirty="0" smtClean="0"/>
                        <a:t>0.1</a:t>
                      </a:r>
                      <a:endParaRPr lang="en-US" sz="2000" dirty="0"/>
                    </a:p>
                  </a:txBody>
                  <a:tcPr/>
                </a:tc>
                <a:tc>
                  <a:txBody>
                    <a:bodyPr/>
                    <a:lstStyle/>
                    <a:p>
                      <a:r>
                        <a:rPr lang="en-US" sz="2000" dirty="0" smtClean="0"/>
                        <a:t>10</a:t>
                      </a:r>
                      <a:r>
                        <a:rPr lang="en-US" sz="2000" baseline="30000" dirty="0" smtClean="0"/>
                        <a:t>-1</a:t>
                      </a:r>
                      <a:endParaRPr lang="en-US" sz="2000" baseline="30000" dirty="0"/>
                    </a:p>
                  </a:txBody>
                  <a:tcPr/>
                </a:tc>
                <a:extLst>
                  <a:ext uri="{0D108BD9-81ED-4DB2-BD59-A6C34878D82A}">
                    <a16:rowId xmlns:a16="http://schemas.microsoft.com/office/drawing/2014/main" val="10007"/>
                  </a:ext>
                </a:extLst>
              </a:tr>
              <a:tr h="370840">
                <a:tc>
                  <a:txBody>
                    <a:bodyPr/>
                    <a:lstStyle/>
                    <a:p>
                      <a:r>
                        <a:rPr lang="en-US" sz="2000" dirty="0" smtClean="0"/>
                        <a:t>8. </a:t>
                      </a:r>
                      <a:r>
                        <a:rPr lang="en-US" sz="2000" dirty="0" err="1" smtClean="0"/>
                        <a:t>Centi</a:t>
                      </a:r>
                      <a:endParaRPr lang="en-US" sz="2000" dirty="0"/>
                    </a:p>
                  </a:txBody>
                  <a:tcPr/>
                </a:tc>
                <a:tc>
                  <a:txBody>
                    <a:bodyPr/>
                    <a:lstStyle/>
                    <a:p>
                      <a:r>
                        <a:rPr lang="en-US" sz="2000" dirty="0" smtClean="0"/>
                        <a:t>C</a:t>
                      </a:r>
                      <a:endParaRPr lang="en-US" sz="2000" dirty="0"/>
                    </a:p>
                  </a:txBody>
                  <a:tcPr/>
                </a:tc>
                <a:tc>
                  <a:txBody>
                    <a:bodyPr/>
                    <a:lstStyle/>
                    <a:p>
                      <a:r>
                        <a:rPr lang="en-US" sz="2000" dirty="0" smtClean="0"/>
                        <a:t>0.01</a:t>
                      </a:r>
                      <a:endParaRPr lang="en-US" sz="2000" dirty="0"/>
                    </a:p>
                  </a:txBody>
                  <a:tcPr/>
                </a:tc>
                <a:tc>
                  <a:txBody>
                    <a:bodyPr/>
                    <a:lstStyle/>
                    <a:p>
                      <a:r>
                        <a:rPr lang="en-US" sz="2000" dirty="0" smtClean="0"/>
                        <a:t>10</a:t>
                      </a:r>
                      <a:r>
                        <a:rPr lang="en-US" sz="2000" baseline="30000" dirty="0" smtClean="0"/>
                        <a:t>-2</a:t>
                      </a:r>
                      <a:endParaRPr lang="en-US" sz="2000" baseline="30000" dirty="0"/>
                    </a:p>
                  </a:txBody>
                  <a:tcPr/>
                </a:tc>
                <a:extLst>
                  <a:ext uri="{0D108BD9-81ED-4DB2-BD59-A6C34878D82A}">
                    <a16:rowId xmlns:a16="http://schemas.microsoft.com/office/drawing/2014/main" val="10008"/>
                  </a:ext>
                </a:extLst>
              </a:tr>
              <a:tr h="370840">
                <a:tc>
                  <a:txBody>
                    <a:bodyPr/>
                    <a:lstStyle/>
                    <a:p>
                      <a:r>
                        <a:rPr lang="en-US" sz="2000" dirty="0" smtClean="0"/>
                        <a:t>9.</a:t>
                      </a:r>
                      <a:r>
                        <a:rPr lang="en-US" sz="2000" baseline="0" dirty="0" smtClean="0"/>
                        <a:t> </a:t>
                      </a:r>
                      <a:r>
                        <a:rPr lang="en-US" sz="2000" baseline="0" dirty="0" err="1" smtClean="0"/>
                        <a:t>Milli</a:t>
                      </a:r>
                      <a:endParaRPr lang="en-US" sz="2000" dirty="0"/>
                    </a:p>
                  </a:txBody>
                  <a:tcPr/>
                </a:tc>
                <a:tc>
                  <a:txBody>
                    <a:bodyPr/>
                    <a:lstStyle/>
                    <a:p>
                      <a:r>
                        <a:rPr lang="en-US" sz="2000" dirty="0" smtClean="0"/>
                        <a:t>M</a:t>
                      </a:r>
                      <a:endParaRPr lang="en-US" sz="2000" dirty="0"/>
                    </a:p>
                  </a:txBody>
                  <a:tcPr/>
                </a:tc>
                <a:tc>
                  <a:txBody>
                    <a:bodyPr/>
                    <a:lstStyle/>
                    <a:p>
                      <a:r>
                        <a:rPr lang="en-US" sz="2000" dirty="0" smtClean="0"/>
                        <a:t>0.001</a:t>
                      </a:r>
                      <a:endParaRPr lang="en-US" sz="2000" dirty="0"/>
                    </a:p>
                  </a:txBody>
                  <a:tcPr/>
                </a:tc>
                <a:tc>
                  <a:txBody>
                    <a:bodyPr/>
                    <a:lstStyle/>
                    <a:p>
                      <a:r>
                        <a:rPr lang="en-US" sz="2000" dirty="0" smtClean="0"/>
                        <a:t>10</a:t>
                      </a:r>
                      <a:r>
                        <a:rPr lang="en-US" sz="2000" baseline="30000" dirty="0" smtClean="0"/>
                        <a:t>-3</a:t>
                      </a:r>
                      <a:endParaRPr lang="en-US" sz="2000" baseline="30000" dirty="0"/>
                    </a:p>
                  </a:txBody>
                  <a:tcPr/>
                </a:tc>
                <a:extLst>
                  <a:ext uri="{0D108BD9-81ED-4DB2-BD59-A6C34878D82A}">
                    <a16:rowId xmlns:a16="http://schemas.microsoft.com/office/drawing/2014/main" val="10009"/>
                  </a:ext>
                </a:extLst>
              </a:tr>
              <a:tr h="370840">
                <a:tc>
                  <a:txBody>
                    <a:bodyPr/>
                    <a:lstStyle/>
                    <a:p>
                      <a:r>
                        <a:rPr lang="en-US" sz="2000" dirty="0" smtClean="0"/>
                        <a:t>10. Micro</a:t>
                      </a:r>
                      <a:endParaRPr lang="en-US" sz="2000" dirty="0"/>
                    </a:p>
                  </a:txBody>
                  <a:tcPr/>
                </a:tc>
                <a:tc>
                  <a:txBody>
                    <a:bodyPr/>
                    <a:lstStyle/>
                    <a:p>
                      <a:r>
                        <a:rPr lang="en-US" sz="2000" dirty="0" smtClean="0"/>
                        <a:t>µ</a:t>
                      </a:r>
                      <a:endParaRPr lang="en-US" sz="2000" dirty="0"/>
                    </a:p>
                  </a:txBody>
                  <a:tcPr/>
                </a:tc>
                <a:tc>
                  <a:txBody>
                    <a:bodyPr/>
                    <a:lstStyle/>
                    <a:p>
                      <a:r>
                        <a:rPr lang="en-US" sz="2000" dirty="0" smtClean="0"/>
                        <a:t>0.000001</a:t>
                      </a:r>
                      <a:endParaRPr lang="en-US" sz="2000" dirty="0"/>
                    </a:p>
                  </a:txBody>
                  <a:tcPr/>
                </a:tc>
                <a:tc>
                  <a:txBody>
                    <a:bodyPr/>
                    <a:lstStyle/>
                    <a:p>
                      <a:r>
                        <a:rPr lang="en-US" sz="2000" dirty="0" smtClean="0"/>
                        <a:t>10</a:t>
                      </a:r>
                      <a:r>
                        <a:rPr lang="en-US" sz="2000" baseline="30000" dirty="0" smtClean="0"/>
                        <a:t>-6</a:t>
                      </a:r>
                      <a:endParaRPr lang="en-US" sz="2000" baseline="30000" dirty="0"/>
                    </a:p>
                  </a:txBody>
                  <a:tcPr/>
                </a:tc>
                <a:extLst>
                  <a:ext uri="{0D108BD9-81ED-4DB2-BD59-A6C34878D82A}">
                    <a16:rowId xmlns:a16="http://schemas.microsoft.com/office/drawing/2014/main" val="10010"/>
                  </a:ext>
                </a:extLst>
              </a:tr>
              <a:tr h="370840">
                <a:tc>
                  <a:txBody>
                    <a:bodyPr/>
                    <a:lstStyle/>
                    <a:p>
                      <a:r>
                        <a:rPr lang="en-US" sz="2000" dirty="0" smtClean="0"/>
                        <a:t>11. </a:t>
                      </a:r>
                      <a:r>
                        <a:rPr lang="en-US" sz="2000" dirty="0" err="1" smtClean="0"/>
                        <a:t>Nano</a:t>
                      </a:r>
                      <a:endParaRPr lang="en-US" sz="2000" dirty="0"/>
                    </a:p>
                  </a:txBody>
                  <a:tcPr/>
                </a:tc>
                <a:tc>
                  <a:txBody>
                    <a:bodyPr/>
                    <a:lstStyle/>
                    <a:p>
                      <a:r>
                        <a:rPr lang="en-US" sz="2000" dirty="0" smtClean="0"/>
                        <a:t>N</a:t>
                      </a:r>
                      <a:endParaRPr lang="en-US" sz="2000" dirty="0"/>
                    </a:p>
                  </a:txBody>
                  <a:tcPr/>
                </a:tc>
                <a:tc>
                  <a:txBody>
                    <a:bodyPr/>
                    <a:lstStyle/>
                    <a:p>
                      <a:r>
                        <a:rPr lang="en-US" sz="2000" dirty="0" smtClean="0"/>
                        <a:t>0.000000001</a:t>
                      </a:r>
                      <a:endParaRPr lang="en-US" sz="2000" dirty="0"/>
                    </a:p>
                  </a:txBody>
                  <a:tcPr/>
                </a:tc>
                <a:tc>
                  <a:txBody>
                    <a:bodyPr/>
                    <a:lstStyle/>
                    <a:p>
                      <a:r>
                        <a:rPr lang="en-US" sz="2000" dirty="0" smtClean="0"/>
                        <a:t>10</a:t>
                      </a:r>
                      <a:r>
                        <a:rPr lang="en-US" sz="2000" baseline="30000" dirty="0" smtClean="0"/>
                        <a:t>-9</a:t>
                      </a:r>
                      <a:endParaRPr lang="en-US" sz="2000" baseline="30000" dirty="0"/>
                    </a:p>
                  </a:txBody>
                  <a:tcPr/>
                </a:tc>
                <a:extLst>
                  <a:ext uri="{0D108BD9-81ED-4DB2-BD59-A6C34878D82A}">
                    <a16:rowId xmlns:a16="http://schemas.microsoft.com/office/drawing/2014/main" val="10011"/>
                  </a:ext>
                </a:extLst>
              </a:tr>
              <a:tr h="370840">
                <a:tc>
                  <a:txBody>
                    <a:bodyPr/>
                    <a:lstStyle/>
                    <a:p>
                      <a:r>
                        <a:rPr lang="en-US" sz="2000" dirty="0" smtClean="0"/>
                        <a:t>12. </a:t>
                      </a:r>
                      <a:r>
                        <a:rPr lang="en-US" sz="2000" dirty="0" err="1" smtClean="0"/>
                        <a:t>pico</a:t>
                      </a:r>
                      <a:endParaRPr lang="en-US" sz="2000" dirty="0"/>
                    </a:p>
                  </a:txBody>
                  <a:tcPr/>
                </a:tc>
                <a:tc>
                  <a:txBody>
                    <a:bodyPr/>
                    <a:lstStyle/>
                    <a:p>
                      <a:r>
                        <a:rPr lang="en-US" sz="2000" dirty="0" smtClean="0"/>
                        <a:t>P</a:t>
                      </a:r>
                      <a:endParaRPr lang="en-US" sz="2000" dirty="0"/>
                    </a:p>
                  </a:txBody>
                  <a:tcPr/>
                </a:tc>
                <a:tc>
                  <a:txBody>
                    <a:bodyPr/>
                    <a:lstStyle/>
                    <a:p>
                      <a:r>
                        <a:rPr lang="en-US" sz="2000" dirty="0" smtClean="0"/>
                        <a:t>0.000000000001</a:t>
                      </a:r>
                      <a:endParaRPr lang="en-US" sz="2000" dirty="0"/>
                    </a:p>
                  </a:txBody>
                  <a:tcPr/>
                </a:tc>
                <a:tc>
                  <a:txBody>
                    <a:bodyPr/>
                    <a:lstStyle/>
                    <a:p>
                      <a:r>
                        <a:rPr lang="en-US" sz="2000" dirty="0" smtClean="0"/>
                        <a:t>10</a:t>
                      </a:r>
                      <a:r>
                        <a:rPr lang="en-US" sz="2000" baseline="30000" dirty="0" smtClean="0"/>
                        <a:t>-12</a:t>
                      </a:r>
                      <a:endParaRPr lang="en-US" sz="2000" baseline="30000" dirty="0"/>
                    </a:p>
                  </a:txBody>
                  <a:tcPr/>
                </a:tc>
                <a:extLst>
                  <a:ext uri="{0D108BD9-81ED-4DB2-BD59-A6C34878D82A}">
                    <a16:rowId xmlns:a16="http://schemas.microsoft.com/office/drawing/2014/main" val="10012"/>
                  </a:ext>
                </a:extLst>
              </a:tr>
            </a:tbl>
          </a:graphicData>
        </a:graphic>
      </p:graphicFrame>
    </p:spTree>
  </p:cSld>
  <p:clrMapOvr>
    <a:masterClrMapping/>
  </p:clrMapOvr>
  <p:transition>
    <p:wheel spokes="8"/>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Important terms in measurement</a:t>
            </a:r>
            <a:endParaRPr lang="en-US" dirty="0"/>
          </a:p>
        </p:txBody>
      </p:sp>
      <p:sp>
        <p:nvSpPr>
          <p:cNvPr id="3" name="Content Placeholder 2"/>
          <p:cNvSpPr>
            <a:spLocks noGrp="1"/>
          </p:cNvSpPr>
          <p:nvPr>
            <p:ph idx="1"/>
          </p:nvPr>
        </p:nvSpPr>
        <p:spPr>
          <a:xfrm>
            <a:off x="457200" y="1600200"/>
            <a:ext cx="8382000" cy="5029200"/>
          </a:xfrm>
        </p:spPr>
        <p:txBody>
          <a:bodyPr>
            <a:normAutofit/>
          </a:bodyPr>
          <a:lstStyle/>
          <a:p>
            <a:r>
              <a:rPr lang="en-US" b="1" dirty="0" smtClean="0"/>
              <a:t>ACCURACY</a:t>
            </a:r>
            <a:r>
              <a:rPr lang="en-US" dirty="0" smtClean="0"/>
              <a:t>: Accuracy </a:t>
            </a:r>
            <a:r>
              <a:rPr lang="en-US" dirty="0"/>
              <a:t>is about how close measurements are to the ‘true </a:t>
            </a:r>
            <a:r>
              <a:rPr lang="en-US" dirty="0" smtClean="0"/>
              <a:t>value.  A qualitative </a:t>
            </a:r>
            <a:r>
              <a:rPr lang="en-US" dirty="0"/>
              <a:t>term that describes how close a set </a:t>
            </a:r>
            <a:r>
              <a:rPr lang="en-US" dirty="0" smtClean="0"/>
              <a:t>of measurements </a:t>
            </a:r>
            <a:r>
              <a:rPr lang="en-US" dirty="0"/>
              <a:t>are to the actual (true) </a:t>
            </a:r>
            <a:r>
              <a:rPr lang="en-US" dirty="0" smtClean="0"/>
              <a:t>value.</a:t>
            </a:r>
          </a:p>
          <a:p>
            <a:r>
              <a:rPr lang="en-US" b="1" dirty="0" smtClean="0"/>
              <a:t>PRECISION</a:t>
            </a:r>
            <a:r>
              <a:rPr lang="en-US" dirty="0" smtClean="0"/>
              <a:t>: Describes </a:t>
            </a:r>
            <a:r>
              <a:rPr lang="en-US" dirty="0"/>
              <a:t>the spread of these measurements </a:t>
            </a:r>
            <a:r>
              <a:rPr lang="en-US" dirty="0" smtClean="0"/>
              <a:t>when repeated </a:t>
            </a:r>
            <a:r>
              <a:rPr lang="en-US" dirty="0"/>
              <a:t>- a measurement that has high precision </a:t>
            </a:r>
            <a:r>
              <a:rPr lang="en-US" dirty="0" smtClean="0"/>
              <a:t>has good repeatability.</a:t>
            </a:r>
          </a:p>
          <a:p>
            <a:pPr marL="514350" indent="-514350">
              <a:buNone/>
            </a:pPr>
            <a:endParaRPr lang="en-US" dirty="0"/>
          </a:p>
        </p:txBody>
      </p:sp>
    </p:spTree>
  </p:cSld>
  <p:clrMapOvr>
    <a:masterClrMapping/>
  </p:clrMapOvr>
  <p:transition>
    <p:wheel spokes="8"/>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Measurement characteristics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57200" y="1905000"/>
            <a:ext cx="8382000" cy="3429000"/>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7772400" cy="762000"/>
          </a:xfrm>
        </p:spPr>
        <p:txBody>
          <a:bodyPr/>
          <a:lstStyle/>
          <a:p>
            <a:r>
              <a:rPr lang="en-US" dirty="0" smtClean="0"/>
              <a:t>Important terms cont……</a:t>
            </a:r>
            <a:endParaRPr lang="en-US" dirty="0"/>
          </a:p>
        </p:txBody>
      </p:sp>
      <p:sp>
        <p:nvSpPr>
          <p:cNvPr id="3" name="Subtitle 2"/>
          <p:cNvSpPr>
            <a:spLocks noGrp="1"/>
          </p:cNvSpPr>
          <p:nvPr>
            <p:ph type="subTitle" idx="1"/>
          </p:nvPr>
        </p:nvSpPr>
        <p:spPr>
          <a:xfrm>
            <a:off x="457200" y="1447800"/>
            <a:ext cx="7772400" cy="5181600"/>
          </a:xfrm>
        </p:spPr>
        <p:txBody>
          <a:bodyPr>
            <a:normAutofit fontScale="92500" lnSpcReduction="10000"/>
          </a:bodyPr>
          <a:lstStyle/>
          <a:p>
            <a:pPr algn="l"/>
            <a:r>
              <a:rPr lang="en-US" b="1" dirty="0" smtClean="0"/>
              <a:t>ERROR</a:t>
            </a:r>
            <a:r>
              <a:rPr lang="en-US" dirty="0" smtClean="0"/>
              <a:t>: is </a:t>
            </a:r>
            <a:r>
              <a:rPr lang="en-US" dirty="0"/>
              <a:t>the difference between the measured value and </a:t>
            </a:r>
            <a:r>
              <a:rPr lang="en-US" dirty="0" smtClean="0"/>
              <a:t>the true </a:t>
            </a:r>
            <a:r>
              <a:rPr lang="en-US" dirty="0"/>
              <a:t>value of the </a:t>
            </a:r>
            <a:r>
              <a:rPr lang="en-US" dirty="0" smtClean="0"/>
              <a:t>quantity being measured.</a:t>
            </a:r>
          </a:p>
          <a:p>
            <a:pPr algn="l"/>
            <a:r>
              <a:rPr lang="en-US" b="1" dirty="0" smtClean="0"/>
              <a:t>TRUE VALUE</a:t>
            </a:r>
            <a:r>
              <a:rPr lang="en-US" dirty="0" smtClean="0"/>
              <a:t>: is </a:t>
            </a:r>
            <a:r>
              <a:rPr lang="en-US" dirty="0"/>
              <a:t>the value that would be obtained by a </a:t>
            </a:r>
            <a:r>
              <a:rPr lang="en-US" dirty="0" smtClean="0"/>
              <a:t>theoretically perfect measurement</a:t>
            </a:r>
          </a:p>
          <a:p>
            <a:pPr algn="l"/>
            <a:r>
              <a:rPr lang="en-US" b="1" dirty="0" smtClean="0"/>
              <a:t>TOLERANCE</a:t>
            </a:r>
            <a:r>
              <a:rPr lang="en-US" dirty="0" smtClean="0"/>
              <a:t>: This is the maximum agreed allowable variation between the actual value of quantity and the value specified for it</a:t>
            </a:r>
          </a:p>
          <a:p>
            <a:pPr algn="l"/>
            <a:r>
              <a:rPr lang="en-US" b="1" dirty="0" smtClean="0"/>
              <a:t>UNCERTAINITY:</a:t>
            </a:r>
            <a:r>
              <a:rPr lang="en-US" dirty="0" smtClean="0"/>
              <a:t> this is the quantification of the doubt existing about the measurement results that tells something </a:t>
            </a:r>
            <a:r>
              <a:rPr lang="en-US" smtClean="0"/>
              <a:t>about its </a:t>
            </a:r>
            <a:r>
              <a:rPr lang="en-US" dirty="0" smtClean="0"/>
              <a:t>quality</a:t>
            </a:r>
          </a:p>
          <a:p>
            <a:pPr algn="l"/>
            <a:endParaRPr lang="en-US" dirty="0" smtClean="0"/>
          </a:p>
          <a:p>
            <a:pPr algn="l"/>
            <a:endParaRPr lang="en-US" dirty="0"/>
          </a:p>
        </p:txBody>
      </p:sp>
    </p:spTree>
  </p:cSld>
  <p:clrMapOvr>
    <a:masterClrMapping/>
  </p:clrMapOvr>
  <p:transition>
    <p:wheel spokes="8"/>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r>
              <a:rPr lang="en-US" sz="4000" b="1" cap="all" dirty="0" smtClean="0"/>
              <a:t/>
            </a:r>
            <a:br>
              <a:rPr lang="en-US" sz="4000" b="1" cap="all" dirty="0" smtClean="0"/>
            </a:br>
            <a:r>
              <a:rPr lang="en-US" sz="4000" b="1" cap="all" dirty="0" smtClean="0"/>
              <a:t>THE </a:t>
            </a:r>
            <a:r>
              <a:rPr lang="en-US" sz="4000" b="1" cap="all" dirty="0"/>
              <a:t>UNCERTAINTY OF MEASUREMENTS</a:t>
            </a:r>
            <a:r>
              <a:rPr lang="en-US" dirty="0"/>
              <a:t/>
            </a:r>
            <a:br>
              <a:rPr lang="en-US" dirty="0"/>
            </a:br>
            <a:endParaRPr lang="en-US" dirty="0"/>
          </a:p>
        </p:txBody>
      </p:sp>
      <p:sp>
        <p:nvSpPr>
          <p:cNvPr id="3" name="Content Placeholder 2"/>
          <p:cNvSpPr>
            <a:spLocks noGrp="1"/>
          </p:cNvSpPr>
          <p:nvPr>
            <p:ph idx="1"/>
          </p:nvPr>
        </p:nvSpPr>
        <p:spPr>
          <a:xfrm>
            <a:off x="457200" y="1417638"/>
            <a:ext cx="8229600" cy="5059362"/>
          </a:xfrm>
        </p:spPr>
        <p:txBody>
          <a:bodyPr>
            <a:normAutofit lnSpcReduction="10000"/>
          </a:bodyPr>
          <a:lstStyle/>
          <a:p>
            <a:r>
              <a:rPr lang="en-US" dirty="0"/>
              <a:t>Some numerical statements are </a:t>
            </a:r>
            <a:r>
              <a:rPr lang="en-US" dirty="0" smtClean="0">
                <a:solidFill>
                  <a:srgbClr val="FF0000"/>
                </a:solidFill>
              </a:rPr>
              <a:t>exact</a:t>
            </a:r>
            <a:r>
              <a:rPr lang="en-US" dirty="0" smtClean="0"/>
              <a:t>; for example:</a:t>
            </a:r>
          </a:p>
          <a:p>
            <a:pPr marL="0" indent="0">
              <a:buNone/>
            </a:pPr>
            <a:r>
              <a:rPr lang="en-US" dirty="0" smtClean="0"/>
              <a:t>    (i) Mary </a:t>
            </a:r>
            <a:r>
              <a:rPr lang="en-US" dirty="0"/>
              <a:t>has 3 brothers, and </a:t>
            </a:r>
            <a:endParaRPr lang="en-US" dirty="0" smtClean="0"/>
          </a:p>
          <a:p>
            <a:pPr marL="0" indent="0">
              <a:buNone/>
            </a:pPr>
            <a:r>
              <a:rPr lang="en-US" dirty="0"/>
              <a:t> </a:t>
            </a:r>
            <a:r>
              <a:rPr lang="en-US" dirty="0" smtClean="0"/>
              <a:t>    (ii) 2 </a:t>
            </a:r>
            <a:r>
              <a:rPr lang="en-US" dirty="0"/>
              <a:t>+ 2 = 4. </a:t>
            </a:r>
            <a:endParaRPr lang="en-US" dirty="0" smtClean="0"/>
          </a:p>
          <a:p>
            <a:r>
              <a:rPr lang="en-US" dirty="0" smtClean="0"/>
              <a:t>However</a:t>
            </a:r>
            <a:r>
              <a:rPr lang="en-US" dirty="0"/>
              <a:t>, all </a:t>
            </a:r>
            <a:r>
              <a:rPr lang="en-US" b="1" dirty="0"/>
              <a:t>measurements</a:t>
            </a:r>
            <a:r>
              <a:rPr lang="en-US" dirty="0"/>
              <a:t> have some </a:t>
            </a:r>
            <a:r>
              <a:rPr lang="en-US" dirty="0">
                <a:solidFill>
                  <a:srgbClr val="FF0000"/>
                </a:solidFill>
              </a:rPr>
              <a:t>degree of uncertainty</a:t>
            </a:r>
            <a:r>
              <a:rPr lang="en-US" dirty="0"/>
              <a:t> that may come from a variety of sources. </a:t>
            </a:r>
            <a:endParaRPr lang="en-US" dirty="0" smtClean="0"/>
          </a:p>
          <a:p>
            <a:r>
              <a:rPr lang="en-US" dirty="0" smtClean="0"/>
              <a:t>The </a:t>
            </a:r>
            <a:r>
              <a:rPr lang="en-US" dirty="0"/>
              <a:t>process of evaluating the uncertainty associated with a measurement result is often called </a:t>
            </a:r>
            <a:r>
              <a:rPr lang="en-US" b="1" dirty="0"/>
              <a:t>uncertainty analysis</a:t>
            </a:r>
            <a:r>
              <a:rPr lang="en-US" dirty="0"/>
              <a:t> or </a:t>
            </a:r>
            <a:r>
              <a:rPr lang="en-US" b="1" dirty="0"/>
              <a:t>error analysis</a:t>
            </a:r>
            <a:r>
              <a:rPr lang="en-US" dirty="0"/>
              <a:t>. </a:t>
            </a:r>
          </a:p>
        </p:txBody>
      </p:sp>
    </p:spTree>
    <p:extLst>
      <p:ext uri="{BB962C8B-B14F-4D97-AF65-F5344CB8AC3E}">
        <p14:creationId xmlns:p14="http://schemas.microsoft.com/office/powerpoint/2010/main" val="1222563040"/>
      </p:ext>
    </p:extLst>
  </p:cSld>
  <p:clrMapOvr>
    <a:masterClrMapping/>
  </p:clrMapOvr>
  <p:transition>
    <p:wheel spokes="8"/>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smtClean="0"/>
              <a:t>Uncertainty …</a:t>
            </a:r>
            <a:endParaRPr lang="en-US" dirty="0"/>
          </a:p>
        </p:txBody>
      </p:sp>
      <p:sp>
        <p:nvSpPr>
          <p:cNvPr id="3" name="Content Placeholder 2"/>
          <p:cNvSpPr>
            <a:spLocks noGrp="1"/>
          </p:cNvSpPr>
          <p:nvPr>
            <p:ph idx="1"/>
          </p:nvPr>
        </p:nvSpPr>
        <p:spPr>
          <a:xfrm>
            <a:off x="457200" y="1295400"/>
            <a:ext cx="8229600" cy="4953000"/>
          </a:xfrm>
        </p:spPr>
        <p:txBody>
          <a:bodyPr>
            <a:normAutofit lnSpcReduction="10000"/>
          </a:bodyPr>
          <a:lstStyle/>
          <a:p>
            <a:r>
              <a:rPr lang="en-US" dirty="0"/>
              <a:t>The complete statement of a measured value should include an </a:t>
            </a:r>
            <a:r>
              <a:rPr lang="en-US" dirty="0">
                <a:solidFill>
                  <a:srgbClr val="FF0000"/>
                </a:solidFill>
              </a:rPr>
              <a:t>estimate</a:t>
            </a:r>
            <a:r>
              <a:rPr lang="en-US" dirty="0"/>
              <a:t> of the level of confidence associated with the value</a:t>
            </a:r>
            <a:r>
              <a:rPr lang="en-US" dirty="0" smtClean="0"/>
              <a:t>.</a:t>
            </a:r>
          </a:p>
          <a:p>
            <a:r>
              <a:rPr lang="en-US" dirty="0"/>
              <a:t>Without an uncertainty estimate, it is impossible to answer the basic scientific question: "Does my result agree with a theoretical prediction or results from other experiments?" </a:t>
            </a:r>
            <a:endParaRPr lang="en-US" dirty="0" smtClean="0"/>
          </a:p>
          <a:p>
            <a:r>
              <a:rPr lang="en-US" dirty="0" smtClean="0"/>
              <a:t>This </a:t>
            </a:r>
            <a:r>
              <a:rPr lang="en-US" dirty="0"/>
              <a:t>question is fundamental for deciding if a scientific hypothesis is confirmed or refuted. </a:t>
            </a:r>
          </a:p>
        </p:txBody>
      </p:sp>
    </p:spTree>
    <p:extLst>
      <p:ext uri="{BB962C8B-B14F-4D97-AF65-F5344CB8AC3E}">
        <p14:creationId xmlns:p14="http://schemas.microsoft.com/office/powerpoint/2010/main" val="756557353"/>
      </p:ext>
    </p:extLst>
  </p:cSld>
  <p:clrMapOvr>
    <a:masterClrMapping/>
  </p:clrMapOvr>
  <p:transition>
    <p:wheel spokes="8"/>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When we make a measurement, we generally </a:t>
            </a:r>
            <a:r>
              <a:rPr lang="en-US" dirty="0">
                <a:solidFill>
                  <a:srgbClr val="FF0000"/>
                </a:solidFill>
              </a:rPr>
              <a:t>assume</a:t>
            </a:r>
            <a:r>
              <a:rPr lang="en-US" dirty="0"/>
              <a:t> that some exact or true value exists based on how we define what is being measured</a:t>
            </a:r>
          </a:p>
          <a:p>
            <a:endParaRPr lang="en-US" dirty="0"/>
          </a:p>
          <a:p>
            <a:endParaRPr lang="en-US" dirty="0"/>
          </a:p>
        </p:txBody>
      </p:sp>
    </p:spTree>
    <p:extLst>
      <p:ext uri="{BB962C8B-B14F-4D97-AF65-F5344CB8AC3E}">
        <p14:creationId xmlns:p14="http://schemas.microsoft.com/office/powerpoint/2010/main" val="1086940034"/>
      </p:ext>
    </p:extLst>
  </p:cSld>
  <p:clrMapOvr>
    <a:masterClrMapping/>
  </p:clrMapOvr>
  <p:transition>
    <p:wheel spokes="8"/>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
            </a:r>
            <a:br>
              <a:rPr lang="en-US" sz="4000" b="1" dirty="0" smtClean="0"/>
            </a:br>
            <a:r>
              <a:rPr lang="en-US" sz="4000" b="1" dirty="0" smtClean="0"/>
              <a:t>Errors </a:t>
            </a:r>
            <a:r>
              <a:rPr lang="en-US" sz="4000" b="1" dirty="0"/>
              <a:t>in measurement of Physical Quantities</a:t>
            </a:r>
            <a:r>
              <a:rPr lang="en-US" b="1" dirty="0"/>
              <a:t/>
            </a:r>
            <a:br>
              <a:rPr lang="en-US" b="1" dirty="0"/>
            </a:b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dirty="0"/>
              <a:t>Any measurement made with a measuring device is </a:t>
            </a:r>
            <a:r>
              <a:rPr lang="en-US" i="1" dirty="0">
                <a:solidFill>
                  <a:srgbClr val="FF0000"/>
                </a:solidFill>
              </a:rPr>
              <a:t>approximate</a:t>
            </a:r>
            <a:r>
              <a:rPr lang="en-US" dirty="0"/>
              <a:t>. If you measure the same object two different times, the two measurements may </a:t>
            </a:r>
            <a:r>
              <a:rPr lang="en-US" i="1" dirty="0">
                <a:solidFill>
                  <a:srgbClr val="FF0000"/>
                </a:solidFill>
              </a:rPr>
              <a:t>not be exactly the same</a:t>
            </a:r>
            <a:r>
              <a:rPr lang="en-US" dirty="0"/>
              <a:t>. The difference between two measurements is called an </a:t>
            </a:r>
            <a:r>
              <a:rPr lang="en-US" dirty="0">
                <a:solidFill>
                  <a:srgbClr val="0070C0"/>
                </a:solidFill>
              </a:rPr>
              <a:t>error</a:t>
            </a:r>
            <a:r>
              <a:rPr lang="en-US" dirty="0"/>
              <a:t>. </a:t>
            </a:r>
            <a:endParaRPr lang="en-US" dirty="0" smtClean="0"/>
          </a:p>
          <a:p>
            <a:r>
              <a:rPr lang="en-US" dirty="0" smtClean="0"/>
              <a:t>The </a:t>
            </a:r>
            <a:r>
              <a:rPr lang="en-US" dirty="0"/>
              <a:t>error in measurement is a mathematical way to </a:t>
            </a:r>
            <a:r>
              <a:rPr lang="en-US" dirty="0">
                <a:solidFill>
                  <a:srgbClr val="0070C0"/>
                </a:solidFill>
              </a:rPr>
              <a:t>show the uncertainty </a:t>
            </a:r>
            <a:r>
              <a:rPr lang="en-US" dirty="0"/>
              <a:t>in the measurement. It is the difference between the result of the measurement and the true value.</a:t>
            </a:r>
          </a:p>
          <a:p>
            <a:endParaRPr lang="en-US" dirty="0"/>
          </a:p>
        </p:txBody>
      </p:sp>
    </p:spTree>
    <p:extLst>
      <p:ext uri="{BB962C8B-B14F-4D97-AF65-F5344CB8AC3E}">
        <p14:creationId xmlns:p14="http://schemas.microsoft.com/office/powerpoint/2010/main" val="3642466982"/>
      </p:ext>
    </p:extLst>
  </p:cSld>
  <p:clrMapOvr>
    <a:masterClrMapping/>
  </p:clrMapOvr>
  <p:transition>
    <p:wheel spokes="8"/>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Types </a:t>
            </a:r>
            <a:r>
              <a:rPr lang="en-US" b="1" dirty="0"/>
              <a:t>of errors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u="sng" dirty="0"/>
              <a:t>Instrumental (or constant) Error</a:t>
            </a:r>
            <a:r>
              <a:rPr lang="en-US" dirty="0"/>
              <a:t>: These errors are caused due to fault construction of instruments. Such errors can be minimized by taking same measurement with different accurate instruments.</a:t>
            </a:r>
          </a:p>
          <a:p>
            <a:pPr lvl="0"/>
            <a:r>
              <a:rPr lang="en-US" u="sng" dirty="0"/>
              <a:t>Systematic (Persistent) Error</a:t>
            </a:r>
            <a:r>
              <a:rPr lang="en-US" dirty="0"/>
              <a:t>: This is an error due to defective setting of an instrument. Such error can be minimized by detecting its causes</a:t>
            </a:r>
            <a:r>
              <a:rPr lang="en-US" dirty="0" smtClean="0"/>
              <a:t>.</a:t>
            </a:r>
            <a:endParaRPr lang="en-US" dirty="0"/>
          </a:p>
        </p:txBody>
      </p:sp>
    </p:spTree>
    <p:extLst>
      <p:ext uri="{BB962C8B-B14F-4D97-AF65-F5344CB8AC3E}">
        <p14:creationId xmlns:p14="http://schemas.microsoft.com/office/powerpoint/2010/main" val="3473119823"/>
      </p:ext>
    </p:extLst>
  </p:cSld>
  <p:clrMapOvr>
    <a:masterClrMapping/>
  </p:clrMapOvr>
  <p:transition>
    <p:wheel spokes="8"/>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error ….</a:t>
            </a:r>
            <a:endParaRPr lang="en-US" dirty="0"/>
          </a:p>
        </p:txBody>
      </p:sp>
      <p:sp>
        <p:nvSpPr>
          <p:cNvPr id="3" name="Content Placeholder 2"/>
          <p:cNvSpPr>
            <a:spLocks noGrp="1"/>
          </p:cNvSpPr>
          <p:nvPr>
            <p:ph idx="1"/>
          </p:nvPr>
        </p:nvSpPr>
        <p:spPr/>
        <p:txBody>
          <a:bodyPr>
            <a:normAutofit fontScale="92500" lnSpcReduction="10000"/>
          </a:bodyPr>
          <a:lstStyle/>
          <a:p>
            <a:pPr lvl="0"/>
            <a:r>
              <a:rPr lang="en-US" u="sng" dirty="0"/>
              <a:t>Personal Error</a:t>
            </a:r>
            <a:r>
              <a:rPr lang="en-US" dirty="0"/>
              <a:t>: These errors introduced due to fault of an observer taking readings, referred to human error.</a:t>
            </a:r>
          </a:p>
          <a:p>
            <a:pPr lvl="0"/>
            <a:r>
              <a:rPr lang="en-US" u="sng" dirty="0"/>
              <a:t>Random (Accidental) Error</a:t>
            </a:r>
            <a:r>
              <a:rPr lang="en-US" dirty="0"/>
              <a:t>: Even after minimizing above types of errors, error may occur due to different factors like pressure, temperature fluctuation in voltage while the experiment is being performed. </a:t>
            </a:r>
            <a:endParaRPr lang="en-US" dirty="0" smtClean="0"/>
          </a:p>
          <a:p>
            <a:pPr lvl="0"/>
            <a:r>
              <a:rPr lang="en-US" dirty="0" smtClean="0"/>
              <a:t>Such </a:t>
            </a:r>
            <a:r>
              <a:rPr lang="en-US" dirty="0"/>
              <a:t>errors cannot be eliminated but can be minimized</a:t>
            </a:r>
          </a:p>
          <a:p>
            <a:endParaRPr lang="en-US" dirty="0"/>
          </a:p>
        </p:txBody>
      </p:sp>
    </p:spTree>
    <p:extLst>
      <p:ext uri="{BB962C8B-B14F-4D97-AF65-F5344CB8AC3E}">
        <p14:creationId xmlns:p14="http://schemas.microsoft.com/office/powerpoint/2010/main" val="1529757372"/>
      </p:ext>
    </p:extLst>
  </p:cSld>
  <p:clrMapOvr>
    <a:masterClrMapping/>
  </p:clrMapOvr>
  <p:transition>
    <p:wheel spokes="8"/>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Analysis</a:t>
            </a:r>
            <a:endParaRPr lang="en-US" dirty="0"/>
          </a:p>
        </p:txBody>
      </p:sp>
      <p:sp>
        <p:nvSpPr>
          <p:cNvPr id="3" name="Content Placeholder 2"/>
          <p:cNvSpPr>
            <a:spLocks noGrp="1"/>
          </p:cNvSpPr>
          <p:nvPr>
            <p:ph idx="1"/>
          </p:nvPr>
        </p:nvSpPr>
        <p:spPr>
          <a:xfrm>
            <a:off x="457200" y="1417638"/>
            <a:ext cx="8229600" cy="5135562"/>
          </a:xfrm>
        </p:spPr>
        <p:txBody>
          <a:bodyPr>
            <a:normAutofit lnSpcReduction="10000"/>
          </a:bodyPr>
          <a:lstStyle/>
          <a:p>
            <a:r>
              <a:rPr lang="en-US" b="1" dirty="0" smtClean="0"/>
              <a:t>Error in </a:t>
            </a:r>
            <a:r>
              <a:rPr lang="en-US" dirty="0" smtClean="0"/>
              <a:t>measurement</a:t>
            </a:r>
            <a:r>
              <a:rPr lang="en-US" dirty="0"/>
              <a:t>  is the amount of </a:t>
            </a:r>
            <a:r>
              <a:rPr lang="en-US" dirty="0" smtClean="0">
                <a:solidFill>
                  <a:srgbClr val="0070C0"/>
                </a:solidFill>
              </a:rPr>
              <a:t>inaccuracy</a:t>
            </a:r>
            <a:r>
              <a:rPr lang="en-US" dirty="0" smtClean="0"/>
              <a:t>. It tells more about the different that exist between the true value (theoretical) and the measured result.</a:t>
            </a:r>
          </a:p>
          <a:p>
            <a:r>
              <a:rPr lang="en-US" dirty="0" smtClean="0"/>
              <a:t>The error occurs as a result of </a:t>
            </a:r>
            <a:r>
              <a:rPr lang="en-US" dirty="0" smtClean="0">
                <a:solidFill>
                  <a:srgbClr val="FF0000"/>
                </a:solidFill>
              </a:rPr>
              <a:t>uncertainties</a:t>
            </a:r>
            <a:r>
              <a:rPr lang="en-US" dirty="0" smtClean="0"/>
              <a:t>. In other words it is a result of some assumed factors that may be not easy to control.</a:t>
            </a:r>
          </a:p>
          <a:p>
            <a:r>
              <a:rPr lang="en-US" dirty="0" smtClean="0"/>
              <a:t>Therefore, for the error not to affect measurement, it must be within agreed standard.</a:t>
            </a:r>
          </a:p>
          <a:p>
            <a:endParaRPr lang="en-US" dirty="0"/>
          </a:p>
        </p:txBody>
      </p:sp>
    </p:spTree>
    <p:extLst>
      <p:ext uri="{BB962C8B-B14F-4D97-AF65-F5344CB8AC3E}">
        <p14:creationId xmlns:p14="http://schemas.microsoft.com/office/powerpoint/2010/main" val="771743255"/>
      </p:ext>
    </p:extLst>
  </p:cSld>
  <p:clrMapOvr>
    <a:masterClrMapping/>
  </p:clrMapOvr>
  <p:transition>
    <p:wheel spokes="8"/>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a:t>
            </a:r>
            <a:r>
              <a:rPr lang="en-US" dirty="0" smtClean="0"/>
              <a:t>Analysis……..</a:t>
            </a:r>
            <a:endParaRPr lang="en-US" dirty="0"/>
          </a:p>
        </p:txBody>
      </p:sp>
      <p:sp>
        <p:nvSpPr>
          <p:cNvPr id="3" name="Content Placeholder 2"/>
          <p:cNvSpPr>
            <a:spLocks noGrp="1"/>
          </p:cNvSpPr>
          <p:nvPr>
            <p:ph idx="1"/>
          </p:nvPr>
        </p:nvSpPr>
        <p:spPr/>
        <p:txBody>
          <a:bodyPr>
            <a:normAutofit/>
          </a:bodyPr>
          <a:lstStyle/>
          <a:p>
            <a:r>
              <a:rPr lang="en-US" dirty="0" smtClean="0"/>
              <a:t>Unfortunately, the terms</a:t>
            </a:r>
            <a:r>
              <a:rPr lang="en-US" dirty="0"/>
              <a:t> </a:t>
            </a:r>
            <a:r>
              <a:rPr lang="en-US" b="1" dirty="0"/>
              <a:t>error</a:t>
            </a:r>
            <a:r>
              <a:rPr lang="en-US" dirty="0"/>
              <a:t> and </a:t>
            </a:r>
            <a:r>
              <a:rPr lang="en-US" b="1" dirty="0"/>
              <a:t>uncertainty</a:t>
            </a:r>
            <a:r>
              <a:rPr lang="en-US" dirty="0"/>
              <a:t> are often used interchangeably to describe both </a:t>
            </a:r>
            <a:r>
              <a:rPr lang="en-US" dirty="0">
                <a:solidFill>
                  <a:srgbClr val="FF0000"/>
                </a:solidFill>
              </a:rPr>
              <a:t>imprecision</a:t>
            </a:r>
            <a:r>
              <a:rPr lang="en-US" dirty="0"/>
              <a:t> and </a:t>
            </a:r>
            <a:r>
              <a:rPr lang="en-US" dirty="0">
                <a:solidFill>
                  <a:srgbClr val="FF0000"/>
                </a:solidFill>
              </a:rPr>
              <a:t>inaccuracy</a:t>
            </a:r>
            <a:r>
              <a:rPr lang="en-US" dirty="0"/>
              <a:t>. This usage is so common that it is impossible to avoid entirely. </a:t>
            </a:r>
            <a:endParaRPr lang="en-US" dirty="0" smtClean="0"/>
          </a:p>
          <a:p>
            <a:r>
              <a:rPr lang="en-US" dirty="0" smtClean="0"/>
              <a:t>Whenever </a:t>
            </a:r>
            <a:r>
              <a:rPr lang="en-US" dirty="0"/>
              <a:t>you encounter these terms, make sure you understand whether they refer to accuracy or precision, or both. </a:t>
            </a:r>
          </a:p>
        </p:txBody>
      </p:sp>
    </p:spTree>
    <p:extLst>
      <p:ext uri="{BB962C8B-B14F-4D97-AF65-F5344CB8AC3E}">
        <p14:creationId xmlns:p14="http://schemas.microsoft.com/office/powerpoint/2010/main" val="1499682555"/>
      </p:ext>
    </p:extLst>
  </p:cSld>
  <p:clrMapOvr>
    <a:masterClrMapping/>
  </p:clrMapOvr>
  <p:transition>
    <p:wheel spokes="8"/>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a:t>
            </a:r>
            <a:r>
              <a:rPr lang="en-US" dirty="0" smtClean="0"/>
              <a:t>Analysis……</a:t>
            </a:r>
            <a:endParaRPr lang="en-US" dirty="0"/>
          </a:p>
        </p:txBody>
      </p:sp>
      <p:sp>
        <p:nvSpPr>
          <p:cNvPr id="3" name="Content Placeholder 2"/>
          <p:cNvSpPr>
            <a:spLocks noGrp="1"/>
          </p:cNvSpPr>
          <p:nvPr>
            <p:ph idx="1"/>
          </p:nvPr>
        </p:nvSpPr>
        <p:spPr/>
        <p:txBody>
          <a:bodyPr/>
          <a:lstStyle/>
          <a:p>
            <a:r>
              <a:rPr lang="en-US" dirty="0"/>
              <a:t>Notice that in order to determine the </a:t>
            </a:r>
            <a:r>
              <a:rPr lang="en-US" b="1" dirty="0"/>
              <a:t>accuracy</a:t>
            </a:r>
            <a:r>
              <a:rPr lang="en-US" dirty="0"/>
              <a:t> of a particular measurement, we have to know the ideal, true value. </a:t>
            </a:r>
          </a:p>
          <a:p>
            <a:endParaRPr lang="en-US" dirty="0"/>
          </a:p>
        </p:txBody>
      </p:sp>
    </p:spTree>
    <p:extLst>
      <p:ext uri="{BB962C8B-B14F-4D97-AF65-F5344CB8AC3E}">
        <p14:creationId xmlns:p14="http://schemas.microsoft.com/office/powerpoint/2010/main" val="921693223"/>
      </p:ext>
    </p:extLst>
  </p:cSld>
  <p:clrMapOvr>
    <a:masterClrMapping/>
  </p:clrMapOvr>
  <p:transition>
    <p:wheel spokes="8"/>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a:t>
            </a:r>
            <a:r>
              <a:rPr lang="en-US" dirty="0" smtClean="0"/>
              <a:t>Analysis…….</a:t>
            </a:r>
            <a:endParaRPr lang="en-US" dirty="0"/>
          </a:p>
        </p:txBody>
      </p:sp>
      <p:sp>
        <p:nvSpPr>
          <p:cNvPr id="3" name="Content Placeholder 2"/>
          <p:cNvSpPr>
            <a:spLocks noGrp="1"/>
          </p:cNvSpPr>
          <p:nvPr>
            <p:ph idx="1"/>
          </p:nvPr>
        </p:nvSpPr>
        <p:spPr/>
        <p:txBody>
          <a:bodyPr/>
          <a:lstStyle/>
          <a:p>
            <a:r>
              <a:rPr lang="en-US" dirty="0"/>
              <a:t>Precision is often reported quantitatively by using </a:t>
            </a:r>
            <a:r>
              <a:rPr lang="en-US" b="1" dirty="0"/>
              <a:t>relative</a:t>
            </a:r>
            <a:r>
              <a:rPr lang="en-US" dirty="0"/>
              <a:t> or </a:t>
            </a:r>
            <a:r>
              <a:rPr lang="en-US" b="1" dirty="0"/>
              <a:t>fractional </a:t>
            </a:r>
            <a:r>
              <a:rPr lang="en-US" b="1" dirty="0" smtClean="0"/>
              <a:t>uncertainty</a:t>
            </a:r>
          </a:p>
          <a:p>
            <a:pPr marL="0" indent="0">
              <a:buNone/>
            </a:pPr>
            <a:r>
              <a:rPr lang="en-US" dirty="0"/>
              <a:t> </a:t>
            </a:r>
            <a:r>
              <a:rPr lang="en-US" dirty="0" smtClean="0"/>
              <a:t>   Relative </a:t>
            </a:r>
            <a:r>
              <a:rPr lang="en-US" dirty="0"/>
              <a:t>Uncertainty = </a:t>
            </a:r>
            <a:r>
              <a:rPr lang="en-US" u="sng" dirty="0" smtClean="0"/>
              <a:t>uncertainty               </a:t>
            </a:r>
          </a:p>
          <a:p>
            <a:pPr marL="0" indent="0">
              <a:buNone/>
            </a:pPr>
            <a:r>
              <a:rPr lang="en-US" dirty="0"/>
              <a:t> </a:t>
            </a:r>
            <a:r>
              <a:rPr lang="en-US" dirty="0" smtClean="0"/>
              <a:t>                                            measured quantity</a:t>
            </a:r>
          </a:p>
          <a:p>
            <a:pPr marL="0" indent="0">
              <a:buNone/>
            </a:pPr>
            <a:r>
              <a:rPr lang="en-US" dirty="0" smtClean="0"/>
              <a:t> </a:t>
            </a:r>
            <a:r>
              <a:rPr lang="en-US" u="sng" dirty="0" smtClean="0"/>
              <a:t>For example</a:t>
            </a:r>
            <a:r>
              <a:rPr lang="en-US" dirty="0" smtClean="0"/>
              <a:t>: If the measured value is 75.5g </a:t>
            </a:r>
            <a:r>
              <a:rPr lang="en-US" dirty="0"/>
              <a:t> </a:t>
            </a:r>
            <a:r>
              <a:rPr lang="en-US" dirty="0" smtClean="0"/>
              <a:t>  with possible error ± 0.5g the relative uncertainty = 0.5/75.5</a:t>
            </a:r>
          </a:p>
          <a:p>
            <a:pPr marL="0" indent="0">
              <a:buNone/>
            </a:pPr>
            <a:r>
              <a:rPr lang="en-US" dirty="0"/>
              <a:t>	</a:t>
            </a:r>
            <a:r>
              <a:rPr lang="en-US" dirty="0" smtClean="0"/>
              <a:t>	= 0.06%</a:t>
            </a:r>
            <a:endParaRPr lang="en-US" dirty="0"/>
          </a:p>
        </p:txBody>
      </p:sp>
    </p:spTree>
    <p:extLst>
      <p:ext uri="{BB962C8B-B14F-4D97-AF65-F5344CB8AC3E}">
        <p14:creationId xmlns:p14="http://schemas.microsoft.com/office/powerpoint/2010/main" val="3506324313"/>
      </p:ext>
    </p:extLst>
  </p:cSld>
  <p:clrMapOvr>
    <a:masterClrMapping/>
  </p:clrMapOvr>
  <p:transition>
    <p:wheel spokes="8"/>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Relative error</a:t>
            </a:r>
            <a:endParaRPr lang="en-US" dirty="0"/>
          </a:p>
        </p:txBody>
      </p:sp>
      <p:sp>
        <p:nvSpPr>
          <p:cNvPr id="3" name="Content Placeholder 2"/>
          <p:cNvSpPr>
            <a:spLocks noGrp="1"/>
          </p:cNvSpPr>
          <p:nvPr>
            <p:ph idx="1"/>
          </p:nvPr>
        </p:nvSpPr>
        <p:spPr/>
        <p:txBody>
          <a:bodyPr/>
          <a:lstStyle/>
          <a:p>
            <a:r>
              <a:rPr lang="en-US" dirty="0"/>
              <a:t>Accuracy is often reported quantitatively by using </a:t>
            </a:r>
            <a:r>
              <a:rPr lang="en-US" b="1" dirty="0"/>
              <a:t>relative </a:t>
            </a:r>
            <a:r>
              <a:rPr lang="en-US" b="1" dirty="0" smtClean="0"/>
              <a:t>error</a:t>
            </a:r>
          </a:p>
          <a:p>
            <a:pPr marL="0" indent="0">
              <a:buNone/>
            </a:pPr>
            <a:endParaRPr lang="en-US" b="1" dirty="0"/>
          </a:p>
          <a:p>
            <a:pPr marL="0" indent="0">
              <a:buNone/>
            </a:pPr>
            <a:r>
              <a:rPr lang="en-US" dirty="0"/>
              <a:t>Relative Error = </a:t>
            </a:r>
            <a:r>
              <a:rPr lang="en-US" u="sng" dirty="0" smtClean="0"/>
              <a:t>measured value-expected value</a:t>
            </a:r>
            <a:endParaRPr lang="en-US" u="sng" dirty="0"/>
          </a:p>
          <a:p>
            <a:pPr marL="0" indent="0">
              <a:buNone/>
            </a:pPr>
            <a:r>
              <a:rPr lang="en-US" b="1" dirty="0" smtClean="0"/>
              <a:t>			</a:t>
            </a:r>
            <a:r>
              <a:rPr lang="en-US" dirty="0" smtClean="0"/>
              <a:t>         expected value</a:t>
            </a:r>
          </a:p>
          <a:p>
            <a:pPr marL="0" indent="0">
              <a:buNone/>
            </a:pPr>
            <a:endParaRPr lang="en-US" dirty="0"/>
          </a:p>
        </p:txBody>
      </p:sp>
    </p:spTree>
    <p:extLst>
      <p:ext uri="{BB962C8B-B14F-4D97-AF65-F5344CB8AC3E}">
        <p14:creationId xmlns:p14="http://schemas.microsoft.com/office/powerpoint/2010/main" val="3158717595"/>
      </p:ext>
    </p:extLst>
  </p:cSld>
  <p:clrMapOvr>
    <a:masterClrMapping/>
  </p:clrMapOvr>
  <p:transition>
    <p:wheel spokes="8"/>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t>
            </a:r>
            <a:r>
              <a:rPr lang="en-US" dirty="0" smtClean="0"/>
              <a:t>error…..</a:t>
            </a:r>
            <a:endParaRPr lang="en-US" dirty="0"/>
          </a:p>
        </p:txBody>
      </p:sp>
      <p:sp>
        <p:nvSpPr>
          <p:cNvPr id="3" name="Content Placeholder 2"/>
          <p:cNvSpPr>
            <a:spLocks noGrp="1"/>
          </p:cNvSpPr>
          <p:nvPr>
            <p:ph idx="1"/>
          </p:nvPr>
        </p:nvSpPr>
        <p:spPr/>
        <p:txBody>
          <a:bodyPr/>
          <a:lstStyle/>
          <a:p>
            <a:r>
              <a:rPr lang="en-US" dirty="0"/>
              <a:t>If the expected value for </a:t>
            </a:r>
            <a:r>
              <a:rPr lang="en-US" i="1" dirty="0"/>
              <a:t>m</a:t>
            </a:r>
            <a:r>
              <a:rPr lang="en-US" dirty="0"/>
              <a:t> is 80.0 g, then the relative error </a:t>
            </a:r>
            <a:r>
              <a:rPr lang="en-US" dirty="0" smtClean="0"/>
              <a:t>is</a:t>
            </a:r>
          </a:p>
          <a:p>
            <a:pPr marL="0" indent="0">
              <a:buNone/>
            </a:pPr>
            <a:r>
              <a:rPr lang="en-US" dirty="0"/>
              <a:t>	</a:t>
            </a:r>
            <a:r>
              <a:rPr lang="en-US" dirty="0" smtClean="0"/>
              <a:t>(75.5- 80.0)/80.0 = -0.056 = -56% </a:t>
            </a:r>
          </a:p>
          <a:p>
            <a:pPr marL="0" indent="0">
              <a:buNone/>
            </a:pPr>
            <a:endParaRPr lang="en-US" dirty="0" smtClean="0"/>
          </a:p>
          <a:p>
            <a:pPr marL="0" indent="0">
              <a:buNone/>
            </a:pPr>
            <a:r>
              <a:rPr lang="en-US" dirty="0" smtClean="0"/>
              <a:t>Note: </a:t>
            </a:r>
            <a:r>
              <a:rPr lang="en-US" dirty="0"/>
              <a:t>The minus sign indicates that the measured value is </a:t>
            </a:r>
            <a:r>
              <a:rPr lang="en-US" b="1" dirty="0"/>
              <a:t>less</a:t>
            </a:r>
            <a:r>
              <a:rPr lang="en-US" dirty="0"/>
              <a:t> than the expected value. </a:t>
            </a:r>
          </a:p>
        </p:txBody>
      </p:sp>
    </p:spTree>
    <p:extLst>
      <p:ext uri="{BB962C8B-B14F-4D97-AF65-F5344CB8AC3E}">
        <p14:creationId xmlns:p14="http://schemas.microsoft.com/office/powerpoint/2010/main" val="704561780"/>
      </p:ext>
    </p:extLst>
  </p:cSld>
  <p:clrMapOvr>
    <a:masterClrMapping/>
  </p:clrMapOvr>
  <p:transition>
    <p:wheel spokes="8"/>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t>
            </a:r>
            <a:r>
              <a:rPr lang="en-US" dirty="0" smtClean="0"/>
              <a:t>error……</a:t>
            </a:r>
            <a:endParaRPr lang="en-US" dirty="0"/>
          </a:p>
        </p:txBody>
      </p:sp>
      <p:sp>
        <p:nvSpPr>
          <p:cNvPr id="3" name="Content Placeholder 2"/>
          <p:cNvSpPr>
            <a:spLocks noGrp="1"/>
          </p:cNvSpPr>
          <p:nvPr>
            <p:ph idx="1"/>
          </p:nvPr>
        </p:nvSpPr>
        <p:spPr/>
        <p:txBody>
          <a:bodyPr>
            <a:normAutofit/>
          </a:bodyPr>
          <a:lstStyle/>
          <a:p>
            <a:r>
              <a:rPr lang="en-US" dirty="0"/>
              <a:t>When analyzing experimental data, it is important that you understand the difference between precision and accuracy	</a:t>
            </a:r>
            <a:endParaRPr lang="en-US" dirty="0" smtClean="0"/>
          </a:p>
          <a:p>
            <a:r>
              <a:rPr lang="en-US" b="1" dirty="0"/>
              <a:t>Precision</a:t>
            </a:r>
            <a:r>
              <a:rPr lang="en-US" dirty="0"/>
              <a:t> indicates the </a:t>
            </a:r>
            <a:r>
              <a:rPr lang="en-US" dirty="0">
                <a:solidFill>
                  <a:srgbClr val="FF0000"/>
                </a:solidFill>
              </a:rPr>
              <a:t>quality</a:t>
            </a:r>
            <a:r>
              <a:rPr lang="en-US" dirty="0"/>
              <a:t> of the measurement, without any guarantee that the measurement is "correct." </a:t>
            </a:r>
            <a:r>
              <a:rPr lang="en-US" dirty="0" smtClean="0"/>
              <a:t> while…</a:t>
            </a:r>
            <a:endParaRPr lang="en-US" dirty="0"/>
          </a:p>
          <a:p>
            <a:pPr marL="0" indent="0">
              <a:buNone/>
            </a:pPr>
            <a:endParaRPr lang="en-US" dirty="0"/>
          </a:p>
        </p:txBody>
      </p:sp>
    </p:spTree>
    <p:extLst>
      <p:ext uri="{BB962C8B-B14F-4D97-AF65-F5344CB8AC3E}">
        <p14:creationId xmlns:p14="http://schemas.microsoft.com/office/powerpoint/2010/main" val="134849389"/>
      </p:ext>
    </p:extLst>
  </p:cSld>
  <p:clrMapOvr>
    <a:masterClrMapping/>
  </p:clrMapOvr>
  <p:transition>
    <p:wheel spokes="8"/>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t>
            </a:r>
            <a:r>
              <a:rPr lang="en-US" dirty="0" smtClean="0"/>
              <a:t>error…..</a:t>
            </a:r>
            <a:endParaRPr lang="en-US" dirty="0"/>
          </a:p>
        </p:txBody>
      </p:sp>
      <p:sp>
        <p:nvSpPr>
          <p:cNvPr id="3" name="Content Placeholder 2"/>
          <p:cNvSpPr>
            <a:spLocks noGrp="1"/>
          </p:cNvSpPr>
          <p:nvPr>
            <p:ph idx="1"/>
          </p:nvPr>
        </p:nvSpPr>
        <p:spPr/>
        <p:txBody>
          <a:bodyPr/>
          <a:lstStyle/>
          <a:p>
            <a:r>
              <a:rPr lang="en-US" b="1" dirty="0"/>
              <a:t>Accuracy</a:t>
            </a:r>
            <a:r>
              <a:rPr lang="en-US" dirty="0"/>
              <a:t>, on the other hand, assumes that there is an ideal value, and tells how far your answer is from that ideal, "right" </a:t>
            </a:r>
            <a:r>
              <a:rPr lang="en-US" dirty="0" smtClean="0"/>
              <a:t>answer.</a:t>
            </a:r>
          </a:p>
          <a:p>
            <a:r>
              <a:rPr lang="en-US" dirty="0" smtClean="0"/>
              <a:t>These </a:t>
            </a:r>
            <a:r>
              <a:rPr lang="en-US" dirty="0"/>
              <a:t>concepts are directly related to </a:t>
            </a:r>
            <a:r>
              <a:rPr lang="en-US" b="1" dirty="0"/>
              <a:t>random</a:t>
            </a:r>
            <a:r>
              <a:rPr lang="en-US" dirty="0"/>
              <a:t> and </a:t>
            </a:r>
            <a:r>
              <a:rPr lang="en-US" b="1" dirty="0"/>
              <a:t>systematic</a:t>
            </a:r>
            <a:r>
              <a:rPr lang="en-US" dirty="0"/>
              <a:t> measurement errors.</a:t>
            </a:r>
          </a:p>
        </p:txBody>
      </p:sp>
    </p:spTree>
    <p:extLst>
      <p:ext uri="{BB962C8B-B14F-4D97-AF65-F5344CB8AC3E}">
        <p14:creationId xmlns:p14="http://schemas.microsoft.com/office/powerpoint/2010/main" val="946597137"/>
      </p:ext>
    </p:extLst>
  </p:cSld>
  <p:clrMapOvr>
    <a:masterClrMapping/>
  </p:clrMapOvr>
  <p:transition>
    <p:wheel spokes="8"/>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measurement system</a:t>
            </a:r>
            <a:endParaRPr lang="en-US" dirty="0"/>
          </a:p>
        </p:txBody>
      </p:sp>
      <p:sp>
        <p:nvSpPr>
          <p:cNvPr id="3" name="Content Placeholder 2"/>
          <p:cNvSpPr>
            <a:spLocks noGrp="1"/>
          </p:cNvSpPr>
          <p:nvPr>
            <p:ph idx="1"/>
          </p:nvPr>
        </p:nvSpPr>
        <p:spPr>
          <a:xfrm>
            <a:off x="457200" y="1600200"/>
            <a:ext cx="8229600" cy="4953000"/>
          </a:xfrm>
        </p:spPr>
        <p:txBody>
          <a:bodyPr>
            <a:noAutofit/>
          </a:bodyPr>
          <a:lstStyle/>
          <a:p>
            <a:r>
              <a:rPr lang="en-US" sz="3600" dirty="0"/>
              <a:t>A measuring system exists to provide information about the </a:t>
            </a:r>
            <a:r>
              <a:rPr lang="en-US" sz="3600" dirty="0">
                <a:solidFill>
                  <a:srgbClr val="FF0000"/>
                </a:solidFill>
              </a:rPr>
              <a:t>physical value </a:t>
            </a:r>
            <a:r>
              <a:rPr lang="en-US" sz="3600" dirty="0"/>
              <a:t>of some </a:t>
            </a:r>
            <a:r>
              <a:rPr lang="en-US" sz="3600" dirty="0" smtClean="0">
                <a:solidFill>
                  <a:srgbClr val="FF0000"/>
                </a:solidFill>
              </a:rPr>
              <a:t>variables</a:t>
            </a:r>
            <a:r>
              <a:rPr lang="en-US" sz="3600" dirty="0" smtClean="0"/>
              <a:t> being </a:t>
            </a:r>
            <a:r>
              <a:rPr lang="en-US" sz="3600" dirty="0"/>
              <a:t>measured. </a:t>
            </a:r>
            <a:endParaRPr lang="en-US" sz="3600" dirty="0" smtClean="0"/>
          </a:p>
          <a:p>
            <a:r>
              <a:rPr lang="en-US" sz="3600" dirty="0" smtClean="0"/>
              <a:t>In </a:t>
            </a:r>
            <a:r>
              <a:rPr lang="en-US" sz="3600" dirty="0"/>
              <a:t>simple cases, the system can consist of only a single unit that gives an </a:t>
            </a:r>
            <a:r>
              <a:rPr lang="en-US" sz="3600" dirty="0" smtClean="0"/>
              <a:t>output reading </a:t>
            </a:r>
            <a:r>
              <a:rPr lang="en-US" sz="3600" dirty="0"/>
              <a:t>or signal according to the magnitude of the unknown variable applied to it. </a:t>
            </a:r>
            <a:endParaRPr lang="en-US" sz="3600" dirty="0" smtClean="0"/>
          </a:p>
        </p:txBody>
      </p:sp>
    </p:spTree>
    <p:extLst>
      <p:ext uri="{BB962C8B-B14F-4D97-AF65-F5344CB8AC3E}">
        <p14:creationId xmlns:p14="http://schemas.microsoft.com/office/powerpoint/2010/main" val="664772632"/>
      </p:ext>
    </p:extLst>
  </p:cSld>
  <p:clrMapOvr>
    <a:masterClrMapping/>
  </p:clrMapOvr>
  <p:transition>
    <p:wheel spokes="8"/>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smtClean="0"/>
              <a:t>Element of measurement system …..</a:t>
            </a:r>
            <a:endParaRPr lang="en-US" dirty="0"/>
          </a:p>
        </p:txBody>
      </p:sp>
      <p:sp>
        <p:nvSpPr>
          <p:cNvPr id="3" name="Content Placeholder 2"/>
          <p:cNvSpPr>
            <a:spLocks noGrp="1"/>
          </p:cNvSpPr>
          <p:nvPr>
            <p:ph idx="1"/>
          </p:nvPr>
        </p:nvSpPr>
        <p:spPr>
          <a:xfrm>
            <a:off x="457200" y="1219200"/>
            <a:ext cx="8229600" cy="5257800"/>
          </a:xfrm>
        </p:spPr>
        <p:txBody>
          <a:bodyPr>
            <a:normAutofit/>
          </a:bodyPr>
          <a:lstStyle/>
          <a:p>
            <a:r>
              <a:rPr lang="en-US" dirty="0"/>
              <a:t>However, in more complex measurement situations, a measuring system consists of several </a:t>
            </a:r>
            <a:r>
              <a:rPr lang="en-US" dirty="0" smtClean="0"/>
              <a:t>separate elements to comprehend measurement may be applied.</a:t>
            </a:r>
          </a:p>
          <a:p>
            <a:r>
              <a:rPr lang="en-US" dirty="0"/>
              <a:t>The term </a:t>
            </a:r>
            <a:r>
              <a:rPr lang="en-US" b="1" i="1" dirty="0"/>
              <a:t>measuring instrument </a:t>
            </a:r>
            <a:r>
              <a:rPr lang="en-US" dirty="0"/>
              <a:t>is used commonly to describe </a:t>
            </a:r>
            <a:r>
              <a:rPr lang="en-US" dirty="0" smtClean="0"/>
              <a:t>a measurement </a:t>
            </a:r>
            <a:r>
              <a:rPr lang="en-US" dirty="0"/>
              <a:t>system, whether it contains only one or many elements </a:t>
            </a:r>
            <a:br>
              <a:rPr lang="en-US" dirty="0"/>
            </a:br>
            <a:r>
              <a:rPr lang="en-US" sz="3500" dirty="0"/>
              <a:t/>
            </a:r>
            <a:br>
              <a:rPr lang="en-US" sz="3500" dirty="0"/>
            </a:br>
            <a:endParaRPr lang="en-US" sz="3500" dirty="0"/>
          </a:p>
          <a:p>
            <a:endParaRPr lang="en-US" dirty="0"/>
          </a:p>
        </p:txBody>
      </p:sp>
    </p:spTree>
    <p:extLst>
      <p:ext uri="{BB962C8B-B14F-4D97-AF65-F5344CB8AC3E}">
        <p14:creationId xmlns:p14="http://schemas.microsoft.com/office/powerpoint/2010/main" val="235255790"/>
      </p:ext>
    </p:extLst>
  </p:cSld>
  <p:clrMapOvr>
    <a:masterClrMapping/>
  </p:clrMapOvr>
  <p:transition>
    <p:wheel spokes="8"/>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Elements of measurement system….</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dirty="0"/>
              <a:t>The first element in any measuring system is the </a:t>
            </a:r>
            <a:r>
              <a:rPr lang="en-US" i="1" dirty="0">
                <a:solidFill>
                  <a:srgbClr val="FF0000"/>
                </a:solidFill>
              </a:rPr>
              <a:t>primary sensor</a:t>
            </a:r>
            <a:r>
              <a:rPr lang="en-US" dirty="0"/>
              <a:t>: this gives an output that</a:t>
            </a:r>
            <a:br>
              <a:rPr lang="en-US" dirty="0"/>
            </a:br>
            <a:r>
              <a:rPr lang="en-US" dirty="0"/>
              <a:t>is a function of the measurand (the input applied to it). </a:t>
            </a:r>
            <a:endParaRPr lang="en-US" dirty="0" smtClean="0"/>
          </a:p>
          <a:p>
            <a:r>
              <a:rPr lang="en-US" dirty="0" smtClean="0"/>
              <a:t>For </a:t>
            </a:r>
            <a:r>
              <a:rPr lang="en-US" dirty="0"/>
              <a:t>most but not all sensors, </a:t>
            </a:r>
            <a:r>
              <a:rPr lang="en-US" dirty="0" smtClean="0"/>
              <a:t>this function </a:t>
            </a:r>
            <a:r>
              <a:rPr lang="en-US" dirty="0"/>
              <a:t>is at least approximately linear. Some examples of primary sensors are a </a:t>
            </a:r>
            <a:r>
              <a:rPr lang="en-US" b="1" i="1" dirty="0" smtClean="0"/>
              <a:t>liquid-in-glass</a:t>
            </a:r>
            <a:r>
              <a:rPr lang="en-US" dirty="0" smtClean="0"/>
              <a:t> </a:t>
            </a:r>
            <a:r>
              <a:rPr lang="en-US" b="1" i="1" dirty="0" smtClean="0"/>
              <a:t>thermometer</a:t>
            </a:r>
            <a:r>
              <a:rPr lang="en-US" dirty="0"/>
              <a:t>, a </a:t>
            </a:r>
            <a:r>
              <a:rPr lang="en-US" b="1" i="1" dirty="0"/>
              <a:t>thermocouple</a:t>
            </a:r>
            <a:r>
              <a:rPr lang="en-US" dirty="0"/>
              <a:t>, and a </a:t>
            </a:r>
            <a:r>
              <a:rPr lang="en-US" b="1" i="1" dirty="0"/>
              <a:t>strain gauge. </a:t>
            </a:r>
          </a:p>
        </p:txBody>
      </p:sp>
    </p:spTree>
    <p:extLst>
      <p:ext uri="{BB962C8B-B14F-4D97-AF65-F5344CB8AC3E}">
        <p14:creationId xmlns:p14="http://schemas.microsoft.com/office/powerpoint/2010/main" val="4282967844"/>
      </p:ext>
    </p:extLst>
  </p:cSld>
  <p:clrMapOvr>
    <a:masterClrMapping/>
  </p:clrMapOvr>
  <p:transition>
    <p:wheel spokes="8"/>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measurement system….</a:t>
            </a:r>
          </a:p>
        </p:txBody>
      </p:sp>
      <p:sp>
        <p:nvSpPr>
          <p:cNvPr id="3" name="Content Placeholder 2"/>
          <p:cNvSpPr>
            <a:spLocks noGrp="1"/>
          </p:cNvSpPr>
          <p:nvPr>
            <p:ph idx="1"/>
          </p:nvPr>
        </p:nvSpPr>
        <p:spPr>
          <a:xfrm>
            <a:off x="457200" y="1600200"/>
            <a:ext cx="8458200" cy="4525963"/>
          </a:xfrm>
        </p:spPr>
        <p:txBody>
          <a:bodyPr/>
          <a:lstStyle/>
          <a:p>
            <a:r>
              <a:rPr lang="en-US" dirty="0"/>
              <a:t>In the case of a </a:t>
            </a:r>
            <a:r>
              <a:rPr lang="en-US" dirty="0" smtClean="0"/>
              <a:t>mercury-in-glass thermometer</a:t>
            </a:r>
            <a:r>
              <a:rPr lang="en-US" dirty="0"/>
              <a:t>, because the output reading is given in terms of the level of the mercury, </a:t>
            </a:r>
            <a:r>
              <a:rPr lang="en-US" dirty="0" smtClean="0"/>
              <a:t>this particular </a:t>
            </a:r>
            <a:r>
              <a:rPr lang="en-US" dirty="0"/>
              <a:t>primary sensor is also a complete measurement system in </a:t>
            </a:r>
            <a:r>
              <a:rPr lang="en-US" dirty="0" smtClean="0"/>
              <a:t>itself. </a:t>
            </a:r>
            <a:r>
              <a:rPr lang="en-US" dirty="0"/>
              <a:t/>
            </a:r>
            <a:br>
              <a:rPr lang="en-US" dirty="0"/>
            </a:br>
            <a:endParaRPr lang="en-US" dirty="0"/>
          </a:p>
        </p:txBody>
      </p:sp>
    </p:spTree>
    <p:extLst>
      <p:ext uri="{BB962C8B-B14F-4D97-AF65-F5344CB8AC3E}">
        <p14:creationId xmlns:p14="http://schemas.microsoft.com/office/powerpoint/2010/main" val="1306793214"/>
      </p:ext>
    </p:extLst>
  </p:cSld>
  <p:clrMapOvr>
    <a:masterClrMapping/>
  </p:clrMapOvr>
  <p:transition>
    <p:wheel spokes="8"/>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Elements of measurement system….</a:t>
            </a:r>
          </a:p>
        </p:txBody>
      </p:sp>
      <p:sp>
        <p:nvSpPr>
          <p:cNvPr id="3" name="Content Placeholder 2"/>
          <p:cNvSpPr>
            <a:spLocks noGrp="1"/>
          </p:cNvSpPr>
          <p:nvPr>
            <p:ph idx="1"/>
          </p:nvPr>
        </p:nvSpPr>
        <p:spPr>
          <a:xfrm>
            <a:off x="457200" y="1284514"/>
            <a:ext cx="8229600" cy="5562600"/>
          </a:xfrm>
        </p:spPr>
        <p:txBody>
          <a:bodyPr>
            <a:normAutofit/>
          </a:bodyPr>
          <a:lstStyle/>
          <a:p>
            <a:r>
              <a:rPr lang="en-US" b="1" i="1" dirty="0">
                <a:solidFill>
                  <a:srgbClr val="FF0000"/>
                </a:solidFill>
              </a:rPr>
              <a:t>Variable conversion </a:t>
            </a:r>
            <a:r>
              <a:rPr lang="en-US" dirty="0"/>
              <a:t>elements are needed where the output variable of a primary transducer is </a:t>
            </a:r>
            <a:r>
              <a:rPr lang="en-US" dirty="0" smtClean="0"/>
              <a:t>in an </a:t>
            </a:r>
            <a:r>
              <a:rPr lang="en-US" dirty="0"/>
              <a:t>inconvenient form and has to be converted to a more convenient form. </a:t>
            </a:r>
            <a:endParaRPr lang="en-US" dirty="0" smtClean="0"/>
          </a:p>
          <a:p>
            <a:r>
              <a:rPr lang="en-US" dirty="0" smtClean="0"/>
              <a:t>For </a:t>
            </a:r>
            <a:r>
              <a:rPr lang="en-US" dirty="0"/>
              <a:t>instance, </a:t>
            </a:r>
            <a:r>
              <a:rPr lang="en-US" dirty="0" smtClean="0"/>
              <a:t>the displacement-measuring </a:t>
            </a:r>
            <a:r>
              <a:rPr lang="en-US" dirty="0"/>
              <a:t>strain gauge has an output in the form of a varying resistance. </a:t>
            </a:r>
          </a:p>
          <a:p>
            <a:endParaRPr lang="en-US" dirty="0"/>
          </a:p>
        </p:txBody>
      </p:sp>
    </p:spTree>
    <p:extLst>
      <p:ext uri="{BB962C8B-B14F-4D97-AF65-F5344CB8AC3E}">
        <p14:creationId xmlns:p14="http://schemas.microsoft.com/office/powerpoint/2010/main" val="2539569244"/>
      </p:ext>
    </p:extLst>
  </p:cSld>
  <p:clrMapOvr>
    <a:masterClrMapping/>
  </p:clrMapOvr>
  <p:transition>
    <p:wheel spokes="8"/>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measurement system….</a:t>
            </a:r>
          </a:p>
        </p:txBody>
      </p:sp>
      <p:sp>
        <p:nvSpPr>
          <p:cNvPr id="3" name="Content Placeholder 2"/>
          <p:cNvSpPr>
            <a:spLocks noGrp="1"/>
          </p:cNvSpPr>
          <p:nvPr>
            <p:ph idx="1"/>
          </p:nvPr>
        </p:nvSpPr>
        <p:spPr/>
        <p:txBody>
          <a:bodyPr/>
          <a:lstStyle/>
          <a:p>
            <a:r>
              <a:rPr lang="en-US" dirty="0"/>
              <a:t>Because the resistance change cannot be measured easily, it is converted to a change in voltage by a bridge circuit, which is a typical example of a variable conversion element </a:t>
            </a:r>
            <a:br>
              <a:rPr lang="en-US" dirty="0"/>
            </a:br>
            <a:endParaRPr lang="en-US" dirty="0"/>
          </a:p>
        </p:txBody>
      </p:sp>
    </p:spTree>
    <p:extLst>
      <p:ext uri="{BB962C8B-B14F-4D97-AF65-F5344CB8AC3E}">
        <p14:creationId xmlns:p14="http://schemas.microsoft.com/office/powerpoint/2010/main" val="3221968744"/>
      </p:ext>
    </p:extLst>
  </p:cSld>
  <p:clrMapOvr>
    <a:masterClrMapping/>
  </p:clrMapOvr>
  <p:transition>
    <p:wheel spokes="8"/>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measurement system….</a:t>
            </a:r>
          </a:p>
        </p:txBody>
      </p:sp>
      <p:sp>
        <p:nvSpPr>
          <p:cNvPr id="3" name="Content Placeholder 2"/>
          <p:cNvSpPr>
            <a:spLocks noGrp="1"/>
          </p:cNvSpPr>
          <p:nvPr>
            <p:ph idx="1"/>
          </p:nvPr>
        </p:nvSpPr>
        <p:spPr/>
        <p:txBody>
          <a:bodyPr>
            <a:normAutofit/>
          </a:bodyPr>
          <a:lstStyle/>
          <a:p>
            <a:r>
              <a:rPr lang="en-US" dirty="0" smtClean="0"/>
              <a:t>In some cases, primary </a:t>
            </a:r>
            <a:r>
              <a:rPr lang="en-US" dirty="0"/>
              <a:t>sensor and variable conversion element are combined; this combination is </a:t>
            </a:r>
            <a:r>
              <a:rPr lang="en-US" dirty="0" smtClean="0"/>
              <a:t>known as </a:t>
            </a:r>
            <a:r>
              <a:rPr lang="en-US" dirty="0"/>
              <a:t>a </a:t>
            </a:r>
            <a:r>
              <a:rPr lang="en-US" b="1" i="1" dirty="0" smtClean="0">
                <a:solidFill>
                  <a:srgbClr val="FF0000"/>
                </a:solidFill>
              </a:rPr>
              <a:t>transducer.</a:t>
            </a:r>
            <a:r>
              <a:rPr lang="en-US" dirty="0"/>
              <a:t/>
            </a:r>
            <a:br>
              <a:rPr lang="en-US" dirty="0"/>
            </a:br>
            <a:r>
              <a:rPr lang="en-US" dirty="0"/>
              <a:t>Signal processing elements exist to improve the quality of the output of a measurement</a:t>
            </a:r>
            <a:br>
              <a:rPr lang="en-US" dirty="0"/>
            </a:br>
            <a:r>
              <a:rPr lang="en-US" dirty="0"/>
              <a:t>system in some way. </a:t>
            </a:r>
          </a:p>
        </p:txBody>
      </p:sp>
    </p:spTree>
    <p:extLst>
      <p:ext uri="{BB962C8B-B14F-4D97-AF65-F5344CB8AC3E}">
        <p14:creationId xmlns:p14="http://schemas.microsoft.com/office/powerpoint/2010/main" val="2904955773"/>
      </p:ext>
    </p:extLst>
  </p:cSld>
  <p:clrMapOvr>
    <a:masterClrMapping/>
  </p:clrMapOvr>
  <p:transition>
    <p:wheel spokes="8"/>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measurement system….</a:t>
            </a:r>
          </a:p>
        </p:txBody>
      </p:sp>
      <p:sp>
        <p:nvSpPr>
          <p:cNvPr id="3" name="Content Placeholder 2"/>
          <p:cNvSpPr>
            <a:spLocks noGrp="1"/>
          </p:cNvSpPr>
          <p:nvPr>
            <p:ph idx="1"/>
          </p:nvPr>
        </p:nvSpPr>
        <p:spPr>
          <a:xfrm>
            <a:off x="457200" y="1600200"/>
            <a:ext cx="8382000" cy="4876800"/>
          </a:xfrm>
        </p:spPr>
        <p:txBody>
          <a:bodyPr/>
          <a:lstStyle/>
          <a:p>
            <a:r>
              <a:rPr lang="en-US" dirty="0"/>
              <a:t>A very common type of signal processing element is the </a:t>
            </a:r>
            <a:r>
              <a:rPr lang="en-US" dirty="0" smtClean="0"/>
              <a:t>electronic amplifier</a:t>
            </a:r>
            <a:r>
              <a:rPr lang="en-US" dirty="0"/>
              <a:t>, which amplifies the output of the primary transducer or variable conversion </a:t>
            </a:r>
            <a:r>
              <a:rPr lang="en-US" dirty="0" smtClean="0"/>
              <a:t>element, thus </a:t>
            </a:r>
            <a:r>
              <a:rPr lang="en-US" dirty="0"/>
              <a:t>improving the sensitivity and resolution of </a:t>
            </a:r>
            <a:r>
              <a:rPr lang="en-US" dirty="0" smtClean="0"/>
              <a:t>measurement. </a:t>
            </a:r>
            <a:r>
              <a:rPr lang="en-US" dirty="0"/>
              <a:t/>
            </a:r>
            <a:br>
              <a:rPr lang="en-US" dirty="0"/>
            </a:br>
            <a:endParaRPr lang="en-US" dirty="0"/>
          </a:p>
        </p:txBody>
      </p:sp>
    </p:spTree>
    <p:extLst>
      <p:ext uri="{BB962C8B-B14F-4D97-AF65-F5344CB8AC3E}">
        <p14:creationId xmlns:p14="http://schemas.microsoft.com/office/powerpoint/2010/main" val="3382150777"/>
      </p:ext>
    </p:extLst>
  </p:cSld>
  <p:clrMapOvr>
    <a:masterClrMapping/>
  </p:clrMapOvr>
  <p:transition>
    <p:wheel spokes="8"/>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p:spPr>
        <p:txBody>
          <a:bodyPr/>
          <a:lstStyle/>
          <a:p>
            <a:r>
              <a:rPr lang="en-US" dirty="0" smtClean="0"/>
              <a:t>Methods of measurements</a:t>
            </a:r>
            <a:endParaRPr lang="en-US" dirty="0"/>
          </a:p>
        </p:txBody>
      </p:sp>
      <p:sp>
        <p:nvSpPr>
          <p:cNvPr id="3" name="Content Placeholder 2"/>
          <p:cNvSpPr>
            <a:spLocks noGrp="1"/>
          </p:cNvSpPr>
          <p:nvPr>
            <p:ph idx="1"/>
          </p:nvPr>
        </p:nvSpPr>
        <p:spPr>
          <a:xfrm>
            <a:off x="457200" y="1219200"/>
            <a:ext cx="8229600" cy="5486400"/>
          </a:xfrm>
        </p:spPr>
        <p:txBody>
          <a:bodyPr>
            <a:normAutofit lnSpcReduction="10000"/>
          </a:bodyPr>
          <a:lstStyle/>
          <a:p>
            <a:r>
              <a:rPr lang="en-US" u="sng" dirty="0" smtClean="0"/>
              <a:t>Direct method</a:t>
            </a:r>
            <a:r>
              <a:rPr lang="en-US" dirty="0" smtClean="0"/>
              <a:t>:</a:t>
            </a:r>
          </a:p>
          <a:p>
            <a:pPr>
              <a:buNone/>
            </a:pPr>
            <a:r>
              <a:rPr lang="en-US" dirty="0" smtClean="0"/>
              <a:t>    Unknown quantity (measurand) is directly compared against a standard. Commonly for measurement of physical quantities like length, mass and time.</a:t>
            </a:r>
          </a:p>
          <a:p>
            <a:r>
              <a:rPr lang="en-US" u="sng" dirty="0" smtClean="0"/>
              <a:t>Indirect methods</a:t>
            </a:r>
            <a:r>
              <a:rPr lang="en-US" dirty="0" smtClean="0"/>
              <a:t>:</a:t>
            </a:r>
          </a:p>
          <a:p>
            <a:pPr>
              <a:buNone/>
            </a:pPr>
            <a:r>
              <a:rPr lang="en-US" dirty="0" smtClean="0"/>
              <a:t>    The input has to be processed to some processing device and the output signal is fed to the system for interpretation, e.g. measuring vehicle fuel tank level basing on variable resistance from the sender unit.</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choice of appropriate measuring instrument</a:t>
            </a:r>
            <a:endParaRPr lang="en-US" dirty="0"/>
          </a:p>
        </p:txBody>
      </p:sp>
      <p:sp>
        <p:nvSpPr>
          <p:cNvPr id="3" name="Content Placeholder 2"/>
          <p:cNvSpPr>
            <a:spLocks noGrp="1"/>
          </p:cNvSpPr>
          <p:nvPr>
            <p:ph idx="1"/>
          </p:nvPr>
        </p:nvSpPr>
        <p:spPr/>
        <p:txBody>
          <a:bodyPr/>
          <a:lstStyle/>
          <a:p>
            <a:r>
              <a:rPr lang="en-US" dirty="0" smtClean="0"/>
              <a:t>The choice of measuring instrument depends on the following:</a:t>
            </a:r>
          </a:p>
          <a:p>
            <a:pPr lvl="1">
              <a:buFont typeface="Wingdings" panose="05000000000000000000" pitchFamily="2" charset="2"/>
              <a:buChar char="ü"/>
            </a:pPr>
            <a:r>
              <a:rPr lang="en-US" sz="3200" dirty="0" smtClean="0"/>
              <a:t>Accuracy of measurement desired</a:t>
            </a:r>
          </a:p>
          <a:p>
            <a:pPr lvl="1">
              <a:buFont typeface="Wingdings" panose="05000000000000000000" pitchFamily="2" charset="2"/>
              <a:buChar char="ü"/>
            </a:pPr>
            <a:r>
              <a:rPr lang="en-US" sz="3200" dirty="0" smtClean="0"/>
              <a:t>Resolution of the measuring instrument</a:t>
            </a:r>
          </a:p>
          <a:p>
            <a:pPr lvl="1">
              <a:buFont typeface="Wingdings" panose="05000000000000000000" pitchFamily="2" charset="2"/>
              <a:buChar char="ü"/>
            </a:pPr>
            <a:r>
              <a:rPr lang="en-US" sz="3200" dirty="0" smtClean="0"/>
              <a:t>Sensitivity of the instrument Dynamic performance of instrument </a:t>
            </a:r>
            <a:r>
              <a:rPr lang="en-US" sz="3200" dirty="0"/>
              <a:t>and </a:t>
            </a:r>
            <a:endParaRPr lang="en-US" sz="3200" dirty="0" smtClean="0"/>
          </a:p>
          <a:p>
            <a:pPr lvl="1">
              <a:buFont typeface="Wingdings" panose="05000000000000000000" pitchFamily="2" charset="2"/>
              <a:buChar char="ü"/>
            </a:pPr>
            <a:r>
              <a:rPr lang="en-US" sz="3200" dirty="0" smtClean="0"/>
              <a:t>Environmental condition</a:t>
            </a:r>
            <a:endParaRPr lang="en-US" sz="3200" dirty="0"/>
          </a:p>
        </p:txBody>
      </p:sp>
    </p:spTree>
    <p:extLst>
      <p:ext uri="{BB962C8B-B14F-4D97-AF65-F5344CB8AC3E}">
        <p14:creationId xmlns:p14="http://schemas.microsoft.com/office/powerpoint/2010/main" val="2973826920"/>
      </p:ext>
    </p:extLst>
  </p:cSld>
  <p:clrMapOvr>
    <a:masterClrMapping/>
  </p:clrMapOvr>
  <p:transition>
    <p:wheel spokes="8"/>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fontScale="90000"/>
          </a:bodyPr>
          <a:lstStyle/>
          <a:p>
            <a:r>
              <a:rPr lang="en-US" dirty="0" smtClean="0"/>
              <a:t>Application of measurement systems</a:t>
            </a:r>
            <a:endParaRPr lang="en-US" dirty="0"/>
          </a:p>
        </p:txBody>
      </p:sp>
      <p:sp>
        <p:nvSpPr>
          <p:cNvPr id="3" name="Content Placeholder 2"/>
          <p:cNvSpPr>
            <a:spLocks noGrp="1"/>
          </p:cNvSpPr>
          <p:nvPr>
            <p:ph idx="1"/>
          </p:nvPr>
        </p:nvSpPr>
        <p:spPr/>
        <p:txBody>
          <a:bodyPr/>
          <a:lstStyle/>
          <a:p>
            <a:pPr marL="514350" indent="-514350">
              <a:buAutoNum type="arabicPeriod"/>
            </a:pPr>
            <a:r>
              <a:rPr lang="en-US" dirty="0" smtClean="0"/>
              <a:t>Monitoring of process and operation</a:t>
            </a:r>
          </a:p>
          <a:p>
            <a:pPr marL="514350" indent="-514350">
              <a:buAutoNum type="arabicPeriod"/>
            </a:pPr>
            <a:r>
              <a:rPr lang="en-US" dirty="0" smtClean="0"/>
              <a:t>Controlling of process and operation</a:t>
            </a:r>
          </a:p>
          <a:p>
            <a:pPr>
              <a:buNone/>
            </a:pPr>
            <a:r>
              <a:rPr lang="en-US" dirty="0" smtClean="0"/>
              <a:t>3.  Analyzing of experiment</a:t>
            </a:r>
          </a:p>
          <a:p>
            <a:endParaRPr lang="en-US" dirty="0"/>
          </a:p>
        </p:txBody>
      </p:sp>
    </p:spTree>
  </p:cSld>
  <p:clrMapOvr>
    <a:masterClrMapping/>
  </p:clrMapOvr>
  <p:transition>
    <p:wheel spokes="8"/>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1.Monitoring of process and operation</a:t>
            </a:r>
            <a:endParaRPr lang="en-US" dirty="0"/>
          </a:p>
        </p:txBody>
      </p:sp>
      <p:sp>
        <p:nvSpPr>
          <p:cNvPr id="3" name="Content Placeholder 2"/>
          <p:cNvSpPr>
            <a:spLocks noGrp="1"/>
          </p:cNvSpPr>
          <p:nvPr>
            <p:ph idx="1"/>
          </p:nvPr>
        </p:nvSpPr>
        <p:spPr>
          <a:xfrm>
            <a:off x="457200" y="1143000"/>
            <a:ext cx="8458200" cy="5486400"/>
          </a:xfrm>
        </p:spPr>
        <p:txBody>
          <a:bodyPr>
            <a:normAutofit/>
          </a:bodyPr>
          <a:lstStyle/>
          <a:p>
            <a:pPr>
              <a:buNone/>
            </a:pPr>
            <a:r>
              <a:rPr lang="en-US" dirty="0" smtClean="0"/>
              <a:t>	These are certain applications of measuring instruments that have essentially a monitoring function. They simply indicate the value or condition of parameter under study and their readings do not serve any control functions. </a:t>
            </a:r>
          </a:p>
          <a:p>
            <a:pPr>
              <a:buNone/>
            </a:pPr>
            <a:r>
              <a:rPr lang="en-US" dirty="0"/>
              <a:t>	</a:t>
            </a:r>
            <a:r>
              <a:rPr lang="en-US" dirty="0" smtClean="0"/>
              <a:t>For example, an ammeter or a voltmeter indicates the value of current or voltage being monitored (measured) at a particular instant. </a:t>
            </a:r>
            <a:endParaRPr lang="en-US" dirty="0"/>
          </a:p>
        </p:txBody>
      </p:sp>
    </p:spTree>
  </p:cSld>
  <p:clrMapOvr>
    <a:masterClrMapping/>
  </p:clrMapOvr>
  <p:transition>
    <p:wheel spokes="8"/>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Monitoring of process and </a:t>
            </a:r>
            <a:r>
              <a:rPr lang="en-US" dirty="0" smtClean="0"/>
              <a:t>operation..</a:t>
            </a:r>
            <a:endParaRPr lang="en-US" dirty="0"/>
          </a:p>
        </p:txBody>
      </p:sp>
      <p:sp>
        <p:nvSpPr>
          <p:cNvPr id="3" name="Content Placeholder 2"/>
          <p:cNvSpPr>
            <a:spLocks noGrp="1"/>
          </p:cNvSpPr>
          <p:nvPr>
            <p:ph idx="1"/>
          </p:nvPr>
        </p:nvSpPr>
        <p:spPr/>
        <p:txBody>
          <a:bodyPr/>
          <a:lstStyle/>
          <a:p>
            <a:r>
              <a:rPr lang="en-US" dirty="0"/>
              <a:t>Similarly, water and electric energy meters installed in homes keep track of commodity used so that later on its cost may be computed to be realized from the user</a:t>
            </a:r>
            <a:r>
              <a:rPr lang="en-US" dirty="0" smtClean="0"/>
              <a:t>.</a:t>
            </a:r>
          </a:p>
          <a:p>
            <a:r>
              <a:rPr lang="en-US" dirty="0" smtClean="0"/>
              <a:t>Another example includes a temperature thermometer that used to track the reading of a hot body for controlling purposes</a:t>
            </a:r>
            <a:endParaRPr lang="en-US" dirty="0"/>
          </a:p>
          <a:p>
            <a:pPr marL="0" indent="0">
              <a:buNone/>
            </a:pPr>
            <a:endParaRPr lang="en-US" dirty="0"/>
          </a:p>
        </p:txBody>
      </p:sp>
    </p:spTree>
    <p:extLst>
      <p:ext uri="{BB962C8B-B14F-4D97-AF65-F5344CB8AC3E}">
        <p14:creationId xmlns:p14="http://schemas.microsoft.com/office/powerpoint/2010/main" val="1850469738"/>
      </p:ext>
    </p:extLst>
  </p:cSld>
  <p:clrMapOvr>
    <a:masterClrMapping/>
  </p:clrMapOvr>
  <p:transition>
    <p:wheel spokes="8"/>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2. Controlling of process and operation</a:t>
            </a:r>
            <a:endParaRPr lang="en-US" dirty="0"/>
          </a:p>
        </p:txBody>
      </p:sp>
      <p:sp>
        <p:nvSpPr>
          <p:cNvPr id="3" name="Content Placeholder 2"/>
          <p:cNvSpPr>
            <a:spLocks noGrp="1"/>
          </p:cNvSpPr>
          <p:nvPr>
            <p:ph idx="1"/>
          </p:nvPr>
        </p:nvSpPr>
        <p:spPr>
          <a:xfrm>
            <a:off x="457200" y="1219200"/>
            <a:ext cx="8229600" cy="5410200"/>
          </a:xfrm>
        </p:spPr>
        <p:txBody>
          <a:bodyPr>
            <a:normAutofit/>
          </a:bodyPr>
          <a:lstStyle/>
          <a:p>
            <a:r>
              <a:rPr lang="en-US" dirty="0" smtClean="0"/>
              <a:t>A very useful application of instruments is in automatic control systems. There has been a very strong association between measurement and control.</a:t>
            </a:r>
          </a:p>
          <a:p>
            <a:r>
              <a:rPr lang="en-US" dirty="0" smtClean="0"/>
              <a:t>In order that process variable like temperature, pressure, humidity, etc. may be controlled, the prerequisite is that can be measured at the desired location in the individual parts. </a:t>
            </a:r>
          </a:p>
          <a:p>
            <a:pPr marL="0" indent="0">
              <a:buNone/>
            </a:pPr>
            <a:endParaRPr lang="en-US" dirty="0" smtClean="0"/>
          </a:p>
          <a:p>
            <a:endParaRPr lang="en-US" dirty="0"/>
          </a:p>
        </p:txBody>
      </p:sp>
    </p:spTree>
  </p:cSld>
  <p:clrMapOvr>
    <a:masterClrMapping/>
  </p:clrMapOvr>
  <p:transition>
    <p:wheel spokes="8"/>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3.  Analyzing of experiment</a:t>
            </a:r>
            <a:endParaRPr lang="en-US" dirty="0"/>
          </a:p>
        </p:txBody>
      </p:sp>
      <p:sp>
        <p:nvSpPr>
          <p:cNvPr id="3" name="Content Placeholder 2"/>
          <p:cNvSpPr>
            <a:spLocks noGrp="1"/>
          </p:cNvSpPr>
          <p:nvPr>
            <p:ph idx="1"/>
          </p:nvPr>
        </p:nvSpPr>
        <p:spPr>
          <a:xfrm>
            <a:off x="381000" y="990600"/>
            <a:ext cx="8534400" cy="5638800"/>
          </a:xfrm>
        </p:spPr>
        <p:txBody>
          <a:bodyPr>
            <a:normAutofit/>
          </a:bodyPr>
          <a:lstStyle/>
          <a:p>
            <a:r>
              <a:rPr lang="en-US" dirty="0" smtClean="0"/>
              <a:t>For solution of engineering problems, theoretical and experimental methods are available. </a:t>
            </a:r>
          </a:p>
          <a:p>
            <a:r>
              <a:rPr lang="en-US" dirty="0" smtClean="0"/>
              <a:t>Many applications require application of both the methods. The relative affectability of the method depends upon the nature of the problem. Experimental engineering analysis has many uses and some are listed below:</a:t>
            </a:r>
          </a:p>
        </p:txBody>
      </p:sp>
    </p:spTree>
  </p:cSld>
  <p:clrMapOvr>
    <a:masterClrMapping/>
  </p:clrMapOvr>
  <p:transition>
    <p:wheel spokes="8"/>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44562"/>
          </a:xfrm>
          <a:solidFill>
            <a:schemeClr val="accent2"/>
          </a:solidFill>
        </p:spPr>
        <p:txBody>
          <a:bodyPr>
            <a:normAutofit fontScale="90000"/>
          </a:bodyPr>
          <a:lstStyle/>
          <a:p>
            <a:r>
              <a:rPr lang="en-US" dirty="0" smtClean="0"/>
              <a:t>Uses of engineering experimental analysis </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a:buFont typeface="Wingdings" panose="05000000000000000000" pitchFamily="2" charset="2"/>
              <a:buChar char="Ø"/>
            </a:pPr>
            <a:r>
              <a:rPr lang="en-US" dirty="0" smtClean="0"/>
              <a:t>   Testing and validity of theoretical predictions.</a:t>
            </a:r>
          </a:p>
          <a:p>
            <a:pPr>
              <a:buFont typeface="Wingdings" panose="05000000000000000000" pitchFamily="2" charset="2"/>
              <a:buChar char="Ø"/>
            </a:pPr>
            <a:r>
              <a:rPr lang="en-US" dirty="0" smtClean="0"/>
              <a:t>    Formulations of generalized empirical     	relationships in cases where no proper 	theoretical backing exists.</a:t>
            </a:r>
          </a:p>
          <a:p>
            <a:pPr>
              <a:buFont typeface="Wingdings" panose="05000000000000000000" pitchFamily="2" charset="2"/>
              <a:buChar char="Ø"/>
            </a:pPr>
            <a:r>
              <a:rPr lang="en-US" dirty="0" smtClean="0"/>
              <a:t>   Determination of system parameters, 	valuable and performance indices.</a:t>
            </a:r>
          </a:p>
          <a:p>
            <a:pPr>
              <a:buFont typeface="Wingdings" panose="05000000000000000000" pitchFamily="2" charset="2"/>
              <a:buChar char="Ø"/>
            </a:pPr>
            <a:r>
              <a:rPr lang="en-US" dirty="0" smtClean="0"/>
              <a:t>    For development in important spheres of study 	where there is ample scope of study.</a:t>
            </a:r>
          </a:p>
          <a:p>
            <a:pPr>
              <a:buFont typeface="Wingdings" panose="05000000000000000000" pitchFamily="2" charset="2"/>
              <a:buChar char="Ø"/>
            </a:pPr>
            <a:r>
              <a:rPr lang="en-US" dirty="0" smtClean="0"/>
              <a:t>    Solutions of mathematical relationships with 	the help of analogies</a:t>
            </a:r>
          </a:p>
          <a:p>
            <a:endParaRPr lang="en-US" dirty="0"/>
          </a:p>
        </p:txBody>
      </p:sp>
    </p:spTree>
  </p:cSld>
  <p:clrMapOvr>
    <a:masterClrMapping/>
  </p:clrMapOvr>
  <p:transition>
    <p:wheel spokes="8"/>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2"/>
          </a:solidFill>
        </p:spPr>
        <p:txBody>
          <a:bodyPr>
            <a:normAutofit/>
          </a:bodyPr>
          <a:lstStyle/>
          <a:p>
            <a:r>
              <a:rPr lang="en-US" dirty="0" smtClean="0"/>
              <a:t>Factors affect measurement.</a:t>
            </a:r>
            <a:endParaRPr lang="en-US" dirty="0"/>
          </a:p>
        </p:txBody>
      </p:sp>
      <p:sp>
        <p:nvSpPr>
          <p:cNvPr id="3" name="Content Placeholder 2"/>
          <p:cNvSpPr>
            <a:spLocks noGrp="1"/>
          </p:cNvSpPr>
          <p:nvPr>
            <p:ph idx="1"/>
          </p:nvPr>
        </p:nvSpPr>
        <p:spPr>
          <a:xfrm>
            <a:off x="304800" y="1066800"/>
            <a:ext cx="8534400" cy="5486400"/>
          </a:xfrm>
        </p:spPr>
        <p:txBody>
          <a:bodyPr>
            <a:noAutofit/>
          </a:bodyPr>
          <a:lstStyle/>
          <a:p>
            <a:pPr>
              <a:lnSpc>
                <a:spcPct val="150000"/>
              </a:lnSpc>
              <a:buNone/>
            </a:pPr>
            <a:r>
              <a:rPr lang="en-US" sz="2200" dirty="0" smtClean="0"/>
              <a:t>	</a:t>
            </a:r>
            <a:r>
              <a:rPr lang="en-US" sz="2400" dirty="0" smtClean="0">
                <a:latin typeface="Times New Roman" pitchFamily="18" charset="0"/>
                <a:cs typeface="Times New Roman" pitchFamily="18" charset="0"/>
              </a:rPr>
              <a:t>Many </a:t>
            </a:r>
            <a:r>
              <a:rPr lang="en-US" sz="2400" dirty="0">
                <a:latin typeface="Times New Roman" pitchFamily="18" charset="0"/>
                <a:cs typeface="Times New Roman" pitchFamily="18" charset="0"/>
              </a:rPr>
              <a:t>factors can reduce accuracy or precision and increase the uncertainty </a:t>
            </a:r>
            <a:r>
              <a:rPr lang="en-US" sz="2400" dirty="0" smtClean="0">
                <a:latin typeface="Times New Roman" pitchFamily="18" charset="0"/>
                <a:cs typeface="Times New Roman" pitchFamily="18" charset="0"/>
              </a:rPr>
              <a:t>of your </a:t>
            </a:r>
            <a:r>
              <a:rPr lang="en-US" sz="2400" dirty="0">
                <a:latin typeface="Times New Roman" pitchFamily="18" charset="0"/>
                <a:cs typeface="Times New Roman" pitchFamily="18" charset="0"/>
              </a:rPr>
              <a:t>measurement result. Some of the most common are:</a:t>
            </a:r>
          </a:p>
          <a:p>
            <a:pPr>
              <a:lnSpc>
                <a:spcPct val="150000"/>
              </a:lnSpc>
              <a:buNone/>
            </a:pPr>
            <a:r>
              <a:rPr lang="en-US" sz="2400" dirty="0" smtClean="0">
                <a:latin typeface="Times New Roman" pitchFamily="18" charset="0"/>
                <a:cs typeface="Times New Roman" pitchFamily="18" charset="0"/>
              </a:rPr>
              <a:t>	• </a:t>
            </a:r>
            <a:r>
              <a:rPr lang="en-US" sz="2400" b="1" dirty="0">
                <a:latin typeface="Times New Roman" pitchFamily="18" charset="0"/>
                <a:cs typeface="Times New Roman" pitchFamily="18" charset="0"/>
              </a:rPr>
              <a:t>Environmental conditions </a:t>
            </a:r>
            <a:r>
              <a:rPr lang="en-US" sz="2400" dirty="0">
                <a:latin typeface="Times New Roman" pitchFamily="18" charset="0"/>
                <a:cs typeface="Times New Roman" pitchFamily="18" charset="0"/>
              </a:rPr>
              <a:t>– changes in temperature or humidity </a:t>
            </a:r>
            <a:r>
              <a:rPr lang="en-US" sz="2400" dirty="0" smtClean="0">
                <a:latin typeface="Times New Roman" pitchFamily="18" charset="0"/>
                <a:cs typeface="Times New Roman" pitchFamily="18" charset="0"/>
              </a:rPr>
              <a:t>can expand </a:t>
            </a:r>
            <a:r>
              <a:rPr lang="en-US" sz="2400" dirty="0">
                <a:latin typeface="Times New Roman" pitchFamily="18" charset="0"/>
                <a:cs typeface="Times New Roman" pitchFamily="18" charset="0"/>
              </a:rPr>
              <a:t>and contract materials as well as affect the performance </a:t>
            </a:r>
            <a:r>
              <a:rPr lang="en-US" sz="2400" dirty="0" smtClean="0">
                <a:latin typeface="Times New Roman" pitchFamily="18" charset="0"/>
                <a:cs typeface="Times New Roman" pitchFamily="18" charset="0"/>
              </a:rPr>
              <a:t>of measuring </a:t>
            </a:r>
            <a:r>
              <a:rPr lang="en-US" sz="2400" dirty="0">
                <a:latin typeface="Times New Roman" pitchFamily="18" charset="0"/>
                <a:cs typeface="Times New Roman" pitchFamily="18" charset="0"/>
              </a:rPr>
              <a:t>equipment.</a:t>
            </a:r>
          </a:p>
          <a:p>
            <a:pPr>
              <a:lnSpc>
                <a:spcPct val="150000"/>
              </a:lnSpc>
              <a:buNone/>
            </a:pPr>
            <a:r>
              <a:rPr lang="en-US" sz="2400" b="1" dirty="0" smtClean="0">
                <a:latin typeface="Times New Roman" pitchFamily="18" charset="0"/>
                <a:cs typeface="Times New Roman" pitchFamily="18" charset="0"/>
              </a:rPr>
              <a:t>	• </a:t>
            </a:r>
            <a:r>
              <a:rPr lang="en-US" sz="2400" b="1" dirty="0">
                <a:latin typeface="Times New Roman" pitchFamily="18" charset="0"/>
                <a:cs typeface="Times New Roman" pitchFamily="18" charset="0"/>
              </a:rPr>
              <a:t>Inferior measuring equipment </a:t>
            </a:r>
            <a:r>
              <a:rPr lang="en-US" sz="2400" dirty="0">
                <a:latin typeface="Times New Roman" pitchFamily="18" charset="0"/>
                <a:cs typeface="Times New Roman" pitchFamily="18" charset="0"/>
              </a:rPr>
              <a:t>– equipment which is poorly </a:t>
            </a:r>
            <a:r>
              <a:rPr lang="en-US" sz="2400" dirty="0" smtClean="0">
                <a:latin typeface="Times New Roman" pitchFamily="18" charset="0"/>
                <a:cs typeface="Times New Roman" pitchFamily="18" charset="0"/>
              </a:rPr>
              <a:t>maintained, damaged </a:t>
            </a:r>
            <a:r>
              <a:rPr lang="en-US" sz="2400" dirty="0">
                <a:latin typeface="Times New Roman" pitchFamily="18" charset="0"/>
                <a:cs typeface="Times New Roman" pitchFamily="18" charset="0"/>
              </a:rPr>
              <a:t>or not calibrated will give less reliable results</a:t>
            </a:r>
            <a:r>
              <a:rPr lang="en-US" sz="2000" dirty="0">
                <a:latin typeface="Times New Roman" pitchFamily="18" charset="0"/>
                <a:cs typeface="Times New Roman" pitchFamily="18" charset="0"/>
              </a:rPr>
              <a:t>.</a:t>
            </a:r>
          </a:p>
          <a:p>
            <a:pPr>
              <a:lnSpc>
                <a:spcPct val="150000"/>
              </a:lnSpc>
              <a:buNone/>
            </a:pPr>
            <a:r>
              <a:rPr lang="en-US" sz="2000" dirty="0" smtClean="0">
                <a:latin typeface="Times New Roman" pitchFamily="18" charset="0"/>
                <a:cs typeface="Times New Roman" pitchFamily="18" charset="0"/>
              </a:rPr>
              <a:t>	</a:t>
            </a:r>
            <a:endParaRPr lang="en-US" sz="2000" dirty="0"/>
          </a:p>
        </p:txBody>
      </p:sp>
    </p:spTree>
  </p:cSld>
  <p:clrMapOvr>
    <a:masterClrMapping/>
  </p:clrMapOvr>
  <p:transition>
    <p:wheel spokes="8"/>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 </a:t>
            </a:r>
            <a:r>
              <a:rPr lang="en-US" dirty="0" smtClean="0"/>
              <a:t>measurement….</a:t>
            </a:r>
            <a:endParaRPr lang="en-US" dirty="0"/>
          </a:p>
        </p:txBody>
      </p:sp>
      <p:sp>
        <p:nvSpPr>
          <p:cNvPr id="3" name="Content Placeholder 2"/>
          <p:cNvSpPr>
            <a:spLocks noGrp="1"/>
          </p:cNvSpPr>
          <p:nvPr>
            <p:ph idx="1"/>
          </p:nvPr>
        </p:nvSpPr>
        <p:spPr/>
        <p:txBody>
          <a:bodyPr>
            <a:normAutofit fontScale="92500" lnSpcReduction="20000"/>
          </a:bodyPr>
          <a:lstStyle/>
          <a:p>
            <a:pPr>
              <a:lnSpc>
                <a:spcPct val="150000"/>
              </a:lnSpc>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Poor measuring techniques </a:t>
            </a:r>
            <a:r>
              <a:rPr lang="en-US" dirty="0">
                <a:latin typeface="Times New Roman" pitchFamily="18" charset="0"/>
                <a:cs typeface="Times New Roman" pitchFamily="18" charset="0"/>
              </a:rPr>
              <a:t>– having consistent procedures for your</a:t>
            </a:r>
          </a:p>
          <a:p>
            <a:pPr>
              <a:lnSpc>
                <a:spcPct val="150000"/>
              </a:lnSpc>
              <a:buNone/>
            </a:pPr>
            <a:r>
              <a:rPr lang="en-US" dirty="0">
                <a:latin typeface="Times New Roman" pitchFamily="18" charset="0"/>
                <a:cs typeface="Times New Roman" pitchFamily="18" charset="0"/>
              </a:rPr>
              <a:t>	measurements is vital, incompetence measuring skills results to error.</a:t>
            </a:r>
          </a:p>
          <a:p>
            <a:pPr>
              <a:lnSpc>
                <a:spcPct val="150000"/>
              </a:lnSpc>
              <a:buNone/>
            </a:pPr>
            <a:r>
              <a:rPr lang="en-US" dirty="0">
                <a:latin typeface="Times New Roman" pitchFamily="18" charset="0"/>
                <a:cs typeface="Times New Roman" pitchFamily="18" charset="0"/>
              </a:rPr>
              <a:t>	• </a:t>
            </a:r>
            <a:r>
              <a:rPr lang="en-US" b="1" dirty="0">
                <a:latin typeface="Times New Roman" pitchFamily="18" charset="0"/>
                <a:cs typeface="Times New Roman" pitchFamily="18" charset="0"/>
              </a:rPr>
              <a:t>Inadequate ability and skills</a:t>
            </a:r>
            <a:r>
              <a:rPr lang="en-US" dirty="0">
                <a:latin typeface="Times New Roman" pitchFamily="18" charset="0"/>
                <a:cs typeface="Times New Roman" pitchFamily="18" charset="0"/>
              </a:rPr>
              <a:t>– not knowing how to make the right measurement will have negative impact to the results</a:t>
            </a:r>
            <a:r>
              <a:rPr lang="en-US" dirty="0"/>
              <a:t>.</a:t>
            </a:r>
          </a:p>
          <a:p>
            <a:endParaRPr lang="en-US" dirty="0"/>
          </a:p>
        </p:txBody>
      </p:sp>
    </p:spTree>
    <p:extLst>
      <p:ext uri="{BB962C8B-B14F-4D97-AF65-F5344CB8AC3E}">
        <p14:creationId xmlns:p14="http://schemas.microsoft.com/office/powerpoint/2010/main" val="3683907192"/>
      </p:ext>
    </p:extLst>
  </p:cSld>
  <p:clrMapOvr>
    <a:masterClrMapping/>
  </p:clrMapOvr>
  <p:transition>
    <p:wheel spokes="8"/>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668962"/>
          </a:xfrm>
        </p:spPr>
        <p:txBody>
          <a:bodyPr>
            <a:normAutofit/>
          </a:bodyPr>
          <a:lstStyle/>
          <a:p>
            <a:r>
              <a:rPr lang="en-US" sz="5400" dirty="0" smtClean="0">
                <a:solidFill>
                  <a:srgbClr val="FF0000"/>
                </a:solidFill>
                <a:latin typeface="Arial" panose="020B0604020202020204" pitchFamily="34" charset="0"/>
                <a:cs typeface="Arial" panose="020B0604020202020204" pitchFamily="34" charset="0"/>
              </a:rPr>
              <a:t>END OF PRESENTATION</a:t>
            </a:r>
            <a:endParaRPr lang="en-US" sz="5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014102"/>
      </p:ext>
    </p:extLst>
  </p:cSld>
  <p:clrMapOvr>
    <a:masterClrMapping/>
  </p:clrMapOvr>
  <p:transition>
    <p:wheel spokes="8"/>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TotalTime>
  <Words>2172</Words>
  <Application>Microsoft Office PowerPoint</Application>
  <PresentationFormat>On-screen Show (4:3)</PresentationFormat>
  <Paragraphs>305</Paragraphs>
  <Slides>58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Arial Narrow</vt:lpstr>
      <vt:lpstr>Calibri</vt:lpstr>
      <vt:lpstr>Times New Roman</vt:lpstr>
      <vt:lpstr>Wingdings</vt:lpstr>
      <vt:lpstr>Office Theme</vt:lpstr>
      <vt:lpstr>ME 6224: ENGINEERING MEASUREMENT&amp;INSTRUMENTATION</vt:lpstr>
      <vt:lpstr>MODE OF TEACHING AND LEARNING ACTIVITIES </vt:lpstr>
      <vt:lpstr>ASSESSMENT TOOLS</vt:lpstr>
      <vt:lpstr>COURSE CONTENTS</vt:lpstr>
      <vt:lpstr>COURSE CONTENTS….</vt:lpstr>
      <vt:lpstr>COURSE CONTENTS….</vt:lpstr>
      <vt:lpstr>Learning objectives</vt:lpstr>
      <vt:lpstr>INTROUCTION TO MEASUREMENT </vt:lpstr>
      <vt:lpstr>INTRODUCTION</vt:lpstr>
      <vt:lpstr>Introduction…</vt:lpstr>
      <vt:lpstr>THE CONCEPT OF MEASUREMENT</vt:lpstr>
      <vt:lpstr>Concept….</vt:lpstr>
      <vt:lpstr>concept…..</vt:lpstr>
      <vt:lpstr>concept….</vt:lpstr>
      <vt:lpstr>Why measurement?</vt:lpstr>
      <vt:lpstr>Forms of measuring instrument</vt:lpstr>
      <vt:lpstr>Forms of measuring instrument</vt:lpstr>
      <vt:lpstr>THE INTERNATIONAL SYSTEM OF SI-UNITS</vt:lpstr>
      <vt:lpstr>FUNDAMENTAL BASIC SI UNITS</vt:lpstr>
      <vt:lpstr>Derived SI units</vt:lpstr>
      <vt:lpstr>Prefixes for multiple units</vt:lpstr>
      <vt:lpstr>Prefixes for multiple units cont….</vt:lpstr>
      <vt:lpstr>Important terms in measurement</vt:lpstr>
      <vt:lpstr>Measurement characteristics</vt:lpstr>
      <vt:lpstr>Important terms cont……</vt:lpstr>
      <vt:lpstr> THE UNCERTAINTY OF MEASUREMENTS </vt:lpstr>
      <vt:lpstr>Uncertainty …</vt:lpstr>
      <vt:lpstr>PowerPoint Presentation</vt:lpstr>
      <vt:lpstr> Errors in measurement of Physical Quantities </vt:lpstr>
      <vt:lpstr> Types of errors </vt:lpstr>
      <vt:lpstr>Types of error ….</vt:lpstr>
      <vt:lpstr>Error Analysis</vt:lpstr>
      <vt:lpstr>Error Analysis……..</vt:lpstr>
      <vt:lpstr>Error Analysis……</vt:lpstr>
      <vt:lpstr>Error Analysis…….</vt:lpstr>
      <vt:lpstr>Relative error</vt:lpstr>
      <vt:lpstr>Relative error…..</vt:lpstr>
      <vt:lpstr>Relative error……</vt:lpstr>
      <vt:lpstr>Relative error…..</vt:lpstr>
      <vt:lpstr>Elements of measurement system</vt:lpstr>
      <vt:lpstr>Element of measurement system …..</vt:lpstr>
      <vt:lpstr>Elements of measurement system….</vt:lpstr>
      <vt:lpstr>Elements of measurement system….</vt:lpstr>
      <vt:lpstr>Elements of measurement system….</vt:lpstr>
      <vt:lpstr>Elements of measurement system….</vt:lpstr>
      <vt:lpstr>Elements of measurement system….</vt:lpstr>
      <vt:lpstr>Elements of measurement system….</vt:lpstr>
      <vt:lpstr>Methods of measurements</vt:lpstr>
      <vt:lpstr>The choice of appropriate measuring instrument</vt:lpstr>
      <vt:lpstr>Application of measurement systems</vt:lpstr>
      <vt:lpstr>1.Monitoring of process and operation</vt:lpstr>
      <vt:lpstr>Monitoring of process and operation..</vt:lpstr>
      <vt:lpstr>2. Controlling of process and operation</vt:lpstr>
      <vt:lpstr>3.  Analyzing of experiment</vt:lpstr>
      <vt:lpstr>Uses of engineering experimental analysis </vt:lpstr>
      <vt:lpstr>Factors affect measurement.</vt:lpstr>
      <vt:lpstr>Factors affect measurement….</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MEASUREMENT &amp; INSTRUMENTATION</dc:title>
  <dc:creator>mdende</dc:creator>
  <cp:lastModifiedBy>user</cp:lastModifiedBy>
  <cp:revision>163</cp:revision>
  <dcterms:created xsi:type="dcterms:W3CDTF">2015-10-19T10:50:00Z</dcterms:created>
  <dcterms:modified xsi:type="dcterms:W3CDTF">2024-11-14T06:53:23Z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