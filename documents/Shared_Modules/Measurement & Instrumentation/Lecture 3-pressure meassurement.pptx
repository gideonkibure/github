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78" r:id="rId3"/>
    <p:sldId id="286" r:id="rId4"/>
    <p:sldId id="257" r:id="rId5"/>
    <p:sldId id="258" r:id="rId6"/>
    <p:sldId id="259" r:id="rId7"/>
    <p:sldId id="260" r:id="rId8"/>
    <p:sldId id="261" r:id="rId9"/>
    <p:sldId id="262" r:id="rId10"/>
    <p:sldId id="263" r:id="rId11"/>
    <p:sldId id="280" r:id="rId12"/>
    <p:sldId id="283" r:id="rId13"/>
    <p:sldId id="264" r:id="rId14"/>
    <p:sldId id="265" r:id="rId15"/>
    <p:sldId id="266" r:id="rId16"/>
    <p:sldId id="285" r:id="rId17"/>
    <p:sldId id="267" r:id="rId18"/>
    <p:sldId id="284" r:id="rId19"/>
    <p:sldId id="268" r:id="rId20"/>
    <p:sldId id="269" r:id="rId21"/>
    <p:sldId id="270" r:id="rId22"/>
    <p:sldId id="271" r:id="rId23"/>
    <p:sldId id="272" r:id="rId24"/>
    <p:sldId id="273" r:id="rId25"/>
    <p:sldId id="274" r:id="rId26"/>
    <p:sldId id="275" r:id="rId27"/>
    <p:sldId id="276" r:id="rId28"/>
    <p:sldId id="287" r:id="rId29"/>
    <p:sldId id="28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BBE654-A220-47DB-A557-BA6FB21335D9}" type="datetimeFigureOut">
              <a:rPr lang="en-US" smtClean="0"/>
              <a:pPr/>
              <a:t>12/20/2021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4F844E-E67E-46B5-99A4-A152DAF8F47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04F844E-E67E-46B5-99A4-A152DAF8F47C}"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D28213-C7C5-45E1-B82A-37193BA136A7}" type="datetimeFigureOut">
              <a:rPr lang="en-US" smtClean="0"/>
              <a:pPr/>
              <a:t>12/20/2021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1CDA1-0DBC-46DC-8827-20DD9A68C348}" type="slidenum">
              <a:rPr lang="en-US" smtClean="0"/>
              <a:pPr/>
              <a:t>‹#›</a:t>
            </a:fld>
            <a:endParaRPr lang="en-US"/>
          </a:p>
        </p:txBody>
      </p:sp>
    </p:spTree>
  </p:cSld>
  <p:clrMapOvr>
    <a:masterClrMapping/>
  </p:clrMapOvr>
  <p:transition>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28213-C7C5-45E1-B82A-37193BA136A7}" type="datetimeFigureOut">
              <a:rPr lang="en-US" smtClean="0"/>
              <a:pPr/>
              <a:t>12/20/2021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1CDA1-0DBC-46DC-8827-20DD9A68C3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heel spokes="8"/>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14401"/>
            <a:ext cx="7772400" cy="914400"/>
          </a:xfrm>
          <a:solidFill>
            <a:schemeClr val="accent2"/>
          </a:solidFill>
        </p:spPr>
        <p:txBody>
          <a:bodyPr/>
          <a:lstStyle/>
          <a:p>
            <a:r>
              <a:rPr lang="en-US" dirty="0" smtClean="0"/>
              <a:t>PRESSURE MEASUREMENT</a:t>
            </a:r>
            <a:endParaRPr lang="en-US" dirty="0"/>
          </a:p>
        </p:txBody>
      </p:sp>
      <p:sp>
        <p:nvSpPr>
          <p:cNvPr id="3" name="Subtitle 2"/>
          <p:cNvSpPr>
            <a:spLocks noGrp="1"/>
          </p:cNvSpPr>
          <p:nvPr>
            <p:ph type="subTitle" idx="1"/>
          </p:nvPr>
        </p:nvSpPr>
        <p:spPr>
          <a:xfrm>
            <a:off x="1295400" y="3048000"/>
            <a:ext cx="6400800" cy="1981200"/>
          </a:xfrm>
        </p:spPr>
        <p:txBody>
          <a:bodyPr/>
          <a:lstStyle/>
          <a:p>
            <a:endParaRPr lang="en-US" dirty="0" smtClean="0"/>
          </a:p>
          <a:p>
            <a:r>
              <a:rPr lang="en-US" dirty="0" smtClean="0"/>
              <a:t>INTRODUCTION TO PRESSURE</a:t>
            </a:r>
            <a:endParaRPr lang="en-US" dirty="0"/>
          </a:p>
        </p:txBody>
      </p:sp>
    </p:spTree>
  </p:cSld>
  <p:clrMapOvr>
    <a:masterClrMapping/>
  </p:clrMapOvr>
  <p:transition>
    <p:wheel spokes="8"/>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a:solidFill>
            <a:schemeClr val="accent2"/>
          </a:solidFill>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a:buNone/>
            </a:pPr>
            <a:r>
              <a:rPr lang="en-US" dirty="0" smtClean="0"/>
              <a:t>At the end of this discussion the participants should be able to;</a:t>
            </a:r>
          </a:p>
          <a:p>
            <a:r>
              <a:rPr lang="en-US" dirty="0" smtClean="0"/>
              <a:t>Explain the meaning of the term pressure</a:t>
            </a:r>
          </a:p>
          <a:p>
            <a:r>
              <a:rPr lang="en-US" dirty="0" smtClean="0"/>
              <a:t>Describe factors affecting pressure in both liquid and gas</a:t>
            </a:r>
          </a:p>
          <a:p>
            <a:r>
              <a:rPr lang="en-US" dirty="0" smtClean="0"/>
              <a:t>Describe pressure measurement principles</a:t>
            </a:r>
          </a:p>
          <a:p>
            <a:endParaRPr lang="en-US" dirty="0" smtClean="0"/>
          </a:p>
          <a:p>
            <a:endParaRPr lang="en-US" dirty="0"/>
          </a:p>
        </p:txBody>
      </p:sp>
    </p:spTree>
  </p:cSld>
  <p:clrMapOvr>
    <a:masterClrMapping/>
  </p:clrMapOvr>
  <p:transition>
    <p:wheel spokes="8"/>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066800" y="1371600"/>
            <a:ext cx="6553200" cy="5105400"/>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a:ln>
            <a:solidFill>
              <a:schemeClr val="accent1"/>
            </a:solidFill>
          </a:ln>
        </p:spPr>
        <p:txBody>
          <a:bodyPr/>
          <a:lstStyle/>
          <a:p>
            <a:r>
              <a:rPr lang="en-US" dirty="0" smtClean="0"/>
              <a:t>INTRODUCTION</a:t>
            </a:r>
            <a:endParaRPr lang="en-US" dirty="0"/>
          </a:p>
        </p:txBody>
      </p:sp>
      <p:sp>
        <p:nvSpPr>
          <p:cNvPr id="4" name="Content Placeholder 3"/>
          <p:cNvSpPr>
            <a:spLocks noGrp="1"/>
          </p:cNvSpPr>
          <p:nvPr>
            <p:ph idx="1"/>
          </p:nvPr>
        </p:nvSpPr>
        <p:spPr/>
        <p:txBody>
          <a:bodyPr>
            <a:normAutofit fontScale="92500" lnSpcReduction="20000"/>
          </a:bodyPr>
          <a:lstStyle/>
          <a:p>
            <a:r>
              <a:rPr lang="en-US" dirty="0" smtClean="0"/>
              <a:t>The measurement of pressure is one of the major process of measurement used for process control. The pressure of almost any liquid or gas that is stored or moved must be known to ensure </a:t>
            </a:r>
            <a:r>
              <a:rPr lang="en-US" b="1" i="1" dirty="0" smtClean="0"/>
              <a:t>safe</a:t>
            </a:r>
            <a:r>
              <a:rPr lang="en-US" dirty="0" smtClean="0"/>
              <a:t> and </a:t>
            </a:r>
            <a:r>
              <a:rPr lang="en-US" b="1" i="1" dirty="0" smtClean="0"/>
              <a:t>reliable</a:t>
            </a:r>
            <a:r>
              <a:rPr lang="en-US" dirty="0" smtClean="0"/>
              <a:t> operation.</a:t>
            </a:r>
          </a:p>
          <a:p>
            <a:r>
              <a:rPr lang="en-US" dirty="0" smtClean="0"/>
              <a:t>Pressure is defined as a </a:t>
            </a:r>
            <a:r>
              <a:rPr lang="en-US" b="1" i="1" dirty="0" smtClean="0"/>
              <a:t>force</a:t>
            </a:r>
            <a:r>
              <a:rPr lang="en-US" dirty="0" smtClean="0"/>
              <a:t> divided by the </a:t>
            </a:r>
            <a:r>
              <a:rPr lang="en-US" b="1" i="1" dirty="0" smtClean="0"/>
              <a:t>area</a:t>
            </a:r>
            <a:r>
              <a:rPr lang="en-US" dirty="0" smtClean="0"/>
              <a:t> over which the </a:t>
            </a:r>
            <a:r>
              <a:rPr lang="en-US" b="1" i="1" dirty="0" smtClean="0"/>
              <a:t>force is applied</a:t>
            </a:r>
            <a:r>
              <a:rPr lang="en-US" dirty="0" smtClean="0"/>
              <a:t>. However force is pull or push that changes or tend to change the state of rest or motion of a body. </a:t>
            </a:r>
          </a:p>
          <a:p>
            <a:r>
              <a:rPr lang="en-US" dirty="0" smtClean="0"/>
              <a:t>Also area is the number of unit squares equal to the surface of an object.</a:t>
            </a:r>
            <a:endParaRPr lang="en-US" dirty="0"/>
          </a:p>
        </p:txBody>
      </p:sp>
    </p:spTree>
  </p:cSld>
  <p:clrMapOvr>
    <a:masterClrMapping/>
  </p:clrMapOvr>
  <p:transition>
    <p:wheel spokes="8"/>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676400" y="2057400"/>
            <a:ext cx="4876800" cy="3962399"/>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a:solidFill>
            <a:schemeClr val="accent2"/>
          </a:solidFill>
        </p:spPr>
        <p:txBody>
          <a:bodyPr/>
          <a:lstStyle/>
          <a:p>
            <a:r>
              <a:rPr lang="en-US" dirty="0" smtClean="0"/>
              <a:t>PRESSURE MEASUREMENT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Pressure is the amount of force applied over a defined area. The relationship between pressure, force and area is represented by the following formula.</a:t>
            </a:r>
          </a:p>
          <a:p>
            <a:pPr>
              <a:buNone/>
            </a:pPr>
            <a:r>
              <a:rPr lang="en-US" dirty="0" smtClean="0"/>
              <a:t>			P = F/A</a:t>
            </a:r>
          </a:p>
          <a:p>
            <a:pPr>
              <a:buNone/>
            </a:pPr>
            <a:r>
              <a:rPr lang="en-US" dirty="0" smtClean="0"/>
              <a:t>   Where: 	P = Pressure</a:t>
            </a:r>
          </a:p>
          <a:p>
            <a:pPr>
              <a:buNone/>
            </a:pPr>
            <a:r>
              <a:rPr lang="en-US" dirty="0" smtClean="0"/>
              <a:t>	           	F = Force</a:t>
            </a:r>
          </a:p>
          <a:p>
            <a:pPr>
              <a:buNone/>
            </a:pPr>
            <a:r>
              <a:rPr lang="en-US" dirty="0" smtClean="0"/>
              <a:t>               	A = Area</a:t>
            </a:r>
          </a:p>
          <a:p>
            <a:pPr>
              <a:buNone/>
            </a:pPr>
            <a:r>
              <a:rPr lang="en-US" dirty="0" smtClean="0"/>
              <a:t>  The SI units for pressure N/m</a:t>
            </a:r>
            <a:r>
              <a:rPr lang="en-US" baseline="30000" dirty="0" smtClean="0"/>
              <a:t>2</a:t>
            </a:r>
            <a:r>
              <a:rPr lang="en-US" dirty="0" smtClean="0"/>
              <a:t>,Pa, bar, psi</a:t>
            </a:r>
            <a:endParaRPr lang="en-US" dirty="0"/>
          </a:p>
        </p:txBody>
      </p:sp>
    </p:spTree>
  </p:cSld>
  <p:clrMapOvr>
    <a:masterClrMapping/>
  </p:clrMapOvr>
  <p:transition>
    <p:wheel spokes="8"/>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a:solidFill>
            <a:schemeClr val="accent2"/>
          </a:solidFill>
        </p:spPr>
        <p:txBody>
          <a:bodyPr/>
          <a:lstStyle/>
          <a:p>
            <a:r>
              <a:rPr lang="en-US" dirty="0" smtClean="0"/>
              <a:t>Introduction to pressure cont…..</a:t>
            </a:r>
            <a:endParaRPr lang="en-US" dirty="0"/>
          </a:p>
        </p:txBody>
      </p:sp>
      <p:sp>
        <p:nvSpPr>
          <p:cNvPr id="3" name="Content Placeholder 2"/>
          <p:cNvSpPr>
            <a:spLocks noGrp="1"/>
          </p:cNvSpPr>
          <p:nvPr>
            <p:ph idx="1"/>
          </p:nvPr>
        </p:nvSpPr>
        <p:spPr>
          <a:xfrm>
            <a:off x="533400" y="1752601"/>
            <a:ext cx="8077200" cy="2971800"/>
          </a:xfrm>
        </p:spPr>
        <p:txBody>
          <a:bodyPr/>
          <a:lstStyle/>
          <a:p>
            <a:pPr>
              <a:buNone/>
            </a:pPr>
            <a:r>
              <a:rPr lang="en-US" dirty="0" smtClean="0"/>
              <a:t>	If a force (due to physical contact) is applied over an area, pressure is being created. Pressure increases if force increases or the size of the area over which the force being applied  decreases.</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2"/>
          </a:solidFill>
        </p:spPr>
        <p:txBody>
          <a:bodyPr>
            <a:normAutofit/>
          </a:bodyPr>
          <a:lstStyle/>
          <a:p>
            <a:r>
              <a:rPr lang="en-US" dirty="0" smtClean="0"/>
              <a:t>PRESSURE VARIABLES</a:t>
            </a:r>
            <a:endParaRPr lang="en-US" dirty="0"/>
          </a:p>
        </p:txBody>
      </p:sp>
      <p:sp>
        <p:nvSpPr>
          <p:cNvPr id="3" name="Content Placeholder 2"/>
          <p:cNvSpPr>
            <a:spLocks noGrp="1"/>
          </p:cNvSpPr>
          <p:nvPr>
            <p:ph idx="1"/>
          </p:nvPr>
        </p:nvSpPr>
        <p:spPr>
          <a:xfrm>
            <a:off x="457200" y="1295400"/>
            <a:ext cx="8229600" cy="5334000"/>
          </a:xfrm>
        </p:spPr>
        <p:txBody>
          <a:bodyPr>
            <a:normAutofit lnSpcReduction="10000"/>
          </a:bodyPr>
          <a:lstStyle/>
          <a:p>
            <a:pPr>
              <a:buNone/>
            </a:pPr>
            <a:r>
              <a:rPr lang="en-US" dirty="0" smtClean="0"/>
              <a:t> 	Factors that influence the pressure of liquid are different from factors that influence the pressure of gas. </a:t>
            </a:r>
          </a:p>
          <a:p>
            <a:pPr>
              <a:buNone/>
            </a:pPr>
            <a:r>
              <a:rPr lang="en-US" dirty="0" smtClean="0"/>
              <a:t>	Therefore when measuring pressure it is important to understand the pressure properties of liquid or gases.  </a:t>
            </a:r>
          </a:p>
          <a:p>
            <a:pPr>
              <a:buNone/>
            </a:pPr>
            <a:r>
              <a:rPr lang="en-US" b="1" i="1" dirty="0" smtClean="0"/>
              <a:t>	Hydrostatic pressure (head pressure)</a:t>
            </a:r>
          </a:p>
          <a:p>
            <a:pPr>
              <a:buNone/>
            </a:pPr>
            <a:r>
              <a:rPr lang="en-US" dirty="0" smtClean="0"/>
              <a:t>	The pressure exerted by a liquid is influenced by three factors namely; (a) Height of liquid in a column (b) density of the liquid ( c) Vapour in the liquid</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p:spPr>
        <p:txBody>
          <a:bodyPr/>
          <a:lstStyle/>
          <a:p>
            <a:r>
              <a:rPr lang="en-US" dirty="0" smtClean="0"/>
              <a:t>Liquid level</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The pressure at the bottom of a column of  liquid increases as the height of the liquid in the column increase. </a:t>
            </a:r>
          </a:p>
          <a:p>
            <a:pPr>
              <a:buNone/>
            </a:pPr>
            <a:r>
              <a:rPr lang="en-US" dirty="0" smtClean="0"/>
              <a:t>   Pressure is affected by the </a:t>
            </a:r>
            <a:r>
              <a:rPr lang="en-US" u="sng" dirty="0" smtClean="0"/>
              <a:t>height</a:t>
            </a:r>
            <a:r>
              <a:rPr lang="en-US" dirty="0" smtClean="0"/>
              <a:t> rather than the </a:t>
            </a:r>
            <a:r>
              <a:rPr lang="en-US" u="sng" dirty="0" smtClean="0"/>
              <a:t>volume</a:t>
            </a:r>
            <a:r>
              <a:rPr lang="en-US" dirty="0" smtClean="0"/>
              <a:t> of a liquid.</a:t>
            </a:r>
          </a:p>
          <a:p>
            <a:pPr>
              <a:buNone/>
            </a:pPr>
            <a:r>
              <a:rPr lang="en-US" dirty="0" smtClean="0"/>
              <a:t>   If other factors remain constant e.g. Density and pressure on surface of the liquid, the pressure at a bottom of larger diameter tank will be equal to that of a smaller diameter tank when the height of the liquid is the same. </a:t>
            </a:r>
            <a:endParaRPr lang="en-US" dirty="0"/>
          </a:p>
        </p:txBody>
      </p:sp>
    </p:spTree>
  </p:cSld>
  <p:clrMapOvr>
    <a:masterClrMapping/>
  </p:clrMapOvr>
  <p:transition>
    <p:wheel spokes="8"/>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a:solidFill>
            <a:schemeClr val="accent2"/>
          </a:solidFill>
        </p:spPr>
        <p:txBody>
          <a:bodyPr>
            <a:normAutofit fontScale="90000"/>
          </a:bodyPr>
          <a:lstStyle/>
          <a:p>
            <a:r>
              <a:rPr lang="en-US" dirty="0" smtClean="0"/>
              <a:t>How height of liquid affect pressure </a:t>
            </a:r>
            <a:endParaRPr lang="en-US" dirty="0"/>
          </a:p>
        </p:txBody>
      </p:sp>
      <p:pic>
        <p:nvPicPr>
          <p:cNvPr id="1027" name="Picture 3"/>
          <p:cNvPicPr>
            <a:picLocks noGrp="1" noChangeAspect="1" noChangeArrowheads="1"/>
          </p:cNvPicPr>
          <p:nvPr>
            <p:ph idx="1"/>
          </p:nvPr>
        </p:nvPicPr>
        <p:blipFill>
          <a:blip r:embed="rId2"/>
          <a:srcRect/>
          <a:stretch>
            <a:fillRect/>
          </a:stretch>
        </p:blipFill>
        <p:spPr bwMode="auto">
          <a:xfrm>
            <a:off x="1981200" y="1828800"/>
            <a:ext cx="5257799" cy="3352800"/>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944562"/>
          </a:xfrm>
          <a:solidFill>
            <a:schemeClr val="accent2"/>
          </a:solidFill>
        </p:spPr>
        <p:txBody>
          <a:bodyPr/>
          <a:lstStyle/>
          <a:p>
            <a:r>
              <a:rPr lang="en-US" dirty="0" smtClean="0"/>
              <a:t>Hydrostatic pressure</a:t>
            </a:r>
            <a:endParaRPr lang="en-US" dirty="0"/>
          </a:p>
        </p:txBody>
      </p:sp>
      <p:sp>
        <p:nvSpPr>
          <p:cNvPr id="4" name="Content Placeholder 3"/>
          <p:cNvSpPr>
            <a:spLocks noGrp="1"/>
          </p:cNvSpPr>
          <p:nvPr>
            <p:ph idx="1"/>
          </p:nvPr>
        </p:nvSpPr>
        <p:spPr>
          <a:xfrm>
            <a:off x="304800" y="1295400"/>
            <a:ext cx="8610600" cy="5257800"/>
          </a:xfrm>
        </p:spPr>
        <p:txBody>
          <a:bodyPr>
            <a:normAutofit/>
          </a:bodyPr>
          <a:lstStyle/>
          <a:p>
            <a:pPr>
              <a:buNone/>
            </a:pPr>
            <a:r>
              <a:rPr lang="en-US" dirty="0" smtClean="0"/>
              <a:t>	Hydrostatic pressure is the pressure which rises above a certain level in a liquid owing to the weight of a liquid mass.</a:t>
            </a:r>
          </a:p>
          <a:p>
            <a:pPr>
              <a:buNone/>
            </a:pPr>
            <a:r>
              <a:rPr lang="en-US" dirty="0" smtClean="0"/>
              <a:t>	P</a:t>
            </a:r>
            <a:r>
              <a:rPr lang="en-US" baseline="-25000" dirty="0" smtClean="0"/>
              <a:t>s</a:t>
            </a:r>
            <a:r>
              <a:rPr lang="en-US" dirty="0" smtClean="0"/>
              <a:t> = </a:t>
            </a:r>
            <a:r>
              <a:rPr lang="el-GR" dirty="0" smtClean="0"/>
              <a:t>ρ</a:t>
            </a:r>
            <a:r>
              <a:rPr lang="en-US" dirty="0" err="1" smtClean="0"/>
              <a:t>gh</a:t>
            </a:r>
            <a:r>
              <a:rPr lang="en-US" dirty="0" smtClean="0"/>
              <a:t>  where;</a:t>
            </a:r>
          </a:p>
          <a:p>
            <a:pPr>
              <a:buNone/>
            </a:pPr>
            <a:r>
              <a:rPr lang="en-US" dirty="0" smtClean="0"/>
              <a:t>	P</a:t>
            </a:r>
            <a:r>
              <a:rPr lang="en-US" baseline="-25000" dirty="0" smtClean="0"/>
              <a:t>s</a:t>
            </a:r>
            <a:r>
              <a:rPr lang="en-US" dirty="0" smtClean="0"/>
              <a:t> =hydrostatic pressure (gravitational pressure) in Pascal</a:t>
            </a:r>
          </a:p>
          <a:p>
            <a:pPr>
              <a:buNone/>
            </a:pPr>
            <a:r>
              <a:rPr lang="en-US" dirty="0" smtClean="0"/>
              <a:t>	</a:t>
            </a:r>
            <a:r>
              <a:rPr lang="el-GR" dirty="0" smtClean="0"/>
              <a:t> ρ</a:t>
            </a:r>
            <a:r>
              <a:rPr lang="en-US" dirty="0" smtClean="0"/>
              <a:t> = density of liquid in kg/m</a:t>
            </a:r>
            <a:r>
              <a:rPr lang="en-US" baseline="30000" dirty="0" smtClean="0"/>
              <a:t>3</a:t>
            </a:r>
          </a:p>
          <a:p>
            <a:pPr>
              <a:buNone/>
            </a:pPr>
            <a:r>
              <a:rPr lang="en-US" dirty="0" smtClean="0"/>
              <a:t>	h = level of column in m</a:t>
            </a:r>
          </a:p>
          <a:p>
            <a:pPr>
              <a:buNone/>
            </a:pPr>
            <a:r>
              <a:rPr lang="en-US" dirty="0" smtClean="0"/>
              <a:t>	g = acceleration due to gravity in m/s</a:t>
            </a:r>
            <a:r>
              <a:rPr lang="en-US" baseline="30000" dirty="0" smtClean="0"/>
              <a:t>2</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p:spPr>
        <p:txBody>
          <a:bodyPr/>
          <a:lstStyle/>
          <a:p>
            <a:r>
              <a:rPr lang="en-US" dirty="0" smtClean="0"/>
              <a:t>Hydrostatic pressure cont….</a:t>
            </a:r>
            <a:endParaRPr lang="en-US" dirty="0"/>
          </a:p>
        </p:txBody>
      </p:sp>
      <p:sp>
        <p:nvSpPr>
          <p:cNvPr id="3" name="Content Placeholder 2"/>
          <p:cNvSpPr>
            <a:spLocks noGrp="1"/>
          </p:cNvSpPr>
          <p:nvPr>
            <p:ph idx="1"/>
          </p:nvPr>
        </p:nvSpPr>
        <p:spPr>
          <a:xfrm>
            <a:off x="457200" y="1722437"/>
            <a:ext cx="8229600" cy="4525963"/>
          </a:xfrm>
        </p:spPr>
        <p:txBody>
          <a:bodyPr/>
          <a:lstStyle/>
          <a:p>
            <a:pPr>
              <a:buNone/>
            </a:pPr>
            <a:r>
              <a:rPr lang="en-US" dirty="0" smtClean="0"/>
              <a:t>	In accordance with the SI International system of units, hydrostatic pressure is given in both Pascal and bar. </a:t>
            </a:r>
          </a:p>
          <a:p>
            <a:pPr>
              <a:buNone/>
            </a:pPr>
            <a:r>
              <a:rPr lang="en-US" dirty="0" smtClean="0"/>
              <a:t>	The level of the column of liquid is given the unit ‘’</a:t>
            </a:r>
            <a:r>
              <a:rPr lang="en-US" dirty="0" err="1" smtClean="0"/>
              <a:t>metre</a:t>
            </a:r>
            <a:r>
              <a:rPr lang="en-US" dirty="0" smtClean="0"/>
              <a:t>’’, the density of the liquid ‘’kilogram per cubic metre’’and the acceleration due to gravity ‘’</a:t>
            </a:r>
            <a:r>
              <a:rPr lang="en-US" dirty="0" err="1" smtClean="0"/>
              <a:t>metre</a:t>
            </a:r>
            <a:r>
              <a:rPr lang="en-US" dirty="0" smtClean="0"/>
              <a:t> per second square’’.</a:t>
            </a:r>
            <a:endParaRPr lang="en-US" dirty="0"/>
          </a:p>
        </p:txBody>
      </p:sp>
    </p:spTree>
  </p:cSld>
  <p:clrMapOvr>
    <a:masterClrMapping/>
  </p:clrMapOvr>
  <p:transition>
    <p:wheel spokes="8"/>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p:spPr>
        <p:txBody>
          <a:bodyPr/>
          <a:lstStyle/>
          <a:p>
            <a:r>
              <a:rPr lang="en-US" dirty="0" smtClean="0"/>
              <a:t>Density of a liquid</a:t>
            </a:r>
            <a:endParaRPr lang="en-US" dirty="0"/>
          </a:p>
        </p:txBody>
      </p:sp>
      <p:sp>
        <p:nvSpPr>
          <p:cNvPr id="3" name="Content Placeholder 2"/>
          <p:cNvSpPr>
            <a:spLocks noGrp="1"/>
          </p:cNvSpPr>
          <p:nvPr>
            <p:ph idx="1"/>
          </p:nvPr>
        </p:nvSpPr>
        <p:spPr/>
        <p:txBody>
          <a:bodyPr/>
          <a:lstStyle/>
          <a:p>
            <a:pPr>
              <a:buNone/>
            </a:pPr>
            <a:r>
              <a:rPr lang="en-US" dirty="0" smtClean="0"/>
              <a:t>  Density is the mass of a particular substance per unit volume.</a:t>
            </a:r>
          </a:p>
          <a:p>
            <a:pPr>
              <a:buNone/>
            </a:pPr>
            <a:r>
              <a:rPr lang="en-US" dirty="0" smtClean="0"/>
              <a:t>			Density = mass/volume </a:t>
            </a:r>
          </a:p>
          <a:p>
            <a:pPr>
              <a:buNone/>
            </a:pPr>
            <a:r>
              <a:rPr lang="en-US" dirty="0" smtClean="0"/>
              <a:t> Liquid with a greater density has a greater mass per unit of volume.</a:t>
            </a:r>
          </a:p>
          <a:p>
            <a:pPr>
              <a:buNone/>
            </a:pPr>
            <a:r>
              <a:rPr lang="en-US" dirty="0" smtClean="0"/>
              <a:t>Liquid with greater densities will produce greater hydrostatic pressure (head) than liquids with lower densities. </a:t>
            </a:r>
            <a:endParaRPr lang="en-US" dirty="0"/>
          </a:p>
        </p:txBody>
      </p:sp>
    </p:spTree>
  </p:cSld>
  <p:clrMapOvr>
    <a:masterClrMapping/>
  </p:clrMapOvr>
  <p:transition>
    <p:wheel spokes="8"/>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Pressure on gas</a:t>
            </a:r>
            <a:endParaRPr lang="en-US" dirty="0"/>
          </a:p>
        </p:txBody>
      </p:sp>
      <p:sp>
        <p:nvSpPr>
          <p:cNvPr id="3" name="Content Placeholder 2"/>
          <p:cNvSpPr>
            <a:spLocks noGrp="1"/>
          </p:cNvSpPr>
          <p:nvPr>
            <p:ph idx="1"/>
          </p:nvPr>
        </p:nvSpPr>
        <p:spPr/>
        <p:txBody>
          <a:bodyPr/>
          <a:lstStyle/>
          <a:p>
            <a:pPr>
              <a:buNone/>
            </a:pPr>
            <a:r>
              <a:rPr lang="en-US" dirty="0" smtClean="0"/>
              <a:t>Unlike liquid, a gas will exert pressure on all parts of the container in which it occupies.</a:t>
            </a:r>
          </a:p>
          <a:p>
            <a:pPr>
              <a:buNone/>
            </a:pPr>
            <a:r>
              <a:rPr lang="en-US" b="1" i="1" dirty="0" smtClean="0"/>
              <a:t>Factors affecting pressure on gas </a:t>
            </a:r>
          </a:p>
          <a:p>
            <a:pPr>
              <a:buNone/>
            </a:pPr>
            <a:r>
              <a:rPr lang="en-US" dirty="0" smtClean="0"/>
              <a:t>Two factors affect the pressure exerted by gas;</a:t>
            </a:r>
          </a:p>
          <a:p>
            <a:pPr>
              <a:buFont typeface="Wingdings" pitchFamily="2" charset="2"/>
              <a:buChar char="Ø"/>
            </a:pPr>
            <a:r>
              <a:rPr lang="en-US" dirty="0" smtClean="0"/>
              <a:t>Volume of the container in which gas is held</a:t>
            </a:r>
          </a:p>
          <a:p>
            <a:pPr>
              <a:buFont typeface="Wingdings" pitchFamily="2" charset="2"/>
              <a:buChar char="Ø"/>
            </a:pPr>
            <a:r>
              <a:rPr lang="en-US" dirty="0" smtClean="0"/>
              <a:t> The temperature of the gas </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2"/>
          </a:solidFill>
        </p:spPr>
        <p:txBody>
          <a:bodyPr>
            <a:normAutofit fontScale="90000"/>
          </a:bodyPr>
          <a:lstStyle/>
          <a:p>
            <a:r>
              <a:rPr lang="en-US" b="1" dirty="0" smtClean="0"/>
              <a:t>Gas pressure Vs Volume relationship</a:t>
            </a:r>
            <a:endParaRPr lang="en-US" b="1" dirty="0"/>
          </a:p>
        </p:txBody>
      </p:sp>
      <p:sp>
        <p:nvSpPr>
          <p:cNvPr id="3" name="Content Placeholder 2"/>
          <p:cNvSpPr>
            <a:spLocks noGrp="1"/>
          </p:cNvSpPr>
          <p:nvPr>
            <p:ph idx="1"/>
          </p:nvPr>
        </p:nvSpPr>
        <p:spPr>
          <a:xfrm>
            <a:off x="457200" y="1219200"/>
            <a:ext cx="8229600" cy="5410200"/>
          </a:xfrm>
        </p:spPr>
        <p:txBody>
          <a:bodyPr>
            <a:normAutofit/>
          </a:bodyPr>
          <a:lstStyle/>
          <a:p>
            <a:pPr>
              <a:buNone/>
            </a:pPr>
            <a:r>
              <a:rPr lang="en-US" dirty="0" smtClean="0"/>
              <a:t>   At </a:t>
            </a:r>
            <a:r>
              <a:rPr lang="en-US" b="1" dirty="0" smtClean="0"/>
              <a:t>constant temperature</a:t>
            </a:r>
            <a:r>
              <a:rPr lang="en-US" dirty="0" smtClean="0"/>
              <a:t>, the relationship between pressure (P) exerted by a gas and the volume of the container (V) in which the gas is held is known as Boyle’s law.</a:t>
            </a:r>
          </a:p>
          <a:p>
            <a:pPr>
              <a:buNone/>
            </a:pPr>
            <a:r>
              <a:rPr lang="en-US" dirty="0" smtClean="0"/>
              <a:t>   Because a gas can be compressed, the pressure of a gas increases proportionally as the volume of the container in which the gas is held decreases. </a:t>
            </a:r>
          </a:p>
          <a:p>
            <a:pPr>
              <a:buNone/>
            </a:pPr>
            <a:r>
              <a:rPr lang="en-US" dirty="0" smtClean="0"/>
              <a:t>	PV = constant</a:t>
            </a:r>
          </a:p>
          <a:p>
            <a:pPr>
              <a:buNone/>
            </a:pPr>
            <a:r>
              <a:rPr lang="en-US" dirty="0" smtClean="0"/>
              <a:t>	Boyle’s law:    P</a:t>
            </a:r>
            <a:r>
              <a:rPr lang="en-US" baseline="-25000" dirty="0" smtClean="0"/>
              <a:t>1</a:t>
            </a:r>
            <a:r>
              <a:rPr lang="en-US" dirty="0" smtClean="0"/>
              <a:t>V</a:t>
            </a:r>
            <a:r>
              <a:rPr lang="en-US" baseline="-25000" dirty="0" smtClean="0"/>
              <a:t>1</a:t>
            </a:r>
            <a:r>
              <a:rPr lang="en-US" dirty="0" smtClean="0"/>
              <a:t> = P</a:t>
            </a:r>
            <a:r>
              <a:rPr lang="en-US" baseline="-25000" dirty="0" smtClean="0"/>
              <a:t>2</a:t>
            </a:r>
            <a:r>
              <a:rPr lang="en-US" dirty="0" smtClean="0"/>
              <a:t>V</a:t>
            </a:r>
            <a:r>
              <a:rPr lang="en-US" baseline="-25000" dirty="0" smtClean="0"/>
              <a:t>2</a:t>
            </a:r>
            <a:endParaRPr lang="en-US" dirty="0" smtClean="0"/>
          </a:p>
          <a:p>
            <a:pPr>
              <a:buNone/>
            </a:pPr>
            <a:endParaRPr lang="en-US" dirty="0" smtClean="0"/>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a:solidFill>
            <a:schemeClr val="accent2"/>
          </a:solidFill>
        </p:spPr>
        <p:txBody>
          <a:bodyPr/>
          <a:lstStyle/>
          <a:p>
            <a:r>
              <a:rPr lang="en-US" dirty="0" smtClean="0"/>
              <a:t>Gas pressure Vs Volume cont..</a:t>
            </a:r>
            <a:endParaRPr lang="en-US" dirty="0"/>
          </a:p>
        </p:txBody>
      </p:sp>
      <p:sp>
        <p:nvSpPr>
          <p:cNvPr id="3" name="Content Placeholder 2"/>
          <p:cNvSpPr>
            <a:spLocks noGrp="1"/>
          </p:cNvSpPr>
          <p:nvPr>
            <p:ph idx="1"/>
          </p:nvPr>
        </p:nvSpPr>
        <p:spPr>
          <a:xfrm>
            <a:off x="457200" y="1295400"/>
            <a:ext cx="8229600" cy="5257800"/>
          </a:xfrm>
        </p:spPr>
        <p:txBody>
          <a:bodyPr>
            <a:normAutofit fontScale="62500" lnSpcReduction="20000"/>
          </a:bodyPr>
          <a:lstStyle/>
          <a:p>
            <a:pPr>
              <a:buNone/>
            </a:pPr>
            <a:r>
              <a:rPr lang="en-US" dirty="0" smtClean="0"/>
              <a:t>	</a:t>
            </a:r>
            <a:r>
              <a:rPr lang="en-US" sz="5100" dirty="0" smtClean="0"/>
              <a:t>Conversely, if a certain amount of gas is transferred to a larger container the pressure will decrease in proportion to the increase in container’s volume.</a:t>
            </a:r>
          </a:p>
          <a:p>
            <a:pPr>
              <a:buNone/>
            </a:pPr>
            <a:r>
              <a:rPr lang="en-US" sz="5100" dirty="0" smtClean="0"/>
              <a:t>	From P</a:t>
            </a:r>
            <a:r>
              <a:rPr lang="en-US" sz="5100" baseline="-25000" dirty="0" smtClean="0"/>
              <a:t>1</a:t>
            </a:r>
            <a:r>
              <a:rPr lang="en-US" sz="5100" dirty="0" smtClean="0"/>
              <a:t>V</a:t>
            </a:r>
            <a:r>
              <a:rPr lang="en-US" sz="5100" baseline="-25000" dirty="0" smtClean="0"/>
              <a:t>1</a:t>
            </a:r>
            <a:r>
              <a:rPr lang="en-US" sz="5100" dirty="0" smtClean="0"/>
              <a:t> = P</a:t>
            </a:r>
            <a:r>
              <a:rPr lang="en-US" sz="5100" baseline="-25000" dirty="0" smtClean="0"/>
              <a:t>2</a:t>
            </a:r>
            <a:r>
              <a:rPr lang="en-US" sz="5100" dirty="0" smtClean="0"/>
              <a:t>V</a:t>
            </a:r>
            <a:r>
              <a:rPr lang="en-US" sz="5100" baseline="-25000" dirty="0" smtClean="0"/>
              <a:t>2</a:t>
            </a:r>
            <a:r>
              <a:rPr lang="en-US" sz="5100" dirty="0" smtClean="0"/>
              <a:t>; but V</a:t>
            </a:r>
            <a:r>
              <a:rPr lang="en-US" sz="5100" baseline="-25000" dirty="0" smtClean="0"/>
              <a:t>1</a:t>
            </a:r>
            <a:r>
              <a:rPr lang="en-US" sz="5100" dirty="0" smtClean="0"/>
              <a:t> =40m3 and V</a:t>
            </a:r>
            <a:r>
              <a:rPr lang="en-US" sz="5100" baseline="-25000" dirty="0" smtClean="0"/>
              <a:t>2</a:t>
            </a:r>
            <a:r>
              <a:rPr lang="en-US" sz="5100" dirty="0" smtClean="0"/>
              <a:t> =2V</a:t>
            </a:r>
            <a:r>
              <a:rPr lang="en-US" sz="5100" baseline="-25000" dirty="0" smtClean="0"/>
              <a:t>1</a:t>
            </a:r>
            <a:r>
              <a:rPr lang="en-US" sz="5100" dirty="0" smtClean="0"/>
              <a:t> </a:t>
            </a:r>
          </a:p>
          <a:p>
            <a:pPr>
              <a:buNone/>
            </a:pPr>
            <a:r>
              <a:rPr lang="en-US" sz="5100" dirty="0" smtClean="0"/>
              <a:t>	i.e. 2X40 =80m3</a:t>
            </a:r>
          </a:p>
          <a:p>
            <a:pPr>
              <a:buNone/>
            </a:pPr>
            <a:r>
              <a:rPr lang="en-US" sz="5100" dirty="0" smtClean="0"/>
              <a:t>	thus; P</a:t>
            </a:r>
            <a:r>
              <a:rPr lang="en-US" sz="5100" baseline="-25000" dirty="0" smtClean="0"/>
              <a:t>1</a:t>
            </a:r>
            <a:r>
              <a:rPr lang="en-US" sz="5100" dirty="0" smtClean="0"/>
              <a:t>X40 = P</a:t>
            </a:r>
            <a:r>
              <a:rPr lang="en-US" sz="5100" baseline="-25000" dirty="0" smtClean="0"/>
              <a:t>2</a:t>
            </a:r>
            <a:r>
              <a:rPr lang="en-US" sz="5100" dirty="0" smtClean="0"/>
              <a:t>x80;</a:t>
            </a:r>
          </a:p>
          <a:p>
            <a:pPr>
              <a:buNone/>
            </a:pPr>
            <a:r>
              <a:rPr lang="en-US" sz="5100" dirty="0" smtClean="0"/>
              <a:t>	P2 = (P</a:t>
            </a:r>
            <a:r>
              <a:rPr lang="en-US" sz="5100" baseline="-25000" dirty="0" smtClean="0"/>
              <a:t>1</a:t>
            </a:r>
            <a:r>
              <a:rPr lang="en-US" sz="5100" dirty="0" smtClean="0"/>
              <a:t> x40)/80</a:t>
            </a:r>
          </a:p>
          <a:p>
            <a:pPr>
              <a:buNone/>
            </a:pPr>
            <a:r>
              <a:rPr lang="en-US" sz="5100" dirty="0" smtClean="0"/>
              <a:t>	Then, P</a:t>
            </a:r>
            <a:r>
              <a:rPr lang="en-US" sz="5100" baseline="-25000" dirty="0" smtClean="0"/>
              <a:t>2</a:t>
            </a:r>
            <a:r>
              <a:rPr lang="en-US" sz="5100" dirty="0" smtClean="0"/>
              <a:t> = 1/2P</a:t>
            </a:r>
            <a:r>
              <a:rPr lang="en-US" sz="5100" baseline="-25000" dirty="0" smtClean="0"/>
              <a:t>1</a:t>
            </a:r>
          </a:p>
          <a:p>
            <a:pPr>
              <a:buNone/>
            </a:pPr>
            <a:r>
              <a:rPr lang="en-US" sz="5100" dirty="0" smtClean="0"/>
              <a:t>	Therefore pressure will decrease by half </a:t>
            </a:r>
          </a:p>
          <a:p>
            <a:pPr>
              <a:buNone/>
            </a:pPr>
            <a:endParaRPr lang="en-US" dirty="0" smtClean="0"/>
          </a:p>
          <a:p>
            <a:pPr>
              <a:buNone/>
            </a:pPr>
            <a:r>
              <a:rPr lang="en-US" dirty="0" smtClean="0"/>
              <a:t>	</a:t>
            </a:r>
            <a:endParaRPr lang="en-US" baseline="-25000" dirty="0" smtClean="0"/>
          </a:p>
          <a:p>
            <a:endParaRPr lang="en-US" dirty="0"/>
          </a:p>
        </p:txBody>
      </p:sp>
    </p:spTree>
  </p:cSld>
  <p:clrMapOvr>
    <a:masterClrMapping/>
  </p:clrMapOvr>
  <p:transition>
    <p:wheel spokes="8"/>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1096962"/>
          </a:xfrm>
          <a:solidFill>
            <a:schemeClr val="accent2"/>
          </a:solidFill>
        </p:spPr>
        <p:txBody>
          <a:bodyPr>
            <a:normAutofit/>
          </a:bodyPr>
          <a:lstStyle/>
          <a:p>
            <a:r>
              <a:rPr lang="en-US" sz="3600" b="1" dirty="0" smtClean="0"/>
              <a:t>Gas Pressure Vs Volume and Temperature</a:t>
            </a:r>
            <a:endParaRPr lang="en-US" sz="3600" b="1" dirty="0"/>
          </a:p>
        </p:txBody>
      </p:sp>
      <p:sp>
        <p:nvSpPr>
          <p:cNvPr id="3" name="Content Placeholder 2"/>
          <p:cNvSpPr>
            <a:spLocks noGrp="1"/>
          </p:cNvSpPr>
          <p:nvPr>
            <p:ph idx="1"/>
          </p:nvPr>
        </p:nvSpPr>
        <p:spPr>
          <a:xfrm>
            <a:off x="457200" y="1600200"/>
            <a:ext cx="8229600" cy="5029200"/>
          </a:xfrm>
        </p:spPr>
        <p:txBody>
          <a:bodyPr>
            <a:normAutofit/>
          </a:bodyPr>
          <a:lstStyle/>
          <a:p>
            <a:pPr>
              <a:buNone/>
            </a:pPr>
            <a:r>
              <a:rPr lang="en-US" dirty="0" smtClean="0"/>
              <a:t>	Gas pressure is affected by changes in temperature. As the temperature of the gas increases,  the energy of the individual molecules increases as well. </a:t>
            </a:r>
          </a:p>
          <a:p>
            <a:pPr>
              <a:buNone/>
            </a:pPr>
            <a:r>
              <a:rPr lang="en-US" dirty="0" smtClean="0"/>
              <a:t>	This in turn causes the molecules to collide with the vessel’s wall more frequently and with greater force and the pressure exerted against the inside wall of the vessel increases.</a:t>
            </a:r>
          </a:p>
          <a:p>
            <a:pPr>
              <a:buNone/>
            </a:pPr>
            <a:r>
              <a:rPr lang="en-US" dirty="0" smtClean="0"/>
              <a:t>	</a:t>
            </a:r>
            <a:endParaRPr lang="en-US" baseline="-25000" dirty="0"/>
          </a:p>
        </p:txBody>
      </p:sp>
    </p:spTree>
  </p:cSld>
  <p:clrMapOvr>
    <a:masterClrMapping/>
  </p:clrMapOvr>
  <p:transition>
    <p:wheel spokes="8"/>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fontScale="90000"/>
          </a:bodyPr>
          <a:lstStyle/>
          <a:p>
            <a:r>
              <a:rPr lang="en-US" b="1" dirty="0" smtClean="0"/>
              <a:t>Gas Pressure Vs Volume and Temperature cont…</a:t>
            </a:r>
            <a:endParaRPr lang="en-US" dirty="0"/>
          </a:p>
        </p:txBody>
      </p:sp>
      <p:sp>
        <p:nvSpPr>
          <p:cNvPr id="3" name="Content Placeholder 2"/>
          <p:cNvSpPr>
            <a:spLocks noGrp="1"/>
          </p:cNvSpPr>
          <p:nvPr>
            <p:ph idx="1"/>
          </p:nvPr>
        </p:nvSpPr>
        <p:spPr>
          <a:xfrm>
            <a:off x="457200" y="1600200"/>
            <a:ext cx="8229600" cy="4953000"/>
          </a:xfrm>
        </p:spPr>
        <p:txBody>
          <a:bodyPr/>
          <a:lstStyle/>
          <a:p>
            <a:pPr>
              <a:buNone/>
            </a:pPr>
            <a:r>
              <a:rPr lang="en-US" dirty="0" smtClean="0"/>
              <a:t>	If the volume of the vessel holding the gas and the amount of gas remain unchanged, the pressure exerted by the gas on the vessel wall will change in proportion to change in the temperature of the gas. </a:t>
            </a:r>
          </a:p>
          <a:p>
            <a:pPr>
              <a:buNone/>
            </a:pPr>
            <a:r>
              <a:rPr lang="en-US" dirty="0" smtClean="0"/>
              <a:t>	</a:t>
            </a:r>
            <a:endParaRPr lang="en-US" baseline="-25000" dirty="0" smtClean="0"/>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normAutofit/>
          </a:bodyPr>
          <a:lstStyle/>
          <a:p>
            <a:r>
              <a:rPr lang="en-US" dirty="0" smtClean="0"/>
              <a:t>PRESSURE MEASUREMENT</a:t>
            </a:r>
            <a:endParaRPr lang="en-US" dirty="0"/>
          </a:p>
        </p:txBody>
      </p:sp>
      <p:sp>
        <p:nvSpPr>
          <p:cNvPr id="3" name="Content Placeholder 2"/>
          <p:cNvSpPr>
            <a:spLocks noGrp="1"/>
          </p:cNvSpPr>
          <p:nvPr>
            <p:ph idx="1"/>
          </p:nvPr>
        </p:nvSpPr>
        <p:spPr>
          <a:xfrm>
            <a:off x="457200" y="1600200"/>
            <a:ext cx="8229600" cy="5105400"/>
          </a:xfrm>
        </p:spPr>
        <p:txBody>
          <a:bodyPr>
            <a:normAutofit lnSpcReduction="10000"/>
          </a:bodyPr>
          <a:lstStyle/>
          <a:p>
            <a:pPr>
              <a:buNone/>
            </a:pPr>
            <a:r>
              <a:rPr lang="en-US" dirty="0" smtClean="0"/>
              <a:t>	Pressure measurement devices can be categorized according to the measured reference pressure.</a:t>
            </a:r>
          </a:p>
          <a:p>
            <a:pPr>
              <a:buNone/>
            </a:pPr>
            <a:r>
              <a:rPr lang="en-US" i="1" dirty="0" smtClean="0"/>
              <a:t>	</a:t>
            </a:r>
            <a:r>
              <a:rPr lang="en-US" b="1" i="1" dirty="0" smtClean="0"/>
              <a:t>Reference pressure </a:t>
            </a:r>
            <a:r>
              <a:rPr lang="en-US" dirty="0" smtClean="0"/>
              <a:t>is the pressure measurement that is compared to the actual measured pressure of the process.</a:t>
            </a:r>
          </a:p>
          <a:p>
            <a:pPr>
              <a:buNone/>
            </a:pPr>
            <a:r>
              <a:rPr lang="en-US" dirty="0" smtClean="0"/>
              <a:t>	There are three reference pressure namely;</a:t>
            </a:r>
          </a:p>
          <a:p>
            <a:pPr lvl="2"/>
            <a:r>
              <a:rPr lang="en-US" sz="2800" dirty="0" smtClean="0"/>
              <a:t>Absolute pressure</a:t>
            </a:r>
          </a:p>
          <a:p>
            <a:pPr lvl="2"/>
            <a:r>
              <a:rPr lang="en-US" sz="2800" dirty="0" smtClean="0"/>
              <a:t>Gauge pressure and</a:t>
            </a:r>
          </a:p>
          <a:p>
            <a:pPr lvl="2"/>
            <a:r>
              <a:rPr lang="en-US" sz="2800" dirty="0" smtClean="0"/>
              <a:t>Differential pressure</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Pressure reference cont……..</a:t>
            </a:r>
            <a:endParaRPr lang="en-US" dirty="0"/>
          </a:p>
        </p:txBody>
      </p:sp>
      <p:sp>
        <p:nvSpPr>
          <p:cNvPr id="3" name="Content Placeholder 2"/>
          <p:cNvSpPr>
            <a:spLocks noGrp="1"/>
          </p:cNvSpPr>
          <p:nvPr>
            <p:ph idx="1"/>
          </p:nvPr>
        </p:nvSpPr>
        <p:spPr/>
        <p:txBody>
          <a:bodyPr/>
          <a:lstStyle/>
          <a:p>
            <a:pPr>
              <a:buNone/>
            </a:pPr>
            <a:r>
              <a:rPr lang="en-US" b="1" i="1" dirty="0" smtClean="0"/>
              <a:t>    Absolute and Gauge pressure</a:t>
            </a:r>
            <a:r>
              <a:rPr lang="en-US" dirty="0" smtClean="0"/>
              <a:t>: These measures the difference between the pressure of the process fluid and reference pressure.</a:t>
            </a:r>
          </a:p>
          <a:p>
            <a:pPr>
              <a:buNone/>
            </a:pPr>
            <a:r>
              <a:rPr lang="en-US" b="1" i="1" dirty="0" smtClean="0"/>
              <a:t>   Differential pressure </a:t>
            </a:r>
            <a:r>
              <a:rPr lang="en-US" dirty="0" smtClean="0"/>
              <a:t>takes two pressure measurements of the process fluid at different point and compute the difference.</a:t>
            </a:r>
          </a:p>
          <a:p>
            <a:pPr>
              <a:buNone/>
            </a:pPr>
            <a:endParaRPr lang="en-US" dirty="0"/>
          </a:p>
        </p:txBody>
      </p:sp>
    </p:spTree>
  </p:cSld>
  <p:clrMapOvr>
    <a:masterClrMapping/>
  </p:clrMapOvr>
  <p:transition>
    <p:wheel spokes="8"/>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Absolute pressure</a:t>
            </a:r>
            <a:endParaRPr lang="en-US" dirty="0"/>
          </a:p>
        </p:txBody>
      </p:sp>
      <p:sp>
        <p:nvSpPr>
          <p:cNvPr id="3" name="Content Placeholder 2"/>
          <p:cNvSpPr>
            <a:spLocks noGrp="1"/>
          </p:cNvSpPr>
          <p:nvPr>
            <p:ph idx="1"/>
          </p:nvPr>
        </p:nvSpPr>
        <p:spPr/>
        <p:txBody>
          <a:bodyPr/>
          <a:lstStyle/>
          <a:p>
            <a:r>
              <a:rPr lang="en-US" dirty="0" smtClean="0"/>
              <a:t>This measures pressure to a perfect volume (zero pound per square inch). Because no pressure reading can be less than a perfect volume, an absolute pressure measurement device will never have a negative reading.</a:t>
            </a:r>
            <a:endParaRPr lang="en-US" dirty="0"/>
          </a:p>
        </p:txBody>
      </p:sp>
    </p:spTree>
  </p:cSld>
  <p:clrMapOvr>
    <a:masterClrMapping/>
  </p:clrMapOvr>
  <p:transition>
    <p:wheel spokes="8"/>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Gauge pressure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 gauge pressure transmitter has its low side referenced to the surrounding atmosphere, approximately 14.7psi  or 101.6kPa, the high side then measure the process.  </a:t>
            </a:r>
          </a:p>
          <a:p>
            <a:pPr>
              <a:buNone/>
            </a:pPr>
            <a:r>
              <a:rPr lang="en-US" dirty="0" smtClean="0"/>
              <a:t>    Changes in atmospheric pressure will impact the process in the low side and there will be no impact to the high side. </a:t>
            </a:r>
          </a:p>
          <a:p>
            <a:pPr>
              <a:buNone/>
            </a:pPr>
            <a:r>
              <a:rPr lang="en-US" dirty="0" smtClean="0"/>
              <a:t>    Gauge pressure transmitters are often used to measure pressure in pipes or liquid level in an open tank.</a:t>
            </a:r>
            <a:endParaRPr lang="en-US" dirty="0"/>
          </a:p>
        </p:txBody>
      </p:sp>
    </p:spTree>
  </p:cSld>
  <p:clrMapOvr>
    <a:masterClrMapping/>
  </p:clrMapOvr>
  <p:transition>
    <p:wheel spokes="8"/>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Differential pressure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 differential pressure transmitter has both its high and low side connected to the process.</a:t>
            </a:r>
          </a:p>
          <a:p>
            <a:pPr>
              <a:buNone/>
            </a:pPr>
            <a:r>
              <a:rPr lang="en-US" dirty="0" smtClean="0"/>
              <a:t>    Changes in the atmospheric pressure does not affect the output of differential pressure measurement instrumentation because both measured pressure and referenced pressure are equally influenced by exposure to the atmosphere.</a:t>
            </a:r>
          </a:p>
          <a:p>
            <a:pPr>
              <a:buNone/>
            </a:pPr>
            <a:r>
              <a:rPr lang="en-US" dirty="0" smtClean="0"/>
              <a:t>    Differential pressure transmitters are often used to measure flow or liquid level in a closed tank.</a:t>
            </a:r>
            <a:endParaRPr lang="en-US" dirty="0"/>
          </a:p>
        </p:txBody>
      </p:sp>
    </p:spTree>
  </p:cSld>
  <p:clrMapOvr>
    <a:masterClrMapping/>
  </p:clrMapOvr>
  <p:transition>
    <p:wheel spokes="8"/>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Measured pressure</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pPr>
              <a:buNone/>
            </a:pPr>
            <a:r>
              <a:rPr lang="en-US" dirty="0" smtClean="0"/>
              <a:t>The three pressure in the process control industry include;</a:t>
            </a:r>
          </a:p>
          <a:p>
            <a:pPr lvl="1">
              <a:buFont typeface="Wingdings" pitchFamily="2" charset="2"/>
              <a:buChar char="Ø"/>
            </a:pPr>
            <a:r>
              <a:rPr lang="en-US" sz="3000" dirty="0" smtClean="0"/>
              <a:t>Head pressure</a:t>
            </a:r>
          </a:p>
          <a:p>
            <a:pPr lvl="1">
              <a:buFont typeface="Wingdings" pitchFamily="2" charset="2"/>
              <a:buChar char="Ø"/>
            </a:pPr>
            <a:r>
              <a:rPr lang="en-US" sz="3000" dirty="0" smtClean="0"/>
              <a:t>Static pressure and </a:t>
            </a:r>
          </a:p>
          <a:p>
            <a:pPr lvl="1">
              <a:buFont typeface="Wingdings" pitchFamily="2" charset="2"/>
              <a:buChar char="Ø"/>
            </a:pPr>
            <a:r>
              <a:rPr lang="en-US" sz="3000" dirty="0" smtClean="0"/>
              <a:t>Vapor pressure</a:t>
            </a:r>
          </a:p>
          <a:p>
            <a:pPr>
              <a:buNone/>
            </a:pPr>
            <a:r>
              <a:rPr lang="en-US" b="1" dirty="0" smtClean="0"/>
              <a:t>	(1). Head pressure</a:t>
            </a:r>
            <a:r>
              <a:rPr lang="en-US" dirty="0" smtClean="0"/>
              <a:t>.</a:t>
            </a:r>
          </a:p>
          <a:p>
            <a:pPr>
              <a:buNone/>
            </a:pPr>
            <a:r>
              <a:rPr lang="en-US" dirty="0" smtClean="0"/>
              <a:t>    This is also known as hydrostatic pressure, it is the pressure exerted by a column of a fluid. It is directly proportional to the specific gravity (sg) of the fluid and the height of the fluid column.</a:t>
            </a:r>
          </a:p>
          <a:p>
            <a:pPr>
              <a:buNone/>
            </a:pPr>
            <a:r>
              <a:rPr lang="en-US" dirty="0" smtClean="0"/>
              <a:t>  </a:t>
            </a:r>
            <a:endParaRPr lang="en-US" dirty="0"/>
          </a:p>
        </p:txBody>
      </p:sp>
    </p:spTree>
  </p:cSld>
  <p:clrMapOvr>
    <a:masterClrMapping/>
  </p:clrMapOvr>
  <p:transition>
    <p:wheel spokes="8"/>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Head pressure</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524000" y="1828800"/>
            <a:ext cx="5714999" cy="4038600"/>
          </a:xfrm>
          <a:prstGeom prst="rect">
            <a:avLst/>
          </a:prstGeom>
          <a:noFill/>
          <a:ln w="9525">
            <a:noFill/>
            <a:miter lim="800000"/>
            <a:headEnd/>
            <a:tailEnd/>
          </a:ln>
          <a:effectLst/>
        </p:spPr>
      </p:pic>
    </p:spTree>
  </p:cSld>
  <p:clrMapOvr>
    <a:masterClrMapping/>
  </p:clrMapOvr>
  <p:transition>
    <p:wheel spokes="8"/>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Static pressure</a:t>
            </a:r>
            <a:endParaRPr lang="en-US" dirty="0"/>
          </a:p>
        </p:txBody>
      </p:sp>
      <p:sp>
        <p:nvSpPr>
          <p:cNvPr id="3" name="Content Placeholder 2"/>
          <p:cNvSpPr>
            <a:spLocks noGrp="1"/>
          </p:cNvSpPr>
          <p:nvPr>
            <p:ph idx="1"/>
          </p:nvPr>
        </p:nvSpPr>
        <p:spPr/>
        <p:txBody>
          <a:bodyPr/>
          <a:lstStyle/>
          <a:p>
            <a:pPr>
              <a:buNone/>
            </a:pPr>
            <a:r>
              <a:rPr lang="en-US" dirty="0" smtClean="0"/>
              <a:t>   Static pressure or line pressure is the pressure exerted in a closed system. It is mostly common measured in flow application and refers to the pressure exerted by the fluid in the pipe.</a:t>
            </a:r>
          </a:p>
          <a:p>
            <a:pPr>
              <a:buNone/>
            </a:pPr>
            <a:r>
              <a:rPr lang="en-US" dirty="0" smtClean="0"/>
              <a:t>   Another example of static pressure can be found in boiler system; as the water in the boiler is heated, pressure increases.</a:t>
            </a:r>
            <a:endParaRPr lang="en-US" dirty="0"/>
          </a:p>
        </p:txBody>
      </p:sp>
    </p:spTree>
  </p:cSld>
  <p:clrMapOvr>
    <a:masterClrMapping/>
  </p:clrMapOvr>
  <p:transition>
    <p:wheel spokes="8"/>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Vapor pressure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	Vapor pressure is the result of fluid vaporization and is a measured pressure in the closed system.</a:t>
            </a:r>
          </a:p>
          <a:p>
            <a:pPr>
              <a:buNone/>
            </a:pPr>
            <a:r>
              <a:rPr lang="en-US" dirty="0" smtClean="0"/>
              <a:t>	Vaporization is the transformation of a substance from a liquid state to a gaseous state. </a:t>
            </a:r>
            <a:r>
              <a:rPr lang="en-US" dirty="0" err="1" smtClean="0"/>
              <a:t>eg</a:t>
            </a:r>
            <a:r>
              <a:rPr lang="en-US" dirty="0" smtClean="0"/>
              <a:t> water to steam</a:t>
            </a:r>
          </a:p>
          <a:p>
            <a:pPr>
              <a:buNone/>
            </a:pPr>
            <a:r>
              <a:rPr lang="en-US" dirty="0" smtClean="0"/>
              <a:t>	The transformation occurs at a specific temperature for each liquid. </a:t>
            </a:r>
            <a:r>
              <a:rPr lang="en-US" dirty="0" err="1" smtClean="0"/>
              <a:t>eg</a:t>
            </a:r>
            <a:r>
              <a:rPr lang="en-US" dirty="0" smtClean="0"/>
              <a:t>. Water turns to liquid (boils) at 212°F or 100°C.</a:t>
            </a:r>
          </a:p>
          <a:p>
            <a:pPr>
              <a:buNone/>
            </a:pPr>
            <a:r>
              <a:rPr lang="en-US" dirty="0" smtClean="0"/>
              <a:t>	Vapor pressure is mostly common measured in closed tank direct pressure application whereby vapor pressure is low side transmitter measurement. </a:t>
            </a:r>
            <a:endParaRPr lang="en-US" dirty="0"/>
          </a:p>
        </p:txBody>
      </p:sp>
    </p:spTree>
  </p:cSld>
  <p:clrMapOvr>
    <a:masterClrMapping/>
  </p:clrMapOvr>
  <p:transition>
    <p:wheel spokes="8"/>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Pressure application</a:t>
            </a:r>
            <a:endParaRPr lang="en-US" dirty="0"/>
          </a:p>
        </p:txBody>
      </p:sp>
      <p:graphicFrame>
        <p:nvGraphicFramePr>
          <p:cNvPr id="4" name="Content Placeholder 3"/>
          <p:cNvGraphicFramePr>
            <a:graphicFrameLocks noGrp="1"/>
          </p:cNvGraphicFramePr>
          <p:nvPr>
            <p:ph idx="1"/>
          </p:nvPr>
        </p:nvGraphicFramePr>
        <p:xfrm>
          <a:off x="381001" y="1752600"/>
          <a:ext cx="8229600" cy="4572000"/>
        </p:xfrm>
        <a:graphic>
          <a:graphicData uri="http://schemas.openxmlformats.org/drawingml/2006/table">
            <a:tbl>
              <a:tblPr/>
              <a:tblGrid>
                <a:gridCol w="776378"/>
                <a:gridCol w="4708541"/>
                <a:gridCol w="2744681"/>
              </a:tblGrid>
              <a:tr h="489858">
                <a:tc>
                  <a:txBody>
                    <a:bodyPr/>
                    <a:lstStyle/>
                    <a:p>
                      <a:pPr marL="0" marR="0" algn="ctr">
                        <a:lnSpc>
                          <a:spcPts val="2040"/>
                        </a:lnSpc>
                        <a:spcBef>
                          <a:spcPts val="0"/>
                        </a:spcBef>
                        <a:spcAft>
                          <a:spcPts val="0"/>
                        </a:spcAft>
                      </a:pPr>
                      <a:r>
                        <a:rPr lang="en-US" sz="2000" b="1" dirty="0">
                          <a:latin typeface="Times New Roman"/>
                          <a:ea typeface="Times New Roman"/>
                          <a:cs typeface="Times New Roman"/>
                        </a:rPr>
                        <a:t>Type</a:t>
                      </a:r>
                      <a:endParaRPr lang="en-US" sz="1800" dirty="0">
                        <a:latin typeface="Calibri"/>
                        <a:ea typeface="Calibri"/>
                        <a:cs typeface="Times New Roman"/>
                      </a:endParaRPr>
                    </a:p>
                  </a:txBody>
                  <a:tcPr marL="15875" marR="15875" marT="63500" marB="63500" anchor="ctr">
                    <a:lnL>
                      <a:noFill/>
                    </a:lnL>
                    <a:lnR>
                      <a:noFill/>
                    </a:lnR>
                    <a:lnT>
                      <a:noFill/>
                    </a:lnT>
                    <a:lnB>
                      <a:noFill/>
                    </a:lnB>
                    <a:solidFill>
                      <a:srgbClr val="EAFAEA"/>
                    </a:solidFill>
                  </a:tcPr>
                </a:tc>
                <a:tc>
                  <a:txBody>
                    <a:bodyPr/>
                    <a:lstStyle/>
                    <a:p>
                      <a:pPr marL="0" marR="0" algn="ctr">
                        <a:lnSpc>
                          <a:spcPts val="2040"/>
                        </a:lnSpc>
                        <a:spcBef>
                          <a:spcPts val="0"/>
                        </a:spcBef>
                        <a:spcAft>
                          <a:spcPts val="0"/>
                        </a:spcAft>
                      </a:pPr>
                      <a:r>
                        <a:rPr lang="en-US" sz="2000" b="1" dirty="0">
                          <a:latin typeface="Times New Roman"/>
                          <a:ea typeface="Times New Roman"/>
                          <a:cs typeface="Times New Roman"/>
                        </a:rPr>
                        <a:t>Definition</a:t>
                      </a:r>
                      <a:endParaRPr lang="en-US" sz="1800" dirty="0">
                        <a:latin typeface="Calibri"/>
                        <a:ea typeface="Calibri"/>
                        <a:cs typeface="Times New Roman"/>
                      </a:endParaRPr>
                    </a:p>
                  </a:txBody>
                  <a:tcPr marL="15875" marR="15875" marT="63500" marB="63500" anchor="ctr">
                    <a:lnL>
                      <a:noFill/>
                    </a:lnL>
                    <a:lnR>
                      <a:noFill/>
                    </a:lnR>
                    <a:lnT>
                      <a:noFill/>
                    </a:lnT>
                    <a:lnB>
                      <a:noFill/>
                    </a:lnB>
                    <a:solidFill>
                      <a:srgbClr val="EAFAEA"/>
                    </a:solidFill>
                  </a:tcPr>
                </a:tc>
                <a:tc>
                  <a:txBody>
                    <a:bodyPr/>
                    <a:lstStyle/>
                    <a:p>
                      <a:pPr marL="0" marR="0" algn="ctr">
                        <a:lnSpc>
                          <a:spcPts val="2040"/>
                        </a:lnSpc>
                        <a:spcBef>
                          <a:spcPts val="0"/>
                        </a:spcBef>
                        <a:spcAft>
                          <a:spcPts val="0"/>
                        </a:spcAft>
                      </a:pPr>
                      <a:r>
                        <a:rPr lang="en-US" sz="2000" b="1">
                          <a:latin typeface="Times New Roman"/>
                          <a:ea typeface="Times New Roman"/>
                          <a:cs typeface="Times New Roman"/>
                        </a:rPr>
                        <a:t>Application Examples</a:t>
                      </a:r>
                      <a:endParaRPr lang="en-US" sz="1800">
                        <a:latin typeface="Calibri"/>
                        <a:ea typeface="Calibri"/>
                        <a:cs typeface="Times New Roman"/>
                      </a:endParaRPr>
                    </a:p>
                  </a:txBody>
                  <a:tcPr marL="15875" marR="15875" marT="63500" marB="63500" anchor="ctr">
                    <a:lnL>
                      <a:noFill/>
                    </a:lnL>
                    <a:lnR>
                      <a:noFill/>
                    </a:lnR>
                    <a:lnT>
                      <a:noFill/>
                    </a:lnT>
                    <a:lnB>
                      <a:noFill/>
                    </a:lnB>
                    <a:solidFill>
                      <a:srgbClr val="EAFAEA"/>
                    </a:solidFill>
                  </a:tcPr>
                </a:tc>
              </a:tr>
              <a:tr h="1469571">
                <a:tc>
                  <a:txBody>
                    <a:bodyPr/>
                    <a:lstStyle/>
                    <a:p>
                      <a:pPr marL="0" marR="0" algn="ctr">
                        <a:lnSpc>
                          <a:spcPts val="2040"/>
                        </a:lnSpc>
                        <a:spcBef>
                          <a:spcPts val="0"/>
                        </a:spcBef>
                        <a:spcAft>
                          <a:spcPts val="0"/>
                        </a:spcAft>
                      </a:pPr>
                      <a:r>
                        <a:rPr lang="en-US" sz="2000" dirty="0">
                          <a:latin typeface="Times New Roman"/>
                          <a:ea typeface="Times New Roman"/>
                          <a:cs typeface="Times New Roman"/>
                        </a:rPr>
                        <a:t>Gauge</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c>
                  <a:txBody>
                    <a:bodyPr/>
                    <a:lstStyle/>
                    <a:p>
                      <a:pPr marL="0" marR="0" algn="ctr">
                        <a:lnSpc>
                          <a:spcPts val="2040"/>
                        </a:lnSpc>
                        <a:spcBef>
                          <a:spcPts val="0"/>
                        </a:spcBef>
                        <a:spcAft>
                          <a:spcPts val="0"/>
                        </a:spcAft>
                      </a:pPr>
                      <a:r>
                        <a:rPr lang="en-US" sz="2000" dirty="0">
                          <a:latin typeface="Times New Roman"/>
                          <a:ea typeface="Times New Roman"/>
                          <a:cs typeface="Times New Roman"/>
                        </a:rPr>
                        <a:t>Reference to atmospheric pressure.</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c>
                  <a:txBody>
                    <a:bodyPr/>
                    <a:lstStyle/>
                    <a:p>
                      <a:pPr marL="0" marR="0" algn="l">
                        <a:lnSpc>
                          <a:spcPts val="2040"/>
                        </a:lnSpc>
                        <a:spcBef>
                          <a:spcPts val="0"/>
                        </a:spcBef>
                        <a:spcAft>
                          <a:spcPts val="0"/>
                        </a:spcAft>
                      </a:pPr>
                      <a:r>
                        <a:rPr lang="en-US" sz="2000" dirty="0">
                          <a:latin typeface="Times New Roman"/>
                          <a:ea typeface="Times New Roman"/>
                          <a:cs typeface="Times New Roman"/>
                        </a:rPr>
                        <a:t>Car </a:t>
                      </a:r>
                      <a:r>
                        <a:rPr lang="en-US" sz="2000" dirty="0" err="1">
                          <a:latin typeface="Times New Roman"/>
                          <a:ea typeface="Times New Roman"/>
                          <a:cs typeface="Times New Roman"/>
                        </a:rPr>
                        <a:t>Tyre</a:t>
                      </a:r>
                      <a:r>
                        <a:rPr lang="en-US" sz="2000" dirty="0">
                          <a:latin typeface="Times New Roman"/>
                          <a:ea typeface="Times New Roman"/>
                          <a:cs typeface="Times New Roman"/>
                        </a:rPr>
                        <a:t/>
                      </a:r>
                      <a:br>
                        <a:rPr lang="en-US" sz="2000" dirty="0">
                          <a:latin typeface="Times New Roman"/>
                          <a:ea typeface="Times New Roman"/>
                          <a:cs typeface="Times New Roman"/>
                        </a:rPr>
                      </a:br>
                      <a:r>
                        <a:rPr lang="en-US" sz="2000" dirty="0">
                          <a:latin typeface="Times New Roman"/>
                          <a:ea typeface="Times New Roman"/>
                          <a:cs typeface="Times New Roman"/>
                        </a:rPr>
                        <a:t>Water Level Measurement</a:t>
                      </a:r>
                      <a:br>
                        <a:rPr lang="en-US" sz="2000" dirty="0">
                          <a:latin typeface="Times New Roman"/>
                          <a:ea typeface="Times New Roman"/>
                          <a:cs typeface="Times New Roman"/>
                        </a:rPr>
                      </a:br>
                      <a:r>
                        <a:rPr lang="en-US" sz="2000" dirty="0">
                          <a:latin typeface="Times New Roman"/>
                          <a:ea typeface="Times New Roman"/>
                          <a:cs typeface="Times New Roman"/>
                        </a:rPr>
                        <a:t>Chamber Pressure</a:t>
                      </a:r>
                      <a:br>
                        <a:rPr lang="en-US" sz="2000" dirty="0">
                          <a:latin typeface="Times New Roman"/>
                          <a:ea typeface="Times New Roman"/>
                          <a:cs typeface="Times New Roman"/>
                        </a:rPr>
                      </a:br>
                      <a:r>
                        <a:rPr lang="en-US" sz="2000" dirty="0">
                          <a:latin typeface="Times New Roman"/>
                          <a:ea typeface="Times New Roman"/>
                          <a:cs typeface="Times New Roman"/>
                        </a:rPr>
                        <a:t>Hydraulic Applications</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r>
              <a:tr h="1469571">
                <a:tc>
                  <a:txBody>
                    <a:bodyPr/>
                    <a:lstStyle/>
                    <a:p>
                      <a:pPr marL="0" marR="0" algn="ctr">
                        <a:lnSpc>
                          <a:spcPts val="2040"/>
                        </a:lnSpc>
                        <a:spcBef>
                          <a:spcPts val="0"/>
                        </a:spcBef>
                        <a:spcAft>
                          <a:spcPts val="0"/>
                        </a:spcAft>
                      </a:pPr>
                      <a:r>
                        <a:rPr lang="en-US" sz="2000" dirty="0">
                          <a:latin typeface="Times New Roman"/>
                          <a:ea typeface="Times New Roman"/>
                          <a:cs typeface="Times New Roman"/>
                        </a:rPr>
                        <a:t>Sealed</a:t>
                      </a:r>
                      <a:endParaRPr lang="en-US" sz="1800" dirty="0">
                        <a:latin typeface="Calibri"/>
                        <a:ea typeface="Calibri"/>
                        <a:cs typeface="Times New Roman"/>
                      </a:endParaRPr>
                    </a:p>
                  </a:txBody>
                  <a:tcPr marL="15875" marR="15875" marT="63500" marB="63500">
                    <a:lnL>
                      <a:noFill/>
                    </a:lnL>
                    <a:lnR>
                      <a:noFill/>
                    </a:lnR>
                    <a:lnT>
                      <a:noFill/>
                    </a:lnT>
                    <a:lnB>
                      <a:noFill/>
                    </a:lnB>
                    <a:solidFill>
                      <a:srgbClr val="F9F9F9"/>
                    </a:solidFill>
                  </a:tcPr>
                </a:tc>
                <a:tc>
                  <a:txBody>
                    <a:bodyPr/>
                    <a:lstStyle/>
                    <a:p>
                      <a:pPr marL="0" marR="0" algn="ctr">
                        <a:lnSpc>
                          <a:spcPts val="2040"/>
                        </a:lnSpc>
                        <a:spcBef>
                          <a:spcPts val="0"/>
                        </a:spcBef>
                        <a:spcAft>
                          <a:spcPts val="0"/>
                        </a:spcAft>
                      </a:pPr>
                      <a:r>
                        <a:rPr lang="en-US" sz="2000" dirty="0">
                          <a:latin typeface="Times New Roman"/>
                          <a:ea typeface="Times New Roman"/>
                          <a:cs typeface="Times New Roman"/>
                        </a:rPr>
                        <a:t>Referenced to a sealed chamber closed with atmospheric pressure (approximately 1bar).</a:t>
                      </a:r>
                      <a:endParaRPr lang="en-US" sz="1800" dirty="0">
                        <a:latin typeface="Calibri"/>
                        <a:ea typeface="Calibri"/>
                        <a:cs typeface="Times New Roman"/>
                      </a:endParaRPr>
                    </a:p>
                  </a:txBody>
                  <a:tcPr marL="15875" marR="15875" marT="63500" marB="63500">
                    <a:lnL>
                      <a:noFill/>
                    </a:lnL>
                    <a:lnR>
                      <a:noFill/>
                    </a:lnR>
                    <a:lnT>
                      <a:noFill/>
                    </a:lnT>
                    <a:lnB>
                      <a:noFill/>
                    </a:lnB>
                    <a:solidFill>
                      <a:srgbClr val="F9F9F9"/>
                    </a:solidFill>
                  </a:tcPr>
                </a:tc>
                <a:tc>
                  <a:txBody>
                    <a:bodyPr/>
                    <a:lstStyle/>
                    <a:p>
                      <a:pPr marL="0" marR="0" algn="l">
                        <a:lnSpc>
                          <a:spcPts val="2040"/>
                        </a:lnSpc>
                        <a:spcBef>
                          <a:spcPts val="0"/>
                        </a:spcBef>
                        <a:spcAft>
                          <a:spcPts val="0"/>
                        </a:spcAft>
                      </a:pPr>
                      <a:r>
                        <a:rPr lang="en-US" sz="2000" dirty="0">
                          <a:latin typeface="Times New Roman"/>
                          <a:ea typeface="Times New Roman"/>
                          <a:cs typeface="Times New Roman"/>
                        </a:rPr>
                        <a:t>For use in Aggressive Media</a:t>
                      </a:r>
                      <a:br>
                        <a:rPr lang="en-US" sz="2000" dirty="0">
                          <a:latin typeface="Times New Roman"/>
                          <a:ea typeface="Times New Roman"/>
                          <a:cs typeface="Times New Roman"/>
                        </a:rPr>
                      </a:br>
                      <a:r>
                        <a:rPr lang="en-US" sz="2000" dirty="0">
                          <a:latin typeface="Times New Roman"/>
                          <a:ea typeface="Times New Roman"/>
                          <a:cs typeface="Times New Roman"/>
                        </a:rPr>
                        <a:t>Industrial Applications</a:t>
                      </a:r>
                      <a:br>
                        <a:rPr lang="en-US" sz="2000" dirty="0">
                          <a:latin typeface="Times New Roman"/>
                          <a:ea typeface="Times New Roman"/>
                          <a:cs typeface="Times New Roman"/>
                        </a:rPr>
                      </a:br>
                      <a:r>
                        <a:rPr lang="en-US" sz="2000" dirty="0" err="1">
                          <a:latin typeface="Times New Roman"/>
                          <a:ea typeface="Times New Roman"/>
                          <a:cs typeface="Times New Roman"/>
                        </a:rPr>
                        <a:t>Washdown</a:t>
                      </a:r>
                      <a:r>
                        <a:rPr lang="en-US" sz="2000" dirty="0">
                          <a:latin typeface="Times New Roman"/>
                          <a:ea typeface="Times New Roman"/>
                          <a:cs typeface="Times New Roman"/>
                        </a:rPr>
                        <a:t> Environments</a:t>
                      </a:r>
                      <a:br>
                        <a:rPr lang="en-US" sz="2000" dirty="0">
                          <a:latin typeface="Times New Roman"/>
                          <a:ea typeface="Times New Roman"/>
                          <a:cs typeface="Times New Roman"/>
                        </a:rPr>
                      </a:br>
                      <a:r>
                        <a:rPr lang="en-US" sz="2000" dirty="0">
                          <a:latin typeface="Times New Roman"/>
                          <a:ea typeface="Times New Roman"/>
                          <a:cs typeface="Times New Roman"/>
                        </a:rPr>
                        <a:t>Food and Beverage</a:t>
                      </a:r>
                      <a:endParaRPr lang="en-US" sz="1800" dirty="0">
                        <a:latin typeface="Calibri"/>
                        <a:ea typeface="Calibri"/>
                        <a:cs typeface="Times New Roman"/>
                      </a:endParaRPr>
                    </a:p>
                  </a:txBody>
                  <a:tcPr marL="15875" marR="15875" marT="63500" marB="63500">
                    <a:lnL>
                      <a:noFill/>
                    </a:lnL>
                    <a:lnR>
                      <a:noFill/>
                    </a:lnR>
                    <a:lnT>
                      <a:noFill/>
                    </a:lnT>
                    <a:lnB>
                      <a:noFill/>
                    </a:lnB>
                    <a:solidFill>
                      <a:srgbClr val="F9F9F9"/>
                    </a:solidFill>
                  </a:tcPr>
                </a:tc>
              </a:tr>
              <a:tr h="1143000">
                <a:tc>
                  <a:txBody>
                    <a:bodyPr/>
                    <a:lstStyle/>
                    <a:p>
                      <a:pPr marL="0" marR="0" algn="ctr">
                        <a:lnSpc>
                          <a:spcPts val="2040"/>
                        </a:lnSpc>
                        <a:spcBef>
                          <a:spcPts val="0"/>
                        </a:spcBef>
                        <a:spcAft>
                          <a:spcPts val="0"/>
                        </a:spcAft>
                      </a:pPr>
                      <a:r>
                        <a:rPr lang="en-US" sz="2000" dirty="0">
                          <a:latin typeface="Times New Roman"/>
                          <a:ea typeface="Times New Roman"/>
                          <a:cs typeface="Times New Roman"/>
                        </a:rPr>
                        <a:t>Absolute</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c>
                  <a:txBody>
                    <a:bodyPr/>
                    <a:lstStyle/>
                    <a:p>
                      <a:pPr marL="0" marR="0" algn="ctr">
                        <a:lnSpc>
                          <a:spcPts val="2040"/>
                        </a:lnSpc>
                        <a:spcBef>
                          <a:spcPts val="0"/>
                        </a:spcBef>
                        <a:spcAft>
                          <a:spcPts val="0"/>
                        </a:spcAft>
                      </a:pPr>
                      <a:r>
                        <a:rPr lang="en-US" sz="2000" dirty="0">
                          <a:latin typeface="Times New Roman"/>
                          <a:ea typeface="Times New Roman"/>
                          <a:cs typeface="Times New Roman"/>
                        </a:rPr>
                        <a:t>The reference is a vacuum (0bar or no pressure).</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c>
                  <a:txBody>
                    <a:bodyPr/>
                    <a:lstStyle/>
                    <a:p>
                      <a:pPr marL="0" marR="0" algn="l">
                        <a:lnSpc>
                          <a:spcPts val="2040"/>
                        </a:lnSpc>
                        <a:spcBef>
                          <a:spcPts val="0"/>
                        </a:spcBef>
                        <a:spcAft>
                          <a:spcPts val="0"/>
                        </a:spcAft>
                      </a:pPr>
                      <a:r>
                        <a:rPr lang="en-US" sz="2000" dirty="0">
                          <a:latin typeface="Times New Roman"/>
                          <a:ea typeface="Times New Roman"/>
                          <a:cs typeface="Times New Roman"/>
                        </a:rPr>
                        <a:t>Barometric</a:t>
                      </a:r>
                      <a:br>
                        <a:rPr lang="en-US" sz="2000" dirty="0">
                          <a:latin typeface="Times New Roman"/>
                          <a:ea typeface="Times New Roman"/>
                          <a:cs typeface="Times New Roman"/>
                        </a:rPr>
                      </a:br>
                      <a:r>
                        <a:rPr lang="en-US" sz="2000" dirty="0">
                          <a:latin typeface="Times New Roman"/>
                          <a:ea typeface="Times New Roman"/>
                          <a:cs typeface="Times New Roman"/>
                        </a:rPr>
                        <a:t>Weather Stations and Meteorological Applications</a:t>
                      </a:r>
                      <a:endParaRPr lang="en-US" sz="1800" dirty="0">
                        <a:latin typeface="Calibri"/>
                        <a:ea typeface="Calibri"/>
                        <a:cs typeface="Times New Roman"/>
                      </a:endParaRPr>
                    </a:p>
                  </a:txBody>
                  <a:tcPr marL="15875" marR="15875" marT="63500" marB="63500">
                    <a:lnL>
                      <a:noFill/>
                    </a:lnL>
                    <a:lnR>
                      <a:noFill/>
                    </a:lnR>
                    <a:lnT>
                      <a:noFill/>
                    </a:lnT>
                    <a:lnB>
                      <a:noFill/>
                    </a:lnB>
                    <a:solidFill>
                      <a:srgbClr val="FFFFFF"/>
                    </a:solidFill>
                  </a:tcPr>
                </a:tc>
              </a:tr>
            </a:tbl>
          </a:graphicData>
        </a:graphic>
      </p:graphicFrame>
      <p:cxnSp>
        <p:nvCxnSpPr>
          <p:cNvPr id="6" name="Straight Connector 5"/>
          <p:cNvCxnSpPr/>
          <p:nvPr/>
        </p:nvCxnSpPr>
        <p:spPr>
          <a:xfrm rot="16200000" flipH="1">
            <a:off x="-1219200" y="4114800"/>
            <a:ext cx="4800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6200000" flipH="1">
            <a:off x="3352800" y="4114800"/>
            <a:ext cx="4800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6200000" flipH="1">
            <a:off x="-2057400" y="4114800"/>
            <a:ext cx="4800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04800" y="3352800"/>
            <a:ext cx="8534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6477000" y="4114800"/>
            <a:ext cx="4800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81000" y="6553200"/>
            <a:ext cx="853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04800" y="1752600"/>
            <a:ext cx="853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81000" y="5105400"/>
            <a:ext cx="85344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wheel spokes="8"/>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Pressure application…</a:t>
            </a:r>
            <a:endParaRPr lang="en-US" dirty="0"/>
          </a:p>
        </p:txBody>
      </p:sp>
      <p:graphicFrame>
        <p:nvGraphicFramePr>
          <p:cNvPr id="4" name="Content Placeholder 3"/>
          <p:cNvGraphicFramePr>
            <a:graphicFrameLocks noGrp="1"/>
          </p:cNvGraphicFramePr>
          <p:nvPr>
            <p:ph idx="1"/>
          </p:nvPr>
        </p:nvGraphicFramePr>
        <p:xfrm>
          <a:off x="838200" y="1828800"/>
          <a:ext cx="7467600" cy="4038600"/>
        </p:xfrm>
        <a:graphic>
          <a:graphicData uri="http://schemas.openxmlformats.org/drawingml/2006/table">
            <a:tbl>
              <a:tblPr/>
              <a:tblGrid>
                <a:gridCol w="2489200"/>
                <a:gridCol w="2489200"/>
                <a:gridCol w="2489200"/>
              </a:tblGrid>
              <a:tr h="4038600">
                <a:tc>
                  <a:txBody>
                    <a:bodyPr/>
                    <a:lstStyle/>
                    <a:p>
                      <a:pPr marL="0" marR="0" algn="ctr">
                        <a:lnSpc>
                          <a:spcPts val="2040"/>
                        </a:lnSpc>
                        <a:spcBef>
                          <a:spcPts val="0"/>
                        </a:spcBef>
                        <a:spcAft>
                          <a:spcPts val="0"/>
                        </a:spcAft>
                      </a:pPr>
                      <a:r>
                        <a:rPr lang="en-US" sz="1800" dirty="0">
                          <a:latin typeface="Times New Roman"/>
                          <a:ea typeface="Times New Roman"/>
                          <a:cs typeface="Times New Roman"/>
                        </a:rPr>
                        <a:t>Differential</a:t>
                      </a:r>
                      <a:endParaRPr lang="en-US" sz="1600" dirty="0">
                        <a:latin typeface="Calibri"/>
                        <a:ea typeface="Calibri"/>
                        <a:cs typeface="Times New Roman"/>
                      </a:endParaRPr>
                    </a:p>
                  </a:txBody>
                  <a:tcPr marL="15875" marR="15875" marT="63500" marB="63500">
                    <a:lnL>
                      <a:noFill/>
                    </a:lnL>
                    <a:lnR>
                      <a:noFill/>
                    </a:lnR>
                    <a:lnT>
                      <a:noFill/>
                    </a:lnT>
                    <a:lnB>
                      <a:noFill/>
                    </a:lnB>
                    <a:solidFill>
                      <a:srgbClr val="F3F3F3"/>
                    </a:solidFill>
                  </a:tcPr>
                </a:tc>
                <a:tc>
                  <a:txBody>
                    <a:bodyPr/>
                    <a:lstStyle/>
                    <a:p>
                      <a:pPr marL="0" marR="0" algn="l">
                        <a:lnSpc>
                          <a:spcPts val="2040"/>
                        </a:lnSpc>
                        <a:spcBef>
                          <a:spcPts val="0"/>
                        </a:spcBef>
                        <a:spcAft>
                          <a:spcPts val="0"/>
                        </a:spcAft>
                      </a:pPr>
                      <a:r>
                        <a:rPr lang="en-US" sz="1800" dirty="0">
                          <a:latin typeface="Times New Roman"/>
                          <a:ea typeface="Times New Roman"/>
                          <a:cs typeface="Times New Roman"/>
                        </a:rPr>
                        <a:t>Measuring the difference between two pressure port readings.</a:t>
                      </a:r>
                      <a:endParaRPr lang="en-US" sz="1600" dirty="0">
                        <a:latin typeface="Calibri"/>
                        <a:ea typeface="Calibri"/>
                        <a:cs typeface="Times New Roman"/>
                      </a:endParaRPr>
                    </a:p>
                  </a:txBody>
                  <a:tcPr marL="15875" marR="15875" marT="63500" marB="63500">
                    <a:lnL>
                      <a:noFill/>
                    </a:lnL>
                    <a:lnR>
                      <a:noFill/>
                    </a:lnR>
                    <a:lnT>
                      <a:noFill/>
                    </a:lnT>
                    <a:lnB>
                      <a:noFill/>
                    </a:lnB>
                    <a:solidFill>
                      <a:srgbClr val="F3F3F3"/>
                    </a:solidFill>
                  </a:tcPr>
                </a:tc>
                <a:tc>
                  <a:txBody>
                    <a:bodyPr/>
                    <a:lstStyle/>
                    <a:p>
                      <a:pPr marL="0" marR="0" algn="l">
                        <a:lnSpc>
                          <a:spcPts val="2040"/>
                        </a:lnSpc>
                        <a:spcBef>
                          <a:spcPts val="0"/>
                        </a:spcBef>
                        <a:spcAft>
                          <a:spcPts val="0"/>
                        </a:spcAft>
                      </a:pPr>
                      <a:r>
                        <a:rPr lang="en-US" sz="1800" dirty="0" smtClean="0">
                          <a:latin typeface="Times New Roman"/>
                          <a:ea typeface="Times New Roman"/>
                          <a:cs typeface="Times New Roman"/>
                        </a:rPr>
                        <a:t>-Filter </a:t>
                      </a:r>
                      <a:r>
                        <a:rPr lang="en-US" sz="1800" dirty="0">
                          <a:latin typeface="Times New Roman"/>
                          <a:ea typeface="Times New Roman"/>
                          <a:cs typeface="Times New Roman"/>
                        </a:rPr>
                        <a:t>and Pump </a:t>
                      </a:r>
                      <a:r>
                        <a:rPr lang="en-US" sz="1800" dirty="0" smtClean="0">
                          <a:latin typeface="Times New Roman"/>
                          <a:ea typeface="Times New Roman"/>
                          <a:cs typeface="Times New Roman"/>
                        </a:rPr>
                        <a:t> </a:t>
                      </a:r>
                    </a:p>
                    <a:p>
                      <a:pPr marL="0" marR="0" algn="l">
                        <a:lnSpc>
                          <a:spcPts val="2040"/>
                        </a:lnSpc>
                        <a:spcBef>
                          <a:spcPts val="0"/>
                        </a:spcBef>
                        <a:spcAft>
                          <a:spcPts val="0"/>
                        </a:spcAft>
                      </a:pPr>
                      <a:r>
                        <a:rPr lang="en-US" sz="1800" dirty="0" smtClean="0">
                          <a:latin typeface="Times New Roman"/>
                          <a:ea typeface="Times New Roman"/>
                          <a:cs typeface="Times New Roman"/>
                        </a:rPr>
                        <a:t>  Monitoring</a:t>
                      </a:r>
                      <a:r>
                        <a:rPr lang="en-US" sz="1800" dirty="0">
                          <a:latin typeface="Times New Roman"/>
                          <a:ea typeface="Times New Roman"/>
                          <a:cs typeface="Times New Roman"/>
                        </a:rPr>
                        <a:t/>
                      </a:r>
                      <a:br>
                        <a:rPr lang="en-US" sz="1800" dirty="0">
                          <a:latin typeface="Times New Roman"/>
                          <a:ea typeface="Times New Roman"/>
                          <a:cs typeface="Times New Roman"/>
                        </a:rPr>
                      </a:br>
                      <a:r>
                        <a:rPr lang="en-US" sz="1800" dirty="0" smtClean="0">
                          <a:latin typeface="Times New Roman"/>
                          <a:ea typeface="Times New Roman"/>
                          <a:cs typeface="Times New Roman"/>
                        </a:rPr>
                        <a:t>-Air </a:t>
                      </a:r>
                      <a:r>
                        <a:rPr lang="en-US" sz="1800" dirty="0">
                          <a:latin typeface="Times New Roman"/>
                          <a:ea typeface="Times New Roman"/>
                          <a:cs typeface="Times New Roman"/>
                        </a:rPr>
                        <a:t>Conditioner</a:t>
                      </a:r>
                      <a:br>
                        <a:rPr lang="en-US" sz="1800" dirty="0">
                          <a:latin typeface="Times New Roman"/>
                          <a:ea typeface="Times New Roman"/>
                          <a:cs typeface="Times New Roman"/>
                        </a:rPr>
                      </a:br>
                      <a:r>
                        <a:rPr lang="en-US" sz="1800" baseline="0" dirty="0" smtClean="0">
                          <a:latin typeface="Times New Roman"/>
                          <a:ea typeface="Times New Roman"/>
                          <a:cs typeface="Times New Roman"/>
                        </a:rPr>
                        <a:t>  </a:t>
                      </a:r>
                      <a:r>
                        <a:rPr lang="en-US" sz="1800" dirty="0" smtClean="0">
                          <a:latin typeface="Times New Roman"/>
                          <a:ea typeface="Times New Roman"/>
                          <a:cs typeface="Times New Roman"/>
                        </a:rPr>
                        <a:t>HVAC </a:t>
                      </a:r>
                      <a:r>
                        <a:rPr lang="en-US" sz="1800" dirty="0">
                          <a:latin typeface="Times New Roman"/>
                          <a:ea typeface="Times New Roman"/>
                          <a:cs typeface="Times New Roman"/>
                        </a:rPr>
                        <a:t>Heating </a:t>
                      </a:r>
                      <a:r>
                        <a:rPr lang="en-US" sz="1800" dirty="0" smtClean="0">
                          <a:latin typeface="Times New Roman"/>
                          <a:ea typeface="Times New Roman"/>
                          <a:cs typeface="Times New Roman"/>
                        </a:rPr>
                        <a:t>        -Ventilation </a:t>
                      </a:r>
                      <a:r>
                        <a:rPr lang="en-US" sz="1800" dirty="0">
                          <a:latin typeface="Times New Roman"/>
                          <a:ea typeface="Times New Roman"/>
                          <a:cs typeface="Times New Roman"/>
                        </a:rPr>
                        <a:t>and Air </a:t>
                      </a:r>
                      <a:r>
                        <a:rPr lang="en-US" sz="1800" dirty="0" smtClean="0">
                          <a:latin typeface="Times New Roman"/>
                          <a:ea typeface="Times New Roman"/>
                          <a:cs typeface="Times New Roman"/>
                        </a:rPr>
                        <a:t> </a:t>
                      </a:r>
                    </a:p>
                    <a:p>
                      <a:pPr marL="0" marR="0" algn="l">
                        <a:lnSpc>
                          <a:spcPts val="2040"/>
                        </a:lnSpc>
                        <a:spcBef>
                          <a:spcPts val="0"/>
                        </a:spcBef>
                        <a:spcAft>
                          <a:spcPts val="0"/>
                        </a:spcAft>
                      </a:pPr>
                      <a:r>
                        <a:rPr lang="en-US" sz="1800" dirty="0" smtClean="0">
                          <a:latin typeface="Times New Roman"/>
                          <a:ea typeface="Times New Roman"/>
                          <a:cs typeface="Times New Roman"/>
                        </a:rPr>
                        <a:t>  Conditioning</a:t>
                      </a:r>
                      <a:r>
                        <a:rPr lang="en-US" sz="1800" dirty="0">
                          <a:latin typeface="Times New Roman"/>
                          <a:ea typeface="Times New Roman"/>
                          <a:cs typeface="Times New Roman"/>
                        </a:rPr>
                        <a:t/>
                      </a:r>
                      <a:br>
                        <a:rPr lang="en-US" sz="1800" dirty="0">
                          <a:latin typeface="Times New Roman"/>
                          <a:ea typeface="Times New Roman"/>
                          <a:cs typeface="Times New Roman"/>
                        </a:rPr>
                      </a:br>
                      <a:r>
                        <a:rPr lang="en-US" sz="1800" dirty="0" smtClean="0">
                          <a:latin typeface="Times New Roman"/>
                          <a:ea typeface="Times New Roman"/>
                          <a:cs typeface="Times New Roman"/>
                        </a:rPr>
                        <a:t>- Clean </a:t>
                      </a:r>
                      <a:r>
                        <a:rPr lang="en-US" sz="1800" dirty="0">
                          <a:latin typeface="Times New Roman"/>
                          <a:ea typeface="Times New Roman"/>
                          <a:cs typeface="Times New Roman"/>
                        </a:rPr>
                        <a:t>Room </a:t>
                      </a:r>
                      <a:endParaRPr lang="en-US" sz="1800" dirty="0" smtClean="0">
                        <a:latin typeface="Times New Roman"/>
                        <a:ea typeface="Times New Roman"/>
                        <a:cs typeface="Times New Roman"/>
                      </a:endParaRPr>
                    </a:p>
                    <a:p>
                      <a:pPr marL="0" marR="0" algn="l">
                        <a:lnSpc>
                          <a:spcPts val="2040"/>
                        </a:lnSpc>
                        <a:spcBef>
                          <a:spcPts val="0"/>
                        </a:spcBef>
                        <a:spcAft>
                          <a:spcPts val="0"/>
                        </a:spcAft>
                      </a:pPr>
                      <a:r>
                        <a:rPr lang="en-US" sz="1800" dirty="0" smtClean="0">
                          <a:latin typeface="Times New Roman"/>
                          <a:ea typeface="Times New Roman"/>
                          <a:cs typeface="Times New Roman"/>
                        </a:rPr>
                        <a:t>   Monitoring</a:t>
                      </a:r>
                      <a:endParaRPr lang="en-US" sz="1600" dirty="0">
                        <a:latin typeface="Calibri"/>
                        <a:ea typeface="Calibri"/>
                        <a:cs typeface="Times New Roman"/>
                      </a:endParaRPr>
                    </a:p>
                  </a:txBody>
                  <a:tcPr marL="15875" marR="15875" marT="63500" marB="63500">
                    <a:lnL>
                      <a:noFill/>
                    </a:lnL>
                    <a:lnR>
                      <a:noFill/>
                    </a:lnR>
                    <a:lnT>
                      <a:noFill/>
                    </a:lnT>
                    <a:lnB>
                      <a:noFill/>
                    </a:lnB>
                    <a:solidFill>
                      <a:srgbClr val="F3F3F3"/>
                    </a:solidFill>
                  </a:tcPr>
                </a:tc>
              </a:tr>
            </a:tbl>
          </a:graphicData>
        </a:graphic>
      </p:graphicFrame>
      <p:cxnSp>
        <p:nvCxnSpPr>
          <p:cNvPr id="6" name="Straight Connector 5"/>
          <p:cNvCxnSpPr/>
          <p:nvPr/>
        </p:nvCxnSpPr>
        <p:spPr>
          <a:xfrm rot="5400000">
            <a:off x="1753394" y="3124200"/>
            <a:ext cx="25900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794" y="3124200"/>
            <a:ext cx="25915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4533106" y="3086100"/>
            <a:ext cx="25153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6515894" y="3086100"/>
            <a:ext cx="25138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95400" y="1828800"/>
            <a:ext cx="6477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295400" y="4343400"/>
            <a:ext cx="6477000" cy="76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wheel spokes="8"/>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TotalTime>
  <Words>813</Words>
  <Application>Microsoft Office PowerPoint</Application>
  <PresentationFormat>On-screen Show (4:3)</PresentationFormat>
  <Paragraphs>133</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PRESSURE MEASUREMENT</vt:lpstr>
      <vt:lpstr>Learning objectives</vt:lpstr>
      <vt:lpstr>Slide 3</vt:lpstr>
      <vt:lpstr>INTRODUCTION</vt:lpstr>
      <vt:lpstr>Introduction ………</vt:lpstr>
      <vt:lpstr>PRESSURE MEASUREMENT</vt:lpstr>
      <vt:lpstr>Introduction to pressure cont…..</vt:lpstr>
      <vt:lpstr>PRESSURE VARIABLES</vt:lpstr>
      <vt:lpstr>Liquid level</vt:lpstr>
      <vt:lpstr>How height of liquid affect pressure </vt:lpstr>
      <vt:lpstr>Hydrostatic pressure</vt:lpstr>
      <vt:lpstr>Hydrostatic pressure cont….</vt:lpstr>
      <vt:lpstr>Density of a liquid</vt:lpstr>
      <vt:lpstr>Pressure on gas</vt:lpstr>
      <vt:lpstr>Gas pressure Vs Volume relationship</vt:lpstr>
      <vt:lpstr>Gas pressure Vs Volume cont..</vt:lpstr>
      <vt:lpstr>Gas Pressure Vs Volume and Temperature</vt:lpstr>
      <vt:lpstr>Gas Pressure Vs Volume and Temperature cont…</vt:lpstr>
      <vt:lpstr>PRESSURE MEASUREMENT</vt:lpstr>
      <vt:lpstr>Pressure reference cont……..</vt:lpstr>
      <vt:lpstr>Absolute pressure</vt:lpstr>
      <vt:lpstr>Gauge pressure</vt:lpstr>
      <vt:lpstr>Differential pressure</vt:lpstr>
      <vt:lpstr>Measured pressure</vt:lpstr>
      <vt:lpstr>Head pressure</vt:lpstr>
      <vt:lpstr>Static pressure</vt:lpstr>
      <vt:lpstr>Vapor pressure</vt:lpstr>
      <vt:lpstr>Pressure application</vt:lpstr>
      <vt:lpstr>Pressure application…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PRESSURE MEASUREMENT</dc:title>
  <dc:creator>mdende</dc:creator>
  <cp:lastModifiedBy>user</cp:lastModifiedBy>
  <cp:revision>121</cp:revision>
  <dcterms:created xsi:type="dcterms:W3CDTF">2015-11-03T05:50:22Z</dcterms:created>
  <dcterms:modified xsi:type="dcterms:W3CDTF">2021-12-20T15:03:45Z</dcterms:modified>
</cp:coreProperties>
</file>