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76" r:id="rId3"/>
    <p:sldId id="282" r:id="rId4"/>
    <p:sldId id="283" r:id="rId5"/>
    <p:sldId id="277" r:id="rId6"/>
    <p:sldId id="258" r:id="rId7"/>
    <p:sldId id="285" r:id="rId8"/>
    <p:sldId id="286" r:id="rId9"/>
    <p:sldId id="287" r:id="rId10"/>
    <p:sldId id="284" r:id="rId11"/>
    <p:sldId id="288" r:id="rId12"/>
    <p:sldId id="289" r:id="rId13"/>
    <p:sldId id="259" r:id="rId14"/>
    <p:sldId id="290" r:id="rId15"/>
    <p:sldId id="291" r:id="rId16"/>
    <p:sldId id="293" r:id="rId17"/>
    <p:sldId id="292" r:id="rId18"/>
    <p:sldId id="294" r:id="rId19"/>
    <p:sldId id="296" r:id="rId20"/>
    <p:sldId id="295" r:id="rId21"/>
    <p:sldId id="323" r:id="rId22"/>
    <p:sldId id="297" r:id="rId23"/>
    <p:sldId id="260" r:id="rId24"/>
    <p:sldId id="305" r:id="rId25"/>
    <p:sldId id="304" r:id="rId26"/>
    <p:sldId id="303" r:id="rId27"/>
    <p:sldId id="302" r:id="rId28"/>
    <p:sldId id="301" r:id="rId29"/>
    <p:sldId id="300" r:id="rId30"/>
    <p:sldId id="299" r:id="rId31"/>
    <p:sldId id="306" r:id="rId32"/>
    <p:sldId id="308" r:id="rId33"/>
    <p:sldId id="307" r:id="rId34"/>
    <p:sldId id="309" r:id="rId35"/>
    <p:sldId id="310" r:id="rId36"/>
    <p:sldId id="316" r:id="rId37"/>
    <p:sldId id="311" r:id="rId38"/>
    <p:sldId id="312" r:id="rId39"/>
    <p:sldId id="313" r:id="rId40"/>
    <p:sldId id="315" r:id="rId41"/>
    <p:sldId id="314" r:id="rId42"/>
    <p:sldId id="317" r:id="rId43"/>
    <p:sldId id="318" r:id="rId44"/>
    <p:sldId id="320" r:id="rId45"/>
    <p:sldId id="319" r:id="rId46"/>
    <p:sldId id="321" r:id="rId47"/>
    <p:sldId id="268" r:id="rId48"/>
    <p:sldId id="269" r:id="rId49"/>
    <p:sldId id="270" r:id="rId50"/>
    <p:sldId id="271" r:id="rId51"/>
    <p:sldId id="322" r:id="rId52"/>
    <p:sldId id="275" r:id="rId53"/>
    <p:sldId id="281" r:id="rId54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D7523-7F9B-4B72-A055-93E1FD94C5B0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B30D9-FF41-43C8-BCB4-D9E4C0CFBAD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B30D9-FF41-43C8-BCB4-D9E4C0CFBAD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16C67-1BA2-4556-B9F5-4827B488B32A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1BD55-93BC-49C5-AC4D-AB69FDCC09D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heel spokes="8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1"/>
            <a:ext cx="8077200" cy="10668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3600" dirty="0" smtClean="0"/>
              <a:t>THE FUNDAMENTAL OF CONTROL SYSTEM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981200"/>
            <a:ext cx="8077200" cy="4419600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/>
              <a:t>Learning objectives</a:t>
            </a:r>
            <a:r>
              <a:rPr lang="en-US" dirty="0" smtClean="0"/>
              <a:t>: At the end of this lecture participant should be able to: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 Explain the meaning of control system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 Describe open loop control system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 Describe closed loop control system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 Deduce the transfer function</a:t>
            </a:r>
          </a:p>
          <a:p>
            <a:pPr algn="l"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The meaning of the control system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334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system is a </a:t>
            </a:r>
            <a:r>
              <a:rPr lang="en-US" dirty="0" smtClean="0">
                <a:solidFill>
                  <a:srgbClr val="0070C0"/>
                </a:solidFill>
              </a:rPr>
              <a:t>collection of parts or components </a:t>
            </a:r>
            <a:r>
              <a:rPr lang="en-US" dirty="0" smtClean="0"/>
              <a:t>which are </a:t>
            </a:r>
            <a:r>
              <a:rPr lang="en-US" dirty="0" smtClean="0">
                <a:solidFill>
                  <a:srgbClr val="FF0000"/>
                </a:solidFill>
              </a:rPr>
              <a:t>set into a specified boundary</a:t>
            </a:r>
            <a:r>
              <a:rPr lang="en-US" dirty="0" smtClean="0"/>
              <a:t>. The system becomes </a:t>
            </a:r>
            <a:r>
              <a:rPr lang="en-US" b="1" i="1" dirty="0" smtClean="0"/>
              <a:t>dynamic</a:t>
            </a:r>
            <a:r>
              <a:rPr lang="en-US" dirty="0" smtClean="0"/>
              <a:t> when one or more </a:t>
            </a:r>
            <a:r>
              <a:rPr lang="en-US" dirty="0" smtClean="0">
                <a:solidFill>
                  <a:srgbClr val="FF0000"/>
                </a:solidFill>
              </a:rPr>
              <a:t>aspect of the system change with time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effects which originate outside the system and act on it directly and are not changed by changes in the system are called input of the system. </a:t>
            </a:r>
          </a:p>
          <a:p>
            <a:r>
              <a:rPr lang="en-US" dirty="0" smtClean="0"/>
              <a:t>Thus </a:t>
            </a:r>
            <a:r>
              <a:rPr lang="en-US" i="1" dirty="0" smtClean="0">
                <a:solidFill>
                  <a:srgbClr val="FF0000"/>
                </a:solidFill>
              </a:rPr>
              <a:t>system inputs </a:t>
            </a:r>
            <a:r>
              <a:rPr lang="en-US" dirty="0" smtClean="0"/>
              <a:t>are independent of changes in the system state which are produced by external effects or inputs.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 smtClean="0"/>
              <a:t>The concept of control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The function of any control system is to </a:t>
            </a:r>
            <a:r>
              <a:rPr lang="en-US" dirty="0" smtClean="0">
                <a:solidFill>
                  <a:srgbClr val="FF0000"/>
                </a:solidFill>
              </a:rPr>
              <a:t>automatically regulate the output and keep it at the desired value.</a:t>
            </a:r>
          </a:p>
          <a:p>
            <a:pPr>
              <a:buNone/>
            </a:pPr>
            <a:r>
              <a:rPr lang="en-US" dirty="0" smtClean="0"/>
              <a:t>	The desired value is the input to the system. If the input is changed, the output must respond and change to the new set value. </a:t>
            </a:r>
          </a:p>
          <a:p>
            <a:pPr>
              <a:buNone/>
            </a:pPr>
            <a:r>
              <a:rPr lang="en-US" dirty="0" smtClean="0"/>
              <a:t>	If something happens to disturb the output without the change of input, the output must return to the correct value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Parameters to be controlled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50292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speed or angle </a:t>
            </a:r>
            <a:r>
              <a:rPr lang="en-US" dirty="0" smtClean="0"/>
              <a:t>of a motor (electric or hydraulic)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speed or position </a:t>
            </a:r>
            <a:r>
              <a:rPr lang="en-US" dirty="0" smtClean="0"/>
              <a:t>of a linear actuator (</a:t>
            </a:r>
            <a:r>
              <a:rPr lang="en-US" dirty="0" err="1" smtClean="0"/>
              <a:t>e.g</a:t>
            </a:r>
            <a:r>
              <a:rPr lang="en-US" dirty="0" smtClean="0"/>
              <a:t> in robotics, aircraft etc)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temperature</a:t>
            </a:r>
            <a:r>
              <a:rPr lang="en-US" dirty="0" smtClean="0"/>
              <a:t> of an appliance e.g. oven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pressure</a:t>
            </a:r>
            <a:r>
              <a:rPr lang="en-US" dirty="0" smtClean="0"/>
              <a:t> of a vessel e.g. a steam boiler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quantity</a:t>
            </a:r>
            <a:r>
              <a:rPr lang="en-US" dirty="0" smtClean="0"/>
              <a:t> inside a container e.g. metering content in container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flow rate </a:t>
            </a:r>
            <a:r>
              <a:rPr lang="en-US" dirty="0" smtClean="0"/>
              <a:t>of solids, liquids and gases e.g. controlling the steam flow to a turbine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Dynamic system diagram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Input							        </a:t>
            </a:r>
            <a:r>
              <a:rPr lang="en-US" sz="2800" dirty="0" smtClean="0"/>
              <a:t>output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76600" y="2514600"/>
            <a:ext cx="22860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Dynamic system</a:t>
            </a:r>
            <a:endParaRPr lang="en-US" sz="2400" b="1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057400" y="3276600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057400" y="38862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38800" y="3276600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638800" y="3733800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/>
          <p:cNvSpPr/>
          <p:nvPr/>
        </p:nvSpPr>
        <p:spPr>
          <a:xfrm>
            <a:off x="1447800" y="3200400"/>
            <a:ext cx="533400" cy="685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/>
          <p:cNvSpPr/>
          <p:nvPr/>
        </p:nvSpPr>
        <p:spPr>
          <a:xfrm>
            <a:off x="6934200" y="2895600"/>
            <a:ext cx="609600" cy="1295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solidFill>
            <a:schemeClr val="accent2"/>
          </a:solidFill>
        </p:spPr>
        <p:txBody>
          <a:bodyPr/>
          <a:lstStyle/>
          <a:p>
            <a:r>
              <a:rPr lang="en-US" dirty="0" smtClean="0"/>
              <a:t>The Open loop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10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000" dirty="0" smtClean="0"/>
              <a:t>	</a:t>
            </a:r>
            <a:r>
              <a:rPr lang="en-US" sz="4600" dirty="0" smtClean="0"/>
              <a:t>The</a:t>
            </a:r>
            <a:r>
              <a:rPr lang="en-US" sz="4000" dirty="0" smtClean="0"/>
              <a:t> open loop refers to as a </a:t>
            </a:r>
            <a:r>
              <a:rPr lang="en-US" sz="4000" b="1" i="1" dirty="0" smtClean="0"/>
              <a:t>system with an input and output but no regulation. 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 smtClean="0"/>
              <a:t>	An instrument system is an open loop system with an input and output but </a:t>
            </a:r>
            <a:r>
              <a:rPr lang="en-US" sz="4000" dirty="0" smtClean="0">
                <a:solidFill>
                  <a:srgbClr val="FF0000"/>
                </a:solidFill>
              </a:rPr>
              <a:t>no controlling action in its operation</a:t>
            </a:r>
            <a:r>
              <a:rPr lang="en-US" sz="4000" dirty="0" smtClean="0"/>
              <a:t>.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 smtClean="0"/>
              <a:t>	The open-loop configuration </a:t>
            </a:r>
            <a:r>
              <a:rPr lang="en-US" sz="4000" b="1" i="1" dirty="0" smtClean="0"/>
              <a:t>does not monitor or measure the condition of its output signal</a:t>
            </a:r>
            <a:r>
              <a:rPr lang="en-US" sz="4000" dirty="0" smtClean="0"/>
              <a:t> as there is no feedback</a:t>
            </a:r>
          </a:p>
          <a:p>
            <a:pPr>
              <a:buNone/>
            </a:pPr>
            <a:endParaRPr lang="en-US" sz="4000" dirty="0" smtClean="0"/>
          </a:p>
          <a:p>
            <a:pPr>
              <a:buNone/>
            </a:pPr>
            <a:r>
              <a:rPr lang="en-US" sz="4000" dirty="0" smtClean="0"/>
              <a:t>	</a:t>
            </a: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solidFill>
                  <a:srgbClr val="FF0000"/>
                </a:solidFill>
                <a:latin typeface="Lato"/>
                <a:cs typeface="Arial" pitchFamily="34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Lato"/>
                <a:cs typeface="Arial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Lato"/>
                <a:cs typeface="Arial" pitchFamily="34" charset="0"/>
              </a:rPr>
              <a:t>Open-loop Drying System</a:t>
            </a:r>
            <a:r>
              <a:rPr lang="en-US" b="1" dirty="0" smtClean="0">
                <a:solidFill>
                  <a:srgbClr val="404041"/>
                </a:solidFill>
                <a:latin typeface="Lato"/>
                <a:cs typeface="Arial" pitchFamily="34" charset="0"/>
              </a:rPr>
              <a:t/>
            </a:r>
            <a:br>
              <a:rPr lang="en-US" b="1" dirty="0" smtClean="0">
                <a:solidFill>
                  <a:srgbClr val="404041"/>
                </a:solidFill>
                <a:latin typeface="Lato"/>
                <a:cs typeface="Arial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Drying system</a:t>
            </a:r>
            <a:endParaRPr lang="en-US" dirty="0"/>
          </a:p>
        </p:txBody>
      </p:sp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0" y="0"/>
            <a:ext cx="92974" cy="560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268203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414042"/>
                </a:solidFill>
                <a:effectLst/>
                <a:latin typeface="Lato"/>
                <a:cs typeface="Arial" pitchFamily="34" charset="0"/>
              </a:rPr>
              <a:t>  </a:t>
            </a:r>
            <a:endParaRPr kumimoji="0" lang="en-US" sz="7400" b="0" i="0" u="none" strike="noStrike" cap="none" normalizeH="0" baseline="0" dirty="0" smtClean="0">
              <a:ln>
                <a:noFill/>
              </a:ln>
              <a:solidFill>
                <a:srgbClr val="414042"/>
              </a:solidFill>
              <a:effectLst/>
              <a:latin typeface="Lato"/>
              <a:cs typeface="Arial" pitchFamily="34" charset="0"/>
            </a:endParaRPr>
          </a:p>
        </p:txBody>
      </p:sp>
      <p:pic>
        <p:nvPicPr>
          <p:cNvPr id="36866" name="Picture 2" descr="open-loop syste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438400"/>
            <a:ext cx="7467600" cy="2590800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Drying system cont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 example</a:t>
            </a:r>
            <a:r>
              <a:rPr lang="en-US" dirty="0" smtClean="0"/>
              <a:t>, an electric clothes dryer. Depending upon the </a:t>
            </a:r>
            <a:r>
              <a:rPr lang="en-US" dirty="0" smtClean="0">
                <a:solidFill>
                  <a:srgbClr val="FF0000"/>
                </a:solidFill>
              </a:rPr>
              <a:t>amount of clothes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FF0000"/>
                </a:solidFill>
              </a:rPr>
              <a:t>how wet they are</a:t>
            </a:r>
            <a:r>
              <a:rPr lang="en-US" dirty="0" smtClean="0"/>
              <a:t>, a user or operator would set a timer (controller) to say 30 minutes and at the end of the 30 minutes the drier will automatically stop and turn-off even if the clothes were still wet or damp.</a:t>
            </a:r>
          </a:p>
          <a:p>
            <a:r>
              <a:rPr lang="en-US" dirty="0" smtClean="0"/>
              <a:t>In this case, the control action is the manual operator assessing the wetness of the clothes and setting the process (the drier) accordingly.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Drying system cont..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in this example, the clothes dryer would be an open-loop system as it </a:t>
            </a:r>
            <a:r>
              <a:rPr lang="en-US" b="1" i="1" dirty="0" smtClean="0"/>
              <a:t>does not monitor or measure the condition </a:t>
            </a:r>
            <a:r>
              <a:rPr lang="en-US" dirty="0" smtClean="0"/>
              <a:t>of the output signal, which is the </a:t>
            </a:r>
            <a:r>
              <a:rPr lang="en-US" dirty="0" smtClean="0">
                <a:solidFill>
                  <a:srgbClr val="FF0000"/>
                </a:solidFill>
              </a:rPr>
              <a:t>dryness of the clothes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Then the accuracy of the drying process, or success of drying the clothes will depend on the </a:t>
            </a:r>
            <a:r>
              <a:rPr lang="en-US" dirty="0" smtClean="0">
                <a:solidFill>
                  <a:srgbClr val="FF0000"/>
                </a:solidFill>
              </a:rPr>
              <a:t>experience of the user (operator</a:t>
            </a:r>
            <a:r>
              <a:rPr lang="en-US" dirty="0" smtClean="0"/>
              <a:t>).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Open loop cont…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Another example </a:t>
            </a:r>
            <a:r>
              <a:rPr lang="en-US" dirty="0" smtClean="0"/>
              <a:t>of open loop system is a dc motor whereby the speed of the motor depends on the voltage and current supplied. </a:t>
            </a:r>
          </a:p>
          <a:p>
            <a:r>
              <a:rPr lang="en-US" dirty="0" smtClean="0"/>
              <a:t>The system might use a potentiometer which aid to turn an angle Ɵ</a:t>
            </a:r>
            <a:r>
              <a:rPr lang="en-US" baseline="-25000" dirty="0" smtClean="0"/>
              <a:t>i</a:t>
            </a:r>
            <a:r>
              <a:rPr lang="en-US" dirty="0" smtClean="0"/>
              <a:t> (input) to produce a voltage V and this is amplified with a power amplifier producing an electric power P that drive the motor at a speed N (output)</a:t>
            </a:r>
            <a:endParaRPr lang="en-US" baseline="-25000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Open-loop Motor Control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speed of rotation of the motor will depend upon the voltage supplied to the amplifier (the controller) by the potentiometer. </a:t>
            </a:r>
          </a:p>
          <a:p>
            <a:r>
              <a:rPr lang="en-US" dirty="0" smtClean="0"/>
              <a:t>The value of the input voltage could be proportional to the position of the potentiometer.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Open-loop motor control cont…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the potentiometer is moved to the top of the resistor, the maximum positive voltage will be supplied to the amplifier representing full speed. </a:t>
            </a:r>
          </a:p>
          <a:p>
            <a:r>
              <a:rPr lang="en-US" dirty="0" smtClean="0"/>
              <a:t>Likewise, if the potentiometer wiper is moved to the bottom of the resistor, zero voltage will be supplied representing a very slow speed or stop.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77962"/>
          </a:xfrm>
        </p:spPr>
        <p:txBody>
          <a:bodyPr/>
          <a:lstStyle/>
          <a:p>
            <a:r>
              <a:rPr lang="en-US" dirty="0" smtClean="0"/>
              <a:t>Open loop block diagram</a:t>
            </a:r>
            <a:endParaRPr lang="en-US" dirty="0"/>
          </a:p>
        </p:txBody>
      </p:sp>
      <p:pic>
        <p:nvPicPr>
          <p:cNvPr id="5" name="Content Placeholder 4" descr="open-loop motor control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057400"/>
            <a:ext cx="6705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The main characteristics of an </a:t>
            </a:r>
            <a:br>
              <a:rPr lang="en-US" dirty="0" smtClean="0"/>
            </a:br>
            <a:r>
              <a:rPr lang="en-US" dirty="0" smtClean="0"/>
              <a:t>Open-loop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There is </a:t>
            </a:r>
            <a:r>
              <a:rPr lang="en-US" dirty="0" smtClean="0">
                <a:solidFill>
                  <a:srgbClr val="FF0000"/>
                </a:solidFill>
              </a:rPr>
              <a:t>no comparison </a:t>
            </a:r>
            <a:r>
              <a:rPr lang="en-US" dirty="0" smtClean="0"/>
              <a:t>between actual and desired values.</a:t>
            </a:r>
          </a:p>
          <a:p>
            <a:r>
              <a:rPr lang="en-US" dirty="0" smtClean="0"/>
              <a:t>An open-loop system </a:t>
            </a:r>
            <a:r>
              <a:rPr lang="en-US" dirty="0" smtClean="0">
                <a:solidFill>
                  <a:srgbClr val="FF0000"/>
                </a:solidFill>
              </a:rPr>
              <a:t>has no self-regulation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FF0000"/>
                </a:solidFill>
              </a:rPr>
              <a:t>control action </a:t>
            </a:r>
            <a:r>
              <a:rPr lang="en-US" dirty="0" smtClean="0"/>
              <a:t>over the output value.</a:t>
            </a:r>
          </a:p>
          <a:p>
            <a:r>
              <a:rPr lang="en-US" dirty="0" smtClean="0"/>
              <a:t>Each input setting determines a </a:t>
            </a:r>
            <a:r>
              <a:rPr lang="en-US" dirty="0" smtClean="0">
                <a:solidFill>
                  <a:srgbClr val="FF0000"/>
                </a:solidFill>
              </a:rPr>
              <a:t>fixed operating position </a:t>
            </a:r>
            <a:r>
              <a:rPr lang="en-US" dirty="0" smtClean="0"/>
              <a:t>for the controller.</a:t>
            </a:r>
          </a:p>
          <a:p>
            <a:r>
              <a:rPr lang="en-US" dirty="0" smtClean="0"/>
              <a:t>Changes or disturbances in </a:t>
            </a:r>
            <a:r>
              <a:rPr lang="en-US" dirty="0" smtClean="0">
                <a:solidFill>
                  <a:srgbClr val="FF0000"/>
                </a:solidFill>
              </a:rPr>
              <a:t>external conditions does not result in a direct output change</a:t>
            </a:r>
            <a:r>
              <a:rPr lang="en-US" dirty="0" smtClean="0"/>
              <a:t>    (unless the controller setting is altered manually).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Open loop block diagram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Any open-loop system can be represented as multiple cascaded blocks in series or a single block diagram with an input and output. </a:t>
            </a:r>
          </a:p>
          <a:p>
            <a:r>
              <a:rPr lang="en-US" dirty="0" smtClean="0"/>
              <a:t>The block diagram of an open-loop system shows that the signal path from input to output represents a linear path with no feedback loop and for any type of control system the input is given the designation θi and the output </a:t>
            </a:r>
            <a:r>
              <a:rPr lang="en-US" dirty="0" err="1" smtClean="0"/>
              <a:t>θo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Open loop cont…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Generally, we do not have to manipulate the open-loop block diagram to calculate its actual </a:t>
            </a:r>
            <a:r>
              <a:rPr lang="en-US" b="1" i="1" dirty="0" smtClean="0"/>
              <a:t>transfer function</a:t>
            </a:r>
            <a:r>
              <a:rPr lang="en-US" dirty="0" smtClean="0"/>
              <a:t>. </a:t>
            </a:r>
          </a:p>
          <a:p>
            <a:r>
              <a:rPr lang="en-US" dirty="0" smtClean="0"/>
              <a:t>We can just write down the proper relationships or equations from each block diagram, and then calculate the final transfer function from these equations as shown.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Open-loop System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62399"/>
          </a:xfrm>
        </p:spPr>
        <p:txBody>
          <a:bodyPr/>
          <a:lstStyle/>
          <a:p>
            <a:r>
              <a:rPr lang="en-US" dirty="0" smtClean="0"/>
              <a:t>Block diagram</a:t>
            </a:r>
            <a:endParaRPr lang="en-US" dirty="0"/>
          </a:p>
        </p:txBody>
      </p:sp>
      <p:pic>
        <p:nvPicPr>
          <p:cNvPr id="39938" name="Picture 2" descr="open loop syste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048000"/>
            <a:ext cx="7010400" cy="1752600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Transfer Function of each block is therefore: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9156" name="Picture 4" descr="open loop transfer fun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276600"/>
            <a:ext cx="5181600" cy="990600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function cont….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overall transfer function is given as:</a:t>
            </a:r>
            <a:endParaRPr lang="en-US" dirty="0"/>
          </a:p>
        </p:txBody>
      </p:sp>
      <p:pic>
        <p:nvPicPr>
          <p:cNvPr id="47106" name="Picture 2" descr="overall open loop transfer fun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819400"/>
            <a:ext cx="5867400" cy="9906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066800" y="4267200"/>
            <a:ext cx="701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Then the Open-loop Gain is given simply as:</a:t>
            </a:r>
            <a:endParaRPr lang="en-US" sz="2800" dirty="0"/>
          </a:p>
        </p:txBody>
      </p:sp>
      <p:pic>
        <p:nvPicPr>
          <p:cNvPr id="47108" name="Picture 4" descr="overall open loop gai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5105400"/>
            <a:ext cx="3200400" cy="838200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Transfer function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When G represents the </a:t>
            </a:r>
            <a:r>
              <a:rPr lang="en-US" b="1" dirty="0" smtClean="0"/>
              <a:t>Transfer Function</a:t>
            </a:r>
            <a:r>
              <a:rPr lang="en-US" dirty="0" smtClean="0"/>
              <a:t> of the system or subsystem, it can be rewritten as: G(s) = </a:t>
            </a:r>
            <a:r>
              <a:rPr lang="en-US" dirty="0" err="1" smtClean="0"/>
              <a:t>θo</a:t>
            </a:r>
            <a:r>
              <a:rPr lang="en-US" dirty="0" smtClean="0"/>
              <a:t>(s)/</a:t>
            </a:r>
            <a:r>
              <a:rPr lang="en-US" dirty="0" err="1" smtClean="0"/>
              <a:t>θi</a:t>
            </a:r>
            <a:r>
              <a:rPr lang="en-US" dirty="0" smtClean="0"/>
              <a:t>(s)</a:t>
            </a:r>
          </a:p>
          <a:p>
            <a:r>
              <a:rPr lang="en-US" dirty="0" smtClean="0"/>
              <a:t>Open-loop control systems are often used with processes that require the sequencing of events with the aid of “ON-OFF” signals.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function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example a washing machines which requires the water to be switched “ON” and then when full is switched “OFF”.</a:t>
            </a:r>
          </a:p>
          <a:p>
            <a:r>
              <a:rPr lang="en-US" dirty="0" smtClean="0"/>
              <a:t> Also, the heater element being switched “ON” to heat the water and then at a suitable temperature is switched “OFF”, and so on.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Transfer function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This type of “ON-OFF” open-loop control is suitable for systems where the changes in load occur </a:t>
            </a:r>
            <a:r>
              <a:rPr lang="en-US" i="1" dirty="0" smtClean="0"/>
              <a:t>slowly</a:t>
            </a:r>
            <a:r>
              <a:rPr lang="en-US" dirty="0" smtClean="0"/>
              <a:t> and the process is </a:t>
            </a:r>
            <a:r>
              <a:rPr lang="en-US" i="1" dirty="0" smtClean="0"/>
              <a:t>very slow </a:t>
            </a:r>
            <a:r>
              <a:rPr lang="en-US" dirty="0" smtClean="0"/>
              <a:t>acting, necessitating in-frequent changes to the control action by an operator.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Worked example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914400"/>
            <a:ext cx="8382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Closed-loop Systems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Closed-loop Systems </a:t>
            </a:r>
            <a:r>
              <a:rPr lang="en-US" b="1" i="1" dirty="0" smtClean="0"/>
              <a:t>use feedback </a:t>
            </a:r>
            <a:r>
              <a:rPr lang="en-US" dirty="0" smtClean="0"/>
              <a:t>where a portion of the output signal is fed back to the input to </a:t>
            </a:r>
            <a:r>
              <a:rPr lang="en-US" dirty="0" smtClean="0">
                <a:solidFill>
                  <a:srgbClr val="FF0000"/>
                </a:solidFill>
              </a:rPr>
              <a:t>reduce errors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improve stability</a:t>
            </a:r>
          </a:p>
          <a:p>
            <a:r>
              <a:rPr lang="en-US" dirty="0" smtClean="0"/>
              <a:t>Systems in which the output quantity has no effect upon the input to the control process are called open-loop control systems, and that open-loop systems are just that, open ended non-feedback systems.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Closed system cont…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goal of any electrical or electronic control system is to </a:t>
            </a:r>
            <a:r>
              <a:rPr lang="en-US" b="1" i="1" dirty="0" smtClean="0"/>
              <a:t>measure, monitor, and control </a:t>
            </a:r>
            <a:r>
              <a:rPr lang="en-US" dirty="0" smtClean="0"/>
              <a:t>a process and one way in which we can accurately control the process.</a:t>
            </a:r>
          </a:p>
          <a:p>
            <a:r>
              <a:rPr lang="en-US" dirty="0" smtClean="0"/>
              <a:t>This is achieved by monitoring its output and “feeding” some of it back </a:t>
            </a:r>
            <a:r>
              <a:rPr lang="en-US" dirty="0" smtClean="0">
                <a:solidFill>
                  <a:srgbClr val="FF0000"/>
                </a:solidFill>
              </a:rPr>
              <a:t>to compare the actual output</a:t>
            </a:r>
            <a:r>
              <a:rPr lang="en-US" dirty="0" smtClean="0"/>
              <a:t> with the </a:t>
            </a:r>
            <a:r>
              <a:rPr lang="en-US" dirty="0" smtClean="0">
                <a:solidFill>
                  <a:srgbClr val="FF0000"/>
                </a:solidFill>
              </a:rPr>
              <a:t>desired output </a:t>
            </a:r>
            <a:r>
              <a:rPr lang="en-US" dirty="0" smtClean="0"/>
              <a:t>so as to reduce the error and if disturbed, bring the output of the system back to the original or desired response.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Closed system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quantity of the output being measured is called the “feedback signal”, and the type of control system which uses feedback signals to both control and adjust itself is called a </a:t>
            </a:r>
            <a:r>
              <a:rPr lang="en-US" b="1" dirty="0" smtClean="0"/>
              <a:t>Close-loop System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Closed system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 </a:t>
            </a:r>
            <a:r>
              <a:rPr lang="en-US" b="1" dirty="0" smtClean="0"/>
              <a:t>Closed-loop Control System</a:t>
            </a:r>
            <a:r>
              <a:rPr lang="en-US" dirty="0" smtClean="0"/>
              <a:t>, also known as a </a:t>
            </a:r>
            <a:r>
              <a:rPr lang="en-US" i="1" dirty="0" smtClean="0">
                <a:solidFill>
                  <a:srgbClr val="FF0000"/>
                </a:solidFill>
              </a:rPr>
              <a:t>feedback control system</a:t>
            </a:r>
            <a:r>
              <a:rPr lang="en-US" dirty="0" smtClean="0"/>
              <a:t> is a control system which uses the concept of an open loop system as </a:t>
            </a:r>
            <a:r>
              <a:rPr lang="en-US" b="1" i="1" dirty="0" smtClean="0"/>
              <a:t>its forward path </a:t>
            </a:r>
            <a:r>
              <a:rPr lang="en-US" dirty="0" smtClean="0"/>
              <a:t>but has </a:t>
            </a:r>
            <a:r>
              <a:rPr lang="en-US" b="1" i="1" dirty="0" smtClean="0"/>
              <a:t>one or more feedback loops </a:t>
            </a:r>
            <a:r>
              <a:rPr lang="en-US" dirty="0" smtClean="0"/>
              <a:t>(hence its name) or paths between its output and its input. </a:t>
            </a:r>
          </a:p>
          <a:p>
            <a:r>
              <a:rPr lang="en-US" dirty="0" smtClean="0"/>
              <a:t>The reference to “feedback”, simply means that some portion of the output is returned “back” to the input to form part of the systems excitation.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Closed system cont…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534400" cy="452596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Closed-loop systems are designed to automatically achieve and maintain the desired output condition by comparing it with the actual condition. </a:t>
            </a:r>
          </a:p>
          <a:p>
            <a:pPr algn="just"/>
            <a:r>
              <a:rPr lang="en-US" dirty="0" smtClean="0"/>
              <a:t>It does this by generating an </a:t>
            </a:r>
            <a:r>
              <a:rPr lang="en-US" dirty="0" smtClean="0">
                <a:solidFill>
                  <a:srgbClr val="FF0000"/>
                </a:solidFill>
              </a:rPr>
              <a:t>error signal </a:t>
            </a:r>
            <a:r>
              <a:rPr lang="en-US" dirty="0" smtClean="0"/>
              <a:t>which is the </a:t>
            </a:r>
            <a:r>
              <a:rPr lang="en-US" b="1" i="1" dirty="0" smtClean="0"/>
              <a:t>difference between the output and the reference input. </a:t>
            </a:r>
          </a:p>
          <a:p>
            <a:pPr algn="just"/>
            <a:r>
              <a:rPr lang="en-US" dirty="0" smtClean="0"/>
              <a:t>In other words, a “closed-loop system” is a fully automatic control system in which its control action being </a:t>
            </a:r>
            <a:r>
              <a:rPr lang="en-US" dirty="0" smtClean="0">
                <a:solidFill>
                  <a:srgbClr val="FF0000"/>
                </a:solidFill>
              </a:rPr>
              <a:t>dependent on the output </a:t>
            </a:r>
            <a:r>
              <a:rPr lang="en-US" dirty="0" smtClean="0"/>
              <a:t>in some way.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Closed system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for example, consider our electric clothes dryer from the previous </a:t>
            </a:r>
            <a:r>
              <a:rPr lang="en-US" i="1" dirty="0" smtClean="0"/>
              <a:t>Open-loop system</a:t>
            </a:r>
            <a:r>
              <a:rPr lang="en-US" dirty="0" smtClean="0"/>
              <a:t>. Suppose we used a sensor or transducer (input device) to continually monitor the temperature or dryness of the clothes and feed a signal relating to the dryness back to the controller as shown below.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Closed-loop Control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Closed loop diagram</a:t>
            </a:r>
            <a:endParaRPr lang="en-US" dirty="0"/>
          </a:p>
        </p:txBody>
      </p:sp>
      <p:pic>
        <p:nvPicPr>
          <p:cNvPr id="4" name="Picture 3" descr="closed-loop control system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209800"/>
            <a:ext cx="75438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Feedback signal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sensor would monitor the actual dryness of the clothes and compare it with (or subtract it from) the input reference. </a:t>
            </a:r>
          </a:p>
          <a:p>
            <a:r>
              <a:rPr lang="en-US" dirty="0" smtClean="0"/>
              <a:t>The error signal (error = required dryness – actual dryness) is amplified by the controller, and the controller output makes the necessary correction to the heating system to reduce any error. 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Feed back signal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Consider a dry wash machine, if the clothes are too wet the controller may increase the temperature or drying time. </a:t>
            </a:r>
          </a:p>
          <a:p>
            <a:pPr algn="just"/>
            <a:r>
              <a:rPr lang="en-US" dirty="0" smtClean="0"/>
              <a:t>Likewise, if the clothes are nearly dry it may reduce the temperature or stop the process so as not to overheat or burn the clothes, etc.</a:t>
            </a:r>
          </a:p>
          <a:p>
            <a:pPr algn="just"/>
            <a:r>
              <a:rPr lang="en-US" dirty="0" smtClean="0"/>
              <a:t>Then the closed-loop configuration is characterized by the feedback signal, derived from the sensor in the clothes drying system. </a:t>
            </a:r>
          </a:p>
          <a:p>
            <a:pPr algn="just"/>
            <a:r>
              <a:rPr lang="en-US" smtClean="0"/>
              <a:t>The magnitude and polarity of the resulting error signal, would be directly related to the difference between the required dryness and actual dryness of the clothes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Then main characteristics of Closed-loop Control 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To </a:t>
            </a:r>
            <a:r>
              <a:rPr lang="en-US" b="1" i="1" dirty="0" smtClean="0"/>
              <a:t>reduce errors </a:t>
            </a:r>
            <a:r>
              <a:rPr lang="en-US" dirty="0" smtClean="0"/>
              <a:t>by automatically adjusting the systems input.</a:t>
            </a:r>
          </a:p>
          <a:p>
            <a:pPr lvl="0"/>
            <a:r>
              <a:rPr lang="en-US" dirty="0" smtClean="0"/>
              <a:t>To </a:t>
            </a:r>
            <a:r>
              <a:rPr lang="en-US" b="1" i="1" dirty="0" smtClean="0"/>
              <a:t>improve stability </a:t>
            </a:r>
            <a:r>
              <a:rPr lang="en-US" dirty="0" smtClean="0"/>
              <a:t>of an unstable system.</a:t>
            </a:r>
          </a:p>
          <a:p>
            <a:pPr lvl="0"/>
            <a:r>
              <a:rPr lang="en-US" dirty="0" smtClean="0"/>
              <a:t>To </a:t>
            </a:r>
            <a:r>
              <a:rPr lang="en-US" b="1" i="1" dirty="0" smtClean="0"/>
              <a:t>increase or reduce </a:t>
            </a:r>
            <a:r>
              <a:rPr lang="en-US" dirty="0" smtClean="0"/>
              <a:t>the systems </a:t>
            </a:r>
            <a:r>
              <a:rPr lang="en-US" b="1" i="1" dirty="0" smtClean="0"/>
              <a:t>sensitivity.</a:t>
            </a:r>
          </a:p>
          <a:p>
            <a:pPr lvl="0"/>
            <a:r>
              <a:rPr lang="en-US" dirty="0" smtClean="0"/>
              <a:t>To </a:t>
            </a:r>
            <a:r>
              <a:rPr lang="en-US" b="1" i="1" dirty="0" smtClean="0"/>
              <a:t>enhance robustness </a:t>
            </a:r>
            <a:r>
              <a:rPr lang="en-US" dirty="0" smtClean="0"/>
              <a:t>against external disturbances to the process.</a:t>
            </a:r>
          </a:p>
          <a:p>
            <a:pPr lvl="0"/>
            <a:r>
              <a:rPr lang="en-US" dirty="0" smtClean="0"/>
              <a:t>To </a:t>
            </a:r>
            <a:r>
              <a:rPr lang="en-US" b="1" i="1" dirty="0" smtClean="0"/>
              <a:t>produce a reliable and repeatable performance.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Closed-loop Summing Points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a closed-loop feedback system to regulate any control signal, it must first determine the error between the actual output and the desired output. </a:t>
            </a:r>
          </a:p>
          <a:p>
            <a:r>
              <a:rPr lang="en-US" dirty="0" smtClean="0"/>
              <a:t>This is achieved using a </a:t>
            </a:r>
            <a:r>
              <a:rPr lang="en-US" dirty="0" smtClean="0">
                <a:solidFill>
                  <a:srgbClr val="FF0000"/>
                </a:solidFill>
              </a:rPr>
              <a:t>summing point</a:t>
            </a:r>
            <a:r>
              <a:rPr lang="en-US" dirty="0" smtClean="0"/>
              <a:t>, also referred to as a </a:t>
            </a:r>
            <a:r>
              <a:rPr lang="en-US" dirty="0" smtClean="0">
                <a:solidFill>
                  <a:srgbClr val="FF0000"/>
                </a:solidFill>
              </a:rPr>
              <a:t>comparison element</a:t>
            </a:r>
            <a:r>
              <a:rPr lang="en-US" dirty="0" smtClean="0"/>
              <a:t>, between the feedback loop and the systems input. 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Summing point…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These summing points compare a systems set point to the actual value and produce a positive or negative error signal which the controller responds too. where: Error = Set point – Actual</a:t>
            </a:r>
          </a:p>
          <a:p>
            <a:r>
              <a:rPr lang="en-US" dirty="0" smtClean="0"/>
              <a:t>The symbol used to represent a summing point in closed-loop systems block-diagram is that of a circle with two crossed lines as shown.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Summing point…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summing point can either add signals together in which a Plus ( + ) symbol is used showing the device to be a “summer” (used for positive feedback), or it can subtract signals from each other in which case a Minus ( − ) symbol is used showing that the device is a “comparator” (used for negative feedback) as shown.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Summing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symbol used to represent a summing point in closed-loop systems block-diagram is that of a circle with two crossed lines as shown. 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closed loop summing point symbol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3733800"/>
            <a:ext cx="2209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Summing point 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summing point can either add signals together in which a Plus ( + ) symbol is used showing the device to be a “summer” (used for positive feedback), or it can subtract signals from each other in which case a Minus ( − ) symbol is used showing that the device is a “comparator” (used for negative feedback).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9144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Summing Point 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Note that summing points can have more than one signal as inputs either adding or subtracting but only one output which is the algebraic sum of the inputs. </a:t>
            </a:r>
          </a:p>
          <a:p>
            <a:pPr>
              <a:buNone/>
            </a:pPr>
            <a:r>
              <a:rPr lang="en-US" dirty="0" smtClean="0"/>
              <a:t>	Also the arrows indicate the direction of the signals. Summing points can be cascaded together to allow for more input variables to be summed at a given point.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Summing point cont…</a:t>
            </a:r>
            <a:endParaRPr lang="en-US" dirty="0"/>
          </a:p>
        </p:txBody>
      </p:sp>
      <p:pic>
        <p:nvPicPr>
          <p:cNvPr id="4" name="Content Placeholder 3" descr="summing point types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209800"/>
            <a:ext cx="6553200" cy="1991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Closed-loop System Transfer Function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 </a:t>
            </a:r>
            <a:r>
              <a:rPr lang="en-US" b="1" dirty="0" smtClean="0"/>
              <a:t>Transfer Function</a:t>
            </a:r>
            <a:r>
              <a:rPr lang="en-US" dirty="0" smtClean="0"/>
              <a:t> of any electrical or electronic control system is the mathematical relationship between the systems input and its output, and hence describes the behaviour of the system. </a:t>
            </a:r>
          </a:p>
          <a:p>
            <a:pPr algn="just"/>
            <a:r>
              <a:rPr lang="en-US" dirty="0" smtClean="0"/>
              <a:t>Note also that the ratio of the output of a particular device to its input represents its </a:t>
            </a:r>
            <a:r>
              <a:rPr lang="en-US" b="1" dirty="0" smtClean="0"/>
              <a:t>Gain</a:t>
            </a:r>
            <a:r>
              <a:rPr lang="en-US" dirty="0" smtClean="0"/>
              <a:t>. Then we can correctly say that the output is always the transfer function of the system times the input. Consider the closed-loop system below.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Closed-loop System Representation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Transfer function</a:t>
            </a:r>
            <a:endParaRPr lang="en-US" dirty="0"/>
          </a:p>
        </p:txBody>
      </p:sp>
      <p:pic>
        <p:nvPicPr>
          <p:cNvPr id="68610" name="Picture 8" descr="typical closed loop syste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438400"/>
            <a:ext cx="6629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Transfer Function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00600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Where</a:t>
            </a:r>
            <a:r>
              <a:rPr lang="en-US" dirty="0" smtClean="0"/>
              <a:t>: Block G represents the open-loop gains of the controller or system and is the forward path, and block H represents the gain of the sensor, transducer or measurement system in the feedback path.</a:t>
            </a:r>
          </a:p>
          <a:p>
            <a:r>
              <a:rPr lang="en-US" dirty="0" smtClean="0"/>
              <a:t>To find the transfer function of the closed-loop system above, we must first calculate the output signal </a:t>
            </a:r>
            <a:r>
              <a:rPr lang="en-US" dirty="0" err="1" smtClean="0"/>
              <a:t>θo</a:t>
            </a:r>
            <a:r>
              <a:rPr lang="en-US" dirty="0" smtClean="0"/>
              <a:t> in terms of the input signal θi. To do so, we can easily write the equations of the given block-diagram as follows.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Transfer Function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output from the system is equal to:    Output = G x Error</a:t>
            </a:r>
          </a:p>
          <a:p>
            <a:pPr>
              <a:buNone/>
            </a:pPr>
            <a:r>
              <a:rPr lang="en-US" dirty="0" smtClean="0"/>
              <a:t>	Note that the error signal, </a:t>
            </a:r>
            <a:r>
              <a:rPr lang="en-US" dirty="0" err="1" smtClean="0"/>
              <a:t>θe</a:t>
            </a:r>
            <a:r>
              <a:rPr lang="en-US" dirty="0" smtClean="0"/>
              <a:t> is also the input to the feed-forward block:  G</a:t>
            </a:r>
          </a:p>
          <a:p>
            <a:r>
              <a:rPr lang="en-US" dirty="0" smtClean="0"/>
              <a:t>The output from the summing point is equal to:    Error = Input - H x Output</a:t>
            </a:r>
          </a:p>
          <a:p>
            <a:pPr>
              <a:buNone/>
            </a:pPr>
            <a:r>
              <a:rPr lang="en-US" dirty="0" smtClean="0"/>
              <a:t>	If  H = 1 (unity feedback) then:</a:t>
            </a:r>
          </a:p>
          <a:p>
            <a:pPr>
              <a:buNone/>
            </a:pPr>
            <a:r>
              <a:rPr lang="en-US" dirty="0" smtClean="0"/>
              <a:t>	The output from the summing point will be:    Error (</a:t>
            </a:r>
            <a:r>
              <a:rPr lang="en-US" dirty="0" err="1" smtClean="0"/>
              <a:t>θe</a:t>
            </a:r>
            <a:r>
              <a:rPr lang="en-US" dirty="0" smtClean="0"/>
              <a:t>) = Input - Output</a:t>
            </a:r>
          </a:p>
          <a:p>
            <a:endParaRPr lang="en-US" dirty="0" smtClean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Transfer Function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5562600"/>
          </a:xfrm>
        </p:spPr>
        <p:txBody>
          <a:bodyPr>
            <a:normAutofit/>
          </a:bodyPr>
          <a:lstStyle/>
          <a:p>
            <a:r>
              <a:rPr lang="en-US" dirty="0" smtClean="0"/>
              <a:t>Eliminating the error term, then:</a:t>
            </a:r>
          </a:p>
          <a:p>
            <a:r>
              <a:rPr lang="en-US" dirty="0" smtClean="0"/>
              <a:t>The output is equal to:    Output = G x (Input - H x Output)</a:t>
            </a:r>
          </a:p>
          <a:p>
            <a:r>
              <a:rPr lang="en-US" dirty="0" smtClean="0"/>
              <a:t>Therefore:    G x Input = Output + G x H x Output</a:t>
            </a:r>
          </a:p>
          <a:p>
            <a:r>
              <a:rPr lang="en-US" dirty="0" smtClean="0"/>
              <a:t>Rearranging the above gives us the closed-loop transfer function of: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9634" name="Picture 9" descr="closed-loop transfer fun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5181600"/>
            <a:ext cx="381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Transfer function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The above equation for the transfer function of a closed-loop system shows a Plus ( + ) sign in the denominator representing negative feedback. With a positive feedback system, the denominator will have a Minus ( − ) sign and the equation becomes:  1 - GH.</a:t>
            </a:r>
          </a:p>
          <a:p>
            <a:r>
              <a:rPr lang="en-US" dirty="0" smtClean="0"/>
              <a:t>We can see that when  H = 1 (unity feedback) and G is very large, the transfer function approaches unity as: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0658" name="Picture 10" descr="closed-loop fun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5791200"/>
            <a:ext cx="2209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Deducing transfer function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905000"/>
            <a:ext cx="83819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transfer function 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371600"/>
            <a:ext cx="8305799" cy="510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function cont……..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2133600"/>
            <a:ext cx="762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Transfer function cont………..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1" y="1219200"/>
            <a:ext cx="8305800" cy="5257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main characteristics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To reduce errors by automatically adjusting the systems input.</a:t>
            </a:r>
          </a:p>
          <a:p>
            <a:pPr lvl="0"/>
            <a:r>
              <a:rPr lang="en-US" dirty="0" smtClean="0"/>
              <a:t>To improve stability of an unstable system.</a:t>
            </a:r>
          </a:p>
          <a:p>
            <a:pPr lvl="0"/>
            <a:r>
              <a:rPr lang="en-US" dirty="0" smtClean="0"/>
              <a:t>To increase or reduce the systems sensitivity.</a:t>
            </a:r>
          </a:p>
          <a:p>
            <a:pPr lvl="0"/>
            <a:r>
              <a:rPr lang="en-US" dirty="0" smtClean="0"/>
              <a:t>To enhance robustness against external disturbances to the process.</a:t>
            </a:r>
          </a:p>
          <a:p>
            <a:pPr lvl="0"/>
            <a:r>
              <a:rPr lang="en-US" dirty="0" smtClean="0"/>
              <a:t>To produce a reliable and repeatable performance.</a:t>
            </a:r>
          </a:p>
          <a:p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Important of feedback in control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34290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Feedback is used in closed-loop control system to provide the signal for reducing error between the referenced input and the system output. However, feedback has a significant effect on system stability, sensitivity etc.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Open and closed loop control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loop system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762250" y="3086100"/>
          <a:ext cx="3619500" cy="685800"/>
        </p:xfrm>
        <a:graphic>
          <a:graphicData uri="http://schemas.openxmlformats.org/presentationml/2006/ole">
            <p:oleObj spid="_x0000_s2050" name="Packager Shell Object" showAsIcon="1" r:id="rId3" imgW="3620160" imgH="685800" progId="Package">
              <p:embed/>
            </p:oleObj>
          </a:graphicData>
        </a:graphic>
      </p:graphicFrame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1637</Words>
  <Application>Microsoft Office PowerPoint</Application>
  <PresentationFormat>On-screen Show (4:3)</PresentationFormat>
  <Paragraphs>170</Paragraphs>
  <Slides>53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Office Theme</vt:lpstr>
      <vt:lpstr>Packager Shell Object</vt:lpstr>
      <vt:lpstr>THE FUNDAMENTAL OF CONTROL SYSTEM</vt:lpstr>
      <vt:lpstr>The meaning of the control system</vt:lpstr>
      <vt:lpstr>The concept of control system</vt:lpstr>
      <vt:lpstr>Parameters to be controlled</vt:lpstr>
      <vt:lpstr>Dynamic system diagram</vt:lpstr>
      <vt:lpstr>The Open loop system</vt:lpstr>
      <vt:lpstr> Open-loop Drying System </vt:lpstr>
      <vt:lpstr>Drying system cont </vt:lpstr>
      <vt:lpstr>Drying system cont..</vt:lpstr>
      <vt:lpstr>Open loop cont…</vt:lpstr>
      <vt:lpstr> Open-loop Motor Control </vt:lpstr>
      <vt:lpstr>Open-loop motor control cont…</vt:lpstr>
      <vt:lpstr>Open loop block diagram</vt:lpstr>
      <vt:lpstr>The main characteristics of an  Open-loop system</vt:lpstr>
      <vt:lpstr>Open loop block diagram</vt:lpstr>
      <vt:lpstr>Open loop cont…</vt:lpstr>
      <vt:lpstr> Open-loop System </vt:lpstr>
      <vt:lpstr>Transfer Function</vt:lpstr>
      <vt:lpstr>Transfer function cont….</vt:lpstr>
      <vt:lpstr>Transfer function cont…</vt:lpstr>
      <vt:lpstr>Transfer function cont…</vt:lpstr>
      <vt:lpstr>Transfer function cont…</vt:lpstr>
      <vt:lpstr>Worked example</vt:lpstr>
      <vt:lpstr> Closed-loop Systems </vt:lpstr>
      <vt:lpstr>Closed system cont…</vt:lpstr>
      <vt:lpstr>Closed system cont…</vt:lpstr>
      <vt:lpstr>Closed system cont…</vt:lpstr>
      <vt:lpstr>Closed system cont…</vt:lpstr>
      <vt:lpstr>Closed system cont…</vt:lpstr>
      <vt:lpstr> Closed-loop Control </vt:lpstr>
      <vt:lpstr>Feedback signal</vt:lpstr>
      <vt:lpstr>Feed back signal</vt:lpstr>
      <vt:lpstr> Then main characteristics of Closed-loop Control  </vt:lpstr>
      <vt:lpstr> Closed-loop Summing Points </vt:lpstr>
      <vt:lpstr>Summing point…</vt:lpstr>
      <vt:lpstr>Summing point…</vt:lpstr>
      <vt:lpstr>Summing point</vt:lpstr>
      <vt:lpstr>Summing point cont..</vt:lpstr>
      <vt:lpstr>Summing Point ….</vt:lpstr>
      <vt:lpstr>Summing point cont…</vt:lpstr>
      <vt:lpstr> Closed-loop System Transfer Function </vt:lpstr>
      <vt:lpstr>  Closed-loop System Representation </vt:lpstr>
      <vt:lpstr>Transfer Function cont…</vt:lpstr>
      <vt:lpstr>Transfer Function cont…</vt:lpstr>
      <vt:lpstr>Transfer Function cont…</vt:lpstr>
      <vt:lpstr>Transfer function cont…</vt:lpstr>
      <vt:lpstr>Deducing transfer function</vt:lpstr>
      <vt:lpstr>The transfer function </vt:lpstr>
      <vt:lpstr>Transfer function cont……..</vt:lpstr>
      <vt:lpstr>Transfer function cont………..</vt:lpstr>
      <vt:lpstr>The main characteristics</vt:lpstr>
      <vt:lpstr>Important of feedback in control system</vt:lpstr>
      <vt:lpstr>Open and closed loop control system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FUNDAMENTAL OF CONTROL SYSTEM</dc:title>
  <dc:creator>mdende</dc:creator>
  <cp:lastModifiedBy>user</cp:lastModifiedBy>
  <cp:revision>149</cp:revision>
  <dcterms:created xsi:type="dcterms:W3CDTF">2015-11-13T08:07:57Z</dcterms:created>
  <dcterms:modified xsi:type="dcterms:W3CDTF">2022-01-31T09:47:22Z</dcterms:modified>
</cp:coreProperties>
</file>