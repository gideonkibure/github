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59" r:id="rId4"/>
    <p:sldId id="258" r:id="rId5"/>
    <p:sldId id="260" r:id="rId6"/>
    <p:sldId id="261" r:id="rId7"/>
    <p:sldId id="262" r:id="rId8"/>
    <p:sldId id="263"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D6812BB-0A84-45A0-A6FB-BA7311AF9937}"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0D33DA-ECC8-47E4-91A4-B1988A2AD7BC}" type="slidenum">
              <a:rPr lang="en-US" smtClean="0"/>
              <a:t>‹#›</a:t>
            </a:fld>
            <a:endParaRPr lang="en-US"/>
          </a:p>
        </p:txBody>
      </p:sp>
    </p:spTree>
    <p:extLst>
      <p:ext uri="{BB962C8B-B14F-4D97-AF65-F5344CB8AC3E}">
        <p14:creationId xmlns:p14="http://schemas.microsoft.com/office/powerpoint/2010/main" val="1286086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812BB-0A84-45A0-A6FB-BA7311AF9937}"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0D33DA-ECC8-47E4-91A4-B1988A2AD7BC}" type="slidenum">
              <a:rPr lang="en-US" smtClean="0"/>
              <a:t>‹#›</a:t>
            </a:fld>
            <a:endParaRPr lang="en-US"/>
          </a:p>
        </p:txBody>
      </p:sp>
    </p:spTree>
    <p:extLst>
      <p:ext uri="{BB962C8B-B14F-4D97-AF65-F5344CB8AC3E}">
        <p14:creationId xmlns:p14="http://schemas.microsoft.com/office/powerpoint/2010/main" val="2508576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D6812BB-0A84-45A0-A6FB-BA7311AF9937}"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0D33DA-ECC8-47E4-91A4-B1988A2AD7BC}" type="slidenum">
              <a:rPr lang="en-US" smtClean="0"/>
              <a:t>‹#›</a:t>
            </a:fld>
            <a:endParaRPr lang="en-US"/>
          </a:p>
        </p:txBody>
      </p:sp>
    </p:spTree>
    <p:extLst>
      <p:ext uri="{BB962C8B-B14F-4D97-AF65-F5344CB8AC3E}">
        <p14:creationId xmlns:p14="http://schemas.microsoft.com/office/powerpoint/2010/main" val="2182177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6812BB-0A84-45A0-A6FB-BA7311AF9937}"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0D33DA-ECC8-47E4-91A4-B1988A2AD7BC}" type="slidenum">
              <a:rPr lang="en-US" smtClean="0"/>
              <a:t>‹#›</a:t>
            </a:fld>
            <a:endParaRPr lang="en-US"/>
          </a:p>
        </p:txBody>
      </p:sp>
    </p:spTree>
    <p:extLst>
      <p:ext uri="{BB962C8B-B14F-4D97-AF65-F5344CB8AC3E}">
        <p14:creationId xmlns:p14="http://schemas.microsoft.com/office/powerpoint/2010/main" val="1997371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6812BB-0A84-45A0-A6FB-BA7311AF9937}"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0D33DA-ECC8-47E4-91A4-B1988A2AD7BC}" type="slidenum">
              <a:rPr lang="en-US" smtClean="0"/>
              <a:t>‹#›</a:t>
            </a:fld>
            <a:endParaRPr lang="en-US"/>
          </a:p>
        </p:txBody>
      </p:sp>
    </p:spTree>
    <p:extLst>
      <p:ext uri="{BB962C8B-B14F-4D97-AF65-F5344CB8AC3E}">
        <p14:creationId xmlns:p14="http://schemas.microsoft.com/office/powerpoint/2010/main" val="336972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812BB-0A84-45A0-A6FB-BA7311AF9937}"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0D33DA-ECC8-47E4-91A4-B1988A2AD7BC}" type="slidenum">
              <a:rPr lang="en-US" smtClean="0"/>
              <a:t>‹#›</a:t>
            </a:fld>
            <a:endParaRPr lang="en-US"/>
          </a:p>
        </p:txBody>
      </p:sp>
    </p:spTree>
    <p:extLst>
      <p:ext uri="{BB962C8B-B14F-4D97-AF65-F5344CB8AC3E}">
        <p14:creationId xmlns:p14="http://schemas.microsoft.com/office/powerpoint/2010/main" val="2232159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6812BB-0A84-45A0-A6FB-BA7311AF9937}"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0D33DA-ECC8-47E4-91A4-B1988A2AD7BC}" type="slidenum">
              <a:rPr lang="en-US" smtClean="0"/>
              <a:t>‹#›</a:t>
            </a:fld>
            <a:endParaRPr lang="en-US"/>
          </a:p>
        </p:txBody>
      </p:sp>
    </p:spTree>
    <p:extLst>
      <p:ext uri="{BB962C8B-B14F-4D97-AF65-F5344CB8AC3E}">
        <p14:creationId xmlns:p14="http://schemas.microsoft.com/office/powerpoint/2010/main" val="1292167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D6812BB-0A84-45A0-A6FB-BA7311AF9937}"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0D33DA-ECC8-47E4-91A4-B1988A2AD7BC}" type="slidenum">
              <a:rPr lang="en-US" smtClean="0"/>
              <a:t>‹#›</a:t>
            </a:fld>
            <a:endParaRPr lang="en-US"/>
          </a:p>
        </p:txBody>
      </p:sp>
    </p:spTree>
    <p:extLst>
      <p:ext uri="{BB962C8B-B14F-4D97-AF65-F5344CB8AC3E}">
        <p14:creationId xmlns:p14="http://schemas.microsoft.com/office/powerpoint/2010/main" val="1008615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D6812BB-0A84-45A0-A6FB-BA7311AF9937}"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0D33DA-ECC8-47E4-91A4-B1988A2AD7BC}" type="slidenum">
              <a:rPr lang="en-US" smtClean="0"/>
              <a:t>‹#›</a:t>
            </a:fld>
            <a:endParaRPr lang="en-US"/>
          </a:p>
        </p:txBody>
      </p:sp>
    </p:spTree>
    <p:extLst>
      <p:ext uri="{BB962C8B-B14F-4D97-AF65-F5344CB8AC3E}">
        <p14:creationId xmlns:p14="http://schemas.microsoft.com/office/powerpoint/2010/main" val="2830587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812BB-0A84-45A0-A6FB-BA7311AF9937}"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0D33DA-ECC8-47E4-91A4-B1988A2AD7BC}" type="slidenum">
              <a:rPr lang="en-US" smtClean="0"/>
              <a:t>‹#›</a:t>
            </a:fld>
            <a:endParaRPr lang="en-US"/>
          </a:p>
        </p:txBody>
      </p:sp>
    </p:spTree>
    <p:extLst>
      <p:ext uri="{BB962C8B-B14F-4D97-AF65-F5344CB8AC3E}">
        <p14:creationId xmlns:p14="http://schemas.microsoft.com/office/powerpoint/2010/main" val="797999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812BB-0A84-45A0-A6FB-BA7311AF9937}"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0D33DA-ECC8-47E4-91A4-B1988A2AD7BC}" type="slidenum">
              <a:rPr lang="en-US" smtClean="0"/>
              <a:t>‹#›</a:t>
            </a:fld>
            <a:endParaRPr lang="en-US"/>
          </a:p>
        </p:txBody>
      </p:sp>
    </p:spTree>
    <p:extLst>
      <p:ext uri="{BB962C8B-B14F-4D97-AF65-F5344CB8AC3E}">
        <p14:creationId xmlns:p14="http://schemas.microsoft.com/office/powerpoint/2010/main" val="3160198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6812BB-0A84-45A0-A6FB-BA7311AF9937}" type="datetimeFigureOut">
              <a:rPr lang="en-US" smtClean="0"/>
              <a:t>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0D33DA-ECC8-47E4-91A4-B1988A2AD7BC}" type="slidenum">
              <a:rPr lang="en-US" smtClean="0"/>
              <a:t>‹#›</a:t>
            </a:fld>
            <a:endParaRPr lang="en-US"/>
          </a:p>
        </p:txBody>
      </p:sp>
    </p:spTree>
    <p:extLst>
      <p:ext uri="{BB962C8B-B14F-4D97-AF65-F5344CB8AC3E}">
        <p14:creationId xmlns:p14="http://schemas.microsoft.com/office/powerpoint/2010/main" val="1981736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rcRect l="3830" t="7791" r="71274" b="76965"/>
          <a:stretch>
            <a:fillRect/>
          </a:stretch>
        </p:blipFill>
        <p:spPr bwMode="auto">
          <a:xfrm>
            <a:off x="838200" y="1690688"/>
            <a:ext cx="5067300" cy="4545012"/>
          </a:xfrm>
          <a:prstGeom prst="rect">
            <a:avLst/>
          </a:prstGeom>
          <a:noFill/>
          <a:ln w="9525" algn="in">
            <a:noFill/>
            <a:miter lim="800000"/>
            <a:headEnd/>
            <a:tailEnd/>
          </a:ln>
        </p:spPr>
      </p:pic>
      <p:sp>
        <p:nvSpPr>
          <p:cNvPr id="7" name="Title 6"/>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MBEYA UNIVERSITY OF SCIENCE AND TECHNOLOGY</a:t>
            </a:r>
            <a:endParaRPr lang="en-US" dirty="0"/>
          </a:p>
        </p:txBody>
      </p:sp>
      <p:sp>
        <p:nvSpPr>
          <p:cNvPr id="8" name="Content Placeholder 7"/>
          <p:cNvSpPr>
            <a:spLocks noGrp="1"/>
          </p:cNvSpPr>
          <p:nvPr>
            <p:ph sz="half" idx="1"/>
          </p:nvPr>
        </p:nvSpPr>
        <p:spPr>
          <a:xfrm>
            <a:off x="838200" y="1825625"/>
            <a:ext cx="5067300" cy="4351338"/>
          </a:xfrm>
        </p:spPr>
        <p:txBody>
          <a:bodyPr>
            <a:normAutofit lnSpcReduction="10000"/>
          </a:bodyPr>
          <a:lstStyle/>
          <a:p>
            <a:pPr marL="0" indent="0">
              <a:buNone/>
            </a:pPr>
            <a:endParaRPr lang="en-US" dirty="0"/>
          </a:p>
        </p:txBody>
      </p:sp>
      <p:sp>
        <p:nvSpPr>
          <p:cNvPr id="9" name="Content Placeholder 8"/>
          <p:cNvSpPr>
            <a:spLocks noGrp="1"/>
          </p:cNvSpPr>
          <p:nvPr>
            <p:ph sz="half" idx="2"/>
          </p:nvPr>
        </p:nvSpPr>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MODULE NAME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MECH ENG SCIE II</a:t>
            </a:r>
          </a:p>
          <a:p>
            <a:pPr marL="0" indent="0">
              <a:buNone/>
            </a:pPr>
            <a:r>
              <a:rPr lang="en-US" dirty="0">
                <a:latin typeface="Times New Roman" panose="02020603050405020304" pitchFamily="18" charset="0"/>
                <a:cs typeface="Times New Roman" panose="02020603050405020304" pitchFamily="18" charset="0"/>
              </a:rPr>
              <a:t>MODULE CODE</a:t>
            </a:r>
            <a:r>
              <a:rPr lang="en-US" b="1" dirty="0">
                <a:latin typeface="Times New Roman" panose="02020603050405020304" pitchFamily="18" charset="0"/>
                <a:cs typeface="Times New Roman" panose="02020603050405020304" pitchFamily="18" charset="0"/>
              </a:rPr>
              <a:t>: ME 6206</a:t>
            </a:r>
          </a:p>
          <a:p>
            <a:pPr marL="0" indent="0">
              <a:buNone/>
            </a:pPr>
            <a:r>
              <a:rPr lang="en-US" dirty="0">
                <a:latin typeface="Times New Roman" panose="02020603050405020304" pitchFamily="18" charset="0"/>
                <a:cs typeface="Times New Roman" panose="02020603050405020304" pitchFamily="18" charset="0"/>
              </a:rPr>
              <a:t>COURSE CREDITS: </a:t>
            </a:r>
            <a:r>
              <a:rPr lang="en-US" b="1" dirty="0">
                <a:latin typeface="Times New Roman" panose="02020603050405020304" pitchFamily="18" charset="0"/>
                <a:cs typeface="Times New Roman" panose="02020603050405020304" pitchFamily="18" charset="0"/>
              </a:rPr>
              <a:t>06</a:t>
            </a:r>
          </a:p>
          <a:p>
            <a:pPr marL="0" indent="0">
              <a:buNone/>
            </a:pPr>
            <a:r>
              <a:rPr lang="en-US" dirty="0">
                <a:latin typeface="Times New Roman" panose="02020603050405020304" pitchFamily="18" charset="0"/>
                <a:cs typeface="Times New Roman" panose="02020603050405020304" pitchFamily="18" charset="0"/>
              </a:rPr>
              <a:t>TOTAL HOURS SPENT: </a:t>
            </a:r>
            <a:r>
              <a:rPr lang="en-US" b="1" dirty="0">
                <a:latin typeface="Times New Roman" panose="02020603050405020304" pitchFamily="18" charset="0"/>
                <a:cs typeface="Times New Roman" panose="02020603050405020304" pitchFamily="18" charset="0"/>
              </a:rPr>
              <a:t>60</a:t>
            </a:r>
          </a:p>
          <a:p>
            <a:pPr marL="0" indent="0">
              <a:buNone/>
            </a:pPr>
            <a:r>
              <a:rPr lang="en-US" dirty="0">
                <a:latin typeface="Times New Roman" panose="02020603050405020304" pitchFamily="18" charset="0"/>
                <a:cs typeface="Times New Roman" panose="02020603050405020304" pitchFamily="18" charset="0"/>
              </a:rPr>
              <a:t>TEACHER’S NAME: </a:t>
            </a:r>
            <a:r>
              <a:rPr lang="en-US" b="1" dirty="0">
                <a:latin typeface="Times New Roman" panose="02020603050405020304" pitchFamily="18" charset="0"/>
                <a:cs typeface="Times New Roman" panose="02020603050405020304" pitchFamily="18" charset="0"/>
              </a:rPr>
              <a:t>KASSIM S.   FAKHI</a:t>
            </a:r>
          </a:p>
          <a:p>
            <a:pPr marL="0" indent="0">
              <a:buNone/>
            </a:pPr>
            <a:r>
              <a:rPr lang="en-US" dirty="0">
                <a:latin typeface="Times New Roman" panose="02020603050405020304" pitchFamily="18" charset="0"/>
                <a:cs typeface="Times New Roman" panose="02020603050405020304" pitchFamily="18" charset="0"/>
              </a:rPr>
              <a:t>CLASS: </a:t>
            </a:r>
            <a:r>
              <a:rPr lang="en-US" b="1" dirty="0">
                <a:latin typeface="Times New Roman" panose="02020603050405020304" pitchFamily="18" charset="0"/>
                <a:cs typeface="Times New Roman" panose="02020603050405020304" pitchFamily="18" charset="0"/>
              </a:rPr>
              <a:t>NTA</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5 DIPL  IN  MECH  ENG</a:t>
            </a:r>
          </a:p>
          <a:p>
            <a:pPr marL="0" indent="0">
              <a:buNone/>
            </a:pPr>
            <a:r>
              <a:rPr lang="en-US">
                <a:latin typeface="Times New Roman" panose="02020603050405020304" pitchFamily="18" charset="0"/>
                <a:cs typeface="Times New Roman" panose="02020603050405020304" pitchFamily="18" charset="0"/>
              </a:rPr>
              <a:t>LEVEL:</a:t>
            </a:r>
            <a:r>
              <a:rPr lang="en-US" b="1">
                <a:latin typeface="Times New Roman" panose="02020603050405020304" pitchFamily="18" charset="0"/>
                <a:cs typeface="Times New Roman" panose="02020603050405020304" pitchFamily="18" charset="0"/>
              </a:rPr>
              <a:t>SEC </a:t>
            </a:r>
            <a:r>
              <a:rPr lang="en-US" b="1" dirty="0">
                <a:latin typeface="Times New Roman" panose="02020603050405020304" pitchFamily="18" charset="0"/>
                <a:cs typeface="Times New Roman" panose="02020603050405020304" pitchFamily="18" charset="0"/>
              </a:rPr>
              <a:t>YEAR </a:t>
            </a:r>
            <a:r>
              <a:rPr lang="en-US" b="1">
                <a:latin typeface="Times New Roman" panose="02020603050405020304" pitchFamily="18" charset="0"/>
                <a:cs typeface="Times New Roman" panose="02020603050405020304" pitchFamily="18" charset="0"/>
              </a:rPr>
              <a:t>- 2024/2025</a:t>
            </a:r>
            <a:endParaRPr lang="en-US" b="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997905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98575"/>
          </a:xfrm>
        </p:spPr>
        <p:txBody>
          <a:bodyPr>
            <a:normAutofit/>
          </a:bodyPr>
          <a:lstStyle/>
          <a:p>
            <a:pPr algn="ctr"/>
            <a:r>
              <a:rPr lang="en-US" sz="4000" b="1" dirty="0">
                <a:latin typeface="Times New Roman" panose="02020603050405020304" pitchFamily="18" charset="0"/>
                <a:cs typeface="Times New Roman" panose="02020603050405020304" pitchFamily="18" charset="0"/>
              </a:rPr>
              <a:t>MODE OF TEACHING AND LEARNING ACTIVITIES </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943100"/>
            <a:ext cx="10515600" cy="4406899"/>
          </a:xfrm>
        </p:spPr>
        <p:txBody>
          <a:bodyPr/>
          <a:lstStyle/>
          <a:p>
            <a:pPr marL="0" indent="0">
              <a:buNone/>
            </a:pPr>
            <a:r>
              <a:rPr lang="en-US" dirty="0">
                <a:latin typeface="Times New Roman" panose="02020603050405020304" pitchFamily="18" charset="0"/>
                <a:cs typeface="Times New Roman" panose="02020603050405020304" pitchFamily="18" charset="0"/>
              </a:rPr>
              <a:t>1.Teaching and learning activities include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Lectures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Tutorials</a:t>
            </a:r>
          </a:p>
          <a:p>
            <a:pPr marL="0" indent="0">
              <a:buNone/>
            </a:pPr>
            <a:r>
              <a:rPr lang="en-US" dirty="0">
                <a:latin typeface="Times New Roman" panose="02020603050405020304" pitchFamily="18" charset="0"/>
                <a:cs typeface="Times New Roman" panose="02020603050405020304" pitchFamily="18" charset="0"/>
              </a:rPr>
              <a:t>2.Mode of Assessments include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Continuous Assessment(CA)     40%</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Semester Examination(SE)        60%</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3264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ASSESSMENT TOOLS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Test One              30%</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Test Two              30%</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Individual Assignment    10%</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Group Assignment          10%</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Semester Examination(SE)        60%</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Total                                          100%</a:t>
            </a:r>
          </a:p>
          <a:p>
            <a:pPr marL="914400" lvl="2" indent="0">
              <a:buNone/>
            </a:pPr>
            <a:endParaRPr lang="en-US" sz="5400" dirty="0"/>
          </a:p>
        </p:txBody>
      </p:sp>
    </p:spTree>
    <p:extLst>
      <p:ext uri="{BB962C8B-B14F-4D97-AF65-F5344CB8AC3E}">
        <p14:creationId xmlns:p14="http://schemas.microsoft.com/office/powerpoint/2010/main" val="2317704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COURSE DESCRIPTIONS AND COTENTS</a:t>
            </a:r>
          </a:p>
        </p:txBody>
      </p:sp>
      <p:sp>
        <p:nvSpPr>
          <p:cNvPr id="3" name="Content Placeholder 2"/>
          <p:cNvSpPr>
            <a:spLocks noGrp="1"/>
          </p:cNvSpPr>
          <p:nvPr>
            <p:ph idx="1"/>
          </p:nvPr>
        </p:nvSpPr>
        <p:spPr>
          <a:xfrm>
            <a:off x="838200" y="1825625"/>
            <a:ext cx="10515600" cy="2657475"/>
          </a:xfrm>
        </p:spPr>
        <p:txBody>
          <a:bodyPr>
            <a:noAutofit/>
          </a:bodyPr>
          <a:lstStyle/>
          <a:p>
            <a:r>
              <a:rPr lang="en-US" sz="3200" b="1" dirty="0">
                <a:latin typeface="Times New Roman" panose="02020603050405020304" pitchFamily="18" charset="0"/>
                <a:cs typeface="Times New Roman" panose="02020603050405020304" pitchFamily="18" charset="0"/>
              </a:rPr>
              <a:t>Course Aim</a:t>
            </a:r>
          </a:p>
          <a:p>
            <a:pPr marL="0" indent="0" algn="just">
              <a:buNone/>
            </a:pPr>
            <a:r>
              <a:rPr lang="en-GB" sz="3200" dirty="0">
                <a:latin typeface="Times New Roman" panose="02020603050405020304" pitchFamily="18" charset="0"/>
                <a:cs typeface="Times New Roman" panose="02020603050405020304" pitchFamily="18" charset="0"/>
              </a:rPr>
              <a:t>The course deals with basic concepts of mechanics like laws of forces, moments, friction, centre of gravity, laws of motion and simple machines which are required by the students for further understanding of other allied subjects. The subject enhances the analytical ability of the students.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9319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COURSE COTENTS</a:t>
            </a:r>
          </a:p>
        </p:txBody>
      </p:sp>
      <p:sp>
        <p:nvSpPr>
          <p:cNvPr id="3" name="Content Placeholder 2"/>
          <p:cNvSpPr>
            <a:spLocks noGrp="1"/>
          </p:cNvSpPr>
          <p:nvPr>
            <p:ph idx="1"/>
          </p:nvPr>
        </p:nvSpPr>
        <p:spPr>
          <a:xfrm>
            <a:off x="838200" y="1825625"/>
            <a:ext cx="10515600" cy="2060575"/>
          </a:xfrm>
        </p:spPr>
        <p:txBody>
          <a:bodyPr>
            <a:normAutofit fontScale="25000" lnSpcReduction="20000"/>
          </a:bodyPr>
          <a:lstStyle/>
          <a:p>
            <a:pPr marL="0" indent="0">
              <a:buNone/>
            </a:pPr>
            <a:r>
              <a:rPr lang="en-GB" sz="12800" b="1" dirty="0">
                <a:latin typeface="Times New Roman" panose="02020603050405020304" pitchFamily="18" charset="0"/>
                <a:cs typeface="Times New Roman" panose="02020603050405020304" pitchFamily="18" charset="0"/>
              </a:rPr>
              <a:t>1</a:t>
            </a:r>
            <a:r>
              <a:rPr lang="en-GB" sz="11200" b="1" dirty="0">
                <a:latin typeface="Times New Roman" panose="02020603050405020304" pitchFamily="18" charset="0"/>
                <a:cs typeface="Times New Roman" panose="02020603050405020304" pitchFamily="18" charset="0"/>
              </a:rPr>
              <a:t>. Linear Motion:</a:t>
            </a:r>
            <a:r>
              <a:rPr lang="en-GB" sz="11200" dirty="0">
                <a:latin typeface="Times New Roman" panose="02020603050405020304" pitchFamily="18" charset="0"/>
                <a:cs typeface="Times New Roman" panose="02020603050405020304" pitchFamily="18" charset="0"/>
              </a:rPr>
              <a:t> </a:t>
            </a:r>
          </a:p>
          <a:p>
            <a:pPr marL="0" indent="0">
              <a:buNone/>
            </a:pPr>
            <a:r>
              <a:rPr lang="en-GB" sz="11200" dirty="0">
                <a:latin typeface="Times New Roman" panose="02020603050405020304" pitchFamily="18" charset="0"/>
                <a:cs typeface="Times New Roman" panose="02020603050405020304" pitchFamily="18" charset="0"/>
              </a:rPr>
              <a:t>Equations for Displacement, Velocity and Acceleration; Displacement-time graph, and Velocity-time graph.</a:t>
            </a:r>
          </a:p>
          <a:p>
            <a:pPr marL="0" indent="0">
              <a:buNone/>
            </a:pPr>
            <a:r>
              <a:rPr lang="en-GB" sz="11200" b="1" dirty="0">
                <a:latin typeface="Times New Roman" panose="02020603050405020304" pitchFamily="18" charset="0"/>
                <a:cs typeface="Times New Roman" panose="02020603050405020304" pitchFamily="18" charset="0"/>
              </a:rPr>
              <a:t>2. Angular Motion:</a:t>
            </a:r>
            <a:r>
              <a:rPr lang="en-GB" sz="11200" dirty="0">
                <a:latin typeface="Times New Roman" panose="02020603050405020304" pitchFamily="18" charset="0"/>
                <a:cs typeface="Times New Roman" panose="02020603050405020304" pitchFamily="18" charset="0"/>
              </a:rPr>
              <a:t>      </a:t>
            </a:r>
          </a:p>
          <a:p>
            <a:pPr marL="0" indent="0">
              <a:buNone/>
            </a:pPr>
            <a:r>
              <a:rPr lang="en-GB" sz="11200" dirty="0">
                <a:latin typeface="Times New Roman" panose="02020603050405020304" pitchFamily="18" charset="0"/>
                <a:cs typeface="Times New Roman" panose="02020603050405020304" pitchFamily="18" charset="0"/>
              </a:rPr>
              <a:t>Equations for Angular Displacement, Velocity and Acceleration; Relationship between linear and Angular Motion, Centrifugal and Centripetal forces, Vehicle moving along a curve, Stability of vehicle, Banking of roads, Balancing of rotating masses, and Governors.</a:t>
            </a:r>
          </a:p>
          <a:p>
            <a:pPr marL="0" indent="0">
              <a:buNone/>
            </a:pPr>
            <a:r>
              <a:rPr lang="en-US" sz="11200" b="1" dirty="0">
                <a:latin typeface="Times New Roman" panose="02020603050405020304" pitchFamily="18" charset="0"/>
                <a:cs typeface="Times New Roman" panose="02020603050405020304" pitchFamily="18" charset="0"/>
              </a:rPr>
              <a:t>3. </a:t>
            </a:r>
            <a:r>
              <a:rPr lang="en-GB" sz="11200" b="1" dirty="0">
                <a:latin typeface="Times New Roman" panose="02020603050405020304" pitchFamily="18" charset="0"/>
                <a:cs typeface="Times New Roman" panose="02020603050405020304" pitchFamily="18" charset="0"/>
              </a:rPr>
              <a:t>Newton’s Laws of Motion: </a:t>
            </a:r>
          </a:p>
          <a:p>
            <a:pPr marL="0" indent="0">
              <a:buNone/>
            </a:pPr>
            <a:r>
              <a:rPr lang="en-GB" sz="11200" dirty="0">
                <a:latin typeface="Times New Roman" panose="02020603050405020304" pitchFamily="18" charset="0"/>
                <a:cs typeface="Times New Roman" panose="02020603050405020304" pitchFamily="18" charset="0"/>
              </a:rPr>
              <a:t>First, second and third laws, Principles of conservation of linear and angular momentum.</a:t>
            </a:r>
            <a:endParaRPr lang="en-US" sz="11200" dirty="0">
              <a:latin typeface="Times New Roman" panose="02020603050405020304" pitchFamily="18" charset="0"/>
              <a:cs typeface="Times New Roman" panose="02020603050405020304" pitchFamily="18" charset="0"/>
            </a:endParaRPr>
          </a:p>
          <a:p>
            <a:pPr marL="0" indent="0">
              <a:buNone/>
            </a:pPr>
            <a:endParaRPr lang="en-US" sz="5000" dirty="0">
              <a:latin typeface="Times New Roman" panose="02020603050405020304" pitchFamily="18" charset="0"/>
              <a:cs typeface="Times New Roman" panose="02020603050405020304" pitchFamily="18" charset="0"/>
            </a:endParaRPr>
          </a:p>
          <a:p>
            <a:pPr marL="0" indent="0">
              <a:buNone/>
            </a:pPr>
            <a:endParaRPr lang="en-US" sz="34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5738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COURSE COTENTS</a:t>
            </a:r>
            <a:endParaRPr lang="en-US" sz="4000" dirty="0"/>
          </a:p>
        </p:txBody>
      </p:sp>
      <p:sp>
        <p:nvSpPr>
          <p:cNvPr id="3" name="Content Placeholder 2"/>
          <p:cNvSpPr>
            <a:spLocks noGrp="1"/>
          </p:cNvSpPr>
          <p:nvPr>
            <p:ph idx="1"/>
          </p:nvPr>
        </p:nvSpPr>
        <p:spPr/>
        <p:txBody>
          <a:bodyPr>
            <a:normAutofit fontScale="92500" lnSpcReduction="10000"/>
          </a:bodyPr>
          <a:lstStyle/>
          <a:p>
            <a:pPr marL="0" indent="0">
              <a:buNone/>
            </a:pPr>
            <a:r>
              <a:rPr lang="en-GB" b="1" dirty="0">
                <a:latin typeface="Times New Roman" panose="02020603050405020304" pitchFamily="18" charset="0"/>
                <a:cs typeface="Times New Roman" panose="02020603050405020304" pitchFamily="18" charset="0"/>
              </a:rPr>
              <a:t>4. Momentum and Impulse:</a:t>
            </a:r>
            <a:r>
              <a:rPr lang="en-GB" dirty="0">
                <a:latin typeface="Times New Roman" panose="02020603050405020304" pitchFamily="18" charset="0"/>
                <a:cs typeface="Times New Roman" panose="02020603050405020304" pitchFamily="18" charset="0"/>
              </a:rPr>
              <a:t> </a:t>
            </a:r>
          </a:p>
          <a:p>
            <a:pPr marL="0" indent="0">
              <a:buNone/>
            </a:pPr>
            <a:r>
              <a:rPr lang="en-GB" dirty="0">
                <a:latin typeface="Times New Roman" panose="02020603050405020304" pitchFamily="18" charset="0"/>
                <a:cs typeface="Times New Roman" panose="02020603050405020304" pitchFamily="18" charset="0"/>
              </a:rPr>
              <a:t>Equation of Momentum and Impulse; revolving shafts.</a:t>
            </a:r>
            <a:endParaRPr lang="en-US" dirty="0">
              <a:latin typeface="Times New Roman" panose="02020603050405020304" pitchFamily="18" charset="0"/>
              <a:cs typeface="Times New Roman" panose="02020603050405020304" pitchFamily="18" charset="0"/>
            </a:endParaRPr>
          </a:p>
          <a:p>
            <a:pPr marL="0" indent="0">
              <a:buNone/>
            </a:pPr>
            <a:r>
              <a:rPr lang="en-GB" b="1" dirty="0">
                <a:latin typeface="Times New Roman" panose="02020603050405020304" pitchFamily="18" charset="0"/>
                <a:cs typeface="Times New Roman" panose="02020603050405020304" pitchFamily="18" charset="0"/>
              </a:rPr>
              <a:t>5. Simple Machines:</a:t>
            </a:r>
            <a:r>
              <a:rPr lang="en-GB" dirty="0">
                <a:latin typeface="Times New Roman" panose="02020603050405020304" pitchFamily="18" charset="0"/>
                <a:cs typeface="Times New Roman" panose="02020603050405020304" pitchFamily="18" charset="0"/>
              </a:rPr>
              <a:t> </a:t>
            </a:r>
          </a:p>
          <a:p>
            <a:pPr marL="0" indent="0">
              <a:buNone/>
            </a:pPr>
            <a:r>
              <a:rPr lang="en-GB" dirty="0">
                <a:latin typeface="Times New Roman" panose="02020603050405020304" pitchFamily="18" charset="0"/>
                <a:cs typeface="Times New Roman" panose="02020603050405020304" pitchFamily="18" charset="0"/>
              </a:rPr>
              <a:t>Wheel and axles, Pulley blocks, Differential pulley blocks, Worm and worm wheel, Gear trains and screw jacks, Hydraulic jacks, Simple machines laws, Efficiency of Simple Machines.</a:t>
            </a:r>
            <a:endParaRPr lang="en-US" dirty="0">
              <a:latin typeface="Times New Roman" panose="02020603050405020304" pitchFamily="18" charset="0"/>
              <a:cs typeface="Times New Roman" panose="02020603050405020304" pitchFamily="18" charset="0"/>
            </a:endParaRPr>
          </a:p>
          <a:p>
            <a:pPr marL="0" indent="0">
              <a:buNone/>
            </a:pPr>
            <a:r>
              <a:rPr lang="en-GB" b="1" dirty="0">
                <a:latin typeface="Times New Roman" panose="02020603050405020304" pitchFamily="18" charset="0"/>
                <a:cs typeface="Times New Roman" panose="02020603050405020304" pitchFamily="18" charset="0"/>
              </a:rPr>
              <a:t>6. Simple Vibrations:</a:t>
            </a:r>
            <a:r>
              <a:rPr lang="en-GB" dirty="0">
                <a:latin typeface="Times New Roman" panose="02020603050405020304" pitchFamily="18" charset="0"/>
                <a:cs typeface="Times New Roman" panose="02020603050405020304" pitchFamily="18" charset="0"/>
              </a:rPr>
              <a:t> </a:t>
            </a:r>
          </a:p>
          <a:p>
            <a:pPr marL="0" indent="0">
              <a:buNone/>
            </a:pPr>
            <a:r>
              <a:rPr lang="en-GB" dirty="0">
                <a:latin typeface="Times New Roman" panose="02020603050405020304" pitchFamily="18" charset="0"/>
                <a:cs typeface="Times New Roman" panose="02020603050405020304" pitchFamily="18" charset="0"/>
              </a:rPr>
              <a:t>Definition Simple Harmonic Motion, Derivation of Simple Harmonic Motion from circular motion, Dynamics of Simple Harmonic Motion, Energy considerations, Mass-spring systems, Natural frequency, Critical speed of shafts.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5072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TEACHING AND LEARING ACTIVITIES</a:t>
            </a:r>
          </a:p>
        </p:txBody>
      </p:sp>
      <p:sp>
        <p:nvSpPr>
          <p:cNvPr id="3" name="Content Placeholder 2"/>
          <p:cNvSpPr>
            <a:spLocks noGrp="1"/>
          </p:cNvSpPr>
          <p:nvPr>
            <p:ph idx="1"/>
          </p:nvPr>
        </p:nvSpPr>
        <p:spPr/>
        <p:txBody>
          <a:bodyPr/>
          <a:lstStyle/>
          <a:p>
            <a:pPr marL="914400" lvl="2" indent="0">
              <a:buNone/>
            </a:pPr>
            <a:endParaRPr lang="en-US" dirty="0"/>
          </a:p>
          <a:p>
            <a:pPr marL="0" indent="0">
              <a:buNone/>
            </a:pPr>
            <a:r>
              <a:rPr lang="en-US" dirty="0">
                <a:latin typeface="Times New Roman" panose="02020603050405020304" pitchFamily="18" charset="0"/>
                <a:cs typeface="Times New Roman" panose="02020603050405020304" pitchFamily="18" charset="0"/>
              </a:rPr>
              <a:t>This course will be conducted through lectures and assignments </a:t>
            </a:r>
            <a:r>
              <a:rPr lang="en-US" b="1" dirty="0">
                <a:latin typeface="Times New Roman" panose="02020603050405020304" pitchFamily="18" charset="0"/>
                <a:cs typeface="Times New Roman" panose="02020603050405020304" pitchFamily="18" charset="0"/>
              </a:rPr>
              <a:t>Assessment methods:</a:t>
            </a:r>
            <a:endParaRPr lang="en-US"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1. Continuous assessment			40%</a:t>
            </a:r>
            <a:endParaRPr lang="en-US"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2. Semester Examination				60%</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0643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RAEDING LISTS</a:t>
            </a:r>
          </a:p>
        </p:txBody>
      </p:sp>
      <p:sp>
        <p:nvSpPr>
          <p:cNvPr id="3" name="Content Placeholder 2"/>
          <p:cNvSpPr>
            <a:spLocks noGrp="1"/>
          </p:cNvSpPr>
          <p:nvPr>
            <p:ph idx="1"/>
          </p:nvPr>
        </p:nvSpPr>
        <p:spPr/>
        <p:txBody>
          <a:bodyPr>
            <a:normAutofit fontScale="92500" lnSpcReduction="10000"/>
          </a:bodyPr>
          <a:lstStyle/>
          <a:p>
            <a:pPr marL="914400" lvl="2" indent="0">
              <a:buNone/>
            </a:pPr>
            <a:endParaRPr lang="en-US" dirty="0"/>
          </a:p>
          <a:p>
            <a:pPr marL="0" lvl="0" indent="0">
              <a:buNone/>
            </a:pPr>
            <a:r>
              <a:rPr lang="en-US" dirty="0">
                <a:latin typeface="Times New Roman" panose="02020603050405020304" pitchFamily="18" charset="0"/>
                <a:cs typeface="Times New Roman" panose="02020603050405020304" pitchFamily="18" charset="0"/>
              </a:rPr>
              <a:t>1. J. Hannah and M. J. Hillier, (1996) Applied Mechanics, </a:t>
            </a:r>
            <a:r>
              <a:rPr lang="en-US" dirty="0" err="1">
                <a:latin typeface="Times New Roman" panose="02020603050405020304" pitchFamily="18" charset="0"/>
                <a:cs typeface="Times New Roman" panose="02020603050405020304" pitchFamily="18" charset="0"/>
              </a:rPr>
              <a:t>Elbs</a:t>
            </a:r>
            <a:r>
              <a:rPr lang="en-US" dirty="0">
                <a:latin typeface="Times New Roman" panose="02020603050405020304" pitchFamily="18" charset="0"/>
                <a:cs typeface="Times New Roman" panose="02020603050405020304" pitchFamily="18" charset="0"/>
              </a:rPr>
              <a:t> with Longman.</a:t>
            </a:r>
          </a:p>
          <a:p>
            <a:pPr marL="0" lvl="0" indent="0">
              <a:buNone/>
            </a:pPr>
            <a:r>
              <a:rPr lang="en-US" dirty="0">
                <a:latin typeface="Times New Roman" panose="02020603050405020304" pitchFamily="18" charset="0"/>
                <a:cs typeface="Times New Roman" panose="02020603050405020304" pitchFamily="18" charset="0"/>
              </a:rPr>
              <a:t>2. G. R. A. </a:t>
            </a:r>
            <a:r>
              <a:rPr lang="en-US" dirty="0" err="1">
                <a:latin typeface="Times New Roman" panose="02020603050405020304" pitchFamily="18" charset="0"/>
                <a:cs typeface="Times New Roman" panose="02020603050405020304" pitchFamily="18" charset="0"/>
              </a:rPr>
              <a:t>Titcomb</a:t>
            </a:r>
            <a:r>
              <a:rPr lang="en-US" dirty="0">
                <a:latin typeface="Times New Roman" panose="02020603050405020304" pitchFamily="18" charset="0"/>
                <a:cs typeface="Times New Roman" panose="02020603050405020304" pitchFamily="18" charset="0"/>
              </a:rPr>
              <a:t>, (1990) Fundamentals of Engineering Science, </a:t>
            </a:r>
            <a:r>
              <a:rPr lang="en-US" dirty="0" err="1">
                <a:latin typeface="Times New Roman" panose="02020603050405020304" pitchFamily="18" charset="0"/>
                <a:cs typeface="Times New Roman" panose="02020603050405020304" pitchFamily="18" charset="0"/>
              </a:rPr>
              <a:t>Hutchson</a:t>
            </a:r>
            <a:r>
              <a:rPr lang="en-US" dirty="0">
                <a:latin typeface="Times New Roman" panose="02020603050405020304" pitchFamily="18" charset="0"/>
                <a:cs typeface="Times New Roman" panose="02020603050405020304" pitchFamily="18" charset="0"/>
              </a:rPr>
              <a:t> Education Limited.</a:t>
            </a:r>
          </a:p>
          <a:p>
            <a:pPr marL="0" lvl="0" indent="0">
              <a:buNone/>
            </a:pPr>
            <a:r>
              <a:rPr lang="en-US" dirty="0">
                <a:latin typeface="Times New Roman" panose="02020603050405020304" pitchFamily="18" charset="0"/>
                <a:cs typeface="Times New Roman" panose="02020603050405020304" pitchFamily="18" charset="0"/>
              </a:rPr>
              <a:t>3. F. P. Bear and E. R. Johnston Jr. Vector Mechanics of Engineering (Statics).</a:t>
            </a:r>
          </a:p>
          <a:p>
            <a:pPr marL="0" lvl="0" indent="0">
              <a:buNone/>
            </a:pPr>
            <a:r>
              <a:rPr lang="en-US" dirty="0">
                <a:latin typeface="Times New Roman" panose="02020603050405020304" pitchFamily="18" charset="0"/>
                <a:cs typeface="Times New Roman" panose="02020603050405020304" pitchFamily="18" charset="0"/>
              </a:rPr>
              <a:t>4. J. Hannah, (1987) Mechanical Engineering Science, Pitman</a:t>
            </a:r>
          </a:p>
          <a:p>
            <a:pPr marL="0" lvl="0" indent="0">
              <a:buNone/>
            </a:pPr>
            <a:r>
              <a:rPr lang="en-US" dirty="0">
                <a:latin typeface="Times New Roman" panose="02020603050405020304" pitchFamily="18" charset="0"/>
                <a:cs typeface="Times New Roman" panose="02020603050405020304" pitchFamily="18" charset="0"/>
              </a:rPr>
              <a:t>5. </a:t>
            </a:r>
            <a:r>
              <a:rPr lang="en-US" dirty="0" err="1">
                <a:latin typeface="Times New Roman" panose="02020603050405020304" pitchFamily="18" charset="0"/>
                <a:cs typeface="Times New Roman" panose="02020603050405020304" pitchFamily="18" charset="0"/>
              </a:rPr>
              <a:t>Bonsal</a:t>
            </a:r>
            <a:r>
              <a:rPr lang="en-US" dirty="0">
                <a:latin typeface="Times New Roman" panose="02020603050405020304" pitchFamily="18" charset="0"/>
                <a:cs typeface="Times New Roman" panose="02020603050405020304" pitchFamily="18" charset="0"/>
              </a:rPr>
              <a:t>, R.K (2002) Engineering Mechanics </a:t>
            </a:r>
            <a:r>
              <a:rPr lang="en-US" dirty="0" err="1">
                <a:latin typeface="Times New Roman" panose="02020603050405020304" pitchFamily="18" charset="0"/>
                <a:cs typeface="Times New Roman" panose="02020603050405020304" pitchFamily="18" charset="0"/>
              </a:rPr>
              <a:t>Laxmi</a:t>
            </a:r>
            <a:r>
              <a:rPr lang="en-US" dirty="0">
                <a:latin typeface="Times New Roman" panose="02020603050405020304" pitchFamily="18" charset="0"/>
                <a:cs typeface="Times New Roman" panose="02020603050405020304" pitchFamily="18" charset="0"/>
              </a:rPr>
              <a:t> publications New Delhi.</a:t>
            </a:r>
          </a:p>
          <a:p>
            <a:pPr marL="0" lvl="0" indent="0">
              <a:buNone/>
            </a:pPr>
            <a:r>
              <a:rPr lang="en-US" dirty="0">
                <a:latin typeface="Times New Roman" panose="02020603050405020304" pitchFamily="18" charset="0"/>
                <a:cs typeface="Times New Roman" panose="02020603050405020304" pitchFamily="18" charset="0"/>
              </a:rPr>
              <a:t>6. Jensen, Alfred &amp; </a:t>
            </a:r>
            <a:r>
              <a:rPr lang="en-US" dirty="0" err="1">
                <a:latin typeface="Times New Roman" panose="02020603050405020304" pitchFamily="18" charset="0"/>
                <a:cs typeface="Times New Roman" panose="02020603050405020304" pitchFamily="18" charset="0"/>
              </a:rPr>
              <a:t>chenoweth</a:t>
            </a:r>
            <a:r>
              <a:rPr lang="en-US" dirty="0">
                <a:latin typeface="Times New Roman" panose="02020603050405020304" pitchFamily="18" charset="0"/>
                <a:cs typeface="Times New Roman" panose="02020603050405020304" pitchFamily="18" charset="0"/>
              </a:rPr>
              <a:t> (1972) Applied Engineering Mechanics MC </a:t>
            </a:r>
            <a:r>
              <a:rPr lang="en-US" dirty="0" err="1">
                <a:latin typeface="Times New Roman" panose="02020603050405020304" pitchFamily="18" charset="0"/>
                <a:cs typeface="Times New Roman" panose="02020603050405020304" pitchFamily="18" charset="0"/>
              </a:rPr>
              <a:t>Graw</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Hil</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16206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5794375"/>
          </a:xfrm>
        </p:spPr>
        <p:txBody>
          <a:bodyPr/>
          <a:lstStyle/>
          <a:p>
            <a:endParaRPr 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400" y="365125"/>
            <a:ext cx="10693400" cy="588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46782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419</TotalTime>
  <Words>506</Words>
  <Application>Microsoft Office PowerPoint</Application>
  <PresentationFormat>Widescreen</PresentationFormat>
  <Paragraphs>53</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Times New Roman</vt:lpstr>
      <vt:lpstr>Wingdings</vt:lpstr>
      <vt:lpstr>Office Theme</vt:lpstr>
      <vt:lpstr>MBEYA UNIVERSITY OF SCIENCE AND TECHNOLOGY</vt:lpstr>
      <vt:lpstr>MODE OF TEACHING AND LEARNING ACTIVITIES </vt:lpstr>
      <vt:lpstr>ASSESSMENT TOOLS</vt:lpstr>
      <vt:lpstr>COURSE DESCRIPTIONS AND COTENTS</vt:lpstr>
      <vt:lpstr>COURSE COTENTS</vt:lpstr>
      <vt:lpstr>COURSE COTENTS</vt:lpstr>
      <vt:lpstr>TEACHING AND LEARING ACTIVITIES</vt:lpstr>
      <vt:lpstr>RAEDING LISTS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User</cp:lastModifiedBy>
  <cp:revision>76</cp:revision>
  <dcterms:created xsi:type="dcterms:W3CDTF">2021-10-19T07:47:54Z</dcterms:created>
  <dcterms:modified xsi:type="dcterms:W3CDTF">2025-01-13T08:52:50Z</dcterms:modified>
</cp:coreProperties>
</file>