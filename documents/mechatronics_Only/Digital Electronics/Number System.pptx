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0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63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9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9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0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0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7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5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3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3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6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84B6C-B1FB-4EA1-9B63-CC971D37082E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6E51B-E95F-4748-8595-88D4E0ED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1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/>
              <a:t>number system </a:t>
            </a:r>
            <a:r>
              <a:rPr lang="en-US" dirty="0" smtClean="0"/>
              <a:t>or the </a:t>
            </a:r>
            <a:r>
              <a:rPr lang="en-US" b="1" dirty="0" smtClean="0"/>
              <a:t>numeral system </a:t>
            </a:r>
            <a:r>
              <a:rPr lang="en-US" dirty="0" smtClean="0"/>
              <a:t>is the system of naming or representing numbers.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value of any digit in a number can be determined by:</a:t>
            </a:r>
          </a:p>
          <a:p>
            <a:r>
              <a:rPr lang="en-US" dirty="0" smtClean="0"/>
              <a:t>The digit</a:t>
            </a:r>
          </a:p>
          <a:p>
            <a:r>
              <a:rPr lang="en-US" dirty="0" smtClean="0"/>
              <a:t>Its position in the number</a:t>
            </a:r>
          </a:p>
          <a:p>
            <a:r>
              <a:rPr lang="en-US" dirty="0" smtClean="0"/>
              <a:t>The base of the number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01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Number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There are various types of number systems in mathematics. The four most common number system types are:</a:t>
            </a:r>
          </a:p>
          <a:p>
            <a:endParaRPr lang="en-US" dirty="0" smtClean="0"/>
          </a:p>
          <a:p>
            <a:r>
              <a:rPr lang="en-US" dirty="0" smtClean="0"/>
              <a:t>Decimal number system (Base- 10)</a:t>
            </a:r>
          </a:p>
          <a:p>
            <a:r>
              <a:rPr lang="en-US" dirty="0" smtClean="0"/>
              <a:t>Binary number system (Base- 2)</a:t>
            </a:r>
          </a:p>
          <a:p>
            <a:r>
              <a:rPr lang="en-US" dirty="0" smtClean="0"/>
              <a:t>Octal number system (Base-8)</a:t>
            </a:r>
          </a:p>
          <a:p>
            <a:r>
              <a:rPr lang="en-US" dirty="0" smtClean="0"/>
              <a:t>Hexadecimal number system (Base- 16)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11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Number System (Base 10 Number System)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decimal number system has a base of 10 because it uses ten digits from 0 to 9.</a:t>
            </a:r>
          </a:p>
          <a:p>
            <a:r>
              <a:rPr lang="en-US" dirty="0" smtClean="0"/>
              <a:t> In the decimal number system, the positions successive to the left of the decimal point represent units, tens, hundreds, thousands and so on.</a:t>
            </a:r>
          </a:p>
          <a:p>
            <a:r>
              <a:rPr lang="sv-SE" dirty="0" smtClean="0"/>
              <a:t>Example:</a:t>
            </a:r>
            <a:r>
              <a:rPr lang="en-US" dirty="0" smtClean="0"/>
              <a:t>The decimal number 1457 consists of the digit 7 in the units position, 5 in the tens place, 4 in the hundreds position, and 1 in the thousands place whose value can be written as: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43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(1×10</a:t>
            </a:r>
            <a:r>
              <a:rPr lang="en-US" baseline="30000" dirty="0"/>
              <a:t>3</a:t>
            </a:r>
            <a:r>
              <a:rPr lang="en-US" dirty="0"/>
              <a:t>) + (4×10</a:t>
            </a:r>
            <a:r>
              <a:rPr lang="en-US" baseline="30000" dirty="0"/>
              <a:t>2</a:t>
            </a:r>
            <a:r>
              <a:rPr lang="en-US" dirty="0"/>
              <a:t>) + (5×10</a:t>
            </a:r>
            <a:r>
              <a:rPr lang="en-US" baseline="30000" dirty="0"/>
              <a:t>1</a:t>
            </a:r>
            <a:r>
              <a:rPr lang="en-US" dirty="0"/>
              <a:t>) + (7×10</a:t>
            </a:r>
            <a:r>
              <a:rPr lang="en-US" baseline="30000" dirty="0"/>
              <a:t>0</a:t>
            </a:r>
            <a:r>
              <a:rPr lang="en-US" dirty="0"/>
              <a:t>)</a:t>
            </a:r>
          </a:p>
          <a:p>
            <a:r>
              <a:rPr lang="en-US" dirty="0"/>
              <a:t>(1×1000) + (4×100) + (5×10) + (7×1)</a:t>
            </a:r>
          </a:p>
          <a:p>
            <a:r>
              <a:rPr lang="en-US" dirty="0"/>
              <a:t>1000 + 400 + 50 + 7</a:t>
            </a:r>
          </a:p>
          <a:p>
            <a:r>
              <a:rPr lang="en-US" dirty="0"/>
              <a:t>1457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6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Number System (Base 2 Number System)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base 2 number system is also known as the Binary number system wherein, only two binary digits exist, i.e., 0 and 1.</a:t>
            </a:r>
          </a:p>
          <a:p>
            <a:r>
              <a:rPr lang="en-US" dirty="0" smtClean="0"/>
              <a:t>We can convert any system into binary and vice versa.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/>
              <a:t> </a:t>
            </a:r>
            <a:r>
              <a:rPr lang="en-US" b="1" dirty="0" smtClean="0"/>
              <a:t>Example</a:t>
            </a:r>
            <a:endParaRPr lang="en-US" dirty="0"/>
          </a:p>
          <a:p>
            <a:r>
              <a:rPr lang="en-US" dirty="0"/>
              <a:t>Write (14)</a:t>
            </a:r>
            <a:r>
              <a:rPr lang="en-US" baseline="-25000" dirty="0"/>
              <a:t>10</a:t>
            </a:r>
            <a:r>
              <a:rPr lang="en-US" dirty="0"/>
              <a:t> as a binary number.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714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smtClean="0"/>
              <a:t>Solution</a:t>
            </a:r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pPr marL="0" indent="0">
              <a:buNone/>
            </a:pPr>
            <a:r>
              <a:rPr lang="en-US" dirty="0" smtClean="0"/>
              <a:t>    ∴ </a:t>
            </a:r>
            <a:r>
              <a:rPr lang="en-US" dirty="0"/>
              <a:t>(14)</a:t>
            </a:r>
            <a:r>
              <a:rPr lang="en-US" baseline="-25000" dirty="0"/>
              <a:t>10</a:t>
            </a:r>
            <a:r>
              <a:rPr lang="en-US" dirty="0"/>
              <a:t> = 1110</a:t>
            </a:r>
            <a:r>
              <a:rPr lang="en-US" baseline="-25000" dirty="0"/>
              <a:t>2</a:t>
            </a:r>
            <a:endParaRPr lang="sv-SE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884" y="2208501"/>
            <a:ext cx="31527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1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Number System (Base 8 Number System)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the octal number system, the base is 8 and it uses numbers from 0 to 7 to represent numbers. </a:t>
            </a:r>
          </a:p>
          <a:p>
            <a:r>
              <a:rPr lang="en-US" dirty="0" smtClean="0"/>
              <a:t>Octal numbers are commonly used in computer applications.</a:t>
            </a:r>
          </a:p>
          <a:p>
            <a:endParaRPr lang="sv-SE" dirty="0"/>
          </a:p>
          <a:p>
            <a:r>
              <a:rPr lang="en-US" b="1" dirty="0"/>
              <a:t>Example: Convert 215</a:t>
            </a:r>
            <a:r>
              <a:rPr lang="en-US" b="1" baseline="-25000" dirty="0"/>
              <a:t>8</a:t>
            </a:r>
            <a:r>
              <a:rPr lang="en-US" b="1" dirty="0"/>
              <a:t> into decimal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fr-FR" b="1" dirty="0"/>
              <a:t>Solution:</a:t>
            </a:r>
            <a:endParaRPr lang="fr-FR" dirty="0"/>
          </a:p>
          <a:p>
            <a:pPr marL="0" indent="0">
              <a:buNone/>
            </a:pPr>
            <a:r>
              <a:rPr lang="fr-FR" dirty="0" smtClean="0"/>
              <a:t> 215</a:t>
            </a:r>
            <a:r>
              <a:rPr lang="fr-FR" baseline="-25000" dirty="0" smtClean="0"/>
              <a:t>8</a:t>
            </a:r>
            <a:r>
              <a:rPr lang="fr-FR" dirty="0"/>
              <a:t> = 2 × 8</a:t>
            </a:r>
            <a:r>
              <a:rPr lang="fr-FR" baseline="30000" dirty="0"/>
              <a:t>2</a:t>
            </a:r>
            <a:r>
              <a:rPr lang="fr-FR" dirty="0"/>
              <a:t> + 1 × 8</a:t>
            </a:r>
            <a:r>
              <a:rPr lang="fr-FR" baseline="30000" dirty="0"/>
              <a:t>1</a:t>
            </a:r>
            <a:r>
              <a:rPr lang="fr-FR" dirty="0"/>
              <a:t> + 5 × 8</a:t>
            </a:r>
            <a:r>
              <a:rPr lang="fr-FR" baseline="30000" dirty="0"/>
              <a:t>0</a:t>
            </a:r>
            <a:endParaRPr lang="fr-FR" dirty="0"/>
          </a:p>
          <a:p>
            <a:pPr marL="0" indent="0">
              <a:buNone/>
            </a:pPr>
            <a:r>
              <a:rPr lang="fr-FR" dirty="0" smtClean="0"/>
              <a:t>          = </a:t>
            </a:r>
            <a:r>
              <a:rPr lang="fr-FR" dirty="0"/>
              <a:t>2 × 64 + 1 × 8 + 5 × 1</a:t>
            </a:r>
          </a:p>
          <a:p>
            <a:pPr marL="0" indent="0">
              <a:buNone/>
            </a:pPr>
            <a:r>
              <a:rPr lang="fr-FR" dirty="0" smtClean="0"/>
              <a:t>          = </a:t>
            </a:r>
            <a:r>
              <a:rPr lang="fr-FR" dirty="0"/>
              <a:t>128 + 8 + 5</a:t>
            </a:r>
          </a:p>
          <a:p>
            <a:pPr marL="0" indent="0">
              <a:buNone/>
            </a:pPr>
            <a:r>
              <a:rPr lang="fr-FR" dirty="0" smtClean="0"/>
              <a:t>          = </a:t>
            </a:r>
            <a:r>
              <a:rPr lang="fr-FR" dirty="0"/>
              <a:t>141</a:t>
            </a:r>
            <a:r>
              <a:rPr lang="fr-FR" baseline="-25000" dirty="0"/>
              <a:t>10</a:t>
            </a:r>
            <a:endParaRPr lang="fr-FR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563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Number System (Base 16 Number System)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hexadecimal system, numbers are written or represented with base 16.</a:t>
            </a:r>
          </a:p>
          <a:p>
            <a:r>
              <a:rPr lang="en-US" dirty="0" smtClean="0"/>
              <a:t> In the hexadecimal system, the numbers are first represented just like in the decimal system, i.e. from 0 to 9. Then, the numbers are represented using the alphabet from A to F.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8" y="4461164"/>
            <a:ext cx="8645236" cy="142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3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System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number 349 in the binary number system is 101011101</a:t>
            </a:r>
          </a:p>
          <a:p>
            <a:endParaRPr lang="en-US" dirty="0" smtClean="0"/>
          </a:p>
          <a:p>
            <a:r>
              <a:rPr lang="en-US" dirty="0" smtClean="0"/>
              <a:t>The number 349 in the decimal number system is 349.</a:t>
            </a:r>
          </a:p>
          <a:p>
            <a:endParaRPr lang="en-US" dirty="0" smtClean="0"/>
          </a:p>
          <a:p>
            <a:r>
              <a:rPr lang="en-US" dirty="0" smtClean="0"/>
              <a:t>The number 349 in the octal number system is 535.</a:t>
            </a:r>
          </a:p>
          <a:p>
            <a:endParaRPr lang="en-US" dirty="0" smtClean="0"/>
          </a:p>
          <a:p>
            <a:r>
              <a:rPr lang="en-US" dirty="0" smtClean="0"/>
              <a:t>The number 349 in the hexadecimal number system is 15D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42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Convert </a:t>
            </a:r>
            <a:r>
              <a:rPr lang="en-US" dirty="0"/>
              <a:t>(1056)</a:t>
            </a:r>
            <a:r>
              <a:rPr lang="en-US" baseline="-25000" dirty="0"/>
              <a:t>16</a:t>
            </a:r>
            <a:r>
              <a:rPr lang="en-US" dirty="0"/>
              <a:t> to an octal number.</a:t>
            </a:r>
          </a:p>
          <a:p>
            <a:pPr marL="0" indent="0">
              <a:buNone/>
            </a:pPr>
            <a:r>
              <a:rPr lang="en-US" b="1" dirty="0"/>
              <a:t>Solution: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Given, 1056</a:t>
            </a:r>
            <a:r>
              <a:rPr lang="en-US" baseline="-25000" dirty="0"/>
              <a:t>16</a:t>
            </a:r>
            <a:r>
              <a:rPr lang="en-US" dirty="0"/>
              <a:t> is a hex </a:t>
            </a:r>
            <a:r>
              <a:rPr lang="en-US" dirty="0" err="1" smtClean="0"/>
              <a:t>number.First</a:t>
            </a:r>
            <a:r>
              <a:rPr lang="en-US" dirty="0" smtClean="0"/>
              <a:t> </a:t>
            </a:r>
            <a:r>
              <a:rPr lang="en-US" dirty="0"/>
              <a:t>we need to convert the given hexadecimal number into decimal number</a:t>
            </a:r>
          </a:p>
          <a:p>
            <a:pPr marL="0" indent="0">
              <a:buNone/>
            </a:pPr>
            <a:r>
              <a:rPr lang="en-US" dirty="0"/>
              <a:t>(1056)</a:t>
            </a:r>
            <a:r>
              <a:rPr lang="en-US" baseline="-25000" dirty="0"/>
              <a:t>16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= </a:t>
            </a:r>
            <a:r>
              <a:rPr lang="en-US" dirty="0"/>
              <a:t>1 × 16</a:t>
            </a:r>
            <a:r>
              <a:rPr lang="en-US" baseline="30000" dirty="0"/>
              <a:t>3</a:t>
            </a:r>
            <a:r>
              <a:rPr lang="en-US" dirty="0"/>
              <a:t> + 0 × 16</a:t>
            </a:r>
            <a:r>
              <a:rPr lang="en-US" baseline="30000" dirty="0"/>
              <a:t>2</a:t>
            </a:r>
            <a:r>
              <a:rPr lang="en-US" dirty="0"/>
              <a:t> + 5 × 16</a:t>
            </a:r>
            <a:r>
              <a:rPr lang="en-US" baseline="30000" dirty="0"/>
              <a:t>1</a:t>
            </a:r>
            <a:r>
              <a:rPr lang="en-US" dirty="0"/>
              <a:t> + 6 × </a:t>
            </a:r>
            <a:r>
              <a:rPr lang="en-US" dirty="0" smtClean="0"/>
              <a:t>16^</a:t>
            </a:r>
            <a:r>
              <a:rPr lang="en-US" sz="2400" dirty="0" smtClean="0"/>
              <a:t>0</a:t>
            </a:r>
            <a:endParaRPr lang="en-US" sz="2400" dirty="0"/>
          </a:p>
          <a:p>
            <a:pPr marL="0" indent="0">
              <a:buNone/>
            </a:pPr>
            <a:r>
              <a:rPr lang="en-US" dirty="0" smtClean="0"/>
              <a:t>             = </a:t>
            </a:r>
            <a:r>
              <a:rPr lang="en-US" dirty="0"/>
              <a:t>4096 + 0 + 80 + </a:t>
            </a:r>
            <a:r>
              <a:rPr lang="en-US" dirty="0" smtClean="0"/>
              <a:t>6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= </a:t>
            </a:r>
            <a:r>
              <a:rPr lang="en-US" dirty="0"/>
              <a:t>(4182)</a:t>
            </a:r>
            <a:r>
              <a:rPr lang="en-US" baseline="-25000" dirty="0"/>
              <a:t>10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9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Now we will convert this decimal number to the required octal number by repetitively dividing by 8.</a:t>
            </a:r>
          </a:p>
          <a:p>
            <a:endParaRPr lang="sv-SE" dirty="0"/>
          </a:p>
          <a:p>
            <a:endParaRPr lang="sv-SE" dirty="0" smtClean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55" y="2923308"/>
            <a:ext cx="8111836" cy="338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77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Therefore, taking the value of the remainder from bottom to top, we get;</a:t>
            </a:r>
          </a:p>
          <a:p>
            <a:r>
              <a:rPr lang="en-US" dirty="0"/>
              <a:t>(4182)</a:t>
            </a:r>
            <a:r>
              <a:rPr lang="en-US" baseline="-25000" dirty="0"/>
              <a:t>10</a:t>
            </a:r>
            <a:r>
              <a:rPr lang="en-US" dirty="0"/>
              <a:t> = (10126)</a:t>
            </a:r>
            <a:r>
              <a:rPr lang="en-US" baseline="-25000" dirty="0"/>
              <a:t>8</a:t>
            </a:r>
            <a:endParaRPr lang="en-US" dirty="0"/>
          </a:p>
          <a:p>
            <a:r>
              <a:rPr lang="en-US" dirty="0"/>
              <a:t>Therefore, </a:t>
            </a:r>
          </a:p>
          <a:p>
            <a:r>
              <a:rPr lang="en-US" dirty="0"/>
              <a:t>(1056)</a:t>
            </a:r>
            <a:r>
              <a:rPr lang="en-US" baseline="-25000" dirty="0"/>
              <a:t>16</a:t>
            </a:r>
            <a:r>
              <a:rPr lang="en-US" dirty="0"/>
              <a:t> = (10126)</a:t>
            </a:r>
            <a:r>
              <a:rPr lang="en-US" baseline="-25000" dirty="0"/>
              <a:t>8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24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Convert (1001001100)2 to a decimal number.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Convert hexadecimal 2C to decimal number.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10101</a:t>
            </a:r>
            <a:r>
              <a:rPr lang="en-US" baseline="-25000" dirty="0"/>
              <a:t>2</a:t>
            </a:r>
            <a:r>
              <a:rPr lang="en-US" dirty="0"/>
              <a:t> into an octal number.</a:t>
            </a:r>
          </a:p>
        </p:txBody>
      </p:sp>
    </p:spTree>
    <p:extLst>
      <p:ext uri="{BB962C8B-B14F-4D97-AF65-F5344CB8AC3E}">
        <p14:creationId xmlns:p14="http://schemas.microsoft.com/office/powerpoint/2010/main" val="74718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499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Number System</vt:lpstr>
      <vt:lpstr>PowerPoint Presentation</vt:lpstr>
      <vt:lpstr>Types of Number Systems</vt:lpstr>
      <vt:lpstr>Decimal Number System (Base 10 Number System)</vt:lpstr>
      <vt:lpstr>PowerPoint Presentation</vt:lpstr>
      <vt:lpstr>Binary Number System (Base 2 Number System)</vt:lpstr>
      <vt:lpstr>PowerPoint Presentation</vt:lpstr>
      <vt:lpstr>Octal Number System (Base 8 Number System)</vt:lpstr>
      <vt:lpstr>Hexadecimal Number System (Base 16 Number System)</vt:lpstr>
      <vt:lpstr>Number System Conversion</vt:lpstr>
      <vt:lpstr>Example 1: </vt:lpstr>
      <vt:lpstr>PowerPoint Presentation</vt:lpstr>
      <vt:lpstr>PowerPoint Presentation</vt:lpstr>
      <vt:lpstr>Example 2: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System</dc:title>
  <dc:creator>X</dc:creator>
  <cp:lastModifiedBy>X</cp:lastModifiedBy>
  <cp:revision>8</cp:revision>
  <dcterms:created xsi:type="dcterms:W3CDTF">2023-05-24T08:15:46Z</dcterms:created>
  <dcterms:modified xsi:type="dcterms:W3CDTF">2023-05-24T09:08:40Z</dcterms:modified>
</cp:coreProperties>
</file>