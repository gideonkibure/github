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E9381D-C13F-48E1-8DA8-0A4A7E89B33F}" type="datetimeFigureOut">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414477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E9381D-C13F-48E1-8DA8-0A4A7E89B33F}" type="datetimeFigureOut">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3308850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2E9381D-C13F-48E1-8DA8-0A4A7E89B33F}" type="datetimeFigureOut">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3928313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E9381D-C13F-48E1-8DA8-0A4A7E89B33F}" type="datetimeFigureOut">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2468441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E9381D-C13F-48E1-8DA8-0A4A7E89B33F}" type="datetimeFigureOut">
              <a:rPr lang="en-US" smtClean="0"/>
              <a:t>5/24/2023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319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E9381D-C13F-48E1-8DA8-0A4A7E89B33F}" type="datetimeFigureOut">
              <a:rPr lang="en-US" smtClean="0"/>
              <a:t>5/24/2023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1401879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E9381D-C13F-48E1-8DA8-0A4A7E89B33F}" type="datetimeFigureOut">
              <a:rPr lang="en-US" smtClean="0"/>
              <a:t>5/24/2023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4093085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E9381D-C13F-48E1-8DA8-0A4A7E89B33F}" type="datetimeFigureOut">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1088658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E9381D-C13F-48E1-8DA8-0A4A7E89B33F}" type="datetimeFigureOut">
              <a:rPr lang="en-US" smtClean="0"/>
              <a:t>5/24/2023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3458817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E9381D-C13F-48E1-8DA8-0A4A7E89B33F}" type="datetimeFigureOut">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2858178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E9381D-C13F-48E1-8DA8-0A4A7E89B33F}" type="datetimeFigureOut">
              <a:rPr lang="en-US" smtClean="0"/>
              <a:t>5/24/2023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89BDCB-8475-4135-A251-7ED2648F6A05}" type="slidenum">
              <a:rPr lang="en-US" smtClean="0"/>
              <a:t>‹#›</a:t>
            </a:fld>
            <a:endParaRPr lang="en-US"/>
          </a:p>
        </p:txBody>
      </p:sp>
    </p:spTree>
    <p:extLst>
      <p:ext uri="{BB962C8B-B14F-4D97-AF65-F5344CB8AC3E}">
        <p14:creationId xmlns:p14="http://schemas.microsoft.com/office/powerpoint/2010/main" val="106370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E9381D-C13F-48E1-8DA8-0A4A7E89B33F}" type="datetimeFigureOut">
              <a:rPr lang="en-US" smtClean="0"/>
              <a:t>5/24/2023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9BDCB-8475-4135-A251-7ED2648F6A05}" type="slidenum">
              <a:rPr lang="en-US" smtClean="0"/>
              <a:t>‹#›</a:t>
            </a:fld>
            <a:endParaRPr lang="en-US"/>
          </a:p>
        </p:txBody>
      </p:sp>
    </p:spTree>
    <p:extLst>
      <p:ext uri="{BB962C8B-B14F-4D97-AF65-F5344CB8AC3E}">
        <p14:creationId xmlns:p14="http://schemas.microsoft.com/office/powerpoint/2010/main" val="1630136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BASIC LOGIC GATES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43648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Logic gates </a:t>
            </a:r>
            <a:r>
              <a:rPr lang="en-US" dirty="0" smtClean="0"/>
              <a:t>are an important concept if you are studying electronics. These are important digital devices that are mainly based on the Boolean function. Logic gates are used to carry out logical operations on single or multiple binary inputs and give one binary output. In simple terms, logic gates are the electronic circuits in a digital system.</a:t>
            </a:r>
            <a:endParaRPr lang="en-US" dirty="0"/>
          </a:p>
        </p:txBody>
      </p:sp>
    </p:spTree>
    <p:extLst>
      <p:ext uri="{BB962C8B-B14F-4D97-AF65-F5344CB8AC3E}">
        <p14:creationId xmlns:p14="http://schemas.microsoft.com/office/powerpoint/2010/main" val="3870496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Basic Logic Gates</a:t>
            </a:r>
            <a:endParaRPr lang="en-US" dirty="0"/>
          </a:p>
        </p:txBody>
      </p:sp>
      <p:sp>
        <p:nvSpPr>
          <p:cNvPr id="3" name="Content Placeholder 2"/>
          <p:cNvSpPr>
            <a:spLocks noGrp="1"/>
          </p:cNvSpPr>
          <p:nvPr>
            <p:ph idx="1"/>
          </p:nvPr>
        </p:nvSpPr>
        <p:spPr/>
        <p:txBody>
          <a:bodyPr>
            <a:normAutofit lnSpcReduction="10000"/>
          </a:bodyPr>
          <a:lstStyle/>
          <a:p>
            <a:r>
              <a:rPr lang="en-US" dirty="0" smtClean="0"/>
              <a:t>There are several basic logic gates used in performing operations in digital systems. The common ones are</a:t>
            </a:r>
          </a:p>
          <a:p>
            <a:endParaRPr lang="en-US" dirty="0" smtClean="0"/>
          </a:p>
          <a:p>
            <a:r>
              <a:rPr lang="en-US" dirty="0" smtClean="0"/>
              <a:t>OR Gate</a:t>
            </a:r>
          </a:p>
          <a:p>
            <a:r>
              <a:rPr lang="en-US" dirty="0" smtClean="0"/>
              <a:t>AND Gate</a:t>
            </a:r>
          </a:p>
          <a:p>
            <a:r>
              <a:rPr lang="en-US" dirty="0" smtClean="0"/>
              <a:t>NOT Gate</a:t>
            </a:r>
          </a:p>
          <a:p>
            <a:r>
              <a:rPr lang="en-US" dirty="0" smtClean="0"/>
              <a:t>XOR Gate</a:t>
            </a:r>
          </a:p>
          <a:p>
            <a:r>
              <a:rPr lang="en-US" dirty="0" smtClean="0"/>
              <a:t>Additionally, these gates can also be found in a combination of one or two. Therefore, we get other gates, such as NAND Gate, NOR Gate, EXOR Gate and EXNOR Gate.</a:t>
            </a:r>
            <a:endParaRPr lang="en-US" dirty="0"/>
          </a:p>
        </p:txBody>
      </p:sp>
    </p:spTree>
    <p:extLst>
      <p:ext uri="{BB962C8B-B14F-4D97-AF65-F5344CB8AC3E}">
        <p14:creationId xmlns:p14="http://schemas.microsoft.com/office/powerpoint/2010/main" val="737403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 Gate</a:t>
            </a:r>
            <a:endParaRPr lang="en-US" dirty="0"/>
          </a:p>
        </p:txBody>
      </p:sp>
      <p:sp>
        <p:nvSpPr>
          <p:cNvPr id="3" name="Content Placeholder 2"/>
          <p:cNvSpPr>
            <a:spLocks noGrp="1"/>
          </p:cNvSpPr>
          <p:nvPr>
            <p:ph idx="1"/>
          </p:nvPr>
        </p:nvSpPr>
        <p:spPr/>
        <p:txBody>
          <a:bodyPr/>
          <a:lstStyle/>
          <a:p>
            <a:r>
              <a:rPr lang="en-US" dirty="0" smtClean="0"/>
              <a:t>In an OR gate, the output of an OR gate attains state 1 if one or more inputs attain state 1.</a:t>
            </a:r>
          </a:p>
          <a:p>
            <a:r>
              <a:rPr lang="en-US" dirty="0" smtClean="0"/>
              <a:t>The Boolean expression of the OR gate is Y = A + B, read as Y equals A ‘OR’ B.</a:t>
            </a:r>
          </a:p>
          <a:p>
            <a:pPr marL="0" indent="0">
              <a:buNone/>
            </a:pPr>
            <a:endParaRPr lang="en-US" dirty="0"/>
          </a:p>
        </p:txBody>
      </p:sp>
      <p:pic>
        <p:nvPicPr>
          <p:cNvPr id="4" name="Picture 3"/>
          <p:cNvPicPr>
            <a:picLocks noChangeAspect="1"/>
          </p:cNvPicPr>
          <p:nvPr/>
        </p:nvPicPr>
        <p:blipFill>
          <a:blip r:embed="rId2"/>
          <a:stretch>
            <a:fillRect/>
          </a:stretch>
        </p:blipFill>
        <p:spPr>
          <a:xfrm>
            <a:off x="3431164" y="4001294"/>
            <a:ext cx="3362325" cy="1304925"/>
          </a:xfrm>
          <a:prstGeom prst="rect">
            <a:avLst/>
          </a:prstGeom>
        </p:spPr>
      </p:pic>
    </p:spTree>
    <p:extLst>
      <p:ext uri="{BB962C8B-B14F-4D97-AF65-F5344CB8AC3E}">
        <p14:creationId xmlns:p14="http://schemas.microsoft.com/office/powerpoint/2010/main" val="2741424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truth table of a two-input OR basic gate is given as</a:t>
            </a:r>
            <a:endParaRPr lang="en-US" dirty="0"/>
          </a:p>
        </p:txBody>
      </p:sp>
      <p:pic>
        <p:nvPicPr>
          <p:cNvPr id="4" name="Content Placeholder 3"/>
          <p:cNvPicPr>
            <a:picLocks noGrp="1" noChangeAspect="1"/>
          </p:cNvPicPr>
          <p:nvPr>
            <p:ph idx="1"/>
          </p:nvPr>
        </p:nvPicPr>
        <p:blipFill>
          <a:blip r:embed="rId2"/>
          <a:stretch>
            <a:fillRect/>
          </a:stretch>
        </p:blipFill>
        <p:spPr>
          <a:xfrm>
            <a:off x="1399309" y="2189018"/>
            <a:ext cx="8742218" cy="3297382"/>
          </a:xfrm>
          <a:prstGeom prst="rect">
            <a:avLst/>
          </a:prstGeom>
        </p:spPr>
      </p:pic>
    </p:spTree>
    <p:extLst>
      <p:ext uri="{BB962C8B-B14F-4D97-AF65-F5344CB8AC3E}">
        <p14:creationId xmlns:p14="http://schemas.microsoft.com/office/powerpoint/2010/main" val="3297141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 Gate</a:t>
            </a:r>
            <a:endParaRPr lang="en-US" dirty="0"/>
          </a:p>
        </p:txBody>
      </p:sp>
      <p:sp>
        <p:nvSpPr>
          <p:cNvPr id="3" name="Content Placeholder 2"/>
          <p:cNvSpPr>
            <a:spLocks noGrp="1"/>
          </p:cNvSpPr>
          <p:nvPr>
            <p:ph idx="1"/>
          </p:nvPr>
        </p:nvSpPr>
        <p:spPr/>
        <p:txBody>
          <a:bodyPr/>
          <a:lstStyle/>
          <a:p>
            <a:r>
              <a:rPr lang="en-US" dirty="0" smtClean="0"/>
              <a:t>In the AND gate, the output of an AND gate attains state 1 if and only if all the inputs are in state 1.</a:t>
            </a:r>
          </a:p>
          <a:p>
            <a:r>
              <a:rPr lang="en-US" dirty="0" smtClean="0"/>
              <a:t>The Boolean expression of AND gate is Y = A.B</a:t>
            </a:r>
          </a:p>
          <a:p>
            <a:pPr marL="0" indent="0">
              <a:buNone/>
            </a:pPr>
            <a:endParaRPr lang="en-US" dirty="0"/>
          </a:p>
        </p:txBody>
      </p:sp>
      <p:pic>
        <p:nvPicPr>
          <p:cNvPr id="4" name="Picture 3"/>
          <p:cNvPicPr>
            <a:picLocks noChangeAspect="1"/>
          </p:cNvPicPr>
          <p:nvPr/>
        </p:nvPicPr>
        <p:blipFill>
          <a:blip r:embed="rId2"/>
          <a:stretch>
            <a:fillRect/>
          </a:stretch>
        </p:blipFill>
        <p:spPr>
          <a:xfrm>
            <a:off x="2947987" y="3653270"/>
            <a:ext cx="3857625" cy="1352550"/>
          </a:xfrm>
          <a:prstGeom prst="rect">
            <a:avLst/>
          </a:prstGeom>
        </p:spPr>
      </p:pic>
    </p:spTree>
    <p:extLst>
      <p:ext uri="{BB962C8B-B14F-4D97-AF65-F5344CB8AC3E}">
        <p14:creationId xmlns:p14="http://schemas.microsoft.com/office/powerpoint/2010/main" val="241465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truth table of a two-input AND basic gate is given as</a:t>
            </a:r>
          </a:p>
          <a:p>
            <a:pPr marL="0" indent="0">
              <a:buNone/>
            </a:pPr>
            <a:endParaRPr lang="en-US" dirty="0"/>
          </a:p>
        </p:txBody>
      </p:sp>
      <p:pic>
        <p:nvPicPr>
          <p:cNvPr id="4" name="Picture 3"/>
          <p:cNvPicPr>
            <a:picLocks noChangeAspect="1"/>
          </p:cNvPicPr>
          <p:nvPr/>
        </p:nvPicPr>
        <p:blipFill>
          <a:blip r:embed="rId2"/>
          <a:stretch>
            <a:fillRect/>
          </a:stretch>
        </p:blipFill>
        <p:spPr>
          <a:xfrm>
            <a:off x="1025235" y="2791618"/>
            <a:ext cx="8797637" cy="2958017"/>
          </a:xfrm>
          <a:prstGeom prst="rect">
            <a:avLst/>
          </a:prstGeom>
        </p:spPr>
      </p:pic>
    </p:spTree>
    <p:extLst>
      <p:ext uri="{BB962C8B-B14F-4D97-AF65-F5344CB8AC3E}">
        <p14:creationId xmlns:p14="http://schemas.microsoft.com/office/powerpoint/2010/main" val="118203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 Gate</a:t>
            </a:r>
            <a:endParaRPr lang="en-US" dirty="0"/>
          </a:p>
        </p:txBody>
      </p:sp>
      <p:sp>
        <p:nvSpPr>
          <p:cNvPr id="3" name="Content Placeholder 2"/>
          <p:cNvSpPr>
            <a:spLocks noGrp="1"/>
          </p:cNvSpPr>
          <p:nvPr>
            <p:ph idx="1"/>
          </p:nvPr>
        </p:nvSpPr>
        <p:spPr/>
        <p:txBody>
          <a:bodyPr/>
          <a:lstStyle/>
          <a:p>
            <a:r>
              <a:rPr lang="en-US" dirty="0" smtClean="0"/>
              <a:t>In a NOT gate, the output of a NOT gate attains state 1 if and only if the input does not attain state 1</a:t>
            </a:r>
          </a:p>
          <a:p>
            <a:r>
              <a:rPr lang="en-US" dirty="0" smtClean="0"/>
              <a:t>The Boolean expression is read as Y equals NOT A.</a:t>
            </a:r>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a:stretch>
            <a:fillRect/>
          </a:stretch>
        </p:blipFill>
        <p:spPr>
          <a:xfrm>
            <a:off x="3810866" y="3771900"/>
            <a:ext cx="2990850" cy="1143000"/>
          </a:xfrm>
          <a:prstGeom prst="rect">
            <a:avLst/>
          </a:prstGeom>
        </p:spPr>
      </p:pic>
    </p:spTree>
    <p:extLst>
      <p:ext uri="{BB962C8B-B14F-4D97-AF65-F5344CB8AC3E}">
        <p14:creationId xmlns:p14="http://schemas.microsoft.com/office/powerpoint/2010/main" val="537890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truth table of NOT gate is as follows</a:t>
            </a:r>
          </a:p>
          <a:p>
            <a:pPr marL="0" indent="0">
              <a:buNone/>
            </a:pPr>
            <a:endParaRPr lang="en-US" dirty="0"/>
          </a:p>
        </p:txBody>
      </p:sp>
      <p:pic>
        <p:nvPicPr>
          <p:cNvPr id="4" name="Picture 3"/>
          <p:cNvPicPr>
            <a:picLocks noChangeAspect="1"/>
          </p:cNvPicPr>
          <p:nvPr/>
        </p:nvPicPr>
        <p:blipFill>
          <a:blip r:embed="rId2"/>
          <a:stretch>
            <a:fillRect/>
          </a:stretch>
        </p:blipFill>
        <p:spPr>
          <a:xfrm>
            <a:off x="1330036" y="2951019"/>
            <a:ext cx="8298873" cy="2098530"/>
          </a:xfrm>
          <a:prstGeom prst="rect">
            <a:avLst/>
          </a:prstGeom>
        </p:spPr>
      </p:pic>
    </p:spTree>
    <p:extLst>
      <p:ext uri="{BB962C8B-B14F-4D97-AF65-F5344CB8AC3E}">
        <p14:creationId xmlns:p14="http://schemas.microsoft.com/office/powerpoint/2010/main" val="102087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NAND Gate</a:t>
            </a:r>
            <a:endParaRPr lang="en-US" dirty="0"/>
          </a:p>
        </p:txBody>
      </p:sp>
      <p:sp>
        <p:nvSpPr>
          <p:cNvPr id="3" name="Content Placeholder 2"/>
          <p:cNvSpPr>
            <a:spLocks noGrp="1"/>
          </p:cNvSpPr>
          <p:nvPr>
            <p:ph idx="1"/>
          </p:nvPr>
        </p:nvSpPr>
        <p:spPr/>
        <p:txBody>
          <a:bodyPr/>
          <a:lstStyle/>
          <a:p>
            <a:r>
              <a:rPr lang="en-US" dirty="0" smtClean="0"/>
              <a:t>This basic logic gate is the combination of AND </a:t>
            </a:r>
            <a:r>
              <a:rPr lang="en-US" dirty="0" err="1" smtClean="0"/>
              <a:t>and</a:t>
            </a:r>
            <a:r>
              <a:rPr lang="en-US" dirty="0" smtClean="0"/>
              <a:t> NOT gates.</a:t>
            </a:r>
          </a:p>
          <a:p>
            <a:r>
              <a:rPr lang="en-US" dirty="0" smtClean="0"/>
              <a:t>The Boolean expression of the NAND gate is </a:t>
            </a:r>
          </a:p>
          <a:p>
            <a:endParaRPr lang="en-US" dirty="0"/>
          </a:p>
          <a:p>
            <a:endParaRPr lang="en-US" dirty="0"/>
          </a:p>
        </p:txBody>
      </p:sp>
      <p:pic>
        <p:nvPicPr>
          <p:cNvPr id="4" name="Picture 3"/>
          <p:cNvPicPr>
            <a:picLocks noChangeAspect="1"/>
          </p:cNvPicPr>
          <p:nvPr/>
        </p:nvPicPr>
        <p:blipFill>
          <a:blip r:embed="rId2"/>
          <a:stretch>
            <a:fillRect/>
          </a:stretch>
        </p:blipFill>
        <p:spPr>
          <a:xfrm>
            <a:off x="7724341" y="2355273"/>
            <a:ext cx="733425" cy="498763"/>
          </a:xfrm>
          <a:prstGeom prst="rect">
            <a:avLst/>
          </a:prstGeom>
        </p:spPr>
      </p:pic>
      <p:pic>
        <p:nvPicPr>
          <p:cNvPr id="5" name="Picture 4"/>
          <p:cNvPicPr>
            <a:picLocks noChangeAspect="1"/>
          </p:cNvPicPr>
          <p:nvPr/>
        </p:nvPicPr>
        <p:blipFill>
          <a:blip r:embed="rId3"/>
          <a:stretch>
            <a:fillRect/>
          </a:stretch>
        </p:blipFill>
        <p:spPr>
          <a:xfrm>
            <a:off x="3047134" y="3589193"/>
            <a:ext cx="3714750" cy="1314450"/>
          </a:xfrm>
          <a:prstGeom prst="rect">
            <a:avLst/>
          </a:prstGeom>
        </p:spPr>
      </p:pic>
    </p:spTree>
    <p:extLst>
      <p:ext uri="{BB962C8B-B14F-4D97-AF65-F5344CB8AC3E}">
        <p14:creationId xmlns:p14="http://schemas.microsoft.com/office/powerpoint/2010/main" val="1701073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truth table of a NAND gate is given as</a:t>
            </a:r>
          </a:p>
          <a:p>
            <a:endParaRPr lang="en-US" dirty="0"/>
          </a:p>
        </p:txBody>
      </p:sp>
      <p:pic>
        <p:nvPicPr>
          <p:cNvPr id="4" name="Picture 3"/>
          <p:cNvPicPr>
            <a:picLocks noChangeAspect="1"/>
          </p:cNvPicPr>
          <p:nvPr/>
        </p:nvPicPr>
        <p:blipFill>
          <a:blip r:embed="rId2"/>
          <a:stretch>
            <a:fillRect/>
          </a:stretch>
        </p:blipFill>
        <p:spPr>
          <a:xfrm>
            <a:off x="942109" y="2466109"/>
            <a:ext cx="7358496" cy="2992582"/>
          </a:xfrm>
          <a:prstGeom prst="rect">
            <a:avLst/>
          </a:prstGeom>
        </p:spPr>
      </p:pic>
    </p:spTree>
    <p:extLst>
      <p:ext uri="{BB962C8B-B14F-4D97-AF65-F5344CB8AC3E}">
        <p14:creationId xmlns:p14="http://schemas.microsoft.com/office/powerpoint/2010/main" val="1764964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 Gate</a:t>
            </a:r>
            <a:endParaRPr lang="en-US" dirty="0"/>
          </a:p>
        </p:txBody>
      </p:sp>
      <p:sp>
        <p:nvSpPr>
          <p:cNvPr id="3" name="Content Placeholder 2"/>
          <p:cNvSpPr>
            <a:spLocks noGrp="1"/>
          </p:cNvSpPr>
          <p:nvPr>
            <p:ph idx="1"/>
          </p:nvPr>
        </p:nvSpPr>
        <p:spPr/>
        <p:txBody>
          <a:bodyPr/>
          <a:lstStyle/>
          <a:p>
            <a:r>
              <a:rPr lang="en-US" dirty="0" smtClean="0"/>
              <a:t>This gate is the combination of OR and NOT gates.</a:t>
            </a:r>
          </a:p>
          <a:p>
            <a:r>
              <a:rPr lang="en-US" dirty="0" smtClean="0"/>
              <a:t>The Boolean expression of the NOR gate is</a:t>
            </a:r>
          </a:p>
          <a:p>
            <a:pPr marL="0" indent="0">
              <a:buNone/>
            </a:pPr>
            <a:endParaRPr lang="en-US" dirty="0"/>
          </a:p>
          <a:p>
            <a:pPr marL="0" indent="0">
              <a:buNone/>
            </a:pPr>
            <a:r>
              <a:rPr lang="en-US" dirty="0" smtClean="0"/>
              <a:t> </a:t>
            </a:r>
            <a:endParaRPr lang="en-US" dirty="0"/>
          </a:p>
        </p:txBody>
      </p:sp>
      <p:pic>
        <p:nvPicPr>
          <p:cNvPr id="4" name="Picture 3"/>
          <p:cNvPicPr>
            <a:picLocks noChangeAspect="1"/>
          </p:cNvPicPr>
          <p:nvPr/>
        </p:nvPicPr>
        <p:blipFill>
          <a:blip r:embed="rId2"/>
          <a:stretch>
            <a:fillRect/>
          </a:stretch>
        </p:blipFill>
        <p:spPr>
          <a:xfrm>
            <a:off x="7523018" y="2272145"/>
            <a:ext cx="914400" cy="609599"/>
          </a:xfrm>
          <a:prstGeom prst="rect">
            <a:avLst/>
          </a:prstGeom>
        </p:spPr>
      </p:pic>
      <p:pic>
        <p:nvPicPr>
          <p:cNvPr id="5" name="Picture 4"/>
          <p:cNvPicPr>
            <a:picLocks noChangeAspect="1"/>
          </p:cNvPicPr>
          <p:nvPr/>
        </p:nvPicPr>
        <p:blipFill>
          <a:blip r:embed="rId3"/>
          <a:stretch>
            <a:fillRect/>
          </a:stretch>
        </p:blipFill>
        <p:spPr>
          <a:xfrm>
            <a:off x="3332451" y="3686608"/>
            <a:ext cx="3781425" cy="1285875"/>
          </a:xfrm>
          <a:prstGeom prst="rect">
            <a:avLst/>
          </a:prstGeom>
        </p:spPr>
      </p:pic>
    </p:spTree>
    <p:extLst>
      <p:ext uri="{BB962C8B-B14F-4D97-AF65-F5344CB8AC3E}">
        <p14:creationId xmlns:p14="http://schemas.microsoft.com/office/powerpoint/2010/main" val="263873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truth table of a NOR gate is as follows</a:t>
            </a:r>
          </a:p>
          <a:p>
            <a:pPr marL="0" indent="0">
              <a:buNone/>
            </a:pPr>
            <a:endParaRPr lang="en-US" dirty="0" smtClean="0"/>
          </a:p>
        </p:txBody>
      </p:sp>
      <p:pic>
        <p:nvPicPr>
          <p:cNvPr id="4" name="Picture 3"/>
          <p:cNvPicPr>
            <a:picLocks noChangeAspect="1"/>
          </p:cNvPicPr>
          <p:nvPr/>
        </p:nvPicPr>
        <p:blipFill>
          <a:blip r:embed="rId2"/>
          <a:stretch>
            <a:fillRect/>
          </a:stretch>
        </p:blipFill>
        <p:spPr>
          <a:xfrm>
            <a:off x="983673" y="2507673"/>
            <a:ext cx="7441189" cy="2937163"/>
          </a:xfrm>
          <a:prstGeom prst="rect">
            <a:avLst/>
          </a:prstGeom>
        </p:spPr>
      </p:pic>
    </p:spTree>
    <p:extLst>
      <p:ext uri="{BB962C8B-B14F-4D97-AF65-F5344CB8AC3E}">
        <p14:creationId xmlns:p14="http://schemas.microsoft.com/office/powerpoint/2010/main" val="2145126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Exclusive-OR gate (XOR Gate)</a:t>
            </a:r>
            <a:endParaRPr lang="en-US" dirty="0"/>
          </a:p>
        </p:txBody>
      </p:sp>
      <p:sp>
        <p:nvSpPr>
          <p:cNvPr id="3" name="Content Placeholder 2"/>
          <p:cNvSpPr>
            <a:spLocks noGrp="1"/>
          </p:cNvSpPr>
          <p:nvPr>
            <p:ph idx="1"/>
          </p:nvPr>
        </p:nvSpPr>
        <p:spPr/>
        <p:txBody>
          <a:bodyPr/>
          <a:lstStyle/>
          <a:p>
            <a:r>
              <a:rPr lang="en-US" dirty="0" smtClean="0"/>
              <a:t>The Boolean expression of the XOR gate is</a:t>
            </a:r>
          </a:p>
          <a:p>
            <a:endParaRPr lang="en-US" dirty="0"/>
          </a:p>
          <a:p>
            <a:endParaRPr lang="en-US" dirty="0" smtClean="0"/>
          </a:p>
          <a:p>
            <a:endParaRPr lang="en-US" dirty="0"/>
          </a:p>
          <a:p>
            <a:endParaRPr lang="en-US" dirty="0" smtClean="0"/>
          </a:p>
          <a:p>
            <a:pPr marL="0" indent="0">
              <a:buNone/>
            </a:pPr>
            <a:r>
              <a:rPr lang="en-US" dirty="0" smtClean="0"/>
              <a:t> </a:t>
            </a:r>
            <a:endParaRPr lang="en-US" dirty="0"/>
          </a:p>
        </p:txBody>
      </p:sp>
      <p:pic>
        <p:nvPicPr>
          <p:cNvPr id="4" name="Picture 3"/>
          <p:cNvPicPr>
            <a:picLocks noChangeAspect="1"/>
          </p:cNvPicPr>
          <p:nvPr/>
        </p:nvPicPr>
        <p:blipFill>
          <a:blip r:embed="rId2"/>
          <a:stretch>
            <a:fillRect/>
          </a:stretch>
        </p:blipFill>
        <p:spPr>
          <a:xfrm>
            <a:off x="3051463" y="2445327"/>
            <a:ext cx="1271154" cy="782782"/>
          </a:xfrm>
          <a:prstGeom prst="rect">
            <a:avLst/>
          </a:prstGeom>
        </p:spPr>
      </p:pic>
      <p:pic>
        <p:nvPicPr>
          <p:cNvPr id="5" name="Picture 4"/>
          <p:cNvPicPr>
            <a:picLocks noChangeAspect="1"/>
          </p:cNvPicPr>
          <p:nvPr/>
        </p:nvPicPr>
        <p:blipFill>
          <a:blip r:embed="rId3"/>
          <a:stretch>
            <a:fillRect/>
          </a:stretch>
        </p:blipFill>
        <p:spPr>
          <a:xfrm>
            <a:off x="2694276" y="3918167"/>
            <a:ext cx="3533775" cy="1276350"/>
          </a:xfrm>
          <a:prstGeom prst="rect">
            <a:avLst/>
          </a:prstGeom>
        </p:spPr>
      </p:pic>
    </p:spTree>
    <p:extLst>
      <p:ext uri="{BB962C8B-B14F-4D97-AF65-F5344CB8AC3E}">
        <p14:creationId xmlns:p14="http://schemas.microsoft.com/office/powerpoint/2010/main" val="62742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truth table of an XOR gate is</a:t>
            </a:r>
          </a:p>
          <a:p>
            <a:pPr marL="0" indent="0">
              <a:buNone/>
            </a:pPr>
            <a:endParaRPr lang="en-US" dirty="0"/>
          </a:p>
        </p:txBody>
      </p:sp>
      <p:pic>
        <p:nvPicPr>
          <p:cNvPr id="4" name="Picture 3"/>
          <p:cNvPicPr>
            <a:picLocks noChangeAspect="1"/>
          </p:cNvPicPr>
          <p:nvPr/>
        </p:nvPicPr>
        <p:blipFill>
          <a:blip r:embed="rId2"/>
          <a:stretch>
            <a:fillRect/>
          </a:stretch>
        </p:blipFill>
        <p:spPr>
          <a:xfrm>
            <a:off x="1125249" y="2533649"/>
            <a:ext cx="7810933" cy="2980459"/>
          </a:xfrm>
          <a:prstGeom prst="rect">
            <a:avLst/>
          </a:prstGeom>
        </p:spPr>
      </p:pic>
    </p:spTree>
    <p:extLst>
      <p:ext uri="{BB962C8B-B14F-4D97-AF65-F5344CB8AC3E}">
        <p14:creationId xmlns:p14="http://schemas.microsoft.com/office/powerpoint/2010/main" val="1371093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Exclusive-NOR Gate (XNOR Gate)</a:t>
            </a:r>
            <a:endParaRPr lang="en-US" dirty="0"/>
          </a:p>
        </p:txBody>
      </p:sp>
      <p:sp>
        <p:nvSpPr>
          <p:cNvPr id="3" name="Content Placeholder 2"/>
          <p:cNvSpPr>
            <a:spLocks noGrp="1"/>
          </p:cNvSpPr>
          <p:nvPr>
            <p:ph idx="1"/>
          </p:nvPr>
        </p:nvSpPr>
        <p:spPr/>
        <p:txBody>
          <a:bodyPr/>
          <a:lstStyle/>
          <a:p>
            <a:r>
              <a:rPr lang="en-US" dirty="0" smtClean="0"/>
              <a:t>In the XNOR gate, the output is in state 1 when both inputs are the same, that is, both 0 or both 1.</a:t>
            </a:r>
          </a:p>
          <a:p>
            <a:r>
              <a:rPr lang="en-US" dirty="0" smtClean="0"/>
              <a:t>The Boolean expression of the XNOR gate</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7417378" y="2738870"/>
            <a:ext cx="2705100" cy="438150"/>
          </a:xfrm>
          <a:prstGeom prst="rect">
            <a:avLst/>
          </a:prstGeom>
        </p:spPr>
      </p:pic>
      <p:pic>
        <p:nvPicPr>
          <p:cNvPr id="5" name="Picture 4"/>
          <p:cNvPicPr>
            <a:picLocks noChangeAspect="1"/>
          </p:cNvPicPr>
          <p:nvPr/>
        </p:nvPicPr>
        <p:blipFill>
          <a:blip r:embed="rId3"/>
          <a:stretch>
            <a:fillRect/>
          </a:stretch>
        </p:blipFill>
        <p:spPr>
          <a:xfrm>
            <a:off x="3009900" y="3789650"/>
            <a:ext cx="3429000" cy="1190625"/>
          </a:xfrm>
          <a:prstGeom prst="rect">
            <a:avLst/>
          </a:prstGeom>
        </p:spPr>
      </p:pic>
    </p:spTree>
    <p:extLst>
      <p:ext uri="{BB962C8B-B14F-4D97-AF65-F5344CB8AC3E}">
        <p14:creationId xmlns:p14="http://schemas.microsoft.com/office/powerpoint/2010/main" val="1042655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truth table of an XNOR gate is given below</a:t>
            </a:r>
          </a:p>
          <a:p>
            <a:pPr marL="0" indent="0">
              <a:buNone/>
            </a:pPr>
            <a:endParaRPr lang="en-US" dirty="0"/>
          </a:p>
        </p:txBody>
      </p:sp>
      <p:pic>
        <p:nvPicPr>
          <p:cNvPr id="4" name="Picture 3"/>
          <p:cNvPicPr>
            <a:picLocks noChangeAspect="1"/>
          </p:cNvPicPr>
          <p:nvPr/>
        </p:nvPicPr>
        <p:blipFill>
          <a:blip r:embed="rId2"/>
          <a:stretch>
            <a:fillRect/>
          </a:stretch>
        </p:blipFill>
        <p:spPr>
          <a:xfrm>
            <a:off x="838201" y="2521527"/>
            <a:ext cx="8181108" cy="3117273"/>
          </a:xfrm>
          <a:prstGeom prst="rect">
            <a:avLst/>
          </a:prstGeom>
        </p:spPr>
      </p:pic>
    </p:spTree>
    <p:extLst>
      <p:ext uri="{BB962C8B-B14F-4D97-AF65-F5344CB8AC3E}">
        <p14:creationId xmlns:p14="http://schemas.microsoft.com/office/powerpoint/2010/main" val="1251098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Logic Gates</a:t>
            </a:r>
            <a:endParaRPr lang="en-US" dirty="0"/>
          </a:p>
        </p:txBody>
      </p:sp>
      <p:sp>
        <p:nvSpPr>
          <p:cNvPr id="3" name="Content Placeholder 2"/>
          <p:cNvSpPr>
            <a:spLocks noGrp="1"/>
          </p:cNvSpPr>
          <p:nvPr>
            <p:ph idx="1"/>
          </p:nvPr>
        </p:nvSpPr>
        <p:spPr/>
        <p:txBody>
          <a:bodyPr/>
          <a:lstStyle/>
          <a:p>
            <a:r>
              <a:rPr lang="en-US" dirty="0" smtClean="0"/>
              <a:t>Logic gates have a lot of applications, but they are mainly based on their mode of operations or their truth table. </a:t>
            </a:r>
          </a:p>
          <a:p>
            <a:r>
              <a:rPr lang="en-US" dirty="0" smtClean="0"/>
              <a:t>Basic logic gates are often found in circuits such as safety thermostats, push-button locks, automatic watering systems, light-activated burglar alarms and many other electronic devices.</a:t>
            </a:r>
            <a:endParaRPr lang="en-US" dirty="0"/>
          </a:p>
        </p:txBody>
      </p:sp>
    </p:spTree>
    <p:extLst>
      <p:ext uri="{BB962C8B-B14F-4D97-AF65-F5344CB8AC3E}">
        <p14:creationId xmlns:p14="http://schemas.microsoft.com/office/powerpoint/2010/main" val="919127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 Morgan’s Theorem</a:t>
            </a:r>
            <a:endParaRPr lang="en-US" dirty="0"/>
          </a:p>
        </p:txBody>
      </p:sp>
      <p:sp>
        <p:nvSpPr>
          <p:cNvPr id="3" name="Content Placeholder 2"/>
          <p:cNvSpPr>
            <a:spLocks noGrp="1"/>
          </p:cNvSpPr>
          <p:nvPr>
            <p:ph idx="1"/>
          </p:nvPr>
        </p:nvSpPr>
        <p:spPr/>
        <p:txBody>
          <a:bodyPr/>
          <a:lstStyle/>
          <a:p>
            <a:r>
              <a:rPr lang="en-US" b="1" dirty="0" smtClean="0"/>
              <a:t>The first theorem </a:t>
            </a:r>
            <a:r>
              <a:rPr lang="en-US" dirty="0" smtClean="0"/>
              <a:t>– It states that the NAND gate is equivalent to a bubbled OR gate.</a:t>
            </a:r>
          </a:p>
          <a:p>
            <a:pPr marL="0" indent="0">
              <a:buNone/>
            </a:pPr>
            <a:endParaRPr lang="en-US" dirty="0" smtClean="0"/>
          </a:p>
          <a:p>
            <a:pPr marL="0" indent="0">
              <a:buNone/>
            </a:pPr>
            <a:endParaRPr lang="en-US" dirty="0"/>
          </a:p>
          <a:p>
            <a:r>
              <a:rPr lang="en-US" b="1" dirty="0" smtClean="0"/>
              <a:t>The second theorem </a:t>
            </a:r>
            <a:r>
              <a:rPr lang="en-US" dirty="0" smtClean="0"/>
              <a:t>– It states that the NOR gate is equivalent to a bubbled AND gate.</a:t>
            </a:r>
          </a:p>
          <a:p>
            <a:pPr marL="0" indent="0">
              <a:buNone/>
            </a:pPr>
            <a:endParaRPr lang="en-US" dirty="0"/>
          </a:p>
        </p:txBody>
      </p:sp>
      <p:pic>
        <p:nvPicPr>
          <p:cNvPr id="4" name="Picture 3"/>
          <p:cNvPicPr>
            <a:picLocks noChangeAspect="1"/>
          </p:cNvPicPr>
          <p:nvPr/>
        </p:nvPicPr>
        <p:blipFill>
          <a:blip r:embed="rId2"/>
          <a:stretch>
            <a:fillRect/>
          </a:stretch>
        </p:blipFill>
        <p:spPr>
          <a:xfrm>
            <a:off x="1423987" y="2833255"/>
            <a:ext cx="2136631" cy="699654"/>
          </a:xfrm>
          <a:prstGeom prst="rect">
            <a:avLst/>
          </a:prstGeom>
        </p:spPr>
      </p:pic>
      <p:pic>
        <p:nvPicPr>
          <p:cNvPr id="5" name="Picture 4"/>
          <p:cNvPicPr>
            <a:picLocks noChangeAspect="1"/>
          </p:cNvPicPr>
          <p:nvPr/>
        </p:nvPicPr>
        <p:blipFill>
          <a:blip r:embed="rId3"/>
          <a:stretch>
            <a:fillRect/>
          </a:stretch>
        </p:blipFill>
        <p:spPr>
          <a:xfrm>
            <a:off x="1423988" y="5149994"/>
            <a:ext cx="2136630" cy="765897"/>
          </a:xfrm>
          <a:prstGeom prst="rect">
            <a:avLst/>
          </a:prstGeom>
        </p:spPr>
      </p:pic>
    </p:spTree>
    <p:extLst>
      <p:ext uri="{BB962C8B-B14F-4D97-AF65-F5344CB8AC3E}">
        <p14:creationId xmlns:p14="http://schemas.microsoft.com/office/powerpoint/2010/main" val="150261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Conversions</a:t>
            </a:r>
            <a:endParaRPr lang="en-US" dirty="0"/>
          </a:p>
        </p:txBody>
      </p:sp>
      <p:sp>
        <p:nvSpPr>
          <p:cNvPr id="3" name="Content Placeholder 2"/>
          <p:cNvSpPr>
            <a:spLocks noGrp="1"/>
          </p:cNvSpPr>
          <p:nvPr>
            <p:ph idx="1"/>
          </p:nvPr>
        </p:nvSpPr>
        <p:spPr/>
        <p:txBody>
          <a:bodyPr/>
          <a:lstStyle/>
          <a:p>
            <a:r>
              <a:rPr lang="sv-SE" dirty="0" smtClean="0"/>
              <a:t>(</a:t>
            </a:r>
            <a:r>
              <a:rPr lang="en-US" dirty="0" smtClean="0"/>
              <a:t>1) The ‘NAND’ gate: From ‘AND’ and ‘NOT’ gates.</a:t>
            </a:r>
          </a:p>
          <a:p>
            <a:r>
              <a:rPr lang="en-US" dirty="0" smtClean="0"/>
              <a:t>(2) The ‘NOR’ gate: From ‘OR’ and ‘NOT’ gates.</a:t>
            </a:r>
          </a:p>
          <a:p>
            <a:r>
              <a:rPr lang="en-US" dirty="0" smtClean="0"/>
              <a:t>(3) The ‘XOR’ gate: From ‘NOT’, ‘AND’ and  ‘OR’ gates.</a:t>
            </a:r>
          </a:p>
          <a:p>
            <a:r>
              <a:rPr lang="en-US" dirty="0" smtClean="0"/>
              <a:t>(4) The Exclusive-nor (XNOR) gate XOR + NOT</a:t>
            </a:r>
            <a:endParaRPr lang="en-US" dirty="0"/>
          </a:p>
        </p:txBody>
      </p:sp>
    </p:spTree>
    <p:extLst>
      <p:ext uri="{BB962C8B-B14F-4D97-AF65-F5344CB8AC3E}">
        <p14:creationId xmlns:p14="http://schemas.microsoft.com/office/powerpoint/2010/main" val="3439078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598</Words>
  <Application>Microsoft Office PowerPoint</Application>
  <PresentationFormat>Widescreen</PresentationFormat>
  <Paragraphs>57</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BASIC LOGIC GATES</vt:lpstr>
      <vt:lpstr>PowerPoint Presentation</vt:lpstr>
      <vt:lpstr>Types of Basic Logic Gates</vt:lpstr>
      <vt:lpstr>OR Gate</vt:lpstr>
      <vt:lpstr>The truth table of a two-input OR basic gate is given as</vt:lpstr>
      <vt:lpstr>AND Gate</vt:lpstr>
      <vt:lpstr>PowerPoint Presentation</vt:lpstr>
      <vt:lpstr>NOT Gate</vt:lpstr>
      <vt:lpstr>PowerPoint Presentation</vt:lpstr>
      <vt:lpstr>NAND Gate</vt:lpstr>
      <vt:lpstr>PowerPoint Presentation</vt:lpstr>
      <vt:lpstr>NOR Gate</vt:lpstr>
      <vt:lpstr>PowerPoint Presentation</vt:lpstr>
      <vt:lpstr>Exclusive-OR gate (XOR Gate)</vt:lpstr>
      <vt:lpstr>PowerPoint Presentation</vt:lpstr>
      <vt:lpstr>Exclusive-NOR Gate (XNOR Gate)</vt:lpstr>
      <vt:lpstr>PowerPoint Presentation</vt:lpstr>
      <vt:lpstr>Application of Logic Gates</vt:lpstr>
      <vt:lpstr>De Morgan’s Theorem</vt:lpstr>
      <vt:lpstr>Important Conversions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LOGIC GATES</dc:title>
  <dc:creator>X</dc:creator>
  <cp:lastModifiedBy>X</cp:lastModifiedBy>
  <cp:revision>8</cp:revision>
  <dcterms:created xsi:type="dcterms:W3CDTF">2023-05-24T06:57:12Z</dcterms:created>
  <dcterms:modified xsi:type="dcterms:W3CDTF">2023-05-24T08:00:05Z</dcterms:modified>
</cp:coreProperties>
</file>