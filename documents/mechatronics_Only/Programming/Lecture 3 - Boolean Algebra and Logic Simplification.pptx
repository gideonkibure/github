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56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5F53-C7E5-4926-95B7-46504A2F5D77}" type="datetimeFigureOut">
              <a:rPr lang="en-US" smtClean="0"/>
              <a:pPr/>
              <a:t>3/27/2017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DD8C-706E-4345-AB87-2348705240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5F53-C7E5-4926-95B7-46504A2F5D77}" type="datetimeFigureOut">
              <a:rPr lang="en-US" smtClean="0"/>
              <a:pPr/>
              <a:t>3/27/2017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DD8C-706E-4345-AB87-2348705240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5F53-C7E5-4926-95B7-46504A2F5D77}" type="datetimeFigureOut">
              <a:rPr lang="en-US" smtClean="0"/>
              <a:pPr/>
              <a:t>3/27/2017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DD8C-706E-4345-AB87-2348705240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5F53-C7E5-4926-95B7-46504A2F5D77}" type="datetimeFigureOut">
              <a:rPr lang="en-US" smtClean="0"/>
              <a:pPr/>
              <a:t>3/27/2017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DD8C-706E-4345-AB87-2348705240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5F53-C7E5-4926-95B7-46504A2F5D77}" type="datetimeFigureOut">
              <a:rPr lang="en-US" smtClean="0"/>
              <a:pPr/>
              <a:t>3/27/2017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DD8C-706E-4345-AB87-2348705240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5F53-C7E5-4926-95B7-46504A2F5D77}" type="datetimeFigureOut">
              <a:rPr lang="en-US" smtClean="0"/>
              <a:pPr/>
              <a:t>3/27/2017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DD8C-706E-4345-AB87-2348705240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5F53-C7E5-4926-95B7-46504A2F5D77}" type="datetimeFigureOut">
              <a:rPr lang="en-US" smtClean="0"/>
              <a:pPr/>
              <a:t>3/27/2017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DD8C-706E-4345-AB87-2348705240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5F53-C7E5-4926-95B7-46504A2F5D77}" type="datetimeFigureOut">
              <a:rPr lang="en-US" smtClean="0"/>
              <a:pPr/>
              <a:t>3/27/2017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DD8C-706E-4345-AB87-2348705240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5F53-C7E5-4926-95B7-46504A2F5D77}" type="datetimeFigureOut">
              <a:rPr lang="en-US" smtClean="0"/>
              <a:pPr/>
              <a:t>3/27/2017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DD8C-706E-4345-AB87-2348705240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5F53-C7E5-4926-95B7-46504A2F5D77}" type="datetimeFigureOut">
              <a:rPr lang="en-US" smtClean="0"/>
              <a:pPr/>
              <a:t>3/27/2017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DD8C-706E-4345-AB87-2348705240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25F53-C7E5-4926-95B7-46504A2F5D77}" type="datetimeFigureOut">
              <a:rPr lang="en-US" smtClean="0"/>
              <a:pPr/>
              <a:t>3/27/2017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DD8C-706E-4345-AB87-2348705240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25F53-C7E5-4926-95B7-46504A2F5D77}" type="datetimeFigureOut">
              <a:rPr lang="en-US" smtClean="0"/>
              <a:pPr/>
              <a:t>3/27/2017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DDD8C-706E-4345-AB87-2348705240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3600451"/>
          </a:xfrm>
        </p:spPr>
        <p:txBody>
          <a:bodyPr/>
          <a:lstStyle/>
          <a:p>
            <a:r>
              <a:rPr lang="en-US" b="1" dirty="0" smtClean="0"/>
              <a:t>Boolean Algebra and </a:t>
            </a:r>
            <a:br>
              <a:rPr lang="en-US" b="1" dirty="0" smtClean="0"/>
            </a:br>
            <a:r>
              <a:rPr lang="en-US" b="1" dirty="0" smtClean="0"/>
              <a:t>Logic Simplification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200400"/>
            <a:ext cx="9144000" cy="2438400"/>
          </a:xfrm>
        </p:spPr>
        <p:txBody>
          <a:bodyPr>
            <a:norm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3000" b="1" dirty="0" smtClean="0"/>
              <a:t>Boolean  algebra is the mathematics of digital systems.</a:t>
            </a:r>
          </a:p>
          <a:p>
            <a:pPr algn="l"/>
            <a:endParaRPr lang="en-US" sz="3000" b="1" dirty="0" smtClean="0"/>
          </a:p>
          <a:p>
            <a:pPr algn="l">
              <a:buFont typeface="Arial" pitchFamily="34" charset="0"/>
              <a:buChar char="•"/>
            </a:pPr>
            <a:r>
              <a:rPr lang="en-US" sz="3000" b="1" dirty="0" smtClean="0"/>
              <a:t>Helps in the study and analysis of logic circuits.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>
            <a:normAutofit/>
          </a:bodyPr>
          <a:lstStyle/>
          <a:p>
            <a:r>
              <a:rPr lang="en-US" b="1" dirty="0" smtClean="0"/>
              <a:t>Boolean Operations and Expressions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Definition of terms in Boolean algebra: </a:t>
            </a:r>
          </a:p>
          <a:p>
            <a:r>
              <a:rPr lang="en-US" i="1" u="sng" dirty="0" smtClean="0"/>
              <a:t>Variable</a:t>
            </a:r>
            <a:r>
              <a:rPr lang="en-US" dirty="0" smtClean="0"/>
              <a:t> is a symbol used to represent a logical quantity.</a:t>
            </a:r>
          </a:p>
          <a:p>
            <a:r>
              <a:rPr lang="en-US" dirty="0" smtClean="0"/>
              <a:t>Any single variable can have a 1 or 0 value.</a:t>
            </a:r>
          </a:p>
          <a:p>
            <a:r>
              <a:rPr lang="en-US" dirty="0" smtClean="0"/>
              <a:t>The </a:t>
            </a:r>
            <a:r>
              <a:rPr lang="en-US" i="1" u="sng" dirty="0" smtClean="0"/>
              <a:t>complement</a:t>
            </a:r>
            <a:r>
              <a:rPr lang="en-US" dirty="0" smtClean="0"/>
              <a:t> is the inverse of a variable and it is indicated by the bar over the variable or sometimes a prime symbol over the variable, </a:t>
            </a:r>
            <a:r>
              <a:rPr lang="en-US" dirty="0" err="1" smtClean="0"/>
              <a:t>e.g</a:t>
            </a:r>
            <a:r>
              <a:rPr lang="en-US" dirty="0" smtClean="0"/>
              <a:t> A</a:t>
            </a:r>
            <a:r>
              <a:rPr lang="en-US" b="1" dirty="0" smtClean="0"/>
              <a:t>’</a:t>
            </a:r>
            <a:r>
              <a:rPr lang="en-US" dirty="0" smtClean="0"/>
              <a:t>.</a:t>
            </a:r>
          </a:p>
          <a:p>
            <a:r>
              <a:rPr lang="en-US" dirty="0" smtClean="0"/>
              <a:t>A </a:t>
            </a:r>
            <a:r>
              <a:rPr lang="en-US" i="1" u="sng" dirty="0" smtClean="0"/>
              <a:t>literal</a:t>
            </a:r>
            <a:r>
              <a:rPr lang="en-US" dirty="0" smtClean="0"/>
              <a:t> is a variable or complement of a variable.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dirty="0" smtClean="0"/>
              <a:t>Boolean Addition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r>
              <a:rPr lang="en-US" dirty="0" smtClean="0"/>
              <a:t>Boolean addition is equivalent to the OR operation.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2133600"/>
            <a:ext cx="8219811" cy="3497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SUM TERM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296400" cy="6096000"/>
          </a:xfrm>
        </p:spPr>
        <p:txBody>
          <a:bodyPr>
            <a:normAutofit/>
          </a:bodyPr>
          <a:lstStyle/>
          <a:p>
            <a:r>
              <a:rPr lang="en-US" dirty="0" smtClean="0"/>
              <a:t>In Boolean algebra, a </a:t>
            </a:r>
            <a:r>
              <a:rPr lang="en-US" b="1" dirty="0" smtClean="0"/>
              <a:t>sum term </a:t>
            </a:r>
            <a:r>
              <a:rPr lang="en-US" dirty="0" smtClean="0"/>
              <a:t>is a sum of literals.</a:t>
            </a:r>
          </a:p>
          <a:p>
            <a:r>
              <a:rPr lang="en-US" dirty="0" smtClean="0"/>
              <a:t>In logic circuits, a sum term is produced by an OR operation with no AND operations involved.</a:t>
            </a:r>
          </a:p>
          <a:p>
            <a:r>
              <a:rPr lang="en-US" dirty="0" smtClean="0"/>
              <a:t>Examples:</a:t>
            </a:r>
          </a:p>
          <a:p>
            <a:r>
              <a:rPr lang="en-US" dirty="0" smtClean="0"/>
              <a:t>A sum term is equal to 1 when one or more of the literals in the term are 1. A sum term is equal to 0 only if each of the literals is 0.</a:t>
            </a:r>
          </a:p>
          <a:p>
            <a:pPr>
              <a:buNone/>
            </a:pPr>
            <a:r>
              <a:rPr lang="en-US" dirty="0" smtClean="0"/>
              <a:t>determine the values of A, B, C, D that makes the sum term equal to 0.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2438400"/>
            <a:ext cx="5899639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0" y="5181600"/>
            <a:ext cx="2735826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 smtClean="0"/>
              <a:t>Boolean Multiplication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534400" cy="4983163"/>
          </a:xfrm>
        </p:spPr>
        <p:txBody>
          <a:bodyPr/>
          <a:lstStyle/>
          <a:p>
            <a:r>
              <a:rPr lang="en-US" dirty="0" smtClean="0"/>
              <a:t>Boolean Multiplication is equivalent to the AND operation (The AND gate is a Boolean multiplier)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590800"/>
            <a:ext cx="83058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Product term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6248400"/>
          </a:xfrm>
        </p:spPr>
        <p:txBody>
          <a:bodyPr>
            <a:normAutofit/>
          </a:bodyPr>
          <a:lstStyle/>
          <a:p>
            <a:r>
              <a:rPr lang="en-US" dirty="0" smtClean="0"/>
              <a:t>In Boolean algebra, a </a:t>
            </a:r>
            <a:r>
              <a:rPr lang="en-US" u="sng" dirty="0" smtClean="0"/>
              <a:t>product term </a:t>
            </a:r>
            <a:r>
              <a:rPr lang="en-US" dirty="0" smtClean="0"/>
              <a:t>is the product of literals.</a:t>
            </a:r>
          </a:p>
          <a:p>
            <a:r>
              <a:rPr lang="en-US" dirty="0" smtClean="0"/>
              <a:t>In logic circuits, a product term is produced by an AND operation with no OR operations involved.</a:t>
            </a:r>
          </a:p>
          <a:p>
            <a:r>
              <a:rPr lang="en-US" dirty="0" smtClean="0"/>
              <a:t>Example of product terms:</a:t>
            </a:r>
          </a:p>
          <a:p>
            <a:r>
              <a:rPr lang="en-US" dirty="0" smtClean="0"/>
              <a:t>A product term is equal to 1 only if each of the literals in the term is 1. A product term is equal to 0 when one or more of the literals are 0.</a:t>
            </a:r>
          </a:p>
          <a:p>
            <a:pPr>
              <a:buNone/>
            </a:pPr>
            <a:r>
              <a:rPr lang="en-US" dirty="0" smtClean="0"/>
              <a:t>Example: Determine the values of A, B, C, D that make product term  equal to 1.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2819400"/>
            <a:ext cx="329184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5410200"/>
            <a:ext cx="142720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b="1" dirty="0" smtClean="0"/>
              <a:t>Laws and Rules of Boolean algebra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135563"/>
          </a:xfrm>
        </p:spPr>
        <p:txBody>
          <a:bodyPr>
            <a:normAutofit/>
          </a:bodyPr>
          <a:lstStyle/>
          <a:p>
            <a:r>
              <a:rPr lang="en-US" dirty="0" smtClean="0"/>
              <a:t>These are well-developed rules and laws that must be followed in order to properly apply Boolean algebra.</a:t>
            </a:r>
          </a:p>
          <a:p>
            <a:r>
              <a:rPr lang="en-US" dirty="0" smtClean="0"/>
              <a:t>The basic laws of Boolean algebra – the </a:t>
            </a:r>
            <a:r>
              <a:rPr lang="en-US" b="1" dirty="0" smtClean="0"/>
              <a:t>commutative laws </a:t>
            </a:r>
            <a:r>
              <a:rPr lang="en-US" dirty="0" smtClean="0"/>
              <a:t>for addition and multiplication,  the </a:t>
            </a:r>
            <a:r>
              <a:rPr lang="en-US" b="1" dirty="0" smtClean="0"/>
              <a:t>associative laws </a:t>
            </a:r>
            <a:r>
              <a:rPr lang="en-US" dirty="0" smtClean="0"/>
              <a:t>for addition and multiplication, and the </a:t>
            </a:r>
            <a:r>
              <a:rPr lang="en-US" b="1" dirty="0" smtClean="0"/>
              <a:t>distributive law </a:t>
            </a:r>
            <a:r>
              <a:rPr lang="en-US" dirty="0" smtClean="0"/>
              <a:t>are the same as in the ordinary algebra.</a:t>
            </a:r>
            <a:endParaRPr 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dirty="0" smtClean="0"/>
              <a:t>Commutative Law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440363"/>
          </a:xfrm>
        </p:spPr>
        <p:txBody>
          <a:bodyPr/>
          <a:lstStyle/>
          <a:p>
            <a:r>
              <a:rPr lang="en-US" dirty="0" smtClean="0"/>
              <a:t>The commutative law of addition for two variables is written:</a:t>
            </a:r>
          </a:p>
          <a:p>
            <a:pPr>
              <a:buNone/>
            </a:pPr>
            <a:r>
              <a:rPr lang="en-US" dirty="0" smtClean="0"/>
              <a:t>	A + B = B + A</a:t>
            </a:r>
            <a:endParaRPr lang="en-US" dirty="0"/>
          </a:p>
          <a:p>
            <a:r>
              <a:rPr lang="en-US" dirty="0" smtClean="0"/>
              <a:t>This law states that the order in which the variables are </a:t>
            </a:r>
            <a:r>
              <a:rPr lang="en-US" dirty="0" err="1" smtClean="0"/>
              <a:t>ORed</a:t>
            </a:r>
            <a:r>
              <a:rPr lang="en-US" dirty="0" smtClean="0"/>
              <a:t> makes no difference.</a:t>
            </a:r>
          </a:p>
          <a:p>
            <a:r>
              <a:rPr lang="en-US" dirty="0" smtClean="0"/>
              <a:t>The commutative law of multiplication for two variables is   AB = BA</a:t>
            </a:r>
          </a:p>
          <a:p>
            <a:r>
              <a:rPr lang="en-US" dirty="0" smtClean="0"/>
              <a:t>This law states that the order in which the variables are </a:t>
            </a:r>
            <a:r>
              <a:rPr lang="en-US" dirty="0" err="1" smtClean="0"/>
              <a:t>ANDed</a:t>
            </a:r>
            <a:r>
              <a:rPr lang="en-US" dirty="0" smtClean="0"/>
              <a:t> makes no difference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dirty="0" smtClean="0"/>
              <a:t>Associative Law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135563"/>
          </a:xfrm>
        </p:spPr>
        <p:txBody>
          <a:bodyPr/>
          <a:lstStyle/>
          <a:p>
            <a:r>
              <a:rPr lang="en-US" dirty="0" smtClean="0"/>
              <a:t>The associative law of addition is written as follows for three variables,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352800"/>
            <a:ext cx="91440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2209800"/>
            <a:ext cx="5325979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9144000" cy="5516563"/>
          </a:xfrm>
        </p:spPr>
        <p:txBody>
          <a:bodyPr/>
          <a:lstStyle/>
          <a:p>
            <a:r>
              <a:rPr lang="en-US" dirty="0" smtClean="0"/>
              <a:t>The associative law of multiplication is written as</a:t>
            </a:r>
            <a:r>
              <a:rPr lang="en-US" dirty="0"/>
              <a:t>	</a:t>
            </a:r>
            <a:r>
              <a:rPr lang="en-US" dirty="0" smtClean="0"/>
              <a:t>		A(BC) = (AB)C</a:t>
            </a:r>
          </a:p>
          <a:p>
            <a:pPr>
              <a:buNone/>
            </a:pPr>
            <a:r>
              <a:rPr lang="en-US" dirty="0" smtClean="0"/>
              <a:t>This law states that it makes no difference in what order the variables are grouped when </a:t>
            </a:r>
            <a:r>
              <a:rPr lang="en-US" dirty="0" err="1" smtClean="0"/>
              <a:t>ANDing</a:t>
            </a:r>
            <a:r>
              <a:rPr lang="en-US" dirty="0" smtClean="0"/>
              <a:t> more than two variables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352800"/>
            <a:ext cx="9011611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Distributive Law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144000" cy="5943600"/>
          </a:xfrm>
        </p:spPr>
        <p:txBody>
          <a:bodyPr>
            <a:normAutofit/>
          </a:bodyPr>
          <a:lstStyle/>
          <a:p>
            <a:r>
              <a:rPr lang="en-US" dirty="0" smtClean="0"/>
              <a:t>The distributive law is written for three variables:</a:t>
            </a:r>
          </a:p>
          <a:p>
            <a:pPr>
              <a:buNone/>
            </a:pPr>
            <a:r>
              <a:rPr lang="en-US" dirty="0" smtClean="0"/>
              <a:t>				A(B + C) = AB + AC</a:t>
            </a:r>
          </a:p>
          <a:p>
            <a:pPr algn="just">
              <a:buNone/>
            </a:pPr>
            <a:r>
              <a:rPr lang="en-US" sz="3000" dirty="0" smtClean="0"/>
              <a:t>This law states that </a:t>
            </a:r>
            <a:r>
              <a:rPr lang="en-US" sz="3000" dirty="0" err="1" smtClean="0"/>
              <a:t>ORing</a:t>
            </a:r>
            <a:r>
              <a:rPr lang="en-US" sz="3000" dirty="0" smtClean="0"/>
              <a:t> two or more variables and then </a:t>
            </a:r>
            <a:r>
              <a:rPr lang="en-US" sz="3000" dirty="0" err="1" smtClean="0"/>
              <a:t>ANDing</a:t>
            </a:r>
            <a:r>
              <a:rPr lang="en-US" sz="3000" dirty="0" smtClean="0"/>
              <a:t> the result with a single variable is equivalent to </a:t>
            </a:r>
            <a:r>
              <a:rPr lang="en-US" sz="3000" dirty="0" err="1" smtClean="0"/>
              <a:t>ANDing</a:t>
            </a:r>
            <a:r>
              <a:rPr lang="en-US" sz="3000" dirty="0" smtClean="0"/>
              <a:t> the single variable with each of the two or more variables and then </a:t>
            </a:r>
            <a:r>
              <a:rPr lang="en-US" sz="3000" dirty="0" err="1" smtClean="0"/>
              <a:t>Oring</a:t>
            </a:r>
            <a:r>
              <a:rPr lang="en-US" sz="3000" dirty="0" smtClean="0"/>
              <a:t> the products.</a:t>
            </a:r>
          </a:p>
          <a:p>
            <a:r>
              <a:rPr lang="en-US" dirty="0" smtClean="0"/>
              <a:t>The distributive law also expresses the process of </a:t>
            </a:r>
            <a:r>
              <a:rPr lang="en-US" u="sng" dirty="0" smtClean="0"/>
              <a:t>factoring </a:t>
            </a:r>
            <a:r>
              <a:rPr lang="en-US" dirty="0" smtClean="0"/>
              <a:t> in which the common variable A is factored out of the product terms.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AB + AC = A(B + C)</a:t>
            </a:r>
          </a:p>
          <a:p>
            <a:pPr lvl="1">
              <a:buNone/>
            </a:pPr>
            <a:endParaRPr lang="en-US" u="sng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txBody>
          <a:bodyPr>
            <a:normAutofit/>
          </a:bodyPr>
          <a:lstStyle/>
          <a:p>
            <a:r>
              <a:rPr lang="en-US" sz="3400" dirty="0" smtClean="0"/>
              <a:t>Distributive law in terms of Gate implementation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313" y="1066800"/>
            <a:ext cx="8969375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Rules of Boolean Algebra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8686800" cy="5562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40" y="609600"/>
            <a:ext cx="913406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04800"/>
            <a:ext cx="91440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proof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90600"/>
            <a:ext cx="91440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175" y="914400"/>
            <a:ext cx="879348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00" y="914400"/>
            <a:ext cx="8837184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524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85800"/>
            <a:ext cx="9186005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838201"/>
            <a:ext cx="91440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r>
              <a:rPr lang="en-US" dirty="0" err="1" smtClean="0"/>
              <a:t>DeMORGAN’S</a:t>
            </a:r>
            <a:r>
              <a:rPr lang="en-US" dirty="0" smtClean="0"/>
              <a:t>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211763"/>
          </a:xfrm>
        </p:spPr>
        <p:txBody>
          <a:bodyPr/>
          <a:lstStyle/>
          <a:p>
            <a:r>
              <a:rPr lang="en-US" dirty="0" err="1" smtClean="0"/>
              <a:t>DeMorgan’s</a:t>
            </a:r>
            <a:r>
              <a:rPr lang="en-US" dirty="0" smtClean="0"/>
              <a:t> first theorem;</a:t>
            </a:r>
          </a:p>
          <a:p>
            <a:pPr>
              <a:buNone/>
            </a:pPr>
            <a:r>
              <a:rPr lang="en-US" b="1" i="1" dirty="0" smtClean="0"/>
              <a:t>The complement of a product of variables is equal to the sum of the complements of the variables.</a:t>
            </a:r>
          </a:p>
          <a:p>
            <a:pPr>
              <a:buNone/>
            </a:pPr>
            <a:r>
              <a:rPr lang="en-US" dirty="0" smtClean="0"/>
              <a:t>Also stated as </a:t>
            </a:r>
            <a:r>
              <a:rPr lang="en-US" b="1" i="1" dirty="0" smtClean="0"/>
              <a:t>The complement of two or more </a:t>
            </a:r>
            <a:r>
              <a:rPr lang="en-US" b="1" i="1" dirty="0" err="1" smtClean="0"/>
              <a:t>ANDed</a:t>
            </a:r>
            <a:r>
              <a:rPr lang="en-US" b="1" i="1" dirty="0" smtClean="0"/>
              <a:t> variables is equivalent to the OR of the complements of the individual variables.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4343400"/>
            <a:ext cx="7382436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/>
          <a:lstStyle/>
          <a:p>
            <a:r>
              <a:rPr lang="en-US" dirty="0" smtClean="0"/>
              <a:t>DERMORGAN’S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638800"/>
          </a:xfrm>
        </p:spPr>
        <p:txBody>
          <a:bodyPr/>
          <a:lstStyle/>
          <a:p>
            <a:pPr>
              <a:buNone/>
            </a:pPr>
            <a:r>
              <a:rPr lang="en-US" dirty="0" err="1" smtClean="0"/>
              <a:t>DeMorgan’s</a:t>
            </a:r>
            <a:r>
              <a:rPr lang="en-US" dirty="0" smtClean="0"/>
              <a:t> second theorem:</a:t>
            </a:r>
          </a:p>
          <a:p>
            <a:r>
              <a:rPr lang="en-US" b="1" i="1" dirty="0" smtClean="0"/>
              <a:t>The complement of the sum of variables is equal the product of the complements of the variables.</a:t>
            </a:r>
          </a:p>
          <a:p>
            <a:pPr>
              <a:buNone/>
            </a:pPr>
            <a:r>
              <a:rPr lang="en-US" dirty="0" smtClean="0"/>
              <a:t>Stated as</a:t>
            </a:r>
          </a:p>
          <a:p>
            <a:r>
              <a:rPr lang="en-US" b="1" i="1" dirty="0" smtClean="0"/>
              <a:t>The complement of two or more </a:t>
            </a:r>
            <a:r>
              <a:rPr lang="en-US" b="1" i="1" dirty="0" err="1" smtClean="0"/>
              <a:t>ORed</a:t>
            </a:r>
            <a:r>
              <a:rPr lang="en-US" b="1" i="1" dirty="0" smtClean="0"/>
              <a:t> variables is equal to the AND of the complements of the individual variables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4953000"/>
            <a:ext cx="464058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9144000" cy="5287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85800"/>
            <a:ext cx="8778649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38400"/>
            <a:ext cx="5381625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33400"/>
            <a:ext cx="9144000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38401"/>
            <a:ext cx="5867400" cy="3657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57200"/>
            <a:ext cx="8229600" cy="5364163"/>
          </a:xfrm>
        </p:spPr>
        <p:txBody>
          <a:bodyPr/>
          <a:lstStyle/>
          <a:p>
            <a:r>
              <a:rPr lang="en-US" dirty="0" smtClean="0"/>
              <a:t>Example, for three variables we have: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Example: 	Let 	X=AB + C and Y=A + BC apply </a:t>
            </a:r>
            <a:r>
              <a:rPr lang="en-US" dirty="0" err="1" smtClean="0"/>
              <a:t>DeMorgan’s</a:t>
            </a:r>
            <a:r>
              <a:rPr lang="en-US" dirty="0" smtClean="0"/>
              <a:t> theorem stated by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066800"/>
            <a:ext cx="494347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4419600"/>
            <a:ext cx="4921624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txBody>
          <a:bodyPr>
            <a:normAutofit fontScale="90000"/>
          </a:bodyPr>
          <a:lstStyle/>
          <a:p>
            <a:r>
              <a:rPr lang="en-US" sz="3800" b="1" dirty="0" smtClean="0"/>
              <a:t>Procedure for applying </a:t>
            </a:r>
            <a:r>
              <a:rPr lang="en-US" sz="3800" b="1" dirty="0" err="1" smtClean="0"/>
              <a:t>Demorgan’s</a:t>
            </a:r>
            <a:r>
              <a:rPr lang="en-US" sz="3800" b="1" dirty="0" smtClean="0"/>
              <a:t> theorems</a:t>
            </a:r>
            <a:endParaRPr lang="en-US" sz="3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Example</a:t>
            </a:r>
          </a:p>
          <a:p>
            <a:r>
              <a:rPr lang="en-US" b="1" dirty="0" smtClean="0"/>
              <a:t>Step 1</a:t>
            </a:r>
            <a:r>
              <a:rPr lang="en-US" dirty="0" smtClean="0"/>
              <a:t>. Identify the terms to which you can apply </a:t>
            </a:r>
            <a:r>
              <a:rPr lang="en-US" dirty="0" err="1" smtClean="0"/>
              <a:t>Demorgan’s</a:t>
            </a:r>
            <a:r>
              <a:rPr lang="en-US" dirty="0" smtClean="0"/>
              <a:t> theorems.</a:t>
            </a:r>
          </a:p>
          <a:p>
            <a:pPr>
              <a:buNone/>
            </a:pPr>
            <a:r>
              <a:rPr lang="en-US" dirty="0" smtClean="0"/>
              <a:t>Example Let </a:t>
            </a:r>
          </a:p>
          <a:p>
            <a:endParaRPr lang="en-US" b="1" dirty="0" smtClean="0"/>
          </a:p>
          <a:p>
            <a:r>
              <a:rPr lang="en-US" b="1" dirty="0" smtClean="0"/>
              <a:t>Step 2</a:t>
            </a:r>
            <a:r>
              <a:rPr lang="en-US" dirty="0" smtClean="0"/>
              <a:t>. Apply the two </a:t>
            </a:r>
            <a:r>
              <a:rPr lang="en-US" dirty="0" err="1" smtClean="0"/>
              <a:t>DeMorgan’s</a:t>
            </a:r>
            <a:r>
              <a:rPr lang="en-US" dirty="0" smtClean="0"/>
              <a:t> theorems whenever applicable.</a:t>
            </a:r>
          </a:p>
          <a:p>
            <a:pPr>
              <a:buNone/>
            </a:pPr>
            <a:r>
              <a:rPr lang="en-US" dirty="0" smtClean="0"/>
              <a:t>Note: Always use rule 9 to cancel the double bars over a term.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838201"/>
            <a:ext cx="4419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2514600"/>
            <a:ext cx="2590800" cy="57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2438400"/>
            <a:ext cx="2432221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57600" y="5257800"/>
            <a:ext cx="3379839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BOOLEAN ANALYSIS  OF LOGIC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r>
              <a:rPr lang="en-US" dirty="0" smtClean="0"/>
              <a:t>Boolean algebra provides a way to express the operation of a logic circuit formed by a combination of logic gates.</a:t>
            </a:r>
          </a:p>
          <a:p>
            <a:r>
              <a:rPr lang="en-US" dirty="0" smtClean="0"/>
              <a:t>This is so that the output  can be determined for various combinations of input values.</a:t>
            </a:r>
          </a:p>
          <a:p>
            <a:r>
              <a:rPr lang="en-US" dirty="0" smtClean="0"/>
              <a:t>To derive the Boolean expression for a given logic circuit, begin at the left-most inputs and work towards the final output.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>
            <a:normAutofit/>
          </a:bodyPr>
          <a:lstStyle/>
          <a:p>
            <a:r>
              <a:rPr lang="en-US" dirty="0" smtClean="0"/>
              <a:t>Boolean Expression for a Logic circuit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To Construct the Truth table for the logic circuit:</a:t>
            </a:r>
          </a:p>
          <a:p>
            <a:pPr>
              <a:buNone/>
            </a:pPr>
            <a:r>
              <a:rPr lang="en-US" dirty="0" smtClean="0"/>
              <a:t>use the final expression of the logic circuit to construct the Truth table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90600"/>
            <a:ext cx="91440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6781799" cy="5943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Replace the AND gate with OR gate and the OR gate with an AND gate and determine the Boolean expression for the output.</a:t>
            </a:r>
          </a:p>
          <a:p>
            <a:r>
              <a:rPr lang="en-US" dirty="0" smtClean="0"/>
              <a:t>Construct the truth table for the circuit.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SIMPLIFICATION OF LOGIC CIRCUITS USING BOOLEAN ALGEBRA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144963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Simplify the expression using rules of Boolean algebra.</a:t>
            </a:r>
          </a:p>
          <a:p>
            <a:pPr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09800"/>
            <a:ext cx="8034337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answer is: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Draw the logic circuits for both  expressions.</a:t>
            </a:r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2362200"/>
            <a:ext cx="296037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72000"/>
          </a:xfrm>
        </p:spPr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These logic circuits are equivalent ( for any combination of levels on the A,B,C inputs you get the same output from either circuits).</a:t>
            </a:r>
          </a:p>
          <a:p>
            <a:r>
              <a:rPr lang="en-US" dirty="0" smtClean="0"/>
              <a:t>One is more convenient to implement than the other (and cheaper since it requires only two gates instead of five)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9034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789</Words>
  <Application>Microsoft Office PowerPoint</Application>
  <PresentationFormat>On-screen Show (4:3)</PresentationFormat>
  <Paragraphs>104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Boolean Algebra and  Logic Simplification</vt:lpstr>
      <vt:lpstr>Boolean Operations and Expressions</vt:lpstr>
      <vt:lpstr>Boolean Addition</vt:lpstr>
      <vt:lpstr>SUM TERM</vt:lpstr>
      <vt:lpstr>Boolean Multiplication</vt:lpstr>
      <vt:lpstr>Product term</vt:lpstr>
      <vt:lpstr>Laws and Rules of Boolean algebra</vt:lpstr>
      <vt:lpstr>Commutative Law</vt:lpstr>
      <vt:lpstr>Associative Law</vt:lpstr>
      <vt:lpstr>Slide 10</vt:lpstr>
      <vt:lpstr>Distributive Law</vt:lpstr>
      <vt:lpstr>Distributive law in terms of Gate implementation</vt:lpstr>
      <vt:lpstr>Rules of Boolean Algebra</vt:lpstr>
      <vt:lpstr>Slide 14</vt:lpstr>
      <vt:lpstr>proof</vt:lpstr>
      <vt:lpstr>Slide 16</vt:lpstr>
      <vt:lpstr>Slide 17</vt:lpstr>
      <vt:lpstr>Slide 18</vt:lpstr>
      <vt:lpstr>Slide 19</vt:lpstr>
      <vt:lpstr>DeMORGAN’S THEOREM</vt:lpstr>
      <vt:lpstr>DERMORGAN’S THEOREM</vt:lpstr>
      <vt:lpstr>Slide 22</vt:lpstr>
      <vt:lpstr>Slide 23</vt:lpstr>
      <vt:lpstr>Slide 24</vt:lpstr>
      <vt:lpstr>Procedure for applying Demorgan’s theorems</vt:lpstr>
      <vt:lpstr>BOOLEAN ANALYSIS  OF LOGIC CIRCUITS</vt:lpstr>
      <vt:lpstr>Boolean Expression for a Logic circuit</vt:lpstr>
      <vt:lpstr>Slide 28</vt:lpstr>
      <vt:lpstr>example</vt:lpstr>
      <vt:lpstr>SIMPLIFICATION OF LOGIC CIRCUITS USING BOOLEAN ALGEBRA</vt:lpstr>
      <vt:lpstr>Slide 31</vt:lpstr>
      <vt:lpstr>Slide 32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Boolean Algebra and Logic Simplification</dc:title>
  <dc:creator>CELESTINA</dc:creator>
  <cp:lastModifiedBy>User</cp:lastModifiedBy>
  <cp:revision>43</cp:revision>
  <dcterms:created xsi:type="dcterms:W3CDTF">2015-03-27T11:12:59Z</dcterms:created>
  <dcterms:modified xsi:type="dcterms:W3CDTF">2017-03-27T06:08:42Z</dcterms:modified>
</cp:coreProperties>
</file>