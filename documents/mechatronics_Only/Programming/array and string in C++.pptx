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76" r:id="rId2"/>
    <p:sldId id="259" r:id="rId3"/>
    <p:sldId id="260" r:id="rId4"/>
    <p:sldId id="261" r:id="rId5"/>
    <p:sldId id="262" r:id="rId6"/>
    <p:sldId id="263" r:id="rId7"/>
    <p:sldId id="302" r:id="rId8"/>
    <p:sldId id="278" r:id="rId9"/>
    <p:sldId id="301" r:id="rId10"/>
    <p:sldId id="279" r:id="rId11"/>
    <p:sldId id="280" r:id="rId12"/>
    <p:sldId id="264" r:id="rId13"/>
    <p:sldId id="265" r:id="rId14"/>
    <p:sldId id="266" r:id="rId15"/>
    <p:sldId id="267" r:id="rId16"/>
    <p:sldId id="269" r:id="rId17"/>
    <p:sldId id="270" r:id="rId18"/>
    <p:sldId id="281" r:id="rId19"/>
    <p:sldId id="303" r:id="rId20"/>
    <p:sldId id="282" r:id="rId21"/>
    <p:sldId id="283" r:id="rId22"/>
    <p:sldId id="271" r:id="rId23"/>
    <p:sldId id="272" r:id="rId24"/>
    <p:sldId id="273" r:id="rId25"/>
    <p:sldId id="286" r:id="rId26"/>
    <p:sldId id="287" r:id="rId27"/>
    <p:sldId id="288" r:id="rId28"/>
    <p:sldId id="274" r:id="rId29"/>
    <p:sldId id="275" r:id="rId30"/>
    <p:sldId id="291" r:id="rId31"/>
    <p:sldId id="293" r:id="rId32"/>
    <p:sldId id="294" r:id="rId33"/>
    <p:sldId id="295" r:id="rId34"/>
    <p:sldId id="296" r:id="rId35"/>
    <p:sldId id="297" r:id="rId36"/>
    <p:sldId id="298" r:id="rId37"/>
    <p:sldId id="299" r:id="rId38"/>
    <p:sldId id="300"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4660"/>
  </p:normalViewPr>
  <p:slideViewPr>
    <p:cSldViewPr snapToGrid="0">
      <p:cViewPr varScale="1">
        <p:scale>
          <a:sx n="66" d="100"/>
          <a:sy n="66" d="100"/>
        </p:scale>
        <p:origin x="8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1A1A28-97BF-4EFF-A9A8-E23C001E6171}" type="datetimeFigureOut">
              <a:rPr lang="en-US" smtClean="0"/>
              <a:t>12/3/2024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3E2A7D-788D-4139-87CE-32F05044B327}" type="slidenum">
              <a:rPr lang="en-US" smtClean="0"/>
              <a:t>‹#›</a:t>
            </a:fld>
            <a:endParaRPr lang="en-US"/>
          </a:p>
        </p:txBody>
      </p:sp>
    </p:spTree>
    <p:extLst>
      <p:ext uri="{BB962C8B-B14F-4D97-AF65-F5344CB8AC3E}">
        <p14:creationId xmlns:p14="http://schemas.microsoft.com/office/powerpoint/2010/main" val="3859471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63E2A7D-788D-4139-87CE-32F05044B327}" type="slidenum">
              <a:rPr lang="en-US" smtClean="0"/>
              <a:t>2</a:t>
            </a:fld>
            <a:endParaRPr lang="en-US"/>
          </a:p>
        </p:txBody>
      </p:sp>
    </p:spTree>
    <p:extLst>
      <p:ext uri="{BB962C8B-B14F-4D97-AF65-F5344CB8AC3E}">
        <p14:creationId xmlns:p14="http://schemas.microsoft.com/office/powerpoint/2010/main" val="1129213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232D483-CBB5-4FFB-B5CB-E9BE3080D04C}" type="slidenum">
              <a:rPr lang="en-US" smtClean="0"/>
              <a:pPr/>
              <a:t>3</a:t>
            </a:fld>
            <a:endParaRPr lang="en-US"/>
          </a:p>
        </p:txBody>
      </p:sp>
      <p:sp>
        <p:nvSpPr>
          <p:cNvPr id="5" name="Footer Placeholder 4"/>
          <p:cNvSpPr>
            <a:spLocks noGrp="1"/>
          </p:cNvSpPr>
          <p:nvPr>
            <p:ph type="ftr" sz="quarter" idx="11"/>
          </p:nvPr>
        </p:nvSpPr>
        <p:spPr/>
        <p:txBody>
          <a:bodyPr/>
          <a:lstStyle/>
          <a:p>
            <a:r>
              <a:rPr lang="en-US"/>
              <a:t>Prepared by: Eng. A.S.S.</a:t>
            </a:r>
          </a:p>
        </p:txBody>
      </p:sp>
      <p:sp>
        <p:nvSpPr>
          <p:cNvPr id="6" name="Header Placeholder 5"/>
          <p:cNvSpPr>
            <a:spLocks noGrp="1"/>
          </p:cNvSpPr>
          <p:nvPr>
            <p:ph type="hdr" sz="quarter" idx="12"/>
          </p:nvPr>
        </p:nvSpPr>
        <p:spPr/>
        <p:txBody>
          <a:bodyPr/>
          <a:lstStyle/>
          <a:p>
            <a:r>
              <a:rPr lang="en-US"/>
              <a:t>BASIC COMPUTER APPLICATION VI - GSD 06205</a:t>
            </a:r>
          </a:p>
        </p:txBody>
      </p:sp>
    </p:spTree>
    <p:extLst>
      <p:ext uri="{BB962C8B-B14F-4D97-AF65-F5344CB8AC3E}">
        <p14:creationId xmlns:p14="http://schemas.microsoft.com/office/powerpoint/2010/main" val="3103249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3805" y="2130848"/>
            <a:ext cx="10364391" cy="1470049"/>
          </a:xfrm>
        </p:spPr>
        <p:txBody>
          <a:bodyPr/>
          <a:lstStyle/>
          <a:p>
            <a:r>
              <a:rPr lang="en-US"/>
              <a:t>Click to edit Master title style</a:t>
            </a:r>
          </a:p>
        </p:txBody>
      </p:sp>
      <p:sp>
        <p:nvSpPr>
          <p:cNvPr id="3" name="Subtitle 2"/>
          <p:cNvSpPr>
            <a:spLocks noGrp="1"/>
          </p:cNvSpPr>
          <p:nvPr>
            <p:ph type="subTitle" idx="1"/>
          </p:nvPr>
        </p:nvSpPr>
        <p:spPr>
          <a:xfrm>
            <a:off x="1829098" y="3886647"/>
            <a:ext cx="8533805" cy="1752451"/>
          </a:xfrm>
        </p:spPr>
        <p:txBody>
          <a:bodyPr/>
          <a:lstStyle>
            <a:lvl1pPr marL="0" indent="0" algn="ctr">
              <a:buNone/>
              <a:defRPr/>
            </a:lvl1pPr>
            <a:lvl2pPr marL="321457" indent="0" algn="ctr">
              <a:buNone/>
              <a:defRPr/>
            </a:lvl2pPr>
            <a:lvl3pPr marL="642915" indent="0" algn="ctr">
              <a:buNone/>
              <a:defRPr/>
            </a:lvl3pPr>
            <a:lvl4pPr marL="964372" indent="0" algn="ctr">
              <a:buNone/>
              <a:defRPr/>
            </a:lvl4pPr>
            <a:lvl5pPr marL="1285829" indent="0" algn="ctr">
              <a:buNone/>
              <a:defRPr/>
            </a:lvl5pPr>
            <a:lvl6pPr marL="1607287" indent="0" algn="ctr">
              <a:buNone/>
              <a:defRPr/>
            </a:lvl6pPr>
            <a:lvl7pPr marL="1928744" indent="0" algn="ctr">
              <a:buNone/>
              <a:defRPr/>
            </a:lvl7pPr>
            <a:lvl8pPr marL="2250201" indent="0" algn="ctr">
              <a:buNone/>
              <a:defRPr/>
            </a:lvl8pPr>
            <a:lvl9pPr marL="2571659" indent="0" algn="ctr">
              <a:buNone/>
              <a:defRPr/>
            </a:lvl9pPr>
          </a:lstStyle>
          <a:p>
            <a:r>
              <a:rPr lang="en-US"/>
              <a:t>Click to edit Master subtitle style</a:t>
            </a:r>
          </a:p>
        </p:txBody>
      </p:sp>
    </p:spTree>
    <p:extLst>
      <p:ext uri="{BB962C8B-B14F-4D97-AF65-F5344CB8AC3E}">
        <p14:creationId xmlns:p14="http://schemas.microsoft.com/office/powerpoint/2010/main" val="383419145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4203475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18" y="4406801"/>
            <a:ext cx="10362902" cy="1361777"/>
          </a:xfrm>
        </p:spPr>
        <p:txBody>
          <a:bodyPr anchor="t"/>
          <a:lstStyle>
            <a:lvl1pPr algn="l">
              <a:defRPr sz="2812" b="1" cap="all"/>
            </a:lvl1pPr>
          </a:lstStyle>
          <a:p>
            <a:r>
              <a:rPr lang="en-US"/>
              <a:t>Click to edit Master title style</a:t>
            </a:r>
          </a:p>
        </p:txBody>
      </p:sp>
      <p:sp>
        <p:nvSpPr>
          <p:cNvPr id="3" name="Text Placeholder 2"/>
          <p:cNvSpPr>
            <a:spLocks noGrp="1"/>
          </p:cNvSpPr>
          <p:nvPr>
            <p:ph type="body" idx="1"/>
          </p:nvPr>
        </p:nvSpPr>
        <p:spPr>
          <a:xfrm>
            <a:off x="962918" y="2906613"/>
            <a:ext cx="10362902" cy="1500188"/>
          </a:xfrm>
        </p:spPr>
        <p:txBody>
          <a:bodyPr anchor="b"/>
          <a:lstStyle>
            <a:lvl1pPr marL="0" indent="0">
              <a:buNone/>
              <a:defRPr sz="1406"/>
            </a:lvl1pPr>
            <a:lvl2pPr marL="321457" indent="0">
              <a:buNone/>
              <a:defRPr sz="1266"/>
            </a:lvl2pPr>
            <a:lvl3pPr marL="642915" indent="0">
              <a:buNone/>
              <a:defRPr sz="1125"/>
            </a:lvl3pPr>
            <a:lvl4pPr marL="964372" indent="0">
              <a:buNone/>
              <a:defRPr sz="984"/>
            </a:lvl4pPr>
            <a:lvl5pPr marL="1285829" indent="0">
              <a:buNone/>
              <a:defRPr sz="984"/>
            </a:lvl5pPr>
            <a:lvl6pPr marL="1607287" indent="0">
              <a:buNone/>
              <a:defRPr sz="984"/>
            </a:lvl6pPr>
            <a:lvl7pPr marL="1928744" indent="0">
              <a:buNone/>
              <a:defRPr sz="984"/>
            </a:lvl7pPr>
            <a:lvl8pPr marL="2250201" indent="0">
              <a:buNone/>
              <a:defRPr sz="984"/>
            </a:lvl8pPr>
            <a:lvl9pPr marL="2571659" indent="0">
              <a:buNone/>
              <a:defRPr sz="984"/>
            </a:lvl9pPr>
          </a:lstStyle>
          <a:p>
            <a:pPr lvl="0"/>
            <a:r>
              <a:rPr lang="en-US"/>
              <a:t>Click to edit Master text styles</a:t>
            </a:r>
          </a:p>
        </p:txBody>
      </p:sp>
    </p:spTree>
    <p:extLst>
      <p:ext uri="{BB962C8B-B14F-4D97-AF65-F5344CB8AC3E}">
        <p14:creationId xmlns:p14="http://schemas.microsoft.com/office/powerpoint/2010/main" val="181488572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90625" y="2196703"/>
            <a:ext cx="4833938" cy="3982641"/>
          </a:xfrm>
        </p:spPr>
        <p:txBody>
          <a:bodyPr/>
          <a:lstStyle>
            <a:lvl1pPr>
              <a:defRPr sz="1969"/>
            </a:lvl1pPr>
            <a:lvl2pPr>
              <a:defRPr sz="1687"/>
            </a:lvl2pPr>
            <a:lvl3pPr>
              <a:defRPr sz="1406"/>
            </a:lvl3pPr>
            <a:lvl4pPr>
              <a:defRPr sz="1266"/>
            </a:lvl4pPr>
            <a:lvl5pPr>
              <a:defRPr sz="1266"/>
            </a:lvl5pPr>
            <a:lvl6pPr>
              <a:defRPr sz="1266"/>
            </a:lvl6pPr>
            <a:lvl7pPr>
              <a:defRPr sz="1266"/>
            </a:lvl7pPr>
            <a:lvl8pPr>
              <a:defRPr sz="1266"/>
            </a:lvl8pPr>
            <a:lvl9pPr>
              <a:defRPr sz="12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67437" y="2196703"/>
            <a:ext cx="4833938" cy="3982641"/>
          </a:xfrm>
        </p:spPr>
        <p:txBody>
          <a:bodyPr/>
          <a:lstStyle>
            <a:lvl1pPr>
              <a:defRPr sz="1969"/>
            </a:lvl1pPr>
            <a:lvl2pPr>
              <a:defRPr sz="1687"/>
            </a:lvl2pPr>
            <a:lvl3pPr>
              <a:defRPr sz="1406"/>
            </a:lvl3pPr>
            <a:lvl4pPr>
              <a:defRPr sz="1266"/>
            </a:lvl4pPr>
            <a:lvl5pPr>
              <a:defRPr sz="1266"/>
            </a:lvl5pPr>
            <a:lvl6pPr>
              <a:defRPr sz="1266"/>
            </a:lvl6pPr>
            <a:lvl7pPr>
              <a:defRPr sz="1266"/>
            </a:lvl7pPr>
            <a:lvl8pPr>
              <a:defRPr sz="1266"/>
            </a:lvl8pPr>
            <a:lvl9pPr>
              <a:defRPr sz="12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405010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0196" y="274588"/>
            <a:ext cx="10971609"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10196" y="1534791"/>
            <a:ext cx="5386090" cy="639589"/>
          </a:xfrm>
        </p:spPr>
        <p:txBody>
          <a:bodyPr anchor="b"/>
          <a:lstStyle>
            <a:lvl1pPr marL="0" indent="0">
              <a:buNone/>
              <a:defRPr sz="1687" b="1"/>
            </a:lvl1pPr>
            <a:lvl2pPr marL="321457" indent="0">
              <a:buNone/>
              <a:defRPr sz="1406" b="1"/>
            </a:lvl2pPr>
            <a:lvl3pPr marL="642915" indent="0">
              <a:buNone/>
              <a:defRPr sz="1266" b="1"/>
            </a:lvl3pPr>
            <a:lvl4pPr marL="964372" indent="0">
              <a:buNone/>
              <a:defRPr sz="1125" b="1"/>
            </a:lvl4pPr>
            <a:lvl5pPr marL="1285829" indent="0">
              <a:buNone/>
              <a:defRPr sz="1125" b="1"/>
            </a:lvl5pPr>
            <a:lvl6pPr marL="1607287" indent="0">
              <a:buNone/>
              <a:defRPr sz="1125" b="1"/>
            </a:lvl6pPr>
            <a:lvl7pPr marL="1928744" indent="0">
              <a:buNone/>
              <a:defRPr sz="1125" b="1"/>
            </a:lvl7pPr>
            <a:lvl8pPr marL="2250201" indent="0">
              <a:buNone/>
              <a:defRPr sz="1125" b="1"/>
            </a:lvl8pPr>
            <a:lvl9pPr marL="2571659" indent="0">
              <a:buNone/>
              <a:defRPr sz="1125" b="1"/>
            </a:lvl9pPr>
          </a:lstStyle>
          <a:p>
            <a:pPr lvl="0"/>
            <a:r>
              <a:rPr lang="en-US"/>
              <a:t>Click to edit Master text styles</a:t>
            </a:r>
          </a:p>
        </p:txBody>
      </p:sp>
      <p:sp>
        <p:nvSpPr>
          <p:cNvPr id="4" name="Content Placeholder 3"/>
          <p:cNvSpPr>
            <a:spLocks noGrp="1"/>
          </p:cNvSpPr>
          <p:nvPr>
            <p:ph sz="half" idx="2"/>
          </p:nvPr>
        </p:nvSpPr>
        <p:spPr>
          <a:xfrm>
            <a:off x="610196" y="2174379"/>
            <a:ext cx="5386090" cy="3951387"/>
          </a:xfrm>
        </p:spPr>
        <p:txBody>
          <a:bodyPr/>
          <a:lstStyle>
            <a:lvl1pPr>
              <a:defRPr sz="1687"/>
            </a:lvl1pPr>
            <a:lvl2pPr>
              <a:defRPr sz="1406"/>
            </a:lvl2pPr>
            <a:lvl3pPr>
              <a:defRPr sz="1266"/>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2739" y="1534791"/>
            <a:ext cx="5389066" cy="639589"/>
          </a:xfrm>
        </p:spPr>
        <p:txBody>
          <a:bodyPr anchor="b"/>
          <a:lstStyle>
            <a:lvl1pPr marL="0" indent="0">
              <a:buNone/>
              <a:defRPr sz="1687" b="1"/>
            </a:lvl1pPr>
            <a:lvl2pPr marL="321457" indent="0">
              <a:buNone/>
              <a:defRPr sz="1406" b="1"/>
            </a:lvl2pPr>
            <a:lvl3pPr marL="642915" indent="0">
              <a:buNone/>
              <a:defRPr sz="1266" b="1"/>
            </a:lvl3pPr>
            <a:lvl4pPr marL="964372" indent="0">
              <a:buNone/>
              <a:defRPr sz="1125" b="1"/>
            </a:lvl4pPr>
            <a:lvl5pPr marL="1285829" indent="0">
              <a:buNone/>
              <a:defRPr sz="1125" b="1"/>
            </a:lvl5pPr>
            <a:lvl6pPr marL="1607287" indent="0">
              <a:buNone/>
              <a:defRPr sz="1125" b="1"/>
            </a:lvl6pPr>
            <a:lvl7pPr marL="1928744" indent="0">
              <a:buNone/>
              <a:defRPr sz="1125" b="1"/>
            </a:lvl7pPr>
            <a:lvl8pPr marL="2250201" indent="0">
              <a:buNone/>
              <a:defRPr sz="1125" b="1"/>
            </a:lvl8pPr>
            <a:lvl9pPr marL="2571659" indent="0">
              <a:buNone/>
              <a:defRPr sz="1125" b="1"/>
            </a:lvl9pPr>
          </a:lstStyle>
          <a:p>
            <a:pPr lvl="0"/>
            <a:r>
              <a:rPr lang="en-US"/>
              <a:t>Click to edit Master text styles</a:t>
            </a:r>
          </a:p>
        </p:txBody>
      </p:sp>
      <p:sp>
        <p:nvSpPr>
          <p:cNvPr id="6" name="Content Placeholder 5"/>
          <p:cNvSpPr>
            <a:spLocks noGrp="1"/>
          </p:cNvSpPr>
          <p:nvPr>
            <p:ph sz="quarter" idx="4"/>
          </p:nvPr>
        </p:nvSpPr>
        <p:spPr>
          <a:xfrm>
            <a:off x="6192739" y="2174379"/>
            <a:ext cx="5389066" cy="3951387"/>
          </a:xfrm>
        </p:spPr>
        <p:txBody>
          <a:bodyPr/>
          <a:lstStyle>
            <a:lvl1pPr>
              <a:defRPr sz="1687"/>
            </a:lvl1pPr>
            <a:lvl2pPr>
              <a:defRPr sz="1406"/>
            </a:lvl2pPr>
            <a:lvl3pPr>
              <a:defRPr sz="1266"/>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397232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1283843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807392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0196" y="273473"/>
            <a:ext cx="4010918" cy="1161975"/>
          </a:xfrm>
        </p:spPr>
        <p:txBody>
          <a:bodyPr anchor="b"/>
          <a:lstStyle>
            <a:lvl1pPr algn="l">
              <a:defRPr sz="1406" b="1"/>
            </a:lvl1pPr>
          </a:lstStyle>
          <a:p>
            <a:r>
              <a:rPr lang="en-US"/>
              <a:t>Click to edit Master title style</a:t>
            </a:r>
          </a:p>
        </p:txBody>
      </p:sp>
      <p:sp>
        <p:nvSpPr>
          <p:cNvPr id="3" name="Content Placeholder 2"/>
          <p:cNvSpPr>
            <a:spLocks noGrp="1"/>
          </p:cNvSpPr>
          <p:nvPr>
            <p:ph idx="1"/>
          </p:nvPr>
        </p:nvSpPr>
        <p:spPr>
          <a:xfrm>
            <a:off x="4766965" y="273472"/>
            <a:ext cx="6814839" cy="5852294"/>
          </a:xfrm>
        </p:spPr>
        <p:txBody>
          <a:bodyPr/>
          <a:lstStyle>
            <a:lvl1pPr>
              <a:defRPr sz="2250"/>
            </a:lvl1pPr>
            <a:lvl2pPr>
              <a:defRPr sz="1969"/>
            </a:lvl2pPr>
            <a:lvl3pPr>
              <a:defRPr sz="1687"/>
            </a:lvl3pPr>
            <a:lvl4pPr>
              <a:defRPr sz="1406"/>
            </a:lvl4pPr>
            <a:lvl5pPr>
              <a:defRPr sz="1406"/>
            </a:lvl5pPr>
            <a:lvl6pPr>
              <a:defRPr sz="1406"/>
            </a:lvl6pPr>
            <a:lvl7pPr>
              <a:defRPr sz="1406"/>
            </a:lvl7pPr>
            <a:lvl8pPr>
              <a:defRPr sz="1406"/>
            </a:lvl8pPr>
            <a:lvl9pPr>
              <a:defRPr sz="140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0196" y="1435448"/>
            <a:ext cx="4010918" cy="4690318"/>
          </a:xfrm>
        </p:spPr>
        <p:txBody>
          <a:bodyPr/>
          <a:lstStyle>
            <a:lvl1pPr marL="0" indent="0">
              <a:buNone/>
              <a:defRPr sz="984"/>
            </a:lvl1pPr>
            <a:lvl2pPr marL="321457" indent="0">
              <a:buNone/>
              <a:defRPr sz="844"/>
            </a:lvl2pPr>
            <a:lvl3pPr marL="642915" indent="0">
              <a:buNone/>
              <a:defRPr sz="703"/>
            </a:lvl3pPr>
            <a:lvl4pPr marL="964372" indent="0">
              <a:buNone/>
              <a:defRPr sz="633"/>
            </a:lvl4pPr>
            <a:lvl5pPr marL="1285829" indent="0">
              <a:buNone/>
              <a:defRPr sz="633"/>
            </a:lvl5pPr>
            <a:lvl6pPr marL="1607287" indent="0">
              <a:buNone/>
              <a:defRPr sz="633"/>
            </a:lvl6pPr>
            <a:lvl7pPr marL="1928744" indent="0">
              <a:buNone/>
              <a:defRPr sz="633"/>
            </a:lvl7pPr>
            <a:lvl8pPr marL="2250201" indent="0">
              <a:buNone/>
              <a:defRPr sz="633"/>
            </a:lvl8pPr>
            <a:lvl9pPr marL="2571659" indent="0">
              <a:buNone/>
              <a:defRPr sz="633"/>
            </a:lvl9pPr>
          </a:lstStyle>
          <a:p>
            <a:pPr lvl="0"/>
            <a:r>
              <a:rPr lang="en-US"/>
              <a:t>Click to edit Master text styles</a:t>
            </a:r>
          </a:p>
        </p:txBody>
      </p:sp>
    </p:spTree>
    <p:extLst>
      <p:ext uri="{BB962C8B-B14F-4D97-AF65-F5344CB8AC3E}">
        <p14:creationId xmlns:p14="http://schemas.microsoft.com/office/powerpoint/2010/main" val="208298722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180" y="4800824"/>
            <a:ext cx="7314903" cy="567035"/>
          </a:xfrm>
        </p:spPr>
        <p:txBody>
          <a:bodyPr anchor="b"/>
          <a:lstStyle>
            <a:lvl1pPr algn="l">
              <a:defRPr sz="1406" b="1"/>
            </a:lvl1pPr>
          </a:lstStyle>
          <a:p>
            <a:r>
              <a:rPr lang="en-US"/>
              <a:t>Click to edit Master title style</a:t>
            </a:r>
          </a:p>
        </p:txBody>
      </p:sp>
      <p:sp>
        <p:nvSpPr>
          <p:cNvPr id="3" name="Picture Placeholder 2"/>
          <p:cNvSpPr>
            <a:spLocks noGrp="1"/>
          </p:cNvSpPr>
          <p:nvPr>
            <p:ph type="pic" idx="1"/>
          </p:nvPr>
        </p:nvSpPr>
        <p:spPr>
          <a:xfrm>
            <a:off x="2390180" y="612800"/>
            <a:ext cx="7314903" cy="4114354"/>
          </a:xfrm>
        </p:spPr>
        <p:txBody>
          <a:bodyPr/>
          <a:lstStyle>
            <a:lvl1pPr marL="0" indent="0">
              <a:buNone/>
              <a:defRPr sz="2250"/>
            </a:lvl1pPr>
            <a:lvl2pPr marL="321457" indent="0">
              <a:buNone/>
              <a:defRPr sz="1969"/>
            </a:lvl2pPr>
            <a:lvl3pPr marL="642915" indent="0">
              <a:buNone/>
              <a:defRPr sz="1687"/>
            </a:lvl3pPr>
            <a:lvl4pPr marL="964372" indent="0">
              <a:buNone/>
              <a:defRPr sz="1406"/>
            </a:lvl4pPr>
            <a:lvl5pPr marL="1285829" indent="0">
              <a:buNone/>
              <a:defRPr sz="1406"/>
            </a:lvl5pPr>
            <a:lvl6pPr marL="1607287" indent="0">
              <a:buNone/>
              <a:defRPr sz="1406"/>
            </a:lvl6pPr>
            <a:lvl7pPr marL="1928744" indent="0">
              <a:buNone/>
              <a:defRPr sz="1406"/>
            </a:lvl7pPr>
            <a:lvl8pPr marL="2250201" indent="0">
              <a:buNone/>
              <a:defRPr sz="1406"/>
            </a:lvl8pPr>
            <a:lvl9pPr marL="2571659" indent="0">
              <a:buNone/>
              <a:defRPr sz="1406"/>
            </a:lvl9pPr>
          </a:lstStyle>
          <a:p>
            <a:pPr lvl="0"/>
            <a:endParaRPr lang="en-US" noProof="0">
              <a:sym typeface="Bradley Hand ITC TT-Bold" charset="0"/>
            </a:endParaRPr>
          </a:p>
        </p:txBody>
      </p:sp>
      <p:sp>
        <p:nvSpPr>
          <p:cNvPr id="4" name="Text Placeholder 3"/>
          <p:cNvSpPr>
            <a:spLocks noGrp="1"/>
          </p:cNvSpPr>
          <p:nvPr>
            <p:ph type="body" sz="half" idx="2"/>
          </p:nvPr>
        </p:nvSpPr>
        <p:spPr>
          <a:xfrm>
            <a:off x="2390180" y="5367859"/>
            <a:ext cx="7314903" cy="804788"/>
          </a:xfrm>
        </p:spPr>
        <p:txBody>
          <a:bodyPr/>
          <a:lstStyle>
            <a:lvl1pPr marL="0" indent="0">
              <a:buNone/>
              <a:defRPr sz="984"/>
            </a:lvl1pPr>
            <a:lvl2pPr marL="321457" indent="0">
              <a:buNone/>
              <a:defRPr sz="844"/>
            </a:lvl2pPr>
            <a:lvl3pPr marL="642915" indent="0">
              <a:buNone/>
              <a:defRPr sz="703"/>
            </a:lvl3pPr>
            <a:lvl4pPr marL="964372" indent="0">
              <a:buNone/>
              <a:defRPr sz="633"/>
            </a:lvl4pPr>
            <a:lvl5pPr marL="1285829" indent="0">
              <a:buNone/>
              <a:defRPr sz="633"/>
            </a:lvl5pPr>
            <a:lvl6pPr marL="1607287" indent="0">
              <a:buNone/>
              <a:defRPr sz="633"/>
            </a:lvl6pPr>
            <a:lvl7pPr marL="1928744" indent="0">
              <a:buNone/>
              <a:defRPr sz="633"/>
            </a:lvl7pPr>
            <a:lvl8pPr marL="2250201" indent="0">
              <a:buNone/>
              <a:defRPr sz="633"/>
            </a:lvl8pPr>
            <a:lvl9pPr marL="2571659" indent="0">
              <a:buNone/>
              <a:defRPr sz="633"/>
            </a:lvl9pPr>
          </a:lstStyle>
          <a:p>
            <a:pPr lvl="0"/>
            <a:r>
              <a:rPr lang="en-US"/>
              <a:t>Click to edit Master text styles</a:t>
            </a:r>
          </a:p>
        </p:txBody>
      </p:sp>
    </p:spTree>
    <p:extLst>
      <p:ext uri="{BB962C8B-B14F-4D97-AF65-F5344CB8AC3E}">
        <p14:creationId xmlns:p14="http://schemas.microsoft.com/office/powerpoint/2010/main" val="141026908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286212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48687" y="991196"/>
            <a:ext cx="2452688" cy="518814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90625" y="991196"/>
            <a:ext cx="7215188" cy="518814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506738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121920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356351"/>
            <a:ext cx="2844800" cy="365125"/>
          </a:xfrm>
          <a:prstGeom prst="rect">
            <a:avLst/>
          </a:prstGeom>
        </p:spPr>
        <p:txBody>
          <a:bodyPr/>
          <a:lstStyle>
            <a:lvl1pPr>
              <a:defRPr/>
            </a:lvl1pPr>
          </a:lstStyle>
          <a:p>
            <a:pPr>
              <a:defRPr/>
            </a:pPr>
            <a:endParaRPr lang="en-US" altLang="zh-CN">
              <a:solidFill>
                <a:srgbClr val="000000"/>
              </a:solidFill>
            </a:endParaRPr>
          </a:p>
        </p:txBody>
      </p:sp>
      <p:sp>
        <p:nvSpPr>
          <p:cNvPr id="6" name="Slide Number Placeholder 5"/>
          <p:cNvSpPr>
            <a:spLocks noGrp="1"/>
          </p:cNvSpPr>
          <p:nvPr>
            <p:ph type="sldNum" sz="quarter" idx="11"/>
          </p:nvPr>
        </p:nvSpPr>
        <p:spPr>
          <a:xfrm>
            <a:off x="8737600" y="6356351"/>
            <a:ext cx="2844800" cy="365125"/>
          </a:xfrm>
          <a:prstGeom prst="rect">
            <a:avLst/>
          </a:prstGeom>
        </p:spPr>
        <p:txBody>
          <a:bodyPr/>
          <a:lstStyle>
            <a:lvl1pPr>
              <a:defRPr/>
            </a:lvl1pPr>
          </a:lstStyle>
          <a:p>
            <a:r>
              <a:rPr lang="zh-CN" altLang="en-US">
                <a:solidFill>
                  <a:srgbClr val="000000"/>
                </a:solidFill>
              </a:rPr>
              <a:t> </a:t>
            </a:r>
            <a:r>
              <a:rPr lang="en-US" altLang="zh-CN">
                <a:solidFill>
                  <a:srgbClr val="000000"/>
                </a:solidFill>
                <a:latin typeface="Calibri" panose="020F0502020204030204" pitchFamily="34" charset="0"/>
              </a:rPr>
              <a:t>PJF - </a:t>
            </a:r>
            <a:fld id="{9CA0F6C9-BAE2-452A-B03A-D2E74BC72315}" type="slidenum">
              <a:rPr lang="en-US" altLang="zh-CN">
                <a:solidFill>
                  <a:srgbClr val="000000"/>
                </a:solidFill>
                <a:latin typeface="Calibri" panose="020F0502020204030204" pitchFamily="34" charset="0"/>
              </a:rPr>
              <a:pPr/>
              <a:t>‹#›</a:t>
            </a:fld>
            <a:endParaRPr lang="en-US" altLang="zh-CN">
              <a:solidFill>
                <a:srgbClr val="000000"/>
              </a:solidFill>
              <a:latin typeface="Calibri" panose="020F0502020204030204" pitchFamily="34" charset="0"/>
            </a:endParaRPr>
          </a:p>
        </p:txBody>
      </p:sp>
      <p:sp>
        <p:nvSpPr>
          <p:cNvPr id="7" name="Footer Placeholder 6"/>
          <p:cNvSpPr>
            <a:spLocks noGrp="1"/>
          </p:cNvSpPr>
          <p:nvPr>
            <p:ph type="ftr" sz="quarter" idx="12"/>
          </p:nvPr>
        </p:nvSpPr>
        <p:spPr>
          <a:xfrm>
            <a:off x="4165600" y="6356351"/>
            <a:ext cx="3860800" cy="365125"/>
          </a:xfrm>
          <a:prstGeom prst="rect">
            <a:avLst/>
          </a:prstGeom>
        </p:spPr>
        <p:txBody>
          <a:bodyPr/>
          <a:lstStyle>
            <a:lvl1pPr>
              <a:defRPr/>
            </a:lvl1pPr>
          </a:lstStyle>
          <a:p>
            <a:pPr>
              <a:defRPr/>
            </a:pPr>
            <a:r>
              <a:rPr lang="en-US" altLang="zh-CN">
                <a:solidFill>
                  <a:srgbClr val="000000"/>
                </a:solidFill>
              </a:rPr>
              <a:t>LECTURE 5 - ARRAYS &amp; STRINGS</a:t>
            </a:r>
          </a:p>
        </p:txBody>
      </p:sp>
    </p:spTree>
    <p:extLst>
      <p:ext uri="{BB962C8B-B14F-4D97-AF65-F5344CB8AC3E}">
        <p14:creationId xmlns:p14="http://schemas.microsoft.com/office/powerpoint/2010/main" val="9972357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xfrm>
            <a:off x="609600" y="6243638"/>
            <a:ext cx="2844800" cy="457200"/>
          </a:xfrm>
          <a:prstGeom prst="rect">
            <a:avLst/>
          </a:prstGeom>
          <a:ln/>
        </p:spPr>
        <p:txBody>
          <a:bodyPr/>
          <a:lstStyle>
            <a:lvl1pPr>
              <a:defRPr/>
            </a:lvl1pPr>
          </a:lstStyle>
          <a:p>
            <a:pPr>
              <a:defRPr/>
            </a:pPr>
            <a:endParaRPr lang="en-US" altLang="en-US">
              <a:solidFill>
                <a:srgbClr val="000000"/>
              </a:solidFill>
            </a:endParaRPr>
          </a:p>
        </p:txBody>
      </p:sp>
      <p:sp>
        <p:nvSpPr>
          <p:cNvPr id="7" name="Rectangle 5"/>
          <p:cNvSpPr>
            <a:spLocks noGrp="1" noChangeArrowheads="1"/>
          </p:cNvSpPr>
          <p:nvPr>
            <p:ph type="ftr" sz="quarter" idx="11"/>
          </p:nvPr>
        </p:nvSpPr>
        <p:spPr>
          <a:xfrm>
            <a:off x="4165600" y="6248400"/>
            <a:ext cx="3860800" cy="457200"/>
          </a:xfrm>
          <a:prstGeom prst="rect">
            <a:avLst/>
          </a:prstGeom>
          <a:ln/>
        </p:spPr>
        <p:txBody>
          <a:bodyPr/>
          <a:lstStyle>
            <a:lvl1pPr>
              <a:defRPr/>
            </a:lvl1pPr>
          </a:lstStyle>
          <a:p>
            <a:pPr>
              <a:defRPr/>
            </a:pPr>
            <a:r>
              <a:rPr lang="en-US" altLang="en-US">
                <a:solidFill>
                  <a:srgbClr val="000000"/>
                </a:solidFill>
              </a:rPr>
              <a:t>LECTURE 5 - ARRAYS &amp; STRINGS</a:t>
            </a:r>
          </a:p>
        </p:txBody>
      </p:sp>
      <p:sp>
        <p:nvSpPr>
          <p:cNvPr id="8" name="Rectangle 6"/>
          <p:cNvSpPr>
            <a:spLocks noGrp="1" noChangeArrowheads="1"/>
          </p:cNvSpPr>
          <p:nvPr>
            <p:ph type="sldNum" sz="quarter" idx="12"/>
          </p:nvPr>
        </p:nvSpPr>
        <p:spPr>
          <a:xfrm>
            <a:off x="8737600" y="6243638"/>
            <a:ext cx="2844800" cy="457200"/>
          </a:xfrm>
          <a:prstGeom prst="rect">
            <a:avLst/>
          </a:prstGeom>
          <a:ln/>
        </p:spPr>
        <p:txBody>
          <a:bodyPr/>
          <a:lstStyle>
            <a:lvl1pPr>
              <a:defRPr/>
            </a:lvl1pPr>
          </a:lstStyle>
          <a:p>
            <a:pPr>
              <a:defRPr/>
            </a:pPr>
            <a:fld id="{BAA0E32F-E99F-413B-A718-C63A460A711C}"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957557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1750219" y="991195"/>
            <a:ext cx="8691563" cy="1205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50800" bIns="50800" numCol="1" anchor="ctr" anchorCtr="0" compatLnSpc="1">
            <a:prstTxWarp prst="textNoShape">
              <a:avLst/>
            </a:prstTxWarp>
          </a:bodyPr>
          <a:lstStyle/>
          <a:p>
            <a:pPr lvl="0"/>
            <a:r>
              <a:rPr lang="en-US">
                <a:sym typeface="Stone Sans ITC TT-Semi" charset="0"/>
              </a:rPr>
              <a:t>Click to edit Master title style</a:t>
            </a:r>
          </a:p>
        </p:txBody>
      </p:sp>
      <p:sp>
        <p:nvSpPr>
          <p:cNvPr id="1027" name="Rectangle 2"/>
          <p:cNvSpPr>
            <a:spLocks noGrp="1" noChangeArrowheads="1"/>
          </p:cNvSpPr>
          <p:nvPr>
            <p:ph type="body" idx="1"/>
          </p:nvPr>
        </p:nvSpPr>
        <p:spPr bwMode="auto">
          <a:xfrm>
            <a:off x="1190625" y="2196703"/>
            <a:ext cx="9810750" cy="3982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50800" bIns="50800" numCol="1" anchor="ctr" anchorCtr="0" compatLnSpc="1">
            <a:prstTxWarp prst="textNoShape">
              <a:avLst/>
            </a:prstTxWarp>
          </a:bodyPr>
          <a:lstStyle/>
          <a:p>
            <a:pPr lvl="0"/>
            <a:r>
              <a:rPr lang="en-US">
                <a:sym typeface="Bradley Hand ITC TT-Bold" charset="0"/>
              </a:rPr>
              <a:t>Click to edit Master text styles</a:t>
            </a:r>
          </a:p>
          <a:p>
            <a:pPr lvl="1"/>
            <a:r>
              <a:rPr lang="en-US">
                <a:sym typeface="Bradley Hand ITC TT-Bold" charset="0"/>
              </a:rPr>
              <a:t>Second level</a:t>
            </a:r>
          </a:p>
          <a:p>
            <a:pPr lvl="2"/>
            <a:r>
              <a:rPr lang="en-US">
                <a:sym typeface="Bradley Hand ITC TT-Bold" charset="0"/>
              </a:rPr>
              <a:t>Third level</a:t>
            </a:r>
          </a:p>
          <a:p>
            <a:pPr lvl="3"/>
            <a:r>
              <a:rPr lang="en-US">
                <a:sym typeface="Bradley Hand ITC TT-Bold" charset="0"/>
              </a:rPr>
              <a:t>Fourth level</a:t>
            </a:r>
          </a:p>
          <a:p>
            <a:pPr lvl="4"/>
            <a:r>
              <a:rPr lang="en-US">
                <a:sym typeface="Bradley Hand ITC TT-Bold" charset="0"/>
              </a:rPr>
              <a:t>Fifth level</a:t>
            </a:r>
          </a:p>
        </p:txBody>
      </p:sp>
    </p:spTree>
    <p:extLst>
      <p:ext uri="{BB962C8B-B14F-4D97-AF65-F5344CB8AC3E}">
        <p14:creationId xmlns:p14="http://schemas.microsoft.com/office/powerpoint/2010/main" val="11578438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p:hf sldNum="0" hdr="0" ftr="0" dt="0"/>
  <p:txStyles>
    <p:titleStyle>
      <a:lvl1pPr algn="l" rtl="0" eaLnBrk="0" fontAlgn="base" hangingPunct="0">
        <a:spcBef>
          <a:spcPct val="0"/>
        </a:spcBef>
        <a:spcAft>
          <a:spcPct val="0"/>
        </a:spcAft>
        <a:defRPr sz="4500">
          <a:solidFill>
            <a:srgbClr val="3B3B3E"/>
          </a:solidFill>
          <a:latin typeface="+mj-lt"/>
          <a:ea typeface="+mj-ea"/>
          <a:cs typeface="+mj-cs"/>
          <a:sym typeface="Stone Sans ITC TT-Semi" charset="0"/>
        </a:defRPr>
      </a:lvl1pPr>
      <a:lvl2pPr algn="l" rtl="0" eaLnBrk="0" fontAlgn="base" hangingPunct="0">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2pPr>
      <a:lvl3pPr algn="l" rtl="0" eaLnBrk="0" fontAlgn="base" hangingPunct="0">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3pPr>
      <a:lvl4pPr algn="l" rtl="0" eaLnBrk="0" fontAlgn="base" hangingPunct="0">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4pPr>
      <a:lvl5pPr algn="l" rtl="0" eaLnBrk="0" fontAlgn="base" hangingPunct="0">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5pPr>
      <a:lvl6pPr marL="321457" algn="l" rtl="0" fontAlgn="base">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6pPr>
      <a:lvl7pPr marL="642915" algn="l" rtl="0" fontAlgn="base">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7pPr>
      <a:lvl8pPr marL="964372" algn="l" rtl="0" fontAlgn="base">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8pPr>
      <a:lvl9pPr marL="1285829" algn="l" rtl="0" fontAlgn="base">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9pPr>
    </p:titleStyle>
    <p:bodyStyle>
      <a:lvl1pPr marL="571480"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1pPr>
      <a:lvl2pPr marL="1014600"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2pPr>
      <a:lvl3pPr marL="1443210"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3pPr>
      <a:lvl4pPr marL="1884097"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4pPr>
      <a:lvl5pPr marL="2312707"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5pPr>
      <a:lvl6pPr marL="2634164" indent="-455398" algn="l" rtl="0" fontAlgn="base">
        <a:spcBef>
          <a:spcPts val="1406"/>
        </a:spcBef>
        <a:spcAft>
          <a:spcPct val="0"/>
        </a:spcAft>
        <a:buSzPct val="77000"/>
        <a:buChar char="•"/>
        <a:defRPr sz="2953">
          <a:solidFill>
            <a:schemeClr val="tx1"/>
          </a:solidFill>
          <a:latin typeface="+mn-lt"/>
          <a:ea typeface="+mn-ea"/>
          <a:cs typeface="+mn-cs"/>
          <a:sym typeface="Bradley Hand ITC TT-Bold" charset="0"/>
        </a:defRPr>
      </a:lvl6pPr>
      <a:lvl7pPr marL="2955621" indent="-455398" algn="l" rtl="0" fontAlgn="base">
        <a:spcBef>
          <a:spcPts val="1406"/>
        </a:spcBef>
        <a:spcAft>
          <a:spcPct val="0"/>
        </a:spcAft>
        <a:buSzPct val="77000"/>
        <a:buChar char="•"/>
        <a:defRPr sz="2953">
          <a:solidFill>
            <a:schemeClr val="tx1"/>
          </a:solidFill>
          <a:latin typeface="+mn-lt"/>
          <a:ea typeface="+mn-ea"/>
          <a:cs typeface="+mn-cs"/>
          <a:sym typeface="Bradley Hand ITC TT-Bold" charset="0"/>
        </a:defRPr>
      </a:lvl7pPr>
      <a:lvl8pPr marL="3277079" indent="-455398" algn="l" rtl="0" fontAlgn="base">
        <a:spcBef>
          <a:spcPts val="1406"/>
        </a:spcBef>
        <a:spcAft>
          <a:spcPct val="0"/>
        </a:spcAft>
        <a:buSzPct val="77000"/>
        <a:buChar char="•"/>
        <a:defRPr sz="2953">
          <a:solidFill>
            <a:schemeClr val="tx1"/>
          </a:solidFill>
          <a:latin typeface="+mn-lt"/>
          <a:ea typeface="+mn-ea"/>
          <a:cs typeface="+mn-cs"/>
          <a:sym typeface="Bradley Hand ITC TT-Bold" charset="0"/>
        </a:defRPr>
      </a:lvl8pPr>
      <a:lvl9pPr marL="3598536" indent="-455398" algn="l" rtl="0" fontAlgn="base">
        <a:spcBef>
          <a:spcPts val="1406"/>
        </a:spcBef>
        <a:spcAft>
          <a:spcPct val="0"/>
        </a:spcAft>
        <a:buSzPct val="77000"/>
        <a:buChar char="•"/>
        <a:defRPr sz="2953">
          <a:solidFill>
            <a:schemeClr val="tx1"/>
          </a:solidFill>
          <a:latin typeface="+mn-lt"/>
          <a:ea typeface="+mn-ea"/>
          <a:cs typeface="+mn-cs"/>
          <a:sym typeface="Bradley Hand ITC TT-Bold" charset="0"/>
        </a:defRPr>
      </a:lvl9pPr>
    </p:bodyStyle>
    <p:otherStyle>
      <a:defPPr>
        <a:defRPr lang="en-US"/>
      </a:defPPr>
      <a:lvl1pPr marL="0" algn="l" defTabSz="321457" rtl="0" eaLnBrk="1" latinLnBrk="0" hangingPunct="1">
        <a:defRPr sz="1266" kern="1200">
          <a:solidFill>
            <a:schemeClr val="tx1"/>
          </a:solidFill>
          <a:latin typeface="+mn-lt"/>
          <a:ea typeface="+mn-ea"/>
          <a:cs typeface="+mn-cs"/>
        </a:defRPr>
      </a:lvl1pPr>
      <a:lvl2pPr marL="321457" algn="l" defTabSz="321457" rtl="0" eaLnBrk="1" latinLnBrk="0" hangingPunct="1">
        <a:defRPr sz="1266" kern="1200">
          <a:solidFill>
            <a:schemeClr val="tx1"/>
          </a:solidFill>
          <a:latin typeface="+mn-lt"/>
          <a:ea typeface="+mn-ea"/>
          <a:cs typeface="+mn-cs"/>
        </a:defRPr>
      </a:lvl2pPr>
      <a:lvl3pPr marL="642915" algn="l" defTabSz="321457" rtl="0" eaLnBrk="1" latinLnBrk="0" hangingPunct="1">
        <a:defRPr sz="1266" kern="1200">
          <a:solidFill>
            <a:schemeClr val="tx1"/>
          </a:solidFill>
          <a:latin typeface="+mn-lt"/>
          <a:ea typeface="+mn-ea"/>
          <a:cs typeface="+mn-cs"/>
        </a:defRPr>
      </a:lvl3pPr>
      <a:lvl4pPr marL="964372" algn="l" defTabSz="321457" rtl="0" eaLnBrk="1" latinLnBrk="0" hangingPunct="1">
        <a:defRPr sz="1266" kern="1200">
          <a:solidFill>
            <a:schemeClr val="tx1"/>
          </a:solidFill>
          <a:latin typeface="+mn-lt"/>
          <a:ea typeface="+mn-ea"/>
          <a:cs typeface="+mn-cs"/>
        </a:defRPr>
      </a:lvl4pPr>
      <a:lvl5pPr marL="1285829" algn="l" defTabSz="321457" rtl="0" eaLnBrk="1" latinLnBrk="0" hangingPunct="1">
        <a:defRPr sz="1266" kern="1200">
          <a:solidFill>
            <a:schemeClr val="tx1"/>
          </a:solidFill>
          <a:latin typeface="+mn-lt"/>
          <a:ea typeface="+mn-ea"/>
          <a:cs typeface="+mn-cs"/>
        </a:defRPr>
      </a:lvl5pPr>
      <a:lvl6pPr marL="1607287" algn="l" defTabSz="321457" rtl="0" eaLnBrk="1" latinLnBrk="0" hangingPunct="1">
        <a:defRPr sz="1266" kern="1200">
          <a:solidFill>
            <a:schemeClr val="tx1"/>
          </a:solidFill>
          <a:latin typeface="+mn-lt"/>
          <a:ea typeface="+mn-ea"/>
          <a:cs typeface="+mn-cs"/>
        </a:defRPr>
      </a:lvl6pPr>
      <a:lvl7pPr marL="1928744" algn="l" defTabSz="321457" rtl="0" eaLnBrk="1" latinLnBrk="0" hangingPunct="1">
        <a:defRPr sz="1266" kern="1200">
          <a:solidFill>
            <a:schemeClr val="tx1"/>
          </a:solidFill>
          <a:latin typeface="+mn-lt"/>
          <a:ea typeface="+mn-ea"/>
          <a:cs typeface="+mn-cs"/>
        </a:defRPr>
      </a:lvl7pPr>
      <a:lvl8pPr marL="2250201" algn="l" defTabSz="321457" rtl="0" eaLnBrk="1" latinLnBrk="0" hangingPunct="1">
        <a:defRPr sz="1266" kern="1200">
          <a:solidFill>
            <a:schemeClr val="tx1"/>
          </a:solidFill>
          <a:latin typeface="+mn-lt"/>
          <a:ea typeface="+mn-ea"/>
          <a:cs typeface="+mn-cs"/>
        </a:defRPr>
      </a:lvl8pPr>
      <a:lvl9pPr marL="2571659" algn="l" defTabSz="321457" rtl="0" eaLnBrk="1" latinLnBrk="0" hangingPunct="1">
        <a:defRPr sz="126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1"/>
          <p:cNvSpPr txBox="1">
            <a:spLocks noChangeArrowheads="1"/>
          </p:cNvSpPr>
          <p:nvPr/>
        </p:nvSpPr>
        <p:spPr bwMode="auto">
          <a:xfrm>
            <a:off x="10159008" y="6286500"/>
            <a:ext cx="309191" cy="339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4200">
                <a:solidFill>
                  <a:srgbClr val="000000"/>
                </a:solidFill>
                <a:latin typeface="Bradley Hand ITC TT-Bold" charset="0"/>
                <a:ea typeface="ヒラギノ明朝 ProN W6" charset="-128"/>
                <a:sym typeface="Bradley Hand ITC TT-Bold" charset="0"/>
              </a:defRPr>
            </a:lvl1pPr>
            <a:lvl2pPr marL="742950" indent="-285750" eaLnBrk="0" hangingPunct="0">
              <a:defRPr sz="4200">
                <a:solidFill>
                  <a:srgbClr val="000000"/>
                </a:solidFill>
                <a:latin typeface="Bradley Hand ITC TT-Bold" charset="0"/>
                <a:ea typeface="ヒラギノ明朝 ProN W6" charset="-128"/>
                <a:sym typeface="Bradley Hand ITC TT-Bold" charset="0"/>
              </a:defRPr>
            </a:lvl2pPr>
            <a:lvl3pPr marL="1143000" indent="-228600" eaLnBrk="0" hangingPunct="0">
              <a:defRPr sz="4200">
                <a:solidFill>
                  <a:srgbClr val="000000"/>
                </a:solidFill>
                <a:latin typeface="Bradley Hand ITC TT-Bold" charset="0"/>
                <a:ea typeface="ヒラギノ明朝 ProN W6" charset="-128"/>
                <a:sym typeface="Bradley Hand ITC TT-Bold" charset="0"/>
              </a:defRPr>
            </a:lvl3pPr>
            <a:lvl4pPr marL="1600200" indent="-228600" eaLnBrk="0" hangingPunct="0">
              <a:defRPr sz="4200">
                <a:solidFill>
                  <a:srgbClr val="000000"/>
                </a:solidFill>
                <a:latin typeface="Bradley Hand ITC TT-Bold" charset="0"/>
                <a:ea typeface="ヒラギノ明朝 ProN W6" charset="-128"/>
                <a:sym typeface="Bradley Hand ITC TT-Bold" charset="0"/>
              </a:defRPr>
            </a:lvl4pPr>
            <a:lvl5pPr marL="2057400" indent="-228600" eaLnBrk="0" hangingPunct="0">
              <a:defRPr sz="4200">
                <a:solidFill>
                  <a:srgbClr val="000000"/>
                </a:solidFill>
                <a:latin typeface="Bradley Hand ITC TT-Bold" charset="0"/>
                <a:ea typeface="ヒラギノ明朝 ProN W6" charset="-128"/>
                <a:sym typeface="Bradley Hand ITC TT-Bold" charset="0"/>
              </a:defRPr>
            </a:lvl5pPr>
            <a:lvl6pPr marL="2514600" indent="-228600" algn="ctr" eaLnBrk="0" fontAlgn="base" hangingPunct="0">
              <a:spcBef>
                <a:spcPct val="0"/>
              </a:spcBef>
              <a:spcAft>
                <a:spcPct val="0"/>
              </a:spcAft>
              <a:defRPr sz="4200">
                <a:solidFill>
                  <a:srgbClr val="000000"/>
                </a:solidFill>
                <a:latin typeface="Bradley Hand ITC TT-Bold" charset="0"/>
                <a:ea typeface="ヒラギノ明朝 ProN W6" charset="-128"/>
                <a:sym typeface="Bradley Hand ITC TT-Bold" charset="0"/>
              </a:defRPr>
            </a:lvl6pPr>
            <a:lvl7pPr marL="2971800" indent="-228600" algn="ctr" eaLnBrk="0" fontAlgn="base" hangingPunct="0">
              <a:spcBef>
                <a:spcPct val="0"/>
              </a:spcBef>
              <a:spcAft>
                <a:spcPct val="0"/>
              </a:spcAft>
              <a:defRPr sz="4200">
                <a:solidFill>
                  <a:srgbClr val="000000"/>
                </a:solidFill>
                <a:latin typeface="Bradley Hand ITC TT-Bold" charset="0"/>
                <a:ea typeface="ヒラギノ明朝 ProN W6" charset="-128"/>
                <a:sym typeface="Bradley Hand ITC TT-Bold" charset="0"/>
              </a:defRPr>
            </a:lvl7pPr>
            <a:lvl8pPr marL="3429000" indent="-228600" algn="ctr" eaLnBrk="0" fontAlgn="base" hangingPunct="0">
              <a:spcBef>
                <a:spcPct val="0"/>
              </a:spcBef>
              <a:spcAft>
                <a:spcPct val="0"/>
              </a:spcAft>
              <a:defRPr sz="4200">
                <a:solidFill>
                  <a:srgbClr val="000000"/>
                </a:solidFill>
                <a:latin typeface="Bradley Hand ITC TT-Bold" charset="0"/>
                <a:ea typeface="ヒラギノ明朝 ProN W6" charset="-128"/>
                <a:sym typeface="Bradley Hand ITC TT-Bold" charset="0"/>
              </a:defRPr>
            </a:lvl8pPr>
            <a:lvl9pPr marL="3886200" indent="-228600" algn="ctr" eaLnBrk="0" fontAlgn="base" hangingPunct="0">
              <a:spcBef>
                <a:spcPct val="0"/>
              </a:spcBef>
              <a:spcAft>
                <a:spcPct val="0"/>
              </a:spcAft>
              <a:defRPr sz="4200">
                <a:solidFill>
                  <a:srgbClr val="000000"/>
                </a:solidFill>
                <a:latin typeface="Bradley Hand ITC TT-Bold" charset="0"/>
                <a:ea typeface="ヒラギノ明朝 ProN W6" charset="-128"/>
                <a:sym typeface="Bradley Hand ITC TT-Bold" charset="0"/>
              </a:defRPr>
            </a:lvl9pPr>
          </a:lstStyle>
          <a:p>
            <a:pPr algn="r" eaLnBrk="1" fontAlgn="base" hangingPunct="1">
              <a:spcBef>
                <a:spcPct val="0"/>
              </a:spcBef>
              <a:spcAft>
                <a:spcPct val="0"/>
              </a:spcAft>
            </a:pPr>
            <a:endParaRPr lang="en-US" sz="1687"/>
          </a:p>
        </p:txBody>
      </p:sp>
      <p:sp>
        <p:nvSpPr>
          <p:cNvPr id="2" name="Rectangle 1"/>
          <p:cNvSpPr/>
          <p:nvPr/>
        </p:nvSpPr>
        <p:spPr>
          <a:xfrm>
            <a:off x="395784" y="1982391"/>
            <a:ext cx="11477767" cy="2193824"/>
          </a:xfrm>
          <a:prstGeom prst="rect">
            <a:avLst/>
          </a:prstGeom>
          <a:noFill/>
        </p:spPr>
        <p:txBody>
          <a:bodyPr wrap="none" lIns="91440" tIns="45720" rIns="91440" bIns="45720">
            <a:prstTxWarp prst="textChevron">
              <a:avLst/>
            </a:prstTxWarp>
            <a:spAutoFit/>
            <a:scene3d>
              <a:camera prst="orthographicFront"/>
              <a:lightRig rig="threePt" dir="t"/>
            </a:scene3d>
            <a:sp3d extrusionH="57150">
              <a:bevelT w="38100" h="38100" prst="angle"/>
            </a:sp3d>
          </a:bodyPr>
          <a:lstStyle/>
          <a:p>
            <a:r>
              <a:rPr lang="en-US" sz="5400" b="1" i="1" kern="0" dirty="0">
                <a:solidFill>
                  <a:schemeClr val="accent1">
                    <a:lumMod val="50000"/>
                  </a:schemeClr>
                </a:solidFill>
                <a:effectLst>
                  <a:outerShdw blurRad="50800" dist="38100" dir="18900000" algn="bl" rotWithShape="0">
                    <a:prstClr val="black">
                      <a:alpha val="40000"/>
                    </a:prstClr>
                  </a:outerShdw>
                </a:effectLst>
              </a:rPr>
              <a:t>Arrays and Strings in C++</a:t>
            </a:r>
            <a:endParaRPr lang="en-US" sz="5400" kern="0" dirty="0">
              <a:solidFill>
                <a:schemeClr val="accent1">
                  <a:lumMod val="50000"/>
                </a:schemeClr>
              </a:solidFill>
              <a:effectLst>
                <a:outerShdw blurRad="50800" dist="38100" dir="18900000" algn="bl" rotWithShape="0">
                  <a:prstClr val="black">
                    <a:alpha val="40000"/>
                  </a:prstClr>
                </a:outerShdw>
              </a:effectLst>
            </a:endParaRPr>
          </a:p>
        </p:txBody>
      </p:sp>
    </p:spTree>
    <p:extLst>
      <p:ext uri="{BB962C8B-B14F-4D97-AF65-F5344CB8AC3E}">
        <p14:creationId xmlns:p14="http://schemas.microsoft.com/office/powerpoint/2010/main" val="361090872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069" y="2088107"/>
            <a:ext cx="11797731" cy="4517021"/>
          </a:xfrm>
        </p:spPr>
        <p:txBody>
          <a:bodyPr anchor="t">
            <a:noAutofit/>
          </a:bodyPr>
          <a:lstStyle/>
          <a:p>
            <a:pPr algn="just"/>
            <a:r>
              <a:rPr lang="en-US" sz="3200" dirty="0">
                <a:latin typeface="Times New Roman" panose="02020603050405020304" pitchFamily="18" charset="0"/>
                <a:cs typeface="Times New Roman" panose="02020603050405020304" pitchFamily="18" charset="0"/>
              </a:rPr>
              <a:t>An array is a fixed number of </a:t>
            </a:r>
            <a:r>
              <a:rPr lang="en-US" sz="3200" b="1" i="1" dirty="0">
                <a:latin typeface="Times New Roman" panose="02020603050405020304" pitchFamily="18" charset="0"/>
                <a:cs typeface="Times New Roman" panose="02020603050405020304" pitchFamily="18" charset="0"/>
              </a:rPr>
              <a:t>elements</a:t>
            </a:r>
            <a:r>
              <a:rPr lang="en-US" sz="3200" i="1"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of the same data type stored sequentially in memory. </a:t>
            </a:r>
          </a:p>
          <a:p>
            <a:pPr algn="just"/>
            <a:r>
              <a:rPr lang="en-US" sz="3200" dirty="0">
                <a:latin typeface="Times New Roman" panose="02020603050405020304" pitchFamily="18" charset="0"/>
                <a:cs typeface="Times New Roman" panose="02020603050405020304" pitchFamily="18" charset="0"/>
              </a:rPr>
              <a:t>Therefore, an integer array holds some number of integers, a character array holds some number of characters, and so on. </a:t>
            </a:r>
          </a:p>
          <a:p>
            <a:pPr algn="just"/>
            <a:r>
              <a:rPr lang="en-US" sz="3200" dirty="0">
                <a:latin typeface="Times New Roman" panose="02020603050405020304" pitchFamily="18" charset="0"/>
                <a:cs typeface="Times New Roman" panose="02020603050405020304" pitchFamily="18" charset="0"/>
              </a:rPr>
              <a:t>The size of the array is referred to as its </a:t>
            </a:r>
            <a:r>
              <a:rPr lang="en-US" sz="3200" i="1" dirty="0">
                <a:latin typeface="Times New Roman" panose="02020603050405020304" pitchFamily="18" charset="0"/>
                <a:cs typeface="Times New Roman" panose="02020603050405020304" pitchFamily="18" charset="0"/>
              </a:rPr>
              <a:t>d</a:t>
            </a:r>
            <a:r>
              <a:rPr lang="en-US" sz="3200" b="1" i="1" dirty="0">
                <a:latin typeface="Times New Roman" panose="02020603050405020304" pitchFamily="18" charset="0"/>
                <a:cs typeface="Times New Roman" panose="02020603050405020304" pitchFamily="18" charset="0"/>
              </a:rPr>
              <a:t>imension</a:t>
            </a:r>
            <a:r>
              <a:rPr lang="en-US" sz="3200" i="1" dirty="0">
                <a:latin typeface="Times New Roman" panose="02020603050405020304" pitchFamily="18" charset="0"/>
                <a:cs typeface="Times New Roman" panose="02020603050405020304" pitchFamily="18" charset="0"/>
              </a:rPr>
              <a:t>. </a:t>
            </a:r>
          </a:p>
          <a:p>
            <a:pPr algn="just"/>
            <a:r>
              <a:rPr lang="en-US" sz="3200" dirty="0">
                <a:latin typeface="Times New Roman" panose="02020603050405020304" pitchFamily="18" charset="0"/>
                <a:cs typeface="Times New Roman" panose="02020603050405020304" pitchFamily="18" charset="0"/>
              </a:rPr>
              <a:t>To declare an array in C++, we write as follows: </a:t>
            </a:r>
          </a:p>
          <a:p>
            <a:pPr marL="0" indent="0" algn="just">
              <a:buNone/>
            </a:pPr>
            <a:r>
              <a:rPr lang="en-US" sz="3200" b="1" i="1" dirty="0">
                <a:solidFill>
                  <a:srgbClr val="0070C0"/>
                </a:solidFill>
                <a:latin typeface="Times New Roman" panose="02020603050405020304" pitchFamily="18" charset="0"/>
                <a:cs typeface="Times New Roman" panose="02020603050405020304" pitchFamily="18" charset="0"/>
              </a:rPr>
              <a:t>       type </a:t>
            </a:r>
            <a:r>
              <a:rPr lang="en-US" sz="3200" b="1" i="1" dirty="0" err="1">
                <a:solidFill>
                  <a:srgbClr val="0070C0"/>
                </a:solidFill>
                <a:latin typeface="Times New Roman" panose="02020603050405020304" pitchFamily="18" charset="0"/>
                <a:cs typeface="Times New Roman" panose="02020603050405020304" pitchFamily="18" charset="0"/>
              </a:rPr>
              <a:t>arrayName</a:t>
            </a:r>
            <a:r>
              <a:rPr lang="en-US" sz="3200" b="1" dirty="0">
                <a:solidFill>
                  <a:srgbClr val="0070C0"/>
                </a:solidFill>
                <a:latin typeface="Times New Roman" panose="02020603050405020304" pitchFamily="18" charset="0"/>
                <a:cs typeface="Times New Roman" panose="02020603050405020304" pitchFamily="18" charset="0"/>
              </a:rPr>
              <a:t>[</a:t>
            </a:r>
            <a:r>
              <a:rPr lang="en-US" sz="3200" b="1" i="1" dirty="0">
                <a:solidFill>
                  <a:srgbClr val="0070C0"/>
                </a:solidFill>
                <a:latin typeface="Times New Roman" panose="02020603050405020304" pitchFamily="18" charset="0"/>
                <a:cs typeface="Times New Roman" panose="02020603050405020304" pitchFamily="18" charset="0"/>
              </a:rPr>
              <a:t>dimension</a:t>
            </a:r>
            <a:r>
              <a:rPr lang="en-US" sz="3200" b="1" dirty="0">
                <a:solidFill>
                  <a:srgbClr val="0070C0"/>
                </a:solidFill>
                <a:latin typeface="Times New Roman" panose="02020603050405020304" pitchFamily="18" charset="0"/>
                <a:cs typeface="Times New Roman" panose="02020603050405020304" pitchFamily="18" charset="0"/>
              </a:rPr>
              <a:t>];</a:t>
            </a:r>
          </a:p>
        </p:txBody>
      </p:sp>
      <p:sp>
        <p:nvSpPr>
          <p:cNvPr id="4" name="Rectangle 3"/>
          <p:cNvSpPr/>
          <p:nvPr/>
        </p:nvSpPr>
        <p:spPr>
          <a:xfrm>
            <a:off x="3002506" y="1029353"/>
            <a:ext cx="4776717" cy="923330"/>
          </a:xfrm>
          <a:prstGeom prst="rect">
            <a:avLst/>
          </a:prstGeom>
          <a:noFill/>
        </p:spPr>
        <p:txBody>
          <a:bodyPr wrap="none" lIns="91440" tIns="45720" rIns="91440" bIns="45720">
            <a:prstTxWarp prst="textCanUp">
              <a:avLst/>
            </a:prstTxWarp>
            <a:spAutoFit/>
          </a:bodyPr>
          <a:lstStyle/>
          <a:p>
            <a:pPr algn="ctr"/>
            <a:r>
              <a:rPr lang="en-US" sz="5400" b="1" i="1" dirty="0">
                <a:solidFill>
                  <a:srgbClr val="7030A0"/>
                </a:solidFill>
                <a:effectLst>
                  <a:glow rad="228600">
                    <a:schemeClr val="accent1">
                      <a:satMod val="175000"/>
                      <a:alpha val="40000"/>
                    </a:schemeClr>
                  </a:glow>
                </a:effectLst>
                <a:latin typeface="Times New Roman" panose="02020603050405020304" pitchFamily="18" charset="0"/>
                <a:cs typeface="Times New Roman" panose="02020603050405020304" pitchFamily="18" charset="0"/>
              </a:rPr>
              <a:t>Arrays</a:t>
            </a:r>
            <a:endParaRPr lang="en-US" sz="5400" b="1" cap="none" spc="0" dirty="0">
              <a:ln w="22225">
                <a:solidFill>
                  <a:schemeClr val="accent2"/>
                </a:solidFill>
                <a:prstDash val="solid"/>
              </a:ln>
              <a:solidFill>
                <a:schemeClr val="accent2">
                  <a:lumMod val="40000"/>
                  <a:lumOff val="60000"/>
                </a:schemeClr>
              </a:solidFill>
              <a:effectLst>
                <a:glow rad="228600">
                  <a:schemeClr val="accent1">
                    <a:satMod val="175000"/>
                    <a:alpha val="40000"/>
                  </a:schemeClr>
                </a:glow>
              </a:effectLst>
            </a:endParaRPr>
          </a:p>
        </p:txBody>
      </p:sp>
    </p:spTree>
    <p:extLst>
      <p:ext uri="{BB962C8B-B14F-4D97-AF65-F5344CB8AC3E}">
        <p14:creationId xmlns:p14="http://schemas.microsoft.com/office/powerpoint/2010/main" val="400411511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070" y="870857"/>
            <a:ext cx="11805312" cy="5718629"/>
          </a:xfrm>
        </p:spPr>
        <p:txBody>
          <a:bodyPr anchor="t">
            <a:normAutofit/>
          </a:bodyPr>
          <a:lstStyle/>
          <a:p>
            <a:r>
              <a:rPr lang="en-US" sz="2800" dirty="0">
                <a:latin typeface="Times New Roman" panose="02020603050405020304" pitchFamily="18" charset="0"/>
                <a:cs typeface="Times New Roman" panose="02020603050405020304" pitchFamily="18" charset="0"/>
              </a:rPr>
              <a:t> To declare an integer array named </a:t>
            </a:r>
            <a:r>
              <a:rPr lang="en-US" sz="2800" b="1" i="1" dirty="0">
                <a:latin typeface="Times New Roman" panose="02020603050405020304" pitchFamily="18" charset="0"/>
                <a:cs typeface="Times New Roman" panose="02020603050405020304" pitchFamily="18" charset="0"/>
              </a:rPr>
              <a:t>arr</a:t>
            </a:r>
            <a:r>
              <a:rPr lang="en-US" sz="2800" dirty="0">
                <a:latin typeface="Times New Roman" panose="02020603050405020304" pitchFamily="18" charset="0"/>
                <a:cs typeface="Times New Roman" panose="02020603050405020304" pitchFamily="18" charset="0"/>
              </a:rPr>
              <a:t> of </a:t>
            </a:r>
            <a:r>
              <a:rPr lang="en-US" sz="2800" b="1" i="1" dirty="0">
                <a:latin typeface="Times New Roman" panose="02020603050405020304" pitchFamily="18" charset="0"/>
                <a:cs typeface="Times New Roman" panose="02020603050405020304" pitchFamily="18" charset="0"/>
              </a:rPr>
              <a:t>four elements</a:t>
            </a:r>
            <a:r>
              <a:rPr lang="en-US" sz="2800" dirty="0">
                <a:latin typeface="Times New Roman" panose="02020603050405020304" pitchFamily="18" charset="0"/>
                <a:cs typeface="Times New Roman" panose="02020603050405020304" pitchFamily="18" charset="0"/>
              </a:rPr>
              <a:t>, we write</a:t>
            </a:r>
          </a:p>
          <a:p>
            <a:pPr marL="0" indent="0">
              <a:buNone/>
            </a:pPr>
            <a:r>
              <a:rPr lang="en-US" sz="2800" dirty="0">
                <a:latin typeface="Times New Roman" panose="02020603050405020304" pitchFamily="18" charset="0"/>
                <a:cs typeface="Times New Roman" panose="02020603050405020304" pitchFamily="18" charset="0"/>
              </a:rPr>
              <a:t>       </a:t>
            </a:r>
            <a:r>
              <a:rPr lang="en-US" sz="2800" b="1" i="1" dirty="0">
                <a:latin typeface="Times New Roman" panose="02020603050405020304" pitchFamily="18" charset="0"/>
                <a:cs typeface="Times New Roman" panose="02020603050405020304" pitchFamily="18" charset="0"/>
              </a:rPr>
              <a:t>int arr[4]; </a:t>
            </a:r>
          </a:p>
          <a:p>
            <a:pPr marL="457200" indent="-457200">
              <a:buFont typeface="Arial" panose="020B0604020202020204" pitchFamily="34" charset="0"/>
              <a:buChar char="•"/>
            </a:pPr>
            <a:r>
              <a:rPr lang="en-US" sz="2400" dirty="0"/>
              <a:t>Suppose a class has 250 students, and we need to store the grades of all of them. Instead of creating 250 separate variables, we can simply create an array:</a:t>
            </a:r>
          </a:p>
          <a:p>
            <a:pPr marL="443120" lvl="1" indent="0">
              <a:buNone/>
            </a:pPr>
            <a:r>
              <a:rPr lang="en-US" sz="2800" b="1" i="1" dirty="0">
                <a:latin typeface="Times New Roman" panose="02020603050405020304" pitchFamily="18" charset="0"/>
                <a:cs typeface="Times New Roman" panose="02020603050405020304" pitchFamily="18" charset="0"/>
              </a:rPr>
              <a:t>double grade[250];</a:t>
            </a:r>
          </a:p>
          <a:p>
            <a:r>
              <a:rPr lang="en-US" sz="2800" dirty="0">
                <a:latin typeface="Times New Roman" panose="02020603050405020304" pitchFamily="18" charset="0"/>
                <a:cs typeface="Times New Roman" panose="02020603050405020304" pitchFamily="18" charset="0"/>
              </a:rPr>
              <a:t> The elements of an array can be accessed by using an </a:t>
            </a:r>
            <a:r>
              <a:rPr lang="en-US" sz="2800" i="1" dirty="0">
                <a:latin typeface="Times New Roman" panose="02020603050405020304" pitchFamily="18" charset="0"/>
                <a:cs typeface="Times New Roman" panose="02020603050405020304" pitchFamily="18" charset="0"/>
              </a:rPr>
              <a:t>index </a:t>
            </a:r>
            <a:r>
              <a:rPr lang="en-US" sz="2800" dirty="0">
                <a:latin typeface="Times New Roman" panose="02020603050405020304" pitchFamily="18" charset="0"/>
                <a:cs typeface="Times New Roman" panose="02020603050405020304" pitchFamily="18" charset="0"/>
              </a:rPr>
              <a:t>into  the array. </a:t>
            </a:r>
          </a:p>
          <a:p>
            <a:r>
              <a:rPr lang="en-US" sz="2800" dirty="0">
                <a:latin typeface="Times New Roman" panose="02020603050405020304" pitchFamily="18" charset="0"/>
                <a:cs typeface="Times New Roman" panose="02020603050405020304" pitchFamily="18" charset="0"/>
              </a:rPr>
              <a:t>Arrays in C++ are zero-indexed, so the first element has an index of 0. </a:t>
            </a:r>
          </a:p>
          <a:p>
            <a:r>
              <a:rPr lang="en-US" sz="2800" dirty="0">
                <a:latin typeface="Times New Roman" panose="02020603050405020304" pitchFamily="18" charset="0"/>
                <a:cs typeface="Times New Roman" panose="02020603050405020304" pitchFamily="18" charset="0"/>
              </a:rPr>
              <a:t>So, to access the third element in arr, we write </a:t>
            </a:r>
            <a:r>
              <a:rPr lang="en-US" sz="2800" b="1" i="1" dirty="0">
                <a:latin typeface="Times New Roman" panose="02020603050405020304" pitchFamily="18" charset="0"/>
                <a:cs typeface="Times New Roman" panose="02020603050405020304" pitchFamily="18" charset="0"/>
              </a:rPr>
              <a:t>arr[2]; </a:t>
            </a:r>
            <a:r>
              <a:rPr lang="en-US" sz="2800" dirty="0">
                <a:latin typeface="Times New Roman" panose="02020603050405020304" pitchFamily="18" charset="0"/>
                <a:cs typeface="Times New Roman" panose="02020603050405020304" pitchFamily="18" charset="0"/>
              </a:rPr>
              <a:t>The value returned can then be used just like any other integer. </a:t>
            </a:r>
          </a:p>
        </p:txBody>
      </p:sp>
    </p:spTree>
    <p:extLst>
      <p:ext uri="{BB962C8B-B14F-4D97-AF65-F5344CB8AC3E}">
        <p14:creationId xmlns:p14="http://schemas.microsoft.com/office/powerpoint/2010/main" val="146405563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836057" y="898752"/>
            <a:ext cx="8229600" cy="868362"/>
          </a:xfrm>
        </p:spPr>
        <p:txBody>
          <a:bodyPr>
            <a:normAutofit/>
          </a:bodyPr>
          <a:lstStyle/>
          <a:p>
            <a:pPr algn="ctr"/>
            <a:r>
              <a:rPr lang="en-US" sz="4800" b="1" i="1" dirty="0">
                <a:solidFill>
                  <a:srgbClr val="7030A0"/>
                </a:solidFill>
                <a:latin typeface="Times New Roman" panose="02020603050405020304" pitchFamily="18" charset="0"/>
                <a:cs typeface="Times New Roman" panose="02020603050405020304" pitchFamily="18" charset="0"/>
              </a:rPr>
              <a:t>Initializing an Arrays</a:t>
            </a:r>
          </a:p>
        </p:txBody>
      </p:sp>
      <p:sp>
        <p:nvSpPr>
          <p:cNvPr id="3" name="Content Placeholder 2"/>
          <p:cNvSpPr>
            <a:spLocks noGrp="1"/>
          </p:cNvSpPr>
          <p:nvPr>
            <p:ph idx="1"/>
          </p:nvPr>
        </p:nvSpPr>
        <p:spPr>
          <a:xfrm>
            <a:off x="537029" y="1872343"/>
            <a:ext cx="11292113" cy="4746171"/>
          </a:xfrm>
        </p:spPr>
        <p:txBody>
          <a:bodyPr anchor="t">
            <a:normAutofit/>
          </a:bodyPr>
          <a:lstStyle/>
          <a:p>
            <a:pPr marL="457200" indent="-457200"/>
            <a:r>
              <a:rPr lang="en-US" sz="3200" dirty="0">
                <a:latin typeface="Times New Roman" panose="02020603050405020304" pitchFamily="18" charset="0"/>
                <a:cs typeface="Times New Roman" panose="02020603050405020304" pitchFamily="18" charset="0"/>
              </a:rPr>
              <a:t>There are several ways to initialize the array. One way is to declare the array and then initialize some or all of the elements: </a:t>
            </a:r>
          </a:p>
          <a:p>
            <a:pPr marL="508000" indent="0">
              <a:buNone/>
            </a:pPr>
            <a:r>
              <a:rPr lang="en-US" sz="3200" b="1" dirty="0" err="1">
                <a:latin typeface="Times New Roman" panose="02020603050405020304" pitchFamily="18" charset="0"/>
                <a:cs typeface="Times New Roman" panose="02020603050405020304" pitchFamily="18" charset="0"/>
              </a:rPr>
              <a:t>int</a:t>
            </a:r>
            <a:r>
              <a:rPr lang="en-US" sz="3200" b="1" dirty="0">
                <a:latin typeface="Times New Roman" panose="02020603050405020304" pitchFamily="18" charset="0"/>
                <a:cs typeface="Times New Roman" panose="02020603050405020304" pitchFamily="18" charset="0"/>
              </a:rPr>
              <a:t> arr[4];</a:t>
            </a:r>
          </a:p>
          <a:p>
            <a:pPr marL="508000" indent="0">
              <a:buNone/>
            </a:pPr>
            <a:r>
              <a:rPr lang="en-US" sz="3200" b="1" i="1" dirty="0">
                <a:latin typeface="Times New Roman" panose="02020603050405020304" pitchFamily="18" charset="0"/>
                <a:cs typeface="Times New Roman" panose="02020603050405020304" pitchFamily="18" charset="0"/>
              </a:rPr>
              <a:t>arr[0] = 6;</a:t>
            </a:r>
          </a:p>
          <a:p>
            <a:pPr marL="508000" indent="0">
              <a:buNone/>
            </a:pPr>
            <a:r>
              <a:rPr lang="en-US" sz="3200" b="1" i="1" dirty="0">
                <a:latin typeface="Times New Roman" panose="02020603050405020304" pitchFamily="18" charset="0"/>
                <a:cs typeface="Times New Roman" panose="02020603050405020304" pitchFamily="18" charset="0"/>
              </a:rPr>
              <a:t>arr[1] = 0;</a:t>
            </a:r>
          </a:p>
          <a:p>
            <a:pPr marL="508000" indent="0">
              <a:buNone/>
            </a:pPr>
            <a:r>
              <a:rPr lang="en-US" sz="3200" b="1" i="1" dirty="0">
                <a:latin typeface="Times New Roman" panose="02020603050405020304" pitchFamily="18" charset="0"/>
                <a:cs typeface="Times New Roman" panose="02020603050405020304" pitchFamily="18" charset="0"/>
              </a:rPr>
              <a:t>arr[2] = 9;</a:t>
            </a:r>
          </a:p>
          <a:p>
            <a:pPr marL="508000" indent="0">
              <a:buNone/>
            </a:pPr>
            <a:r>
              <a:rPr lang="en-US" sz="3200" b="1" i="1" dirty="0">
                <a:latin typeface="Times New Roman" panose="02020603050405020304" pitchFamily="18" charset="0"/>
                <a:cs typeface="Times New Roman" panose="02020603050405020304" pitchFamily="18" charset="0"/>
              </a:rPr>
              <a:t>arr[3] = 6;</a:t>
            </a:r>
          </a:p>
        </p:txBody>
      </p:sp>
    </p:spTree>
    <p:extLst>
      <p:ext uri="{BB962C8B-B14F-4D97-AF65-F5344CB8AC3E}">
        <p14:creationId xmlns:p14="http://schemas.microsoft.com/office/powerpoint/2010/main" val="53365319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7371" y="812800"/>
            <a:ext cx="11524343" cy="5791200"/>
          </a:xfrm>
        </p:spPr>
        <p:txBody>
          <a:bodyPr anchor="t">
            <a:normAutofit/>
          </a:bodyPr>
          <a:lstStyle/>
          <a:p>
            <a:r>
              <a:rPr lang="en-US" sz="3200" dirty="0">
                <a:latin typeface="Times New Roman" panose="02020603050405020304" pitchFamily="18" charset="0"/>
                <a:cs typeface="Times New Roman" panose="02020603050405020304" pitchFamily="18" charset="0"/>
              </a:rPr>
              <a:t> Another way is to initialize some or all of the values at the time of declaration: </a:t>
            </a:r>
          </a:p>
          <a:p>
            <a:pPr marL="0" indent="0">
              <a:buNone/>
            </a:pPr>
            <a:r>
              <a:rPr lang="en-US" sz="3200" dirty="0">
                <a:latin typeface="Times New Roman" panose="02020603050405020304" pitchFamily="18" charset="0"/>
                <a:cs typeface="Times New Roman" panose="02020603050405020304" pitchFamily="18" charset="0"/>
              </a:rPr>
              <a:t>     </a:t>
            </a:r>
            <a:r>
              <a:rPr lang="en-US" sz="3200" b="1" i="1" dirty="0">
                <a:latin typeface="Times New Roman" panose="02020603050405020304" pitchFamily="18" charset="0"/>
                <a:cs typeface="Times New Roman" panose="02020603050405020304" pitchFamily="18" charset="0"/>
              </a:rPr>
              <a:t>int arr[4] = { 6, 0, 9, 6 };</a:t>
            </a:r>
          </a:p>
          <a:p>
            <a:r>
              <a:rPr lang="en-US" sz="3200" dirty="0">
                <a:latin typeface="Times New Roman" panose="02020603050405020304" pitchFamily="18" charset="0"/>
                <a:cs typeface="Times New Roman" panose="02020603050405020304" pitchFamily="18" charset="0"/>
              </a:rPr>
              <a:t> Sometimes it is more convenient to leave out the size of the array and let the compiler determine the array's size for us, based on how many elements we give it: </a:t>
            </a:r>
          </a:p>
          <a:p>
            <a:pPr marL="0" indent="0">
              <a:buNone/>
            </a:pPr>
            <a:r>
              <a:rPr lang="en-US" sz="3200" b="1" dirty="0">
                <a:latin typeface="Times New Roman" panose="02020603050405020304" pitchFamily="18" charset="0"/>
                <a:cs typeface="Times New Roman" panose="02020603050405020304" pitchFamily="18" charset="0"/>
              </a:rPr>
              <a:t>      </a:t>
            </a:r>
            <a:r>
              <a:rPr lang="en-US" sz="3200" b="1" i="1" dirty="0" err="1">
                <a:latin typeface="Times New Roman" panose="02020603050405020304" pitchFamily="18" charset="0"/>
                <a:cs typeface="Times New Roman" panose="02020603050405020304" pitchFamily="18" charset="0"/>
              </a:rPr>
              <a:t>int</a:t>
            </a:r>
            <a:r>
              <a:rPr lang="en-US" sz="3200" b="1" i="1" dirty="0">
                <a:latin typeface="Times New Roman" panose="02020603050405020304" pitchFamily="18" charset="0"/>
                <a:cs typeface="Times New Roman" panose="02020603050405020304" pitchFamily="18" charset="0"/>
              </a:rPr>
              <a:t> arr[] = { 6, 0, 9, 6, 2, 0, 1, 1 };</a:t>
            </a:r>
          </a:p>
          <a:p>
            <a:r>
              <a:rPr lang="en-US" sz="3200" dirty="0">
                <a:latin typeface="Times New Roman" panose="02020603050405020304" pitchFamily="18" charset="0"/>
                <a:cs typeface="Times New Roman" panose="02020603050405020304" pitchFamily="18" charset="0"/>
              </a:rPr>
              <a:t>Here, the compiler will create an integer array of dimension 8. </a:t>
            </a:r>
          </a:p>
        </p:txBody>
      </p:sp>
    </p:spTree>
    <p:extLst>
      <p:ext uri="{BB962C8B-B14F-4D97-AF65-F5344CB8AC3E}">
        <p14:creationId xmlns:p14="http://schemas.microsoft.com/office/powerpoint/2010/main" val="374728898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9257" y="798286"/>
            <a:ext cx="10537372" cy="5834742"/>
          </a:xfrm>
        </p:spPr>
        <p:txBody>
          <a:bodyPr anchor="t">
            <a:normAutofit fontScale="85000" lnSpcReduction="20000"/>
          </a:bodyPr>
          <a:lstStyle/>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The array can also be initialized with values that are not known beforehand: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#include &lt;</a:t>
            </a:r>
            <a:r>
              <a:rPr lang="en-US" dirty="0" err="1">
                <a:latin typeface="Times New Roman" panose="02020603050405020304" pitchFamily="18" charset="0"/>
                <a:cs typeface="Times New Roman" panose="02020603050405020304" pitchFamily="18" charset="0"/>
              </a:rPr>
              <a:t>iostream</a:t>
            </a:r>
            <a:r>
              <a:rPr lang="en-US" dirty="0">
                <a:latin typeface="Times New Roman" panose="02020603050405020304" pitchFamily="18" charset="0"/>
                <a:cs typeface="Times New Roman" panose="02020603050405020304" pitchFamily="18" charset="0"/>
              </a:rPr>
              <a:t>&gt;</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using namespace </a:t>
            </a:r>
            <a:r>
              <a:rPr lang="en-US" dirty="0" err="1">
                <a:latin typeface="Times New Roman" panose="02020603050405020304" pitchFamily="18" charset="0"/>
                <a:cs typeface="Times New Roman" panose="02020603050405020304" pitchFamily="18" charset="0"/>
              </a:rPr>
              <a:t>std</a:t>
            </a:r>
            <a:r>
              <a:rPr lang="en-US" dirty="0">
                <a:latin typeface="Times New Roman" panose="02020603050405020304" pitchFamily="18" charset="0"/>
                <a:cs typeface="Times New Roman" panose="02020603050405020304" pitchFamily="18" charset="0"/>
              </a:rPr>
              <a:t>;</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main( )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[4];</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cout</a:t>
            </a:r>
            <a:r>
              <a:rPr lang="en-US" dirty="0">
                <a:latin typeface="Times New Roman" panose="02020603050405020304" pitchFamily="18" charset="0"/>
                <a:cs typeface="Times New Roman" panose="02020603050405020304" pitchFamily="18" charset="0"/>
              </a:rPr>
              <a:t> &lt;&lt;"Please enter 4 integers:" &lt;&lt; </a:t>
            </a:r>
            <a:r>
              <a:rPr lang="en-US" dirty="0" err="1">
                <a:latin typeface="Times New Roman" panose="02020603050405020304" pitchFamily="18" charset="0"/>
                <a:cs typeface="Times New Roman" panose="02020603050405020304" pitchFamily="18" charset="0"/>
              </a:rPr>
              <a:t>endl</a:t>
            </a:r>
            <a:r>
              <a:rPr lang="en-US" dirty="0">
                <a:latin typeface="Times New Roman" panose="02020603050405020304" pitchFamily="18" charset="0"/>
                <a:cs typeface="Times New Roman" panose="02020603050405020304" pitchFamily="18" charset="0"/>
              </a:rPr>
              <a:t>;</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for(</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 0;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&lt; 4;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cin</a:t>
            </a:r>
            <a:r>
              <a:rPr lang="en-US" dirty="0">
                <a:latin typeface="Times New Roman" panose="02020603050405020304" pitchFamily="18" charset="0"/>
                <a:cs typeface="Times New Roman" panose="02020603050405020304" pitchFamily="18" charset="0"/>
              </a:rPr>
              <a:t> &gt;&gt; </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cout</a:t>
            </a:r>
            <a:r>
              <a:rPr lang="en-US" dirty="0">
                <a:latin typeface="Times New Roman" panose="02020603050405020304" pitchFamily="18" charset="0"/>
                <a:cs typeface="Times New Roman" panose="02020603050405020304" pitchFamily="18" charset="0"/>
              </a:rPr>
              <a:t> &lt;&lt; "Values in array are now:";</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for(</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 0;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&lt; 4;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cout</a:t>
            </a:r>
            <a:r>
              <a:rPr lang="en-US" dirty="0">
                <a:latin typeface="Times New Roman" panose="02020603050405020304" pitchFamily="18" charset="0"/>
                <a:cs typeface="Times New Roman" panose="02020603050405020304" pitchFamily="18" charset="0"/>
              </a:rPr>
              <a:t> &lt;&lt; " " &lt;&lt; </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&lt;&lt; </a:t>
            </a:r>
            <a:r>
              <a:rPr lang="en-US" dirty="0" err="1">
                <a:latin typeface="Times New Roman" panose="02020603050405020304" pitchFamily="18" charset="0"/>
                <a:cs typeface="Times New Roman" panose="02020603050405020304" pitchFamily="18" charset="0"/>
              </a:rPr>
              <a:t>endl</a:t>
            </a:r>
            <a:r>
              <a:rPr lang="en-US" dirty="0">
                <a:latin typeface="Times New Roman" panose="02020603050405020304" pitchFamily="18" charset="0"/>
                <a:cs typeface="Times New Roman" panose="02020603050405020304" pitchFamily="18" charset="0"/>
              </a:rPr>
              <a:t>;</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2205394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307" y="859809"/>
            <a:ext cx="11709780" cy="5998191"/>
          </a:xfrm>
        </p:spPr>
        <p:txBody>
          <a:bodyPr anchor="t"/>
          <a:lstStyle/>
          <a:p>
            <a:pPr marL="116082" indent="0">
              <a:spcBef>
                <a:spcPts val="0"/>
              </a:spcBef>
              <a:buNone/>
            </a:pPr>
            <a:r>
              <a:rPr lang="en-US" sz="2400" dirty="0">
                <a:latin typeface="Times New Roman" panose="02020603050405020304" pitchFamily="18" charset="0"/>
                <a:cs typeface="Times New Roman" panose="02020603050405020304" pitchFamily="18" charset="0"/>
              </a:rPr>
              <a:t>#include &lt;</a:t>
            </a:r>
            <a:r>
              <a:rPr lang="en-US" sz="2400" dirty="0" err="1">
                <a:latin typeface="Times New Roman" panose="02020603050405020304" pitchFamily="18" charset="0"/>
                <a:cs typeface="Times New Roman" panose="02020603050405020304" pitchFamily="18" charset="0"/>
              </a:rPr>
              <a:t>iostream</a:t>
            </a:r>
            <a:r>
              <a:rPr lang="en-US" sz="2400" dirty="0">
                <a:latin typeface="Times New Roman" panose="02020603050405020304" pitchFamily="18" charset="0"/>
                <a:cs typeface="Times New Roman" panose="02020603050405020304" pitchFamily="18" charset="0"/>
              </a:rPr>
              <a:t>&gt;</a:t>
            </a:r>
          </a:p>
          <a:p>
            <a:pPr marL="116082" indent="0">
              <a:spcBef>
                <a:spcPts val="0"/>
              </a:spcBef>
              <a:buNone/>
            </a:pPr>
            <a:r>
              <a:rPr lang="en-US" sz="2400" dirty="0">
                <a:latin typeface="Times New Roman" panose="02020603050405020304" pitchFamily="18" charset="0"/>
                <a:cs typeface="Times New Roman" panose="02020603050405020304" pitchFamily="18" charset="0"/>
              </a:rPr>
              <a:t>using namespace </a:t>
            </a:r>
            <a:r>
              <a:rPr lang="en-US" sz="2400" dirty="0" err="1">
                <a:latin typeface="Times New Roman" panose="02020603050405020304" pitchFamily="18" charset="0"/>
                <a:cs typeface="Times New Roman" panose="02020603050405020304" pitchFamily="18" charset="0"/>
              </a:rPr>
              <a:t>std</a:t>
            </a:r>
            <a:r>
              <a:rPr lang="en-US" sz="2400" dirty="0">
                <a:latin typeface="Times New Roman" panose="02020603050405020304" pitchFamily="18" charset="0"/>
                <a:cs typeface="Times New Roman" panose="02020603050405020304" pitchFamily="18" charset="0"/>
              </a:rPr>
              <a:t>;</a:t>
            </a:r>
          </a:p>
          <a:p>
            <a:pPr marL="116082" indent="0">
              <a:spcBef>
                <a:spcPts val="0"/>
              </a:spcBef>
              <a:buNone/>
            </a:pP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main() {</a:t>
            </a:r>
          </a:p>
          <a:p>
            <a:pPr marL="116082" indent="0">
              <a:spcBef>
                <a:spcPts val="0"/>
              </a:spcBef>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numbers[5];</a:t>
            </a:r>
          </a:p>
          <a:p>
            <a:pPr marL="116082" indent="0">
              <a:spcBef>
                <a:spcPts val="0"/>
              </a:spcBef>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cout</a:t>
            </a:r>
            <a:r>
              <a:rPr lang="en-US" sz="2400" dirty="0">
                <a:latin typeface="Times New Roman" panose="02020603050405020304" pitchFamily="18" charset="0"/>
                <a:cs typeface="Times New Roman" panose="02020603050405020304" pitchFamily="18" charset="0"/>
              </a:rPr>
              <a:t> &lt;&lt; "Enter 5 numbers: " &lt;&lt; </a:t>
            </a:r>
            <a:r>
              <a:rPr lang="en-US" sz="2400" dirty="0" err="1">
                <a:latin typeface="Times New Roman" panose="02020603050405020304" pitchFamily="18" charset="0"/>
                <a:cs typeface="Times New Roman" panose="02020603050405020304" pitchFamily="18" charset="0"/>
              </a:rPr>
              <a:t>endl</a:t>
            </a:r>
            <a:r>
              <a:rPr lang="en-US" sz="2400" dirty="0">
                <a:latin typeface="Times New Roman" panose="02020603050405020304" pitchFamily="18" charset="0"/>
                <a:cs typeface="Times New Roman" panose="02020603050405020304" pitchFamily="18" charset="0"/>
              </a:rPr>
              <a:t>;</a:t>
            </a:r>
          </a:p>
          <a:p>
            <a:pPr marL="116082" indent="0">
              <a:spcBef>
                <a:spcPts val="0"/>
              </a:spcBef>
              <a:buNone/>
            </a:pPr>
            <a:r>
              <a:rPr lang="en-US" sz="2400" dirty="0">
                <a:latin typeface="Times New Roman" panose="02020603050405020304" pitchFamily="18" charset="0"/>
                <a:cs typeface="Times New Roman" panose="02020603050405020304" pitchFamily="18" charset="0"/>
              </a:rPr>
              <a:t>  //  store input from user to array</a:t>
            </a:r>
          </a:p>
          <a:p>
            <a:pPr marL="116082" indent="0">
              <a:spcBef>
                <a:spcPts val="0"/>
              </a:spcBef>
              <a:buNone/>
            </a:pPr>
            <a:r>
              <a:rPr lang="en-US" sz="2400" dirty="0">
                <a:latin typeface="Times New Roman" panose="02020603050405020304" pitchFamily="18" charset="0"/>
                <a:cs typeface="Times New Roman" panose="02020603050405020304" pitchFamily="18" charset="0"/>
              </a:rPr>
              <a:t>  for (</a:t>
            </a: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0;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&lt; 5;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p>
          <a:p>
            <a:pPr marL="116082" indent="0">
              <a:spcBef>
                <a:spcPts val="0"/>
              </a:spcBef>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cin</a:t>
            </a:r>
            <a:r>
              <a:rPr lang="en-US" sz="2400" dirty="0">
                <a:latin typeface="Times New Roman" panose="02020603050405020304" pitchFamily="18" charset="0"/>
                <a:cs typeface="Times New Roman" panose="02020603050405020304" pitchFamily="18" charset="0"/>
              </a:rPr>
              <a:t> &gt;&gt; numbers[</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a:t>
            </a:r>
          </a:p>
          <a:p>
            <a:pPr marL="116082" indent="0">
              <a:spcBef>
                <a:spcPts val="0"/>
              </a:spcBef>
              <a:buNone/>
            </a:pPr>
            <a:r>
              <a:rPr lang="en-US" sz="2400" dirty="0">
                <a:latin typeface="Times New Roman" panose="02020603050405020304" pitchFamily="18" charset="0"/>
                <a:cs typeface="Times New Roman" panose="02020603050405020304" pitchFamily="18" charset="0"/>
              </a:rPr>
              <a:t>  }</a:t>
            </a:r>
          </a:p>
          <a:p>
            <a:pPr marL="116082" indent="0">
              <a:spcBef>
                <a:spcPts val="0"/>
              </a:spcBef>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cout</a:t>
            </a:r>
            <a:r>
              <a:rPr lang="en-US" sz="2400" dirty="0">
                <a:latin typeface="Times New Roman" panose="02020603050405020304" pitchFamily="18" charset="0"/>
                <a:cs typeface="Times New Roman" panose="02020603050405020304" pitchFamily="18" charset="0"/>
              </a:rPr>
              <a:t> &lt;&lt; "The numbers are: ";</a:t>
            </a:r>
          </a:p>
          <a:p>
            <a:pPr marL="116082" indent="0">
              <a:spcBef>
                <a:spcPts val="0"/>
              </a:spcBef>
              <a:buNone/>
            </a:pPr>
            <a:r>
              <a:rPr lang="en-US" sz="2400" dirty="0">
                <a:latin typeface="Times New Roman" panose="02020603050405020304" pitchFamily="18" charset="0"/>
                <a:cs typeface="Times New Roman" panose="02020603050405020304" pitchFamily="18" charset="0"/>
              </a:rPr>
              <a:t>  //  print array elements</a:t>
            </a:r>
          </a:p>
          <a:p>
            <a:pPr marL="116082" indent="0">
              <a:spcBef>
                <a:spcPts val="0"/>
              </a:spcBef>
              <a:buNone/>
            </a:pPr>
            <a:r>
              <a:rPr lang="en-US" sz="2400" dirty="0">
                <a:latin typeface="Times New Roman" panose="02020603050405020304" pitchFamily="18" charset="0"/>
                <a:cs typeface="Times New Roman" panose="02020603050405020304" pitchFamily="18" charset="0"/>
              </a:rPr>
              <a:t>  for (</a:t>
            </a: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n = 0; n &lt; 5; ++n) {</a:t>
            </a:r>
          </a:p>
          <a:p>
            <a:pPr marL="116082" indent="0">
              <a:spcBef>
                <a:spcPts val="0"/>
              </a:spcBef>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cout</a:t>
            </a:r>
            <a:r>
              <a:rPr lang="en-US" sz="2400" dirty="0">
                <a:latin typeface="Times New Roman" panose="02020603050405020304" pitchFamily="18" charset="0"/>
                <a:cs typeface="Times New Roman" panose="02020603050405020304" pitchFamily="18" charset="0"/>
              </a:rPr>
              <a:t> &lt;&lt; numbers[n] &lt;&lt; "  ";</a:t>
            </a:r>
          </a:p>
          <a:p>
            <a:pPr marL="116082" indent="0">
              <a:spcBef>
                <a:spcPts val="0"/>
              </a:spcBef>
              <a:buNone/>
            </a:pPr>
            <a:r>
              <a:rPr lang="en-US" sz="2400" dirty="0">
                <a:latin typeface="Times New Roman" panose="02020603050405020304" pitchFamily="18" charset="0"/>
                <a:cs typeface="Times New Roman" panose="02020603050405020304" pitchFamily="18" charset="0"/>
              </a:rPr>
              <a:t>  }</a:t>
            </a:r>
          </a:p>
          <a:p>
            <a:pPr marL="116082" indent="0">
              <a:spcBef>
                <a:spcPts val="0"/>
              </a:spcBef>
              <a:buNone/>
            </a:pPr>
            <a:r>
              <a:rPr lang="en-US" sz="2400" dirty="0">
                <a:latin typeface="Times New Roman" panose="02020603050405020304" pitchFamily="18" charset="0"/>
                <a:cs typeface="Times New Roman" panose="02020603050405020304" pitchFamily="18" charset="0"/>
              </a:rPr>
              <a:t>  return 0;  }</a:t>
            </a:r>
          </a:p>
        </p:txBody>
      </p:sp>
    </p:spTree>
    <p:extLst>
      <p:ext uri="{BB962C8B-B14F-4D97-AF65-F5344CB8AC3E}">
        <p14:creationId xmlns:p14="http://schemas.microsoft.com/office/powerpoint/2010/main" val="313144549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p:cNvSpPr>
            <a:spLocks noGrp="1"/>
          </p:cNvSpPr>
          <p:nvPr>
            <p:ph idx="1"/>
          </p:nvPr>
        </p:nvSpPr>
        <p:spPr>
          <a:xfrm>
            <a:off x="1491916" y="794084"/>
            <a:ext cx="8947484" cy="5835316"/>
          </a:xfrm>
        </p:spPr>
        <p:txBody>
          <a:bodyPr/>
          <a:lstStyle/>
          <a:p>
            <a:pPr marL="0" indent="0">
              <a:spcBef>
                <a:spcPct val="0"/>
              </a:spcBef>
              <a:buNone/>
            </a:pPr>
            <a:r>
              <a:rPr lang="en-US" altLang="en-US" sz="2400" dirty="0"/>
              <a:t>#include&lt;</a:t>
            </a:r>
            <a:r>
              <a:rPr lang="en-US" altLang="en-US" sz="2400" dirty="0" err="1"/>
              <a:t>iostream</a:t>
            </a:r>
            <a:r>
              <a:rPr lang="en-US" altLang="en-US" sz="2400" dirty="0"/>
              <a:t>&gt;</a:t>
            </a:r>
          </a:p>
          <a:p>
            <a:pPr marL="0" indent="0">
              <a:spcBef>
                <a:spcPct val="0"/>
              </a:spcBef>
              <a:buNone/>
            </a:pPr>
            <a:r>
              <a:rPr lang="en-US" altLang="en-US" sz="2400" dirty="0"/>
              <a:t>using namespace </a:t>
            </a:r>
            <a:r>
              <a:rPr lang="en-US" altLang="en-US" sz="2400" dirty="0" err="1"/>
              <a:t>std</a:t>
            </a:r>
            <a:r>
              <a:rPr lang="en-US" altLang="en-US" sz="2400" dirty="0"/>
              <a:t>;</a:t>
            </a:r>
          </a:p>
          <a:p>
            <a:pPr marL="0" indent="0">
              <a:spcBef>
                <a:spcPct val="0"/>
              </a:spcBef>
              <a:buNone/>
            </a:pPr>
            <a:r>
              <a:rPr lang="en-US" altLang="en-US" sz="2400" dirty="0" err="1"/>
              <a:t>int</a:t>
            </a:r>
            <a:r>
              <a:rPr lang="en-US" altLang="en-US" sz="2400" dirty="0"/>
              <a:t> main( )</a:t>
            </a:r>
          </a:p>
          <a:p>
            <a:pPr marL="0" indent="0">
              <a:spcBef>
                <a:spcPct val="0"/>
              </a:spcBef>
              <a:buNone/>
            </a:pPr>
            <a:r>
              <a:rPr lang="en-US" altLang="en-US" sz="2400" dirty="0"/>
              <a:t>{</a:t>
            </a:r>
          </a:p>
          <a:p>
            <a:pPr marL="0" indent="0">
              <a:spcBef>
                <a:spcPct val="0"/>
              </a:spcBef>
              <a:buNone/>
            </a:pPr>
            <a:r>
              <a:rPr lang="en-US" altLang="en-US" sz="2400" dirty="0" err="1"/>
              <a:t>int</a:t>
            </a:r>
            <a:r>
              <a:rPr lang="en-US" altLang="en-US" sz="2400" dirty="0"/>
              <a:t> </a:t>
            </a:r>
            <a:r>
              <a:rPr lang="en-US" altLang="en-US" sz="2400" dirty="0" err="1"/>
              <a:t>i</a:t>
            </a:r>
            <a:r>
              <a:rPr lang="en-US" altLang="en-US" sz="2400" dirty="0"/>
              <a:t>, </a:t>
            </a:r>
            <a:r>
              <a:rPr lang="en-US" altLang="en-US" sz="2400" dirty="0" err="1"/>
              <a:t>avg</a:t>
            </a:r>
            <a:r>
              <a:rPr lang="en-US" altLang="en-US" sz="2400" dirty="0"/>
              <a:t>, sum = 0 ;</a:t>
            </a:r>
          </a:p>
          <a:p>
            <a:pPr marL="0" indent="0">
              <a:spcBef>
                <a:spcPct val="0"/>
              </a:spcBef>
              <a:buNone/>
            </a:pPr>
            <a:r>
              <a:rPr lang="en-US" altLang="en-US" sz="2400" dirty="0" err="1"/>
              <a:t>int</a:t>
            </a:r>
            <a:r>
              <a:rPr lang="en-US" altLang="en-US" sz="2400" dirty="0"/>
              <a:t> marks[10] ; /* array declaration */</a:t>
            </a:r>
          </a:p>
          <a:p>
            <a:pPr marL="0" indent="0">
              <a:spcBef>
                <a:spcPct val="0"/>
              </a:spcBef>
              <a:buNone/>
            </a:pPr>
            <a:r>
              <a:rPr lang="nn-NO" altLang="en-US" sz="2400" dirty="0"/>
              <a:t>for ( i = 0 ; i &lt;= 9; i++ )</a:t>
            </a:r>
          </a:p>
          <a:p>
            <a:pPr marL="0" indent="0">
              <a:spcBef>
                <a:spcPct val="0"/>
              </a:spcBef>
              <a:buNone/>
            </a:pPr>
            <a:r>
              <a:rPr lang="en-US" altLang="en-US" sz="2400" dirty="0"/>
              <a:t>{</a:t>
            </a:r>
          </a:p>
          <a:p>
            <a:pPr marL="0" indent="0">
              <a:spcBef>
                <a:spcPct val="0"/>
              </a:spcBef>
              <a:buNone/>
            </a:pPr>
            <a:r>
              <a:rPr lang="en-US" altLang="en-US" sz="2400" dirty="0" err="1"/>
              <a:t>cout</a:t>
            </a:r>
            <a:r>
              <a:rPr lang="en-US" altLang="en-US" sz="2400" dirty="0"/>
              <a:t>&lt;&lt;"\n Enter marks " ;</a:t>
            </a:r>
          </a:p>
          <a:p>
            <a:pPr marL="0" indent="0">
              <a:spcBef>
                <a:spcPct val="0"/>
              </a:spcBef>
              <a:buNone/>
            </a:pPr>
            <a:r>
              <a:rPr lang="en-US" altLang="en-US" sz="2400" dirty="0" err="1"/>
              <a:t>cin</a:t>
            </a:r>
            <a:r>
              <a:rPr lang="en-US" altLang="en-US" sz="2400" dirty="0"/>
              <a:t>&gt;&gt;marks[</a:t>
            </a:r>
            <a:r>
              <a:rPr lang="en-US" altLang="en-US" sz="2400" dirty="0" err="1"/>
              <a:t>i</a:t>
            </a:r>
            <a:r>
              <a:rPr lang="en-US" altLang="en-US" sz="2400" dirty="0"/>
              <a:t>]  ; /* store data in array */</a:t>
            </a:r>
          </a:p>
          <a:p>
            <a:pPr marL="0" indent="0">
              <a:spcBef>
                <a:spcPct val="0"/>
              </a:spcBef>
              <a:buNone/>
            </a:pPr>
            <a:r>
              <a:rPr lang="en-US" altLang="en-US" sz="2400" dirty="0"/>
              <a:t>}</a:t>
            </a:r>
          </a:p>
          <a:p>
            <a:pPr marL="0" indent="0">
              <a:spcBef>
                <a:spcPct val="0"/>
              </a:spcBef>
              <a:buNone/>
            </a:pPr>
            <a:r>
              <a:rPr lang="nn-NO" altLang="en-US" sz="2400" dirty="0"/>
              <a:t>for ( i = 0 ; i &lt;= 9 ; i++ ) {</a:t>
            </a:r>
          </a:p>
          <a:p>
            <a:pPr marL="0" indent="0">
              <a:spcBef>
                <a:spcPct val="0"/>
              </a:spcBef>
              <a:buNone/>
            </a:pPr>
            <a:r>
              <a:rPr lang="en-US" altLang="en-US" sz="2400" dirty="0"/>
              <a:t>sum = sum + marks[</a:t>
            </a:r>
            <a:r>
              <a:rPr lang="en-US" altLang="en-US" sz="2400" dirty="0" err="1"/>
              <a:t>i</a:t>
            </a:r>
            <a:r>
              <a:rPr lang="en-US" altLang="en-US" sz="2400" dirty="0"/>
              <a:t>] ; /* read data from an array*/ }</a:t>
            </a:r>
          </a:p>
          <a:p>
            <a:pPr marL="0" indent="0">
              <a:spcBef>
                <a:spcPct val="0"/>
              </a:spcBef>
              <a:buNone/>
            </a:pPr>
            <a:r>
              <a:rPr lang="en-US" altLang="en-US" sz="2400" dirty="0" err="1"/>
              <a:t>avg</a:t>
            </a:r>
            <a:r>
              <a:rPr lang="en-US" altLang="en-US" sz="2400" dirty="0"/>
              <a:t> = sum / 10 ;</a:t>
            </a:r>
          </a:p>
          <a:p>
            <a:pPr marL="0" indent="0">
              <a:spcBef>
                <a:spcPct val="0"/>
              </a:spcBef>
              <a:buNone/>
            </a:pPr>
            <a:r>
              <a:rPr lang="en-US" altLang="en-US" sz="2400" dirty="0" err="1"/>
              <a:t>cout</a:t>
            </a:r>
            <a:r>
              <a:rPr lang="en-US" altLang="en-US" sz="2400" dirty="0"/>
              <a:t>&lt;&lt; "\n Average marks  =  "&lt;&lt;</a:t>
            </a:r>
            <a:r>
              <a:rPr lang="en-US" altLang="en-US" sz="2400" dirty="0" err="1"/>
              <a:t>avg</a:t>
            </a:r>
            <a:r>
              <a:rPr lang="en-US" altLang="en-US" sz="2400" dirty="0"/>
              <a:t>;</a:t>
            </a:r>
          </a:p>
          <a:p>
            <a:pPr marL="0" indent="0">
              <a:spcBef>
                <a:spcPct val="0"/>
              </a:spcBef>
              <a:buNone/>
            </a:pPr>
            <a:r>
              <a:rPr lang="en-US" altLang="en-US" sz="2400" dirty="0"/>
              <a:t>return 0; }</a:t>
            </a:r>
          </a:p>
        </p:txBody>
      </p:sp>
    </p:spTree>
    <p:extLst>
      <p:ext uri="{BB962C8B-B14F-4D97-AF65-F5344CB8AC3E}">
        <p14:creationId xmlns:p14="http://schemas.microsoft.com/office/powerpoint/2010/main" val="277101888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2137" y="805219"/>
            <a:ext cx="11559654" cy="5786650"/>
          </a:xfrm>
        </p:spPr>
        <p:txBody>
          <a:bodyPr anchor="t"/>
          <a:lstStyle/>
          <a:p>
            <a:pPr marL="116082" indent="0">
              <a:spcBef>
                <a:spcPts val="0"/>
              </a:spcBef>
              <a:buNone/>
            </a:pPr>
            <a:r>
              <a:rPr lang="en-US" sz="2400" dirty="0">
                <a:latin typeface="Times New Roman" panose="02020603050405020304" pitchFamily="18" charset="0"/>
                <a:cs typeface="Times New Roman" panose="02020603050405020304" pitchFamily="18" charset="0"/>
              </a:rPr>
              <a:t>#include &lt;</a:t>
            </a:r>
            <a:r>
              <a:rPr lang="en-US" sz="2400" dirty="0" err="1">
                <a:latin typeface="Times New Roman" panose="02020603050405020304" pitchFamily="18" charset="0"/>
                <a:cs typeface="Times New Roman" panose="02020603050405020304" pitchFamily="18" charset="0"/>
              </a:rPr>
              <a:t>iostream</a:t>
            </a:r>
            <a:r>
              <a:rPr lang="en-US" sz="2400" dirty="0">
                <a:latin typeface="Times New Roman" panose="02020603050405020304" pitchFamily="18" charset="0"/>
                <a:cs typeface="Times New Roman" panose="02020603050405020304" pitchFamily="18" charset="0"/>
              </a:rPr>
              <a:t>&gt;</a:t>
            </a:r>
          </a:p>
          <a:p>
            <a:pPr marL="116082" indent="0">
              <a:spcBef>
                <a:spcPts val="0"/>
              </a:spcBef>
              <a:buNone/>
            </a:pPr>
            <a:r>
              <a:rPr lang="en-US" sz="2400" dirty="0">
                <a:latin typeface="Times New Roman" panose="02020603050405020304" pitchFamily="18" charset="0"/>
                <a:cs typeface="Times New Roman" panose="02020603050405020304" pitchFamily="18" charset="0"/>
              </a:rPr>
              <a:t>#include &lt;</a:t>
            </a:r>
            <a:r>
              <a:rPr lang="en-US" sz="2400" dirty="0" err="1">
                <a:latin typeface="Times New Roman" panose="02020603050405020304" pitchFamily="18" charset="0"/>
                <a:cs typeface="Times New Roman" panose="02020603050405020304" pitchFamily="18" charset="0"/>
              </a:rPr>
              <a:t>conio.h</a:t>
            </a:r>
            <a:r>
              <a:rPr lang="en-US" sz="2400" dirty="0">
                <a:latin typeface="Times New Roman" panose="02020603050405020304" pitchFamily="18" charset="0"/>
                <a:cs typeface="Times New Roman" panose="02020603050405020304" pitchFamily="18" charset="0"/>
              </a:rPr>
              <a:t>&gt;</a:t>
            </a:r>
          </a:p>
          <a:p>
            <a:pPr marL="116082" indent="0">
              <a:spcBef>
                <a:spcPts val="0"/>
              </a:spcBef>
              <a:buNone/>
            </a:pPr>
            <a:r>
              <a:rPr lang="en-US" sz="2400" dirty="0">
                <a:latin typeface="Times New Roman" panose="02020603050405020304" pitchFamily="18" charset="0"/>
                <a:cs typeface="Times New Roman" panose="02020603050405020304" pitchFamily="18" charset="0"/>
              </a:rPr>
              <a:t>using namespace </a:t>
            </a:r>
            <a:r>
              <a:rPr lang="en-US" sz="2400" dirty="0" err="1">
                <a:latin typeface="Times New Roman" panose="02020603050405020304" pitchFamily="18" charset="0"/>
                <a:cs typeface="Times New Roman" panose="02020603050405020304" pitchFamily="18" charset="0"/>
              </a:rPr>
              <a:t>std</a:t>
            </a:r>
            <a:r>
              <a:rPr lang="en-US" sz="2400" dirty="0">
                <a:latin typeface="Times New Roman" panose="02020603050405020304" pitchFamily="18" charset="0"/>
                <a:cs typeface="Times New Roman" panose="02020603050405020304" pitchFamily="18" charset="0"/>
              </a:rPr>
              <a:t>;</a:t>
            </a:r>
          </a:p>
          <a:p>
            <a:pPr marL="116082" indent="0">
              <a:spcBef>
                <a:spcPts val="0"/>
              </a:spcBef>
              <a:buNone/>
            </a:pP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main()</a:t>
            </a:r>
          </a:p>
          <a:p>
            <a:pPr marL="116082" indent="0">
              <a:spcBef>
                <a:spcPts val="0"/>
              </a:spcBef>
              <a:buNone/>
            </a:pPr>
            <a:r>
              <a:rPr lang="en-US" sz="2400" dirty="0">
                <a:latin typeface="Times New Roman" panose="02020603050405020304" pitchFamily="18" charset="0"/>
                <a:cs typeface="Times New Roman" panose="02020603050405020304" pitchFamily="18" charset="0"/>
              </a:rPr>
              <a:t>{</a:t>
            </a:r>
          </a:p>
          <a:p>
            <a:pPr marL="116082" indent="0">
              <a:spcBef>
                <a:spcPts val="0"/>
              </a:spcBef>
              <a:buNone/>
            </a:pP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val_array</a:t>
            </a:r>
            <a:r>
              <a:rPr lang="en-US" sz="2400" dirty="0">
                <a:latin typeface="Times New Roman" panose="02020603050405020304" pitchFamily="18" charset="0"/>
                <a:cs typeface="Times New Roman" panose="02020603050405020304" pitchFamily="18" charset="0"/>
              </a:rPr>
              <a:t>[3], </a:t>
            </a:r>
            <a:r>
              <a:rPr lang="en-US" sz="2400" dirty="0" err="1">
                <a:latin typeface="Times New Roman" panose="02020603050405020304" pitchFamily="18" charset="0"/>
                <a:cs typeface="Times New Roman" panose="02020603050405020304" pitchFamily="18" charset="0"/>
              </a:rPr>
              <a:t>int_val</a:t>
            </a:r>
            <a:r>
              <a:rPr lang="en-US" sz="2400" dirty="0">
                <a:latin typeface="Times New Roman" panose="02020603050405020304" pitchFamily="18" charset="0"/>
                <a:cs typeface="Times New Roman" panose="02020603050405020304" pitchFamily="18" charset="0"/>
              </a:rPr>
              <a:t>=1, counter;</a:t>
            </a:r>
          </a:p>
          <a:p>
            <a:pPr marL="116082" indent="0">
              <a:spcBef>
                <a:spcPts val="0"/>
              </a:spcBef>
              <a:buNone/>
            </a:pPr>
            <a:r>
              <a:rPr lang="en-US" sz="2400" dirty="0" err="1">
                <a:latin typeface="Times New Roman" panose="02020603050405020304" pitchFamily="18" charset="0"/>
                <a:cs typeface="Times New Roman" panose="02020603050405020304" pitchFamily="18" charset="0"/>
              </a:rPr>
              <a:t>cout</a:t>
            </a:r>
            <a:r>
              <a:rPr lang="en-US" sz="2400" dirty="0">
                <a:latin typeface="Times New Roman" panose="02020603050405020304" pitchFamily="18" charset="0"/>
                <a:cs typeface="Times New Roman" panose="02020603050405020304" pitchFamily="18" charset="0"/>
              </a:rPr>
              <a:t>&lt;&lt;"Please enter three numbers that you want to multiply"&lt;&lt;</a:t>
            </a:r>
            <a:r>
              <a:rPr lang="en-US" sz="2400" dirty="0" err="1">
                <a:latin typeface="Times New Roman" panose="02020603050405020304" pitchFamily="18" charset="0"/>
                <a:cs typeface="Times New Roman" panose="02020603050405020304" pitchFamily="18" charset="0"/>
              </a:rPr>
              <a:t>endl</a:t>
            </a:r>
            <a:r>
              <a:rPr lang="en-US" sz="2400" dirty="0">
                <a:latin typeface="Times New Roman" panose="02020603050405020304" pitchFamily="18" charset="0"/>
                <a:cs typeface="Times New Roman" panose="02020603050405020304" pitchFamily="18" charset="0"/>
              </a:rPr>
              <a:t>;</a:t>
            </a:r>
          </a:p>
          <a:p>
            <a:pPr marL="116082" indent="0">
              <a:spcBef>
                <a:spcPts val="0"/>
              </a:spcBef>
              <a:buNone/>
            </a:pPr>
            <a:r>
              <a:rPr lang="en-US" sz="2400" dirty="0">
                <a:latin typeface="Times New Roman" panose="02020603050405020304" pitchFamily="18" charset="0"/>
                <a:cs typeface="Times New Roman" panose="02020603050405020304" pitchFamily="18" charset="0"/>
              </a:rPr>
              <a:t>  for(counter=0; counter&lt;3; counter++)</a:t>
            </a:r>
          </a:p>
          <a:p>
            <a:pPr marL="116082" indent="0">
              <a:spcBef>
                <a:spcPts val="0"/>
              </a:spcBef>
              <a:buNone/>
            </a:pPr>
            <a:r>
              <a:rPr lang="en-US" sz="2400" dirty="0">
                <a:latin typeface="Times New Roman" panose="02020603050405020304" pitchFamily="18" charset="0"/>
                <a:cs typeface="Times New Roman" panose="02020603050405020304" pitchFamily="18" charset="0"/>
              </a:rPr>
              <a:t>    {</a:t>
            </a:r>
          </a:p>
          <a:p>
            <a:pPr marL="116082" indent="0">
              <a:spcBef>
                <a:spcPts val="0"/>
              </a:spcBef>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cin</a:t>
            </a:r>
            <a:r>
              <a:rPr lang="en-US" sz="2400" dirty="0">
                <a:latin typeface="Times New Roman" panose="02020603050405020304" pitchFamily="18" charset="0"/>
                <a:cs typeface="Times New Roman" panose="02020603050405020304" pitchFamily="18" charset="0"/>
              </a:rPr>
              <a:t>&gt;&gt;</a:t>
            </a:r>
            <a:r>
              <a:rPr lang="en-US" sz="2400" dirty="0" err="1">
                <a:latin typeface="Times New Roman" panose="02020603050405020304" pitchFamily="18" charset="0"/>
                <a:cs typeface="Times New Roman" panose="02020603050405020304" pitchFamily="18" charset="0"/>
              </a:rPr>
              <a:t>val_array</a:t>
            </a:r>
            <a:r>
              <a:rPr lang="en-US" sz="2400" dirty="0">
                <a:latin typeface="Times New Roman" panose="02020603050405020304" pitchFamily="18" charset="0"/>
                <a:cs typeface="Times New Roman" panose="02020603050405020304" pitchFamily="18" charset="0"/>
              </a:rPr>
              <a:t>[counter];</a:t>
            </a:r>
          </a:p>
          <a:p>
            <a:pPr marL="116082" indent="0">
              <a:spcBef>
                <a:spcPts val="0"/>
              </a:spcBef>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int_val</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int_val</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val_array</a:t>
            </a:r>
            <a:r>
              <a:rPr lang="en-US" sz="2400" dirty="0">
                <a:latin typeface="Times New Roman" panose="02020603050405020304" pitchFamily="18" charset="0"/>
                <a:cs typeface="Times New Roman" panose="02020603050405020304" pitchFamily="18" charset="0"/>
              </a:rPr>
              <a:t>[counter];</a:t>
            </a:r>
          </a:p>
          <a:p>
            <a:pPr marL="116082" indent="0">
              <a:spcBef>
                <a:spcPts val="0"/>
              </a:spcBef>
              <a:buNone/>
            </a:pPr>
            <a:r>
              <a:rPr lang="en-US" sz="2400" dirty="0">
                <a:latin typeface="Times New Roman" panose="02020603050405020304" pitchFamily="18" charset="0"/>
                <a:cs typeface="Times New Roman" panose="02020603050405020304" pitchFamily="18" charset="0"/>
              </a:rPr>
              <a:t>     }</a:t>
            </a:r>
          </a:p>
          <a:p>
            <a:pPr marL="116082" indent="0">
              <a:spcBef>
                <a:spcPts val="0"/>
              </a:spcBef>
              <a:buNone/>
            </a:pPr>
            <a:r>
              <a:rPr lang="en-US" sz="2400" dirty="0" err="1">
                <a:latin typeface="Times New Roman" panose="02020603050405020304" pitchFamily="18" charset="0"/>
                <a:cs typeface="Times New Roman" panose="02020603050405020304" pitchFamily="18" charset="0"/>
              </a:rPr>
              <a:t>cout</a:t>
            </a:r>
            <a:r>
              <a:rPr lang="en-US" sz="2400" dirty="0">
                <a:latin typeface="Times New Roman" panose="02020603050405020304" pitchFamily="18" charset="0"/>
                <a:cs typeface="Times New Roman" panose="02020603050405020304" pitchFamily="18" charset="0"/>
              </a:rPr>
              <a:t>&lt;&lt;"The product of these three numbers is = "&lt;&lt;</a:t>
            </a:r>
            <a:r>
              <a:rPr lang="en-US" sz="2400" dirty="0" err="1">
                <a:latin typeface="Times New Roman" panose="02020603050405020304" pitchFamily="18" charset="0"/>
                <a:cs typeface="Times New Roman" panose="02020603050405020304" pitchFamily="18" charset="0"/>
              </a:rPr>
              <a:t>int_val</a:t>
            </a:r>
            <a:r>
              <a:rPr lang="en-US" sz="2400" dirty="0">
                <a:latin typeface="Times New Roman" panose="02020603050405020304" pitchFamily="18" charset="0"/>
                <a:cs typeface="Times New Roman" panose="02020603050405020304" pitchFamily="18" charset="0"/>
              </a:rPr>
              <a:t>;</a:t>
            </a:r>
          </a:p>
          <a:p>
            <a:pPr marL="116082" indent="0">
              <a:spcBef>
                <a:spcPts val="0"/>
              </a:spcBef>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getch</a:t>
            </a:r>
            <a:r>
              <a:rPr lang="en-US" sz="2400" dirty="0">
                <a:latin typeface="Times New Roman" panose="02020603050405020304" pitchFamily="18" charset="0"/>
                <a:cs typeface="Times New Roman" panose="02020603050405020304" pitchFamily="18" charset="0"/>
              </a:rPr>
              <a:t>();</a:t>
            </a:r>
          </a:p>
          <a:p>
            <a:pPr marL="116082" indent="0">
              <a:spcBef>
                <a:spcPts val="0"/>
              </a:spcBef>
              <a:buNone/>
            </a:pPr>
            <a:r>
              <a:rPr lang="en-US" sz="2400" dirty="0">
                <a:latin typeface="Times New Roman" panose="02020603050405020304" pitchFamily="18" charset="0"/>
                <a:cs typeface="Times New Roman" panose="02020603050405020304" pitchFamily="18" charset="0"/>
              </a:rPr>
              <a:t>return 0;</a:t>
            </a:r>
          </a:p>
          <a:p>
            <a:pPr marL="116082" indent="0">
              <a:spcBef>
                <a:spcPts val="0"/>
              </a:spcBef>
              <a:buNone/>
            </a:pP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844608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a:spLocks noGrp="1"/>
          </p:cNvSpPr>
          <p:nvPr>
            <p:ph idx="1"/>
          </p:nvPr>
        </p:nvSpPr>
        <p:spPr>
          <a:xfrm>
            <a:off x="2743200" y="866274"/>
            <a:ext cx="7620000" cy="5763126"/>
          </a:xfrm>
        </p:spPr>
        <p:txBody>
          <a:bodyPr anchor="t"/>
          <a:lstStyle/>
          <a:p>
            <a:pPr marL="0" indent="0">
              <a:spcBef>
                <a:spcPct val="0"/>
              </a:spcBef>
              <a:buNone/>
            </a:pPr>
            <a:r>
              <a:rPr lang="en-US" altLang="en-US" sz="1600" dirty="0"/>
              <a:t>/*Write a program to get n numbers and find out sum and average of numbers*/</a:t>
            </a:r>
          </a:p>
          <a:p>
            <a:pPr marL="0" indent="0">
              <a:spcBef>
                <a:spcPct val="0"/>
              </a:spcBef>
              <a:buNone/>
            </a:pPr>
            <a:r>
              <a:rPr lang="en-US" altLang="en-US" sz="1800" dirty="0"/>
              <a:t>#include&lt;</a:t>
            </a:r>
            <a:r>
              <a:rPr lang="en-US" altLang="en-US" sz="1800" dirty="0" err="1"/>
              <a:t>iostream</a:t>
            </a:r>
            <a:r>
              <a:rPr lang="en-US" altLang="en-US" sz="1800" dirty="0"/>
              <a:t>&gt;</a:t>
            </a:r>
          </a:p>
          <a:p>
            <a:pPr marL="0" indent="0">
              <a:spcBef>
                <a:spcPct val="0"/>
              </a:spcBef>
              <a:buNone/>
            </a:pPr>
            <a:r>
              <a:rPr lang="en-US" altLang="en-US" sz="1800" dirty="0"/>
              <a:t>using namespace </a:t>
            </a:r>
            <a:r>
              <a:rPr lang="en-US" altLang="en-US" sz="1800" dirty="0" err="1"/>
              <a:t>std</a:t>
            </a:r>
            <a:r>
              <a:rPr lang="en-US" altLang="en-US" sz="1800" dirty="0"/>
              <a:t>;</a:t>
            </a:r>
          </a:p>
          <a:p>
            <a:pPr marL="0" indent="0">
              <a:spcBef>
                <a:spcPct val="0"/>
              </a:spcBef>
              <a:buNone/>
            </a:pPr>
            <a:r>
              <a:rPr lang="en-US" altLang="en-US" sz="1800" dirty="0" err="1"/>
              <a:t>int</a:t>
            </a:r>
            <a:r>
              <a:rPr lang="en-US" altLang="en-US" sz="1800" dirty="0"/>
              <a:t> main( ) {</a:t>
            </a:r>
          </a:p>
          <a:p>
            <a:pPr marL="0" indent="0">
              <a:spcBef>
                <a:spcPct val="0"/>
              </a:spcBef>
              <a:buNone/>
            </a:pPr>
            <a:r>
              <a:rPr lang="en-US" altLang="en-US" sz="1800" dirty="0" err="1"/>
              <a:t>int</a:t>
            </a:r>
            <a:r>
              <a:rPr lang="en-US" altLang="en-US" sz="1800" dirty="0"/>
              <a:t> a[100], </a:t>
            </a:r>
            <a:r>
              <a:rPr lang="en-US" altLang="en-US" sz="1800" dirty="0" err="1"/>
              <a:t>i</a:t>
            </a:r>
            <a:r>
              <a:rPr lang="en-US" altLang="en-US" sz="1800" dirty="0"/>
              <a:t>, n; //array of size n</a:t>
            </a:r>
          </a:p>
          <a:p>
            <a:pPr marL="0" indent="0">
              <a:spcBef>
                <a:spcPct val="0"/>
              </a:spcBef>
              <a:buNone/>
            </a:pPr>
            <a:r>
              <a:rPr lang="en-US" altLang="en-US" sz="1800" dirty="0"/>
              <a:t>float </a:t>
            </a:r>
            <a:r>
              <a:rPr lang="en-US" altLang="en-US" sz="1800" dirty="0" err="1"/>
              <a:t>avg</a:t>
            </a:r>
            <a:r>
              <a:rPr lang="en-US" altLang="en-US" sz="1800" dirty="0"/>
              <a:t>, sum=0;</a:t>
            </a:r>
          </a:p>
          <a:p>
            <a:pPr marL="0" indent="0">
              <a:spcBef>
                <a:spcPct val="0"/>
              </a:spcBef>
              <a:buNone/>
            </a:pPr>
            <a:r>
              <a:rPr lang="en-US" altLang="en-US" sz="1800" dirty="0" err="1"/>
              <a:t>cout</a:t>
            </a:r>
            <a:r>
              <a:rPr lang="en-US" altLang="en-US" sz="1800" dirty="0"/>
              <a:t>&lt;&lt;“Enter total number of elements :  ”;</a:t>
            </a:r>
          </a:p>
          <a:p>
            <a:pPr marL="0" indent="0">
              <a:spcBef>
                <a:spcPct val="0"/>
              </a:spcBef>
              <a:buNone/>
            </a:pPr>
            <a:r>
              <a:rPr lang="en-US" altLang="en-US" sz="1800" dirty="0" err="1"/>
              <a:t>cin</a:t>
            </a:r>
            <a:r>
              <a:rPr lang="en-US" altLang="en-US" sz="1800" dirty="0"/>
              <a:t>&gt;&gt;n;</a:t>
            </a:r>
          </a:p>
          <a:p>
            <a:pPr marL="0" indent="0">
              <a:spcBef>
                <a:spcPct val="0"/>
              </a:spcBef>
              <a:buNone/>
            </a:pPr>
            <a:r>
              <a:rPr lang="en-US" altLang="en-US" sz="1800" dirty="0"/>
              <a:t>for(</a:t>
            </a:r>
            <a:r>
              <a:rPr lang="en-US" altLang="en-US" sz="1800" dirty="0" err="1"/>
              <a:t>i</a:t>
            </a:r>
            <a:r>
              <a:rPr lang="en-US" altLang="en-US" sz="1800" dirty="0"/>
              <a:t>=0; </a:t>
            </a:r>
            <a:r>
              <a:rPr lang="en-US" altLang="en-US" sz="1800" dirty="0" err="1"/>
              <a:t>i</a:t>
            </a:r>
            <a:r>
              <a:rPr lang="en-US" altLang="en-US" sz="1800" dirty="0"/>
              <a:t>&lt;n; </a:t>
            </a:r>
            <a:r>
              <a:rPr lang="en-US" altLang="en-US" sz="1800" dirty="0" err="1"/>
              <a:t>i</a:t>
            </a:r>
            <a:r>
              <a:rPr lang="en-US" altLang="en-US" sz="1800" dirty="0"/>
              <a:t>++)  {</a:t>
            </a:r>
          </a:p>
          <a:p>
            <a:pPr marL="0" indent="0">
              <a:spcBef>
                <a:spcPct val="0"/>
              </a:spcBef>
              <a:buNone/>
            </a:pPr>
            <a:r>
              <a:rPr lang="en-US" altLang="en-US" sz="1800" dirty="0" err="1"/>
              <a:t>cout</a:t>
            </a:r>
            <a:r>
              <a:rPr lang="en-US" altLang="en-US" sz="1800" dirty="0"/>
              <a:t>&lt;&lt;“Enter the number&lt;&lt;“</a:t>
            </a:r>
            <a:r>
              <a:rPr lang="en-US" altLang="en-US" sz="1800" dirty="0" err="1"/>
              <a:t>endl</a:t>
            </a:r>
            <a:r>
              <a:rPr lang="en-US" altLang="en-US" sz="1800" dirty="0"/>
              <a:t>”;</a:t>
            </a:r>
          </a:p>
          <a:p>
            <a:pPr marL="0" indent="0">
              <a:spcBef>
                <a:spcPct val="0"/>
              </a:spcBef>
              <a:buNone/>
            </a:pPr>
            <a:r>
              <a:rPr lang="en-US" altLang="en-US" sz="1800" dirty="0" err="1"/>
              <a:t>cin</a:t>
            </a:r>
            <a:r>
              <a:rPr lang="en-US" altLang="en-US" sz="1800" dirty="0"/>
              <a:t>&gt;&gt;a[</a:t>
            </a:r>
            <a:r>
              <a:rPr lang="en-US" altLang="en-US" sz="1800" dirty="0" err="1"/>
              <a:t>i</a:t>
            </a:r>
            <a:r>
              <a:rPr lang="en-US" altLang="en-US" sz="1800" dirty="0"/>
              <a:t>];</a:t>
            </a:r>
          </a:p>
          <a:p>
            <a:pPr marL="0" indent="0">
              <a:spcBef>
                <a:spcPct val="0"/>
              </a:spcBef>
              <a:buNone/>
            </a:pPr>
            <a:r>
              <a:rPr lang="en-US" altLang="en-US" sz="1800" dirty="0"/>
              <a:t>sum = sum + a[</a:t>
            </a:r>
            <a:r>
              <a:rPr lang="en-US" altLang="en-US" sz="1800" dirty="0" err="1"/>
              <a:t>i</a:t>
            </a:r>
            <a:r>
              <a:rPr lang="en-US" altLang="en-US" sz="1800" dirty="0"/>
              <a:t>];</a:t>
            </a:r>
          </a:p>
          <a:p>
            <a:pPr marL="0" indent="0">
              <a:spcBef>
                <a:spcPct val="0"/>
              </a:spcBef>
              <a:buNone/>
            </a:pPr>
            <a:r>
              <a:rPr lang="en-US" altLang="en-US" sz="1800" dirty="0"/>
              <a:t>}</a:t>
            </a:r>
          </a:p>
          <a:p>
            <a:pPr marL="0" indent="0">
              <a:spcBef>
                <a:spcPct val="0"/>
              </a:spcBef>
              <a:buNone/>
            </a:pPr>
            <a:r>
              <a:rPr lang="en-US" altLang="en-US" sz="1800" dirty="0" err="1"/>
              <a:t>avg</a:t>
            </a:r>
            <a:r>
              <a:rPr lang="en-US" altLang="en-US" sz="1800" dirty="0"/>
              <a:t>=sum/n;</a:t>
            </a:r>
          </a:p>
          <a:p>
            <a:pPr marL="0" indent="0">
              <a:spcBef>
                <a:spcPct val="0"/>
              </a:spcBef>
              <a:buNone/>
            </a:pPr>
            <a:r>
              <a:rPr lang="en-US" altLang="en-US" sz="1800" dirty="0" err="1"/>
              <a:t>cout</a:t>
            </a:r>
            <a:r>
              <a:rPr lang="en-US" altLang="en-US" sz="1800" dirty="0"/>
              <a:t>&lt;&lt;“Array elements are :”&lt;&lt;</a:t>
            </a:r>
            <a:r>
              <a:rPr lang="en-US" altLang="en-US" sz="1800" dirty="0" err="1"/>
              <a:t>endl</a:t>
            </a:r>
            <a:r>
              <a:rPr lang="en-US" altLang="en-US" sz="1800" dirty="0"/>
              <a:t>;</a:t>
            </a:r>
          </a:p>
          <a:p>
            <a:pPr marL="0" indent="0">
              <a:spcBef>
                <a:spcPct val="0"/>
              </a:spcBef>
              <a:buNone/>
            </a:pPr>
            <a:r>
              <a:rPr lang="en-US" altLang="en-US" sz="1800" dirty="0"/>
              <a:t>for(</a:t>
            </a:r>
            <a:r>
              <a:rPr lang="en-US" altLang="en-US" sz="1800" dirty="0" err="1"/>
              <a:t>i</a:t>
            </a:r>
            <a:r>
              <a:rPr lang="en-US" altLang="en-US" sz="1800" dirty="0"/>
              <a:t>=0; </a:t>
            </a:r>
            <a:r>
              <a:rPr lang="en-US" altLang="en-US" sz="1800" dirty="0" err="1"/>
              <a:t>i</a:t>
            </a:r>
            <a:r>
              <a:rPr lang="en-US" altLang="en-US" sz="1800" dirty="0"/>
              <a:t>&lt;n; </a:t>
            </a:r>
            <a:r>
              <a:rPr lang="en-US" altLang="en-US" sz="1800" dirty="0" err="1"/>
              <a:t>i</a:t>
            </a:r>
            <a:r>
              <a:rPr lang="en-US" altLang="en-US" sz="1800" dirty="0"/>
              <a:t>++){</a:t>
            </a:r>
          </a:p>
          <a:p>
            <a:pPr marL="0" indent="0">
              <a:spcBef>
                <a:spcPct val="0"/>
              </a:spcBef>
              <a:buNone/>
            </a:pPr>
            <a:r>
              <a:rPr lang="pt-BR" altLang="en-US" sz="1800" dirty="0"/>
              <a:t>cout&lt;&lt; a[i])&lt;&lt;endl; }</a:t>
            </a:r>
          </a:p>
          <a:p>
            <a:pPr marL="0" indent="0">
              <a:spcBef>
                <a:spcPct val="0"/>
              </a:spcBef>
              <a:buNone/>
            </a:pPr>
            <a:r>
              <a:rPr lang="pt-BR" altLang="en-US" sz="1800" dirty="0"/>
              <a:t>cout&lt;&lt;“Sum = “&lt;&lt;sum &lt;&lt;“Average  = “&lt;&lt;avg;</a:t>
            </a:r>
          </a:p>
          <a:p>
            <a:pPr marL="0" indent="0">
              <a:spcBef>
                <a:spcPct val="0"/>
              </a:spcBef>
              <a:buNone/>
            </a:pPr>
            <a:r>
              <a:rPr lang="pt-BR" altLang="en-US" sz="1800" dirty="0"/>
              <a:t>return 0;</a:t>
            </a:r>
          </a:p>
          <a:p>
            <a:pPr marL="0" indent="0">
              <a:spcBef>
                <a:spcPct val="0"/>
              </a:spcBef>
              <a:buNone/>
            </a:pPr>
            <a:r>
              <a:rPr lang="en-US" altLang="en-US" sz="1800" dirty="0"/>
              <a:t>}</a:t>
            </a:r>
          </a:p>
        </p:txBody>
      </p:sp>
    </p:spTree>
    <p:extLst>
      <p:ext uri="{BB962C8B-B14F-4D97-AF65-F5344CB8AC3E}">
        <p14:creationId xmlns:p14="http://schemas.microsoft.com/office/powerpoint/2010/main" val="79759149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p:cNvSpPr>
          <p:nvPr>
            <p:ph idx="1"/>
          </p:nvPr>
        </p:nvSpPr>
        <p:spPr>
          <a:xfrm>
            <a:off x="2743200" y="841828"/>
            <a:ext cx="7467600" cy="5787571"/>
          </a:xfrm>
        </p:spPr>
        <p:txBody>
          <a:bodyPr anchor="t"/>
          <a:lstStyle/>
          <a:p>
            <a:pPr marL="0" indent="0">
              <a:spcBef>
                <a:spcPts val="0"/>
              </a:spcBef>
              <a:buNone/>
            </a:pPr>
            <a:r>
              <a:rPr lang="en-US" altLang="en-US" sz="2400" dirty="0"/>
              <a:t>//Program to find the largest element in an array</a:t>
            </a:r>
          </a:p>
          <a:p>
            <a:pPr marL="0" indent="0">
              <a:spcBef>
                <a:spcPts val="0"/>
              </a:spcBef>
              <a:buNone/>
            </a:pPr>
            <a:r>
              <a:rPr lang="en-US" altLang="en-US" sz="2400" dirty="0"/>
              <a:t>#include&lt;</a:t>
            </a:r>
            <a:r>
              <a:rPr lang="en-US" altLang="en-US" sz="2400" dirty="0" err="1"/>
              <a:t>iostream</a:t>
            </a:r>
            <a:r>
              <a:rPr lang="en-US" altLang="en-US" sz="2400" dirty="0"/>
              <a:t>&gt;</a:t>
            </a:r>
          </a:p>
          <a:p>
            <a:pPr marL="0" indent="0">
              <a:spcBef>
                <a:spcPts val="0"/>
              </a:spcBef>
              <a:buNone/>
            </a:pPr>
            <a:r>
              <a:rPr lang="en-US" altLang="en-US" sz="2400" dirty="0"/>
              <a:t>using namespace </a:t>
            </a:r>
            <a:r>
              <a:rPr lang="en-US" altLang="en-US" sz="2400" dirty="0" err="1"/>
              <a:t>std</a:t>
            </a:r>
            <a:r>
              <a:rPr lang="en-US" altLang="en-US" sz="2400" dirty="0"/>
              <a:t>;</a:t>
            </a:r>
          </a:p>
          <a:p>
            <a:pPr marL="0" indent="0">
              <a:spcBef>
                <a:spcPts val="0"/>
              </a:spcBef>
              <a:buNone/>
            </a:pPr>
            <a:r>
              <a:rPr lang="en-US" altLang="en-US" sz="2400" dirty="0" err="1"/>
              <a:t>int</a:t>
            </a:r>
            <a:r>
              <a:rPr lang="en-US" altLang="en-US" sz="2400" dirty="0"/>
              <a:t> main() {</a:t>
            </a:r>
          </a:p>
          <a:p>
            <a:pPr marL="0" indent="0">
              <a:spcBef>
                <a:spcPts val="0"/>
              </a:spcBef>
              <a:buNone/>
            </a:pPr>
            <a:r>
              <a:rPr lang="en-US" altLang="en-US" sz="2400" dirty="0" err="1"/>
              <a:t>int</a:t>
            </a:r>
            <a:r>
              <a:rPr lang="en-US" altLang="en-US" sz="2400" dirty="0"/>
              <a:t> a[50], size, </a:t>
            </a:r>
            <a:r>
              <a:rPr lang="en-US" altLang="en-US" sz="2400" dirty="0" err="1"/>
              <a:t>i</a:t>
            </a:r>
            <a:r>
              <a:rPr lang="en-US" altLang="en-US" sz="2400" dirty="0"/>
              <a:t>, big;</a:t>
            </a:r>
          </a:p>
          <a:p>
            <a:pPr marL="0" indent="0">
              <a:spcBef>
                <a:spcPts val="0"/>
              </a:spcBef>
              <a:buNone/>
            </a:pPr>
            <a:r>
              <a:rPr lang="en-US" altLang="en-US" sz="2400" dirty="0" err="1"/>
              <a:t>cout</a:t>
            </a:r>
            <a:r>
              <a:rPr lang="en-US" altLang="en-US" sz="2400" dirty="0"/>
              <a:t>&lt;&lt;“\</a:t>
            </a:r>
            <a:r>
              <a:rPr lang="en-US" altLang="en-US" sz="2400" dirty="0" err="1"/>
              <a:t>nEnter</a:t>
            </a:r>
            <a:r>
              <a:rPr lang="en-US" altLang="en-US" sz="2400" dirty="0"/>
              <a:t> size of the array : ”;</a:t>
            </a:r>
          </a:p>
          <a:p>
            <a:pPr marL="0" indent="0">
              <a:spcBef>
                <a:spcPts val="0"/>
              </a:spcBef>
              <a:buNone/>
            </a:pPr>
            <a:r>
              <a:rPr lang="en-US" altLang="en-US" sz="2400" dirty="0" err="1"/>
              <a:t>cin</a:t>
            </a:r>
            <a:r>
              <a:rPr lang="en-US" altLang="en-US" sz="2400" dirty="0"/>
              <a:t>&gt;&gt;size;</a:t>
            </a:r>
          </a:p>
          <a:p>
            <a:pPr marL="0" indent="0">
              <a:spcBef>
                <a:spcPts val="0"/>
              </a:spcBef>
              <a:buNone/>
            </a:pPr>
            <a:r>
              <a:rPr lang="en-US" altLang="en-US" sz="2400" dirty="0" err="1"/>
              <a:t>cout</a:t>
            </a:r>
            <a:r>
              <a:rPr lang="en-US" altLang="en-US" sz="2400" dirty="0"/>
              <a:t>&lt;&lt;“\</a:t>
            </a:r>
            <a:r>
              <a:rPr lang="en-US" altLang="en-US" sz="2400" dirty="0" err="1"/>
              <a:t>nEnter</a:t>
            </a:r>
            <a:r>
              <a:rPr lang="en-US" altLang="en-US" sz="2400" dirty="0"/>
              <a:t> &lt;&lt;size&lt;&lt;“elements in to the array : ”;</a:t>
            </a:r>
          </a:p>
          <a:p>
            <a:pPr marL="0" indent="0">
              <a:spcBef>
                <a:spcPts val="0"/>
              </a:spcBef>
              <a:buNone/>
            </a:pPr>
            <a:r>
              <a:rPr lang="en-US" altLang="en-US" sz="2400" dirty="0"/>
              <a:t>for(</a:t>
            </a:r>
            <a:r>
              <a:rPr lang="en-US" altLang="en-US" sz="2400" dirty="0" err="1"/>
              <a:t>i</a:t>
            </a:r>
            <a:r>
              <a:rPr lang="en-US" altLang="en-US" sz="2400" dirty="0"/>
              <a:t>=0; </a:t>
            </a:r>
            <a:r>
              <a:rPr lang="en-US" altLang="en-US" sz="2400" dirty="0" err="1"/>
              <a:t>i</a:t>
            </a:r>
            <a:r>
              <a:rPr lang="en-US" altLang="en-US" sz="2400" dirty="0"/>
              <a:t>&lt;size; </a:t>
            </a:r>
            <a:r>
              <a:rPr lang="en-US" altLang="en-US" sz="2400" dirty="0" err="1"/>
              <a:t>i</a:t>
            </a:r>
            <a:r>
              <a:rPr lang="en-US" altLang="en-US" sz="2400" dirty="0"/>
              <a:t>++)  {</a:t>
            </a:r>
          </a:p>
          <a:p>
            <a:pPr marL="0" indent="0">
              <a:spcBef>
                <a:spcPts val="0"/>
              </a:spcBef>
              <a:buNone/>
            </a:pPr>
            <a:r>
              <a:rPr lang="en-US" altLang="en-US" sz="2400" dirty="0"/>
              <a:t>     </a:t>
            </a:r>
            <a:r>
              <a:rPr lang="en-US" altLang="en-US" sz="2400" dirty="0" err="1"/>
              <a:t>cin</a:t>
            </a:r>
            <a:r>
              <a:rPr lang="en-US" altLang="en-US" sz="2400" dirty="0"/>
              <a:t>&gt;&gt;a[</a:t>
            </a:r>
            <a:r>
              <a:rPr lang="en-US" altLang="en-US" sz="2400" dirty="0" err="1"/>
              <a:t>i</a:t>
            </a:r>
            <a:r>
              <a:rPr lang="en-US" altLang="en-US" sz="2400" dirty="0"/>
              <a:t>];   }</a:t>
            </a:r>
          </a:p>
          <a:p>
            <a:pPr marL="0" indent="0">
              <a:spcBef>
                <a:spcPts val="0"/>
              </a:spcBef>
              <a:buNone/>
            </a:pPr>
            <a:r>
              <a:rPr lang="en-US" altLang="en-US" sz="2400" dirty="0"/>
              <a:t>big=a[0];</a:t>
            </a:r>
          </a:p>
          <a:p>
            <a:pPr marL="0" indent="0">
              <a:spcBef>
                <a:spcPts val="0"/>
              </a:spcBef>
              <a:buNone/>
            </a:pPr>
            <a:r>
              <a:rPr lang="en-US" altLang="en-US" sz="2400" dirty="0"/>
              <a:t>for(</a:t>
            </a:r>
            <a:r>
              <a:rPr lang="en-US" altLang="en-US" sz="2400" dirty="0" err="1"/>
              <a:t>i</a:t>
            </a:r>
            <a:r>
              <a:rPr lang="en-US" altLang="en-US" sz="2400" dirty="0"/>
              <a:t>=1; </a:t>
            </a:r>
            <a:r>
              <a:rPr lang="en-US" altLang="en-US" sz="2400" dirty="0" err="1"/>
              <a:t>i</a:t>
            </a:r>
            <a:r>
              <a:rPr lang="en-US" altLang="en-US" sz="2400" dirty="0"/>
              <a:t>&lt;size; </a:t>
            </a:r>
            <a:r>
              <a:rPr lang="en-US" altLang="en-US" sz="2400" dirty="0" err="1"/>
              <a:t>i</a:t>
            </a:r>
            <a:r>
              <a:rPr lang="en-US" altLang="en-US" sz="2400" dirty="0"/>
              <a:t>++){</a:t>
            </a:r>
          </a:p>
          <a:p>
            <a:pPr marL="0" indent="0">
              <a:spcBef>
                <a:spcPts val="0"/>
              </a:spcBef>
              <a:buNone/>
            </a:pPr>
            <a:r>
              <a:rPr lang="en-US" altLang="en-US" sz="2400" dirty="0"/>
              <a:t>if(big&lt;a[</a:t>
            </a:r>
            <a:r>
              <a:rPr lang="en-US" altLang="en-US" sz="2400" dirty="0" err="1"/>
              <a:t>i</a:t>
            </a:r>
            <a:r>
              <a:rPr lang="en-US" altLang="en-US" sz="2400" dirty="0"/>
              <a:t>])</a:t>
            </a:r>
          </a:p>
          <a:p>
            <a:pPr marL="0" indent="0">
              <a:spcBef>
                <a:spcPts val="0"/>
              </a:spcBef>
              <a:buNone/>
            </a:pPr>
            <a:r>
              <a:rPr lang="en-US" altLang="en-US" sz="2400" dirty="0"/>
              <a:t>big=a[</a:t>
            </a:r>
            <a:r>
              <a:rPr lang="en-US" altLang="en-US" sz="2400" dirty="0" err="1"/>
              <a:t>i</a:t>
            </a:r>
            <a:r>
              <a:rPr lang="en-US" altLang="en-US" sz="2400" dirty="0"/>
              <a:t>];}</a:t>
            </a:r>
          </a:p>
          <a:p>
            <a:pPr marL="0" indent="0">
              <a:spcBef>
                <a:spcPts val="0"/>
              </a:spcBef>
              <a:buNone/>
            </a:pPr>
            <a:r>
              <a:rPr lang="en-US" altLang="en-US" sz="2400" dirty="0" err="1"/>
              <a:t>cout</a:t>
            </a:r>
            <a:r>
              <a:rPr lang="en-US" altLang="en-US" sz="2400" dirty="0"/>
              <a:t>&lt;&lt;“\</a:t>
            </a:r>
            <a:r>
              <a:rPr lang="en-US" altLang="en-US" sz="2400" dirty="0" err="1"/>
              <a:t>nThe</a:t>
            </a:r>
            <a:r>
              <a:rPr lang="en-US" altLang="en-US" sz="2400" dirty="0"/>
              <a:t> biggest element is </a:t>
            </a:r>
            <a:r>
              <a:rPr lang="en-US" altLang="en-US" sz="2400"/>
              <a:t>”&lt;&lt;big;</a:t>
            </a:r>
            <a:endParaRPr lang="en-US" altLang="en-US" sz="2400" dirty="0"/>
          </a:p>
          <a:p>
            <a:pPr marL="0" indent="0">
              <a:spcBef>
                <a:spcPts val="0"/>
              </a:spcBef>
              <a:buNone/>
            </a:pPr>
            <a:r>
              <a:rPr lang="en-US" altLang="en-US" sz="2400" dirty="0"/>
              <a:t>return 0;}</a:t>
            </a:r>
          </a:p>
          <a:p>
            <a:pPr marL="0" indent="0">
              <a:spcBef>
                <a:spcPts val="0"/>
              </a:spcBef>
              <a:buNone/>
            </a:pPr>
            <a:endParaRPr lang="en-US" altLang="en-US" dirty="0"/>
          </a:p>
          <a:p>
            <a:pPr marL="0" indent="0">
              <a:spcBef>
                <a:spcPts val="0"/>
              </a:spcBef>
              <a:buNone/>
            </a:pPr>
            <a:endParaRPr lang="en-US" altLang="en-US" dirty="0"/>
          </a:p>
        </p:txBody>
      </p:sp>
    </p:spTree>
    <p:extLst>
      <p:ext uri="{BB962C8B-B14F-4D97-AF65-F5344CB8AC3E}">
        <p14:creationId xmlns:p14="http://schemas.microsoft.com/office/powerpoint/2010/main" val="407984456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7371" y="827314"/>
            <a:ext cx="11596915" cy="5776686"/>
          </a:xfrm>
        </p:spPr>
        <p:txBody>
          <a:bodyPr anchor="t">
            <a:normAutofit/>
          </a:bodyPr>
          <a:lstStyle/>
          <a:p>
            <a:r>
              <a:rPr lang="en-US" sz="3200" dirty="0">
                <a:latin typeface="Times New Roman" panose="02020603050405020304" pitchFamily="18" charset="0"/>
                <a:cs typeface="Times New Roman" panose="02020603050405020304" pitchFamily="18" charset="0"/>
              </a:rPr>
              <a:t>Note that when accessing an array the index given must be a positive integer from 0 to n-1, where </a:t>
            </a:r>
            <a:r>
              <a:rPr lang="en-US" sz="3200" b="1" dirty="0">
                <a:latin typeface="Times New Roman" panose="02020603050405020304" pitchFamily="18" charset="0"/>
                <a:cs typeface="Times New Roman" panose="02020603050405020304" pitchFamily="18" charset="0"/>
              </a:rPr>
              <a:t>n</a:t>
            </a:r>
            <a:r>
              <a:rPr lang="en-US" sz="3200" dirty="0">
                <a:latin typeface="Times New Roman" panose="02020603050405020304" pitchFamily="18" charset="0"/>
                <a:cs typeface="Times New Roman" panose="02020603050405020304" pitchFamily="18" charset="0"/>
              </a:rPr>
              <a:t> is the dimension of the array. The index itself may be directly provided, derived from a variable, or computed from an expression: </a:t>
            </a:r>
          </a:p>
          <a:p>
            <a:pPr marL="406400" indent="0">
              <a:buNone/>
            </a:pPr>
            <a:r>
              <a:rPr lang="en-US" sz="3200" dirty="0">
                <a:latin typeface="Times New Roman" panose="02020603050405020304" pitchFamily="18" charset="0"/>
                <a:cs typeface="Times New Roman" panose="02020603050405020304" pitchFamily="18" charset="0"/>
              </a:rPr>
              <a:t>     </a:t>
            </a:r>
            <a:r>
              <a:rPr lang="en-US" sz="3200" b="1" i="1" dirty="0">
                <a:latin typeface="Times New Roman" panose="02020603050405020304" pitchFamily="18" charset="0"/>
                <a:cs typeface="Times New Roman" panose="02020603050405020304" pitchFamily="18" charset="0"/>
              </a:rPr>
              <a:t>arr[5];</a:t>
            </a:r>
          </a:p>
          <a:p>
            <a:pPr marL="406400" indent="0">
              <a:buNone/>
            </a:pPr>
            <a:r>
              <a:rPr lang="en-US" sz="3200" b="1" i="1" dirty="0">
                <a:latin typeface="Times New Roman" panose="02020603050405020304" pitchFamily="18" charset="0"/>
                <a:cs typeface="Times New Roman" panose="02020603050405020304" pitchFamily="18" charset="0"/>
              </a:rPr>
              <a:t>     arr[i];</a:t>
            </a:r>
          </a:p>
          <a:p>
            <a:pPr marL="406400" indent="0">
              <a:buNone/>
            </a:pPr>
            <a:r>
              <a:rPr lang="en-US" sz="3200" b="1" i="1" dirty="0">
                <a:latin typeface="Times New Roman" panose="02020603050405020304" pitchFamily="18" charset="0"/>
                <a:cs typeface="Times New Roman" panose="02020603050405020304" pitchFamily="18" charset="0"/>
              </a:rPr>
              <a:t>     arr[i+3];</a:t>
            </a:r>
          </a:p>
        </p:txBody>
      </p:sp>
    </p:spTree>
    <p:extLst>
      <p:ext uri="{BB962C8B-B14F-4D97-AF65-F5344CB8AC3E}">
        <p14:creationId xmlns:p14="http://schemas.microsoft.com/office/powerpoint/2010/main" val="273896502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4457" y="812800"/>
            <a:ext cx="11364685" cy="5313364"/>
          </a:xfrm>
        </p:spPr>
        <p:txBody>
          <a:bodyPr anchor="t"/>
          <a:lstStyle/>
          <a:p>
            <a:r>
              <a:rPr lang="en-US" dirty="0"/>
              <a:t>Arrays can also be passed as arguments to functions. </a:t>
            </a:r>
          </a:p>
          <a:p>
            <a:r>
              <a:rPr lang="en-US" dirty="0"/>
              <a:t>When declaring the function, simply specify the array as a parameter, without a dimension. The array can then be used as normal within the function. For example:</a:t>
            </a:r>
          </a:p>
        </p:txBody>
      </p:sp>
    </p:spTree>
    <p:extLst>
      <p:ext uri="{BB962C8B-B14F-4D97-AF65-F5344CB8AC3E}">
        <p14:creationId xmlns:p14="http://schemas.microsoft.com/office/powerpoint/2010/main" val="165999091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6287" y="827313"/>
            <a:ext cx="9927770" cy="5776687"/>
          </a:xfrm>
        </p:spPr>
        <p:txBody>
          <a:bodyPr>
            <a:normAutofit fontScale="85000" lnSpcReduction="20000"/>
          </a:bodyPr>
          <a:lstStyle/>
          <a:p>
            <a:pPr marL="0" indent="0">
              <a:buNone/>
            </a:pPr>
            <a:r>
              <a:rPr lang="en-US" dirty="0">
                <a:latin typeface="Times New Roman" panose="02020603050405020304" pitchFamily="18" charset="0"/>
                <a:cs typeface="Times New Roman" panose="02020603050405020304" pitchFamily="18" charset="0"/>
              </a:rPr>
              <a:t> #include &lt;iostream&gt;</a:t>
            </a:r>
          </a:p>
          <a:p>
            <a:pPr marL="0" indent="0">
              <a:buNone/>
            </a:pPr>
            <a:r>
              <a:rPr lang="en-US" dirty="0">
                <a:latin typeface="Times New Roman" panose="02020603050405020304" pitchFamily="18" charset="0"/>
                <a:cs typeface="Times New Roman" panose="02020603050405020304" pitchFamily="18" charset="0"/>
              </a:rPr>
              <a:t>using namespace std;</a:t>
            </a:r>
          </a:p>
          <a:p>
            <a:pPr marL="0" indent="0">
              <a:buNone/>
            </a:pP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sum(const int array[ ], const int length) {</a:t>
            </a:r>
          </a:p>
          <a:p>
            <a:pPr marL="0" indent="0">
              <a:buNone/>
            </a:pPr>
            <a:r>
              <a:rPr lang="en-US" dirty="0">
                <a:latin typeface="Times New Roman" panose="02020603050405020304" pitchFamily="18" charset="0"/>
                <a:cs typeface="Times New Roman" panose="02020603050405020304" pitchFamily="18" charset="0"/>
              </a:rPr>
              <a:t>long sum = 0;</a:t>
            </a:r>
          </a:p>
          <a:p>
            <a:pPr marL="0" indent="0">
              <a:buNone/>
            </a:pPr>
            <a:r>
              <a:rPr lang="en-US" dirty="0">
                <a:latin typeface="Times New Roman" panose="02020603050405020304" pitchFamily="18" charset="0"/>
                <a:cs typeface="Times New Roman" panose="02020603050405020304" pitchFamily="18" charset="0"/>
              </a:rPr>
              <a:t>for(</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i = 0; i &lt; length; sum += array[i++]);</a:t>
            </a:r>
          </a:p>
          <a:p>
            <a:pPr marL="0" indent="0">
              <a:buNone/>
            </a:pPr>
            <a:r>
              <a:rPr lang="en-US" dirty="0">
                <a:latin typeface="Times New Roman" panose="02020603050405020304" pitchFamily="18" charset="0"/>
                <a:cs typeface="Times New Roman" panose="02020603050405020304" pitchFamily="18" charset="0"/>
              </a:rPr>
              <a:t>return sum;</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main( ) {</a:t>
            </a:r>
          </a:p>
          <a:p>
            <a:pPr marL="0" indent="0">
              <a:buNone/>
            </a:pP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 ] = {1, 2, 3, 4, 5, 6, 7};</a:t>
            </a:r>
          </a:p>
          <a:p>
            <a:pPr marL="0" indent="0">
              <a:buNone/>
            </a:pPr>
            <a:r>
              <a:rPr lang="en-US" dirty="0" err="1">
                <a:latin typeface="Times New Roman" panose="02020603050405020304" pitchFamily="18" charset="0"/>
                <a:cs typeface="Times New Roman" panose="02020603050405020304" pitchFamily="18" charset="0"/>
              </a:rPr>
              <a:t>cout</a:t>
            </a:r>
            <a:r>
              <a:rPr lang="en-US" dirty="0">
                <a:latin typeface="Times New Roman" panose="02020603050405020304" pitchFamily="18" charset="0"/>
                <a:cs typeface="Times New Roman" panose="02020603050405020304" pitchFamily="18" charset="0"/>
              </a:rPr>
              <a:t> &lt;&lt; "Sum: " &lt;&lt; sum(arr, 7) &lt;&lt; endl;</a:t>
            </a:r>
          </a:p>
          <a:p>
            <a:pPr marL="0" indent="0">
              <a:buNone/>
            </a:pPr>
            <a:r>
              <a:rPr lang="en-US" dirty="0">
                <a:latin typeface="Times New Roman" panose="02020603050405020304" pitchFamily="18" charset="0"/>
                <a:cs typeface="Times New Roman" panose="02020603050405020304" pitchFamily="18" charset="0"/>
              </a:rPr>
              <a:t>return 0;</a:t>
            </a:r>
          </a:p>
          <a:p>
            <a:pPr marL="0" indent="0">
              <a:buNone/>
            </a:pP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0486384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4171" y="856342"/>
            <a:ext cx="11814629" cy="5776687"/>
          </a:xfrm>
        </p:spPr>
        <p:txBody>
          <a:bodyPr anchor="t"/>
          <a:lstStyle/>
          <a:p>
            <a:r>
              <a:rPr lang="en-US" sz="3200" dirty="0">
                <a:latin typeface="Times New Roman" panose="02020603050405020304" pitchFamily="18" charset="0"/>
                <a:cs typeface="Times New Roman" panose="02020603050405020304" pitchFamily="18" charset="0"/>
              </a:rPr>
              <a:t>C++ supports the creation of </a:t>
            </a:r>
            <a:r>
              <a:rPr lang="en-US" sz="3200" b="1" i="1" dirty="0">
                <a:solidFill>
                  <a:srgbClr val="FF0000"/>
                </a:solidFill>
                <a:latin typeface="Times New Roman" panose="02020603050405020304" pitchFamily="18" charset="0"/>
                <a:cs typeface="Times New Roman" panose="02020603050405020304" pitchFamily="18" charset="0"/>
              </a:rPr>
              <a:t>multidimensional arrays</a:t>
            </a:r>
            <a:r>
              <a:rPr lang="en-US" sz="3200" dirty="0">
                <a:latin typeface="Times New Roman" panose="02020603050405020304" pitchFamily="18" charset="0"/>
                <a:cs typeface="Times New Roman" panose="02020603050405020304" pitchFamily="18" charset="0"/>
              </a:rPr>
              <a:t>, through the addition of more than one set of brackets. </a:t>
            </a:r>
          </a:p>
          <a:p>
            <a:r>
              <a:rPr lang="en-US" sz="3200" dirty="0">
                <a:latin typeface="Times New Roman" panose="02020603050405020304" pitchFamily="18" charset="0"/>
                <a:cs typeface="Times New Roman" panose="02020603050405020304" pitchFamily="18" charset="0"/>
              </a:rPr>
              <a:t>Thus, a two-dimensional array may be created as follows:</a:t>
            </a:r>
          </a:p>
          <a:p>
            <a:pPr marL="0" indent="0">
              <a:buNone/>
            </a:pPr>
            <a:r>
              <a:rPr lang="en-US" sz="3200" dirty="0">
                <a:latin typeface="Times New Roman" panose="02020603050405020304" pitchFamily="18" charset="0"/>
                <a:cs typeface="Times New Roman" panose="02020603050405020304" pitchFamily="18" charset="0"/>
              </a:rPr>
              <a:t>      </a:t>
            </a:r>
            <a:r>
              <a:rPr lang="en-US" sz="3200" b="1" i="1" dirty="0">
                <a:latin typeface="Times New Roman" panose="02020603050405020304" pitchFamily="18" charset="0"/>
                <a:cs typeface="Times New Roman" panose="02020603050405020304" pitchFamily="18" charset="0"/>
              </a:rPr>
              <a:t>type arrayName</a:t>
            </a:r>
            <a:r>
              <a:rPr lang="en-US" sz="3200" b="1" dirty="0">
                <a:latin typeface="Times New Roman" panose="02020603050405020304" pitchFamily="18" charset="0"/>
                <a:cs typeface="Times New Roman" panose="02020603050405020304" pitchFamily="18" charset="0"/>
              </a:rPr>
              <a:t>[</a:t>
            </a:r>
            <a:r>
              <a:rPr lang="en-US" sz="3200" b="1" i="1" dirty="0">
                <a:latin typeface="Times New Roman" panose="02020603050405020304" pitchFamily="18" charset="0"/>
                <a:cs typeface="Times New Roman" panose="02020603050405020304" pitchFamily="18" charset="0"/>
              </a:rPr>
              <a:t>dimension1</a:t>
            </a:r>
            <a:r>
              <a:rPr lang="en-US" sz="3200" b="1" dirty="0">
                <a:latin typeface="Times New Roman" panose="02020603050405020304" pitchFamily="18" charset="0"/>
                <a:cs typeface="Times New Roman" panose="02020603050405020304" pitchFamily="18" charset="0"/>
              </a:rPr>
              <a:t>][</a:t>
            </a:r>
            <a:r>
              <a:rPr lang="en-US" sz="3200" b="1" i="1" dirty="0">
                <a:latin typeface="Times New Roman" panose="02020603050405020304" pitchFamily="18" charset="0"/>
                <a:cs typeface="Times New Roman" panose="02020603050405020304" pitchFamily="18" charset="0"/>
              </a:rPr>
              <a:t>dimension2</a:t>
            </a:r>
            <a:r>
              <a:rPr lang="en-US" sz="3200" b="1" dirty="0">
                <a:latin typeface="Times New Roman" panose="02020603050405020304" pitchFamily="18" charset="0"/>
                <a:cs typeface="Times New Roman" panose="02020603050405020304" pitchFamily="18" charset="0"/>
              </a:rPr>
              <a:t>];</a:t>
            </a:r>
          </a:p>
          <a:p>
            <a:pPr marL="457200" indent="-457200"/>
            <a:r>
              <a:rPr lang="en-US" sz="3200" dirty="0">
                <a:latin typeface="Times New Roman" panose="02020603050405020304" pitchFamily="18" charset="0"/>
                <a:cs typeface="Times New Roman" panose="02020603050405020304" pitchFamily="18" charset="0"/>
              </a:rPr>
              <a:t>The array will have dimension1 x dimension2 elements of the same type and can be thought of as an array of arrays. </a:t>
            </a:r>
          </a:p>
          <a:p>
            <a:pPr marL="457200" indent="-457200"/>
            <a:r>
              <a:rPr lang="en-US" sz="3200" dirty="0">
                <a:latin typeface="Times New Roman" panose="02020603050405020304" pitchFamily="18" charset="0"/>
                <a:cs typeface="Times New Roman" panose="02020603050405020304" pitchFamily="18" charset="0"/>
              </a:rPr>
              <a:t>The first index indicates which of dimension1 sub-arrays to access, and then the second index accesses one of dimension2 elements within that sub-array. </a:t>
            </a:r>
          </a:p>
          <a:p>
            <a:pPr marL="457200" indent="-457200"/>
            <a:r>
              <a:rPr lang="en-US" sz="3200" dirty="0">
                <a:latin typeface="Times New Roman" panose="02020603050405020304" pitchFamily="18" charset="0"/>
                <a:cs typeface="Times New Roman" panose="02020603050405020304" pitchFamily="18" charset="0"/>
              </a:rPr>
              <a:t>Initialization and access are similar to the one-dimensional case:</a:t>
            </a:r>
          </a:p>
          <a:p>
            <a:pPr marL="0" indent="0">
              <a:buNone/>
            </a:pP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77084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3829" y="812800"/>
            <a:ext cx="11654971" cy="5791200"/>
          </a:xfrm>
        </p:spPr>
        <p:txBody>
          <a:bodyPr numCol="2" anchor="t">
            <a:normAutofit fontScale="92500" lnSpcReduction="20000"/>
          </a:bodyPr>
          <a:lstStyle/>
          <a:p>
            <a:pPr marL="0" indent="0">
              <a:buNone/>
            </a:pPr>
            <a:r>
              <a:rPr lang="en-US" sz="2800" dirty="0">
                <a:latin typeface="Times New Roman" panose="02020603050405020304" pitchFamily="18" charset="0"/>
                <a:cs typeface="Times New Roman" panose="02020603050405020304" pitchFamily="18" charset="0"/>
              </a:rPr>
              <a:t>#include &lt;iostream&gt;</a:t>
            </a:r>
          </a:p>
          <a:p>
            <a:pPr marL="0" indent="0">
              <a:buNone/>
            </a:pPr>
            <a:r>
              <a:rPr lang="en-US" sz="2800" dirty="0">
                <a:latin typeface="Times New Roman" panose="02020603050405020304" pitchFamily="18" charset="0"/>
                <a:cs typeface="Times New Roman" panose="02020603050405020304" pitchFamily="18" charset="0"/>
              </a:rPr>
              <a:t>using namespace std;</a:t>
            </a:r>
          </a:p>
          <a:p>
            <a:pPr marL="0" indent="0">
              <a:buNone/>
            </a:pPr>
            <a:r>
              <a:rPr lang="en-US" sz="2800" dirty="0" err="1">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main() {</a:t>
            </a:r>
          </a:p>
          <a:p>
            <a:pPr marL="0" indent="0">
              <a:buNone/>
            </a:pPr>
            <a:r>
              <a:rPr lang="en-US" sz="2800" dirty="0" err="1">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twoDimArray[2][4];</a:t>
            </a:r>
          </a:p>
          <a:p>
            <a:pPr marL="0" indent="0">
              <a:buNone/>
            </a:pPr>
            <a:r>
              <a:rPr lang="en-US" sz="2800" dirty="0" err="1">
                <a:latin typeface="Times New Roman" panose="02020603050405020304" pitchFamily="18" charset="0"/>
                <a:cs typeface="Times New Roman" panose="02020603050405020304" pitchFamily="18" charset="0"/>
              </a:rPr>
              <a:t>twoDimArray</a:t>
            </a:r>
            <a:r>
              <a:rPr lang="en-US" sz="2800" dirty="0">
                <a:latin typeface="Times New Roman" panose="02020603050405020304" pitchFamily="18" charset="0"/>
                <a:cs typeface="Times New Roman" panose="02020603050405020304" pitchFamily="18" charset="0"/>
              </a:rPr>
              <a:t>[0][0] = 6;</a:t>
            </a:r>
          </a:p>
          <a:p>
            <a:pPr marL="0" indent="0">
              <a:buNone/>
            </a:pPr>
            <a:r>
              <a:rPr lang="en-US" sz="2800" dirty="0" err="1">
                <a:latin typeface="Times New Roman" panose="02020603050405020304" pitchFamily="18" charset="0"/>
                <a:cs typeface="Times New Roman" panose="02020603050405020304" pitchFamily="18" charset="0"/>
              </a:rPr>
              <a:t>twoDimArray</a:t>
            </a:r>
            <a:r>
              <a:rPr lang="en-US" sz="2800" dirty="0">
                <a:latin typeface="Times New Roman" panose="02020603050405020304" pitchFamily="18" charset="0"/>
                <a:cs typeface="Times New Roman" panose="02020603050405020304" pitchFamily="18" charset="0"/>
              </a:rPr>
              <a:t>[0][1] = 0;</a:t>
            </a:r>
          </a:p>
          <a:p>
            <a:pPr marL="0" indent="0">
              <a:buNone/>
            </a:pPr>
            <a:r>
              <a:rPr lang="en-US" sz="2800" dirty="0" err="1">
                <a:latin typeface="Times New Roman" panose="02020603050405020304" pitchFamily="18" charset="0"/>
                <a:cs typeface="Times New Roman" panose="02020603050405020304" pitchFamily="18" charset="0"/>
              </a:rPr>
              <a:t>twoDimArray</a:t>
            </a:r>
            <a:r>
              <a:rPr lang="en-US" sz="2800" dirty="0">
                <a:latin typeface="Times New Roman" panose="02020603050405020304" pitchFamily="18" charset="0"/>
                <a:cs typeface="Times New Roman" panose="02020603050405020304" pitchFamily="18" charset="0"/>
              </a:rPr>
              <a:t>[0][2] = 9;</a:t>
            </a:r>
          </a:p>
          <a:p>
            <a:pPr marL="0" indent="0">
              <a:buNone/>
            </a:pPr>
            <a:r>
              <a:rPr lang="en-US" sz="2800" dirty="0" err="1">
                <a:latin typeface="Times New Roman" panose="02020603050405020304" pitchFamily="18" charset="0"/>
                <a:cs typeface="Times New Roman" panose="02020603050405020304" pitchFamily="18" charset="0"/>
              </a:rPr>
              <a:t>twoDimArray</a:t>
            </a:r>
            <a:r>
              <a:rPr lang="en-US" sz="2800" dirty="0">
                <a:latin typeface="Times New Roman" panose="02020603050405020304" pitchFamily="18" charset="0"/>
                <a:cs typeface="Times New Roman" panose="02020603050405020304" pitchFamily="18" charset="0"/>
              </a:rPr>
              <a:t>[0][3] = 6;</a:t>
            </a:r>
          </a:p>
          <a:p>
            <a:pPr marL="0" indent="0">
              <a:buNone/>
            </a:pPr>
            <a:r>
              <a:rPr lang="en-US" sz="2800" dirty="0" err="1">
                <a:latin typeface="Times New Roman" panose="02020603050405020304" pitchFamily="18" charset="0"/>
                <a:cs typeface="Times New Roman" panose="02020603050405020304" pitchFamily="18" charset="0"/>
              </a:rPr>
              <a:t>twoDimArray</a:t>
            </a:r>
            <a:r>
              <a:rPr lang="en-US" sz="2800" dirty="0">
                <a:latin typeface="Times New Roman" panose="02020603050405020304" pitchFamily="18" charset="0"/>
                <a:cs typeface="Times New Roman" panose="02020603050405020304" pitchFamily="18" charset="0"/>
              </a:rPr>
              <a:t>[1][0] = 2;</a:t>
            </a:r>
          </a:p>
          <a:p>
            <a:pPr marL="0" indent="0">
              <a:buNone/>
            </a:pPr>
            <a:r>
              <a:rPr lang="en-US" sz="2800" dirty="0" err="1">
                <a:latin typeface="Times New Roman" panose="02020603050405020304" pitchFamily="18" charset="0"/>
                <a:cs typeface="Times New Roman" panose="02020603050405020304" pitchFamily="18" charset="0"/>
              </a:rPr>
              <a:t>twoDimArray</a:t>
            </a:r>
            <a:r>
              <a:rPr lang="en-US" sz="2800" dirty="0">
                <a:latin typeface="Times New Roman" panose="02020603050405020304" pitchFamily="18" charset="0"/>
                <a:cs typeface="Times New Roman" panose="02020603050405020304" pitchFamily="18" charset="0"/>
              </a:rPr>
              <a:t>[1][1] = 0;</a:t>
            </a:r>
          </a:p>
          <a:p>
            <a:pPr marL="0" indent="0">
              <a:buNone/>
            </a:pPr>
            <a:r>
              <a:rPr lang="en-US" sz="2800" dirty="0" err="1">
                <a:latin typeface="Times New Roman" panose="02020603050405020304" pitchFamily="18" charset="0"/>
                <a:cs typeface="Times New Roman" panose="02020603050405020304" pitchFamily="18" charset="0"/>
              </a:rPr>
              <a:t>twoDimArray</a:t>
            </a:r>
            <a:r>
              <a:rPr lang="en-US" sz="2800" dirty="0">
                <a:latin typeface="Times New Roman" panose="02020603050405020304" pitchFamily="18" charset="0"/>
                <a:cs typeface="Times New Roman" panose="02020603050405020304" pitchFamily="18" charset="0"/>
              </a:rPr>
              <a:t>[1][2] = 1;</a:t>
            </a:r>
          </a:p>
          <a:p>
            <a:pPr marL="0" indent="0">
              <a:buNone/>
            </a:pPr>
            <a:r>
              <a:rPr lang="en-US" sz="2800" dirty="0" err="1">
                <a:solidFill>
                  <a:srgbClr val="7030A0"/>
                </a:solidFill>
                <a:latin typeface="Times New Roman" panose="02020603050405020304" pitchFamily="18" charset="0"/>
                <a:cs typeface="Times New Roman" panose="02020603050405020304" pitchFamily="18" charset="0"/>
              </a:rPr>
              <a:t>twoDimArray</a:t>
            </a:r>
            <a:r>
              <a:rPr lang="en-US" sz="2800" dirty="0">
                <a:solidFill>
                  <a:srgbClr val="7030A0"/>
                </a:solidFill>
                <a:latin typeface="Times New Roman" panose="02020603050405020304" pitchFamily="18" charset="0"/>
                <a:cs typeface="Times New Roman" panose="02020603050405020304" pitchFamily="18" charset="0"/>
              </a:rPr>
              <a:t>[1][3] = 1;</a:t>
            </a:r>
          </a:p>
          <a:p>
            <a:pPr marL="0" indent="0">
              <a:buNone/>
            </a:pPr>
            <a:r>
              <a:rPr lang="en-US" sz="2800" dirty="0">
                <a:solidFill>
                  <a:srgbClr val="7030A0"/>
                </a:solidFill>
                <a:latin typeface="Times New Roman" panose="02020603050405020304" pitchFamily="18" charset="0"/>
                <a:cs typeface="Times New Roman" panose="02020603050405020304" pitchFamily="18" charset="0"/>
              </a:rPr>
              <a:t>for(</a:t>
            </a:r>
            <a:r>
              <a:rPr lang="en-US" sz="2800" dirty="0" err="1">
                <a:solidFill>
                  <a:srgbClr val="7030A0"/>
                </a:solidFill>
                <a:latin typeface="Times New Roman" panose="02020603050405020304" pitchFamily="18" charset="0"/>
                <a:cs typeface="Times New Roman" panose="02020603050405020304" pitchFamily="18" charset="0"/>
              </a:rPr>
              <a:t>int</a:t>
            </a:r>
            <a:r>
              <a:rPr lang="en-US" sz="2800" dirty="0">
                <a:solidFill>
                  <a:srgbClr val="7030A0"/>
                </a:solidFill>
                <a:latin typeface="Times New Roman" panose="02020603050405020304" pitchFamily="18" charset="0"/>
                <a:cs typeface="Times New Roman" panose="02020603050405020304" pitchFamily="18" charset="0"/>
              </a:rPr>
              <a:t> </a:t>
            </a:r>
            <a:r>
              <a:rPr lang="en-US" sz="2800" dirty="0" err="1">
                <a:solidFill>
                  <a:srgbClr val="7030A0"/>
                </a:solidFill>
                <a:latin typeface="Times New Roman" panose="02020603050405020304" pitchFamily="18" charset="0"/>
                <a:cs typeface="Times New Roman" panose="02020603050405020304" pitchFamily="18" charset="0"/>
              </a:rPr>
              <a:t>i</a:t>
            </a:r>
            <a:r>
              <a:rPr lang="en-US" sz="2800" dirty="0">
                <a:solidFill>
                  <a:srgbClr val="7030A0"/>
                </a:solidFill>
                <a:latin typeface="Times New Roman" panose="02020603050405020304" pitchFamily="18" charset="0"/>
                <a:cs typeface="Times New Roman" panose="02020603050405020304" pitchFamily="18" charset="0"/>
              </a:rPr>
              <a:t> = 0; </a:t>
            </a:r>
            <a:r>
              <a:rPr lang="en-US" sz="2800" dirty="0" err="1">
                <a:solidFill>
                  <a:srgbClr val="7030A0"/>
                </a:solidFill>
                <a:latin typeface="Times New Roman" panose="02020603050405020304" pitchFamily="18" charset="0"/>
                <a:cs typeface="Times New Roman" panose="02020603050405020304" pitchFamily="18" charset="0"/>
              </a:rPr>
              <a:t>i</a:t>
            </a:r>
            <a:r>
              <a:rPr lang="en-US" sz="2800" dirty="0">
                <a:solidFill>
                  <a:srgbClr val="7030A0"/>
                </a:solidFill>
                <a:latin typeface="Times New Roman" panose="02020603050405020304" pitchFamily="18" charset="0"/>
                <a:cs typeface="Times New Roman" panose="02020603050405020304" pitchFamily="18" charset="0"/>
              </a:rPr>
              <a:t> &lt; 2; </a:t>
            </a:r>
            <a:r>
              <a:rPr lang="en-US" sz="2800" dirty="0" err="1">
                <a:solidFill>
                  <a:srgbClr val="7030A0"/>
                </a:solidFill>
                <a:latin typeface="Times New Roman" panose="02020603050405020304" pitchFamily="18" charset="0"/>
                <a:cs typeface="Times New Roman" panose="02020603050405020304" pitchFamily="18" charset="0"/>
              </a:rPr>
              <a:t>i</a:t>
            </a:r>
            <a:r>
              <a:rPr lang="en-US" sz="2800" dirty="0">
                <a:solidFill>
                  <a:srgbClr val="7030A0"/>
                </a:solidFill>
                <a:latin typeface="Times New Roman" panose="02020603050405020304" pitchFamily="18" charset="0"/>
                <a:cs typeface="Times New Roman" panose="02020603050405020304" pitchFamily="18" charset="0"/>
              </a:rPr>
              <a:t>++)</a:t>
            </a:r>
          </a:p>
          <a:p>
            <a:pPr marL="0" indent="0">
              <a:buNone/>
            </a:pPr>
            <a:r>
              <a:rPr lang="en-US" sz="2800" dirty="0">
                <a:solidFill>
                  <a:srgbClr val="7030A0"/>
                </a:solidFill>
                <a:latin typeface="Times New Roman" panose="02020603050405020304" pitchFamily="18" charset="0"/>
                <a:cs typeface="Times New Roman" panose="02020603050405020304" pitchFamily="18" charset="0"/>
              </a:rPr>
              <a:t>{</a:t>
            </a:r>
          </a:p>
          <a:p>
            <a:pPr marL="0" indent="0">
              <a:buNone/>
            </a:pPr>
            <a:r>
              <a:rPr lang="en-US" sz="2800" dirty="0">
                <a:solidFill>
                  <a:srgbClr val="7030A0"/>
                </a:solidFill>
                <a:latin typeface="Times New Roman" panose="02020603050405020304" pitchFamily="18" charset="0"/>
                <a:cs typeface="Times New Roman" panose="02020603050405020304" pitchFamily="18" charset="0"/>
              </a:rPr>
              <a:t>for(</a:t>
            </a:r>
            <a:r>
              <a:rPr lang="en-US" sz="2800" dirty="0" err="1">
                <a:solidFill>
                  <a:srgbClr val="7030A0"/>
                </a:solidFill>
                <a:latin typeface="Times New Roman" panose="02020603050405020304" pitchFamily="18" charset="0"/>
                <a:cs typeface="Times New Roman" panose="02020603050405020304" pitchFamily="18" charset="0"/>
              </a:rPr>
              <a:t>int</a:t>
            </a:r>
            <a:r>
              <a:rPr lang="en-US" sz="2800" dirty="0">
                <a:solidFill>
                  <a:srgbClr val="7030A0"/>
                </a:solidFill>
                <a:latin typeface="Times New Roman" panose="02020603050405020304" pitchFamily="18" charset="0"/>
                <a:cs typeface="Times New Roman" panose="02020603050405020304" pitchFamily="18" charset="0"/>
              </a:rPr>
              <a:t> j = 0; j &lt; 4; j++)</a:t>
            </a:r>
          </a:p>
          <a:p>
            <a:pPr marL="0" indent="0">
              <a:buNone/>
            </a:pPr>
            <a:r>
              <a:rPr lang="en-US" sz="2800" dirty="0">
                <a:solidFill>
                  <a:srgbClr val="7030A0"/>
                </a:solidFill>
                <a:latin typeface="Times New Roman" panose="02020603050405020304" pitchFamily="18" charset="0"/>
                <a:cs typeface="Times New Roman" panose="02020603050405020304" pitchFamily="18" charset="0"/>
              </a:rPr>
              <a:t>{</a:t>
            </a:r>
          </a:p>
          <a:p>
            <a:pPr marL="0" indent="0">
              <a:buNone/>
            </a:pPr>
            <a:r>
              <a:rPr lang="en-US" sz="2800" dirty="0" err="1">
                <a:solidFill>
                  <a:srgbClr val="7030A0"/>
                </a:solidFill>
                <a:latin typeface="Times New Roman" panose="02020603050405020304" pitchFamily="18" charset="0"/>
                <a:cs typeface="Times New Roman" panose="02020603050405020304" pitchFamily="18" charset="0"/>
              </a:rPr>
              <a:t>cout</a:t>
            </a:r>
            <a:r>
              <a:rPr lang="en-US" sz="2800" dirty="0">
                <a:solidFill>
                  <a:srgbClr val="7030A0"/>
                </a:solidFill>
                <a:latin typeface="Times New Roman" panose="02020603050405020304" pitchFamily="18" charset="0"/>
                <a:cs typeface="Times New Roman" panose="02020603050405020304" pitchFamily="18" charset="0"/>
              </a:rPr>
              <a:t> &lt;&lt; twoDimArray[i][j];</a:t>
            </a:r>
          </a:p>
          <a:p>
            <a:pPr marL="0" indent="0">
              <a:buNone/>
            </a:pPr>
            <a:r>
              <a:rPr lang="en-US" sz="2800" dirty="0">
                <a:solidFill>
                  <a:srgbClr val="7030A0"/>
                </a:solidFill>
                <a:latin typeface="Times New Roman" panose="02020603050405020304" pitchFamily="18" charset="0"/>
                <a:cs typeface="Times New Roman" panose="02020603050405020304" pitchFamily="18" charset="0"/>
              </a:rPr>
              <a:t>}</a:t>
            </a:r>
          </a:p>
          <a:p>
            <a:pPr marL="0" indent="0">
              <a:buNone/>
            </a:pPr>
            <a:r>
              <a:rPr lang="en-US" sz="2800" dirty="0">
                <a:solidFill>
                  <a:srgbClr val="7030A0"/>
                </a:solidFill>
                <a:latin typeface="Times New Roman" panose="02020603050405020304" pitchFamily="18" charset="0"/>
                <a:cs typeface="Times New Roman" panose="02020603050405020304" pitchFamily="18" charset="0"/>
              </a:rPr>
              <a:t>}</a:t>
            </a:r>
          </a:p>
          <a:p>
            <a:pPr marL="0" indent="0">
              <a:buNone/>
            </a:pPr>
            <a:r>
              <a:rPr lang="en-US" sz="2800" dirty="0" err="1">
                <a:solidFill>
                  <a:srgbClr val="7030A0"/>
                </a:solidFill>
                <a:latin typeface="Times New Roman" panose="02020603050405020304" pitchFamily="18" charset="0"/>
                <a:cs typeface="Times New Roman" panose="02020603050405020304" pitchFamily="18" charset="0"/>
              </a:rPr>
              <a:t>cout</a:t>
            </a:r>
            <a:r>
              <a:rPr lang="en-US" sz="2800" dirty="0">
                <a:solidFill>
                  <a:srgbClr val="7030A0"/>
                </a:solidFill>
                <a:latin typeface="Times New Roman" panose="02020603050405020304" pitchFamily="18" charset="0"/>
                <a:cs typeface="Times New Roman" panose="02020603050405020304" pitchFamily="18" charset="0"/>
              </a:rPr>
              <a:t> &lt;&lt; endl;</a:t>
            </a:r>
          </a:p>
          <a:p>
            <a:pPr marL="0" indent="0">
              <a:buNone/>
            </a:pPr>
            <a:r>
              <a:rPr lang="en-US" sz="2800" dirty="0">
                <a:solidFill>
                  <a:srgbClr val="7030A0"/>
                </a:solidFill>
                <a:latin typeface="Times New Roman" panose="02020603050405020304" pitchFamily="18" charset="0"/>
                <a:cs typeface="Times New Roman" panose="02020603050405020304" pitchFamily="18" charset="0"/>
              </a:rPr>
              <a:t>return 0;</a:t>
            </a:r>
          </a:p>
          <a:p>
            <a:pPr marL="0" indent="0">
              <a:buNone/>
            </a:pPr>
            <a:r>
              <a:rPr lang="en-US" sz="2800" dirty="0">
                <a:solidFill>
                  <a:srgbClr val="7030A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0555041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7371" y="841829"/>
            <a:ext cx="11553371" cy="5733141"/>
          </a:xfrm>
        </p:spPr>
        <p:txBody>
          <a:bodyPr anchor="t"/>
          <a:lstStyle/>
          <a:p>
            <a:pPr marL="0" indent="0">
              <a:buNone/>
            </a:pPr>
            <a:r>
              <a:rPr lang="en-US" sz="3200" dirty="0">
                <a:latin typeface="Times New Roman" panose="02020603050405020304" pitchFamily="18" charset="0"/>
                <a:cs typeface="Times New Roman" panose="02020603050405020304" pitchFamily="18" charset="0"/>
              </a:rPr>
              <a:t>The array can also be initialized at declaration in the following ways:</a:t>
            </a:r>
          </a:p>
          <a:p>
            <a:pPr marL="0" indent="0">
              <a:buNone/>
            </a:pPr>
            <a:endParaRPr lang="en-US" sz="3200" dirty="0">
              <a:latin typeface="Times New Roman" panose="02020603050405020304" pitchFamily="18" charset="0"/>
              <a:cs typeface="Times New Roman" panose="02020603050405020304" pitchFamily="18" charset="0"/>
            </a:endParaRPr>
          </a:p>
          <a:p>
            <a:pPr marL="0" indent="0">
              <a:buNone/>
            </a:pPr>
            <a:r>
              <a:rPr lang="en-US" sz="3200" b="1" i="1" dirty="0">
                <a:latin typeface="Times New Roman" panose="02020603050405020304" pitchFamily="18" charset="0"/>
                <a:cs typeface="Times New Roman" panose="02020603050405020304" pitchFamily="18" charset="0"/>
              </a:rPr>
              <a:t>int twoDimArray[2][4] = { 6, 0, 9, 6, 2, 0, 1, 1 };</a:t>
            </a:r>
          </a:p>
          <a:p>
            <a:pPr marL="0" indent="0">
              <a:buNone/>
            </a:pPr>
            <a:endParaRPr lang="en-US" sz="3200" b="1" i="1" dirty="0">
              <a:latin typeface="Times New Roman" panose="02020603050405020304" pitchFamily="18" charset="0"/>
              <a:cs typeface="Times New Roman" panose="02020603050405020304" pitchFamily="18" charset="0"/>
            </a:endParaRPr>
          </a:p>
          <a:p>
            <a:pPr marL="0" indent="0">
              <a:buNone/>
            </a:pPr>
            <a:r>
              <a:rPr lang="en-US" sz="3200" b="1" i="1" dirty="0">
                <a:latin typeface="Times New Roman" panose="02020603050405020304" pitchFamily="18" charset="0"/>
                <a:cs typeface="Times New Roman" panose="02020603050405020304" pitchFamily="18" charset="0"/>
              </a:rPr>
              <a:t>int twoDimArray[2][4] = { { 6, 0, 9, 6 } , { 2, 0, 1, 1 } };</a:t>
            </a:r>
          </a:p>
        </p:txBody>
      </p:sp>
    </p:spTree>
    <p:extLst>
      <p:ext uri="{BB962C8B-B14F-4D97-AF65-F5344CB8AC3E}">
        <p14:creationId xmlns:p14="http://schemas.microsoft.com/office/powerpoint/2010/main" val="67255461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288245" y="914400"/>
            <a:ext cx="2933926" cy="685800"/>
          </a:xfrm>
        </p:spPr>
        <p:txBody>
          <a:bodyPr/>
          <a:lstStyle/>
          <a:p>
            <a:r>
              <a:rPr lang="en-US" altLang="en-US" dirty="0"/>
              <a:t>Examples</a:t>
            </a:r>
          </a:p>
        </p:txBody>
      </p:sp>
      <p:sp>
        <p:nvSpPr>
          <p:cNvPr id="31747" name="Content Placeholder 2"/>
          <p:cNvSpPr>
            <a:spLocks noGrp="1"/>
          </p:cNvSpPr>
          <p:nvPr>
            <p:ph idx="1"/>
          </p:nvPr>
        </p:nvSpPr>
        <p:spPr>
          <a:xfrm>
            <a:off x="4372428" y="914400"/>
            <a:ext cx="7391400" cy="5627688"/>
          </a:xfrm>
        </p:spPr>
        <p:txBody>
          <a:bodyPr anchor="t"/>
          <a:lstStyle/>
          <a:p>
            <a:pPr marL="0" indent="0">
              <a:spcBef>
                <a:spcPct val="0"/>
              </a:spcBef>
              <a:buNone/>
            </a:pPr>
            <a:r>
              <a:rPr lang="en-US" altLang="en-US" sz="2400" dirty="0"/>
              <a:t>#include&lt;</a:t>
            </a:r>
            <a:r>
              <a:rPr lang="en-US" altLang="en-US" sz="2400" dirty="0" err="1"/>
              <a:t>iostream</a:t>
            </a:r>
            <a:r>
              <a:rPr lang="en-US" altLang="en-US" sz="2400" dirty="0"/>
              <a:t>&gt;</a:t>
            </a:r>
          </a:p>
          <a:p>
            <a:pPr marL="0" indent="0">
              <a:spcBef>
                <a:spcPct val="0"/>
              </a:spcBef>
              <a:buNone/>
            </a:pPr>
            <a:r>
              <a:rPr lang="en-US" altLang="en-US" sz="2400" dirty="0"/>
              <a:t>using namespace </a:t>
            </a:r>
            <a:r>
              <a:rPr lang="en-US" altLang="en-US" sz="2400" dirty="0" err="1"/>
              <a:t>std</a:t>
            </a:r>
            <a:r>
              <a:rPr lang="en-US" altLang="en-US" sz="2400" dirty="0"/>
              <a:t>;</a:t>
            </a:r>
          </a:p>
          <a:p>
            <a:pPr marL="0" indent="0">
              <a:spcBef>
                <a:spcPct val="0"/>
              </a:spcBef>
              <a:buNone/>
            </a:pPr>
            <a:r>
              <a:rPr lang="en-US" altLang="en-US" sz="2400" dirty="0" err="1"/>
              <a:t>int</a:t>
            </a:r>
            <a:r>
              <a:rPr lang="en-US" altLang="en-US" sz="2400" dirty="0"/>
              <a:t> main( )</a:t>
            </a:r>
          </a:p>
          <a:p>
            <a:pPr marL="0" indent="0">
              <a:spcBef>
                <a:spcPct val="0"/>
              </a:spcBef>
              <a:buNone/>
            </a:pPr>
            <a:r>
              <a:rPr lang="en-US" altLang="en-US" sz="2400" dirty="0"/>
              <a:t>{</a:t>
            </a:r>
          </a:p>
          <a:p>
            <a:pPr marL="0" indent="0">
              <a:spcBef>
                <a:spcPct val="0"/>
              </a:spcBef>
              <a:buNone/>
            </a:pPr>
            <a:r>
              <a:rPr lang="en-US" altLang="en-US" sz="2400" dirty="0"/>
              <a:t>/* An array with 5 rows and 2 column */</a:t>
            </a:r>
          </a:p>
          <a:p>
            <a:pPr marL="0" indent="0">
              <a:spcBef>
                <a:spcPct val="0"/>
              </a:spcBef>
              <a:buNone/>
            </a:pPr>
            <a:r>
              <a:rPr lang="en-US" altLang="en-US" sz="2400" dirty="0" err="1"/>
              <a:t>int</a:t>
            </a:r>
            <a:r>
              <a:rPr lang="en-US" altLang="en-US" sz="2400" dirty="0"/>
              <a:t> a[5][2] = {{0,0},{1,2},{2,4},{3,6},{4,8}};</a:t>
            </a:r>
          </a:p>
          <a:p>
            <a:pPr marL="0" indent="0">
              <a:spcBef>
                <a:spcPct val="0"/>
              </a:spcBef>
              <a:buNone/>
            </a:pPr>
            <a:r>
              <a:rPr lang="en-US" altLang="en-US" sz="2400" dirty="0" err="1"/>
              <a:t>int</a:t>
            </a:r>
            <a:r>
              <a:rPr lang="en-US" altLang="en-US" sz="2400" dirty="0"/>
              <a:t> </a:t>
            </a:r>
            <a:r>
              <a:rPr lang="en-US" altLang="en-US" sz="2400" dirty="0" err="1"/>
              <a:t>i</a:t>
            </a:r>
            <a:r>
              <a:rPr lang="en-US" altLang="en-US" sz="2400" dirty="0"/>
              <a:t>, j;</a:t>
            </a:r>
          </a:p>
          <a:p>
            <a:pPr marL="0" indent="0">
              <a:spcBef>
                <a:spcPct val="0"/>
              </a:spcBef>
              <a:buNone/>
            </a:pPr>
            <a:r>
              <a:rPr lang="en-US" altLang="en-US" sz="2400" dirty="0"/>
              <a:t>/* output each array element’s value */</a:t>
            </a:r>
          </a:p>
          <a:p>
            <a:pPr marL="0" indent="0">
              <a:spcBef>
                <a:spcPct val="0"/>
              </a:spcBef>
              <a:buNone/>
            </a:pPr>
            <a:r>
              <a:rPr lang="en-US" altLang="en-US" sz="2400" dirty="0"/>
              <a:t>for(</a:t>
            </a:r>
            <a:r>
              <a:rPr lang="en-US" altLang="en-US" sz="2400" dirty="0" err="1"/>
              <a:t>i</a:t>
            </a:r>
            <a:r>
              <a:rPr lang="en-US" altLang="en-US" sz="2400" dirty="0"/>
              <a:t>=0; </a:t>
            </a:r>
            <a:r>
              <a:rPr lang="en-US" altLang="en-US" sz="2400" dirty="0" err="1"/>
              <a:t>i</a:t>
            </a:r>
            <a:r>
              <a:rPr lang="en-US" altLang="en-US" sz="2400" dirty="0"/>
              <a:t>&lt;5; </a:t>
            </a:r>
            <a:r>
              <a:rPr lang="en-US" altLang="en-US" sz="2400" dirty="0" err="1"/>
              <a:t>i</a:t>
            </a:r>
            <a:r>
              <a:rPr lang="en-US" altLang="en-US" sz="2400" dirty="0"/>
              <a:t>++){</a:t>
            </a:r>
          </a:p>
          <a:p>
            <a:pPr marL="0" indent="0">
              <a:spcBef>
                <a:spcPct val="0"/>
              </a:spcBef>
              <a:buNone/>
            </a:pPr>
            <a:r>
              <a:rPr lang="en-US" altLang="en-US" sz="2400" dirty="0"/>
              <a:t>   for(j=0; j&lt;2; </a:t>
            </a:r>
            <a:r>
              <a:rPr lang="en-US" altLang="en-US" sz="2400" dirty="0" err="1"/>
              <a:t>j++</a:t>
            </a:r>
            <a:r>
              <a:rPr lang="en-US" altLang="en-US" sz="2400" dirty="0"/>
              <a:t>){</a:t>
            </a:r>
          </a:p>
          <a:p>
            <a:pPr marL="0" indent="0">
              <a:spcBef>
                <a:spcPct val="0"/>
              </a:spcBef>
              <a:buNone/>
            </a:pPr>
            <a:r>
              <a:rPr lang="en-US" altLang="en-US" sz="2400" dirty="0"/>
              <a:t>      </a:t>
            </a:r>
            <a:r>
              <a:rPr lang="en-US" altLang="en-US" sz="2400" dirty="0" err="1"/>
              <a:t>cout</a:t>
            </a:r>
            <a:r>
              <a:rPr lang="en-US" altLang="en-US" sz="2400" dirty="0"/>
              <a:t>&lt;&lt;a[</a:t>
            </a:r>
            <a:r>
              <a:rPr lang="en-US" altLang="en-US" sz="2400" dirty="0" err="1"/>
              <a:t>i</a:t>
            </a:r>
            <a:r>
              <a:rPr lang="en-US" altLang="en-US" sz="2400" dirty="0"/>
              <a:t>][j]&lt;&lt;</a:t>
            </a:r>
            <a:r>
              <a:rPr lang="en-US" altLang="en-US" sz="2400" dirty="0" err="1"/>
              <a:t>endl</a:t>
            </a:r>
            <a:r>
              <a:rPr lang="en-US" altLang="en-US" sz="2400" dirty="0"/>
              <a:t>”;</a:t>
            </a:r>
          </a:p>
          <a:p>
            <a:pPr marL="0" indent="0">
              <a:spcBef>
                <a:spcPct val="0"/>
              </a:spcBef>
              <a:buNone/>
            </a:pPr>
            <a:r>
              <a:rPr lang="en-US" altLang="en-US" sz="2400" dirty="0"/>
              <a:t>    }</a:t>
            </a:r>
          </a:p>
          <a:p>
            <a:pPr marL="0" indent="0">
              <a:spcBef>
                <a:spcPct val="0"/>
              </a:spcBef>
              <a:buNone/>
            </a:pPr>
            <a:r>
              <a:rPr lang="en-US" altLang="en-US" sz="2400" dirty="0"/>
              <a:t> }</a:t>
            </a:r>
          </a:p>
          <a:p>
            <a:pPr marL="0" indent="0">
              <a:spcBef>
                <a:spcPct val="0"/>
              </a:spcBef>
              <a:buNone/>
            </a:pPr>
            <a:r>
              <a:rPr lang="en-US" altLang="en-US" sz="2400" dirty="0"/>
              <a:t>return 0;</a:t>
            </a:r>
          </a:p>
          <a:p>
            <a:pPr marL="0" indent="0">
              <a:spcBef>
                <a:spcPct val="0"/>
              </a:spcBef>
              <a:buNone/>
            </a:pPr>
            <a:r>
              <a:rPr lang="en-US" altLang="en-US" sz="2400" dirty="0"/>
              <a:t>}</a:t>
            </a:r>
          </a:p>
          <a:p>
            <a:pPr marL="0" indent="0">
              <a:spcBef>
                <a:spcPct val="0"/>
              </a:spcBef>
              <a:buNone/>
            </a:pPr>
            <a:endParaRPr lang="en-US" altLang="en-US" sz="2400" dirty="0"/>
          </a:p>
        </p:txBody>
      </p:sp>
    </p:spTree>
    <p:extLst>
      <p:ext uri="{BB962C8B-B14F-4D97-AF65-F5344CB8AC3E}">
        <p14:creationId xmlns:p14="http://schemas.microsoft.com/office/powerpoint/2010/main" val="106547081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8364" y="873457"/>
            <a:ext cx="11750723" cy="5718412"/>
          </a:xfrm>
        </p:spPr>
        <p:txBody>
          <a:bodyPr numCol="2" anchor="t"/>
          <a:lstStyle/>
          <a:p>
            <a:pPr marL="116082" indent="0">
              <a:spcBef>
                <a:spcPts val="0"/>
              </a:spcBef>
              <a:buNone/>
            </a:pPr>
            <a:r>
              <a:rPr lang="en-US" sz="2800" dirty="0">
                <a:latin typeface="Times New Roman" panose="02020603050405020304" pitchFamily="18" charset="0"/>
                <a:cs typeface="Times New Roman" panose="02020603050405020304" pitchFamily="18" charset="0"/>
              </a:rPr>
              <a:t>#include &lt;</a:t>
            </a:r>
            <a:r>
              <a:rPr lang="en-US" sz="2800" dirty="0" err="1">
                <a:latin typeface="Times New Roman" panose="02020603050405020304" pitchFamily="18" charset="0"/>
                <a:cs typeface="Times New Roman" panose="02020603050405020304" pitchFamily="18" charset="0"/>
              </a:rPr>
              <a:t>iostream</a:t>
            </a:r>
            <a:r>
              <a:rPr lang="en-US" sz="2800" dirty="0">
                <a:latin typeface="Times New Roman" panose="02020603050405020304" pitchFamily="18" charset="0"/>
                <a:cs typeface="Times New Roman" panose="02020603050405020304" pitchFamily="18" charset="0"/>
              </a:rPr>
              <a:t>&gt;</a:t>
            </a:r>
          </a:p>
          <a:p>
            <a:pPr marL="116082" indent="0">
              <a:spcBef>
                <a:spcPts val="0"/>
              </a:spcBef>
              <a:buNone/>
            </a:pPr>
            <a:r>
              <a:rPr lang="en-US" sz="2800" dirty="0">
                <a:latin typeface="Times New Roman" panose="02020603050405020304" pitchFamily="18" charset="0"/>
                <a:cs typeface="Times New Roman" panose="02020603050405020304" pitchFamily="18" charset="0"/>
              </a:rPr>
              <a:t>using namespace </a:t>
            </a:r>
            <a:r>
              <a:rPr lang="en-US" sz="2800" dirty="0" err="1">
                <a:latin typeface="Times New Roman" panose="02020603050405020304" pitchFamily="18" charset="0"/>
                <a:cs typeface="Times New Roman" panose="02020603050405020304" pitchFamily="18" charset="0"/>
              </a:rPr>
              <a:t>std</a:t>
            </a:r>
            <a:r>
              <a:rPr lang="en-US" sz="2800" dirty="0">
                <a:latin typeface="Times New Roman" panose="02020603050405020304" pitchFamily="18" charset="0"/>
                <a:cs typeface="Times New Roman" panose="02020603050405020304" pitchFamily="18" charset="0"/>
              </a:rPr>
              <a:t>;</a:t>
            </a:r>
          </a:p>
          <a:p>
            <a:pPr marL="116082" indent="0">
              <a:spcBef>
                <a:spcPts val="0"/>
              </a:spcBef>
              <a:buNone/>
            </a:pPr>
            <a:r>
              <a:rPr lang="en-US" sz="2800" dirty="0" err="1">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main() </a:t>
            </a:r>
          </a:p>
          <a:p>
            <a:pPr marL="116082" indent="0">
              <a:spcBef>
                <a:spcPts val="0"/>
              </a:spcBef>
              <a:buNone/>
            </a:pPr>
            <a:r>
              <a:rPr lang="en-US" sz="2800" dirty="0">
                <a:latin typeface="Times New Roman" panose="02020603050405020304" pitchFamily="18" charset="0"/>
                <a:cs typeface="Times New Roman" panose="02020603050405020304" pitchFamily="18" charset="0"/>
              </a:rPr>
              <a:t>{</a:t>
            </a:r>
          </a:p>
          <a:p>
            <a:pPr marL="116082" indent="0">
              <a:spcBef>
                <a:spcPts val="0"/>
              </a:spcBef>
              <a:buNone/>
            </a:pPr>
            <a:r>
              <a:rPr lang="en-US" sz="2800" dirty="0" err="1">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numbers[2][3];</a:t>
            </a:r>
          </a:p>
          <a:p>
            <a:pPr marL="116082" indent="0">
              <a:spcBef>
                <a:spcPts val="0"/>
              </a:spcBef>
              <a:buNone/>
            </a:pPr>
            <a:r>
              <a:rPr lang="en-US" sz="2800" dirty="0" err="1">
                <a:latin typeface="Times New Roman" panose="02020603050405020304" pitchFamily="18" charset="0"/>
                <a:cs typeface="Times New Roman" panose="02020603050405020304" pitchFamily="18" charset="0"/>
              </a:rPr>
              <a:t>cout</a:t>
            </a:r>
            <a:r>
              <a:rPr lang="en-US" sz="2800" dirty="0">
                <a:latin typeface="Times New Roman" panose="02020603050405020304" pitchFamily="18" charset="0"/>
                <a:cs typeface="Times New Roman" panose="02020603050405020304" pitchFamily="18" charset="0"/>
              </a:rPr>
              <a:t> &lt;&lt; "Enter 6 numbers: " &lt;&lt; </a:t>
            </a:r>
            <a:r>
              <a:rPr lang="en-US" sz="2800" dirty="0" err="1">
                <a:latin typeface="Times New Roman" panose="02020603050405020304" pitchFamily="18" charset="0"/>
                <a:cs typeface="Times New Roman" panose="02020603050405020304" pitchFamily="18" charset="0"/>
              </a:rPr>
              <a:t>endl</a:t>
            </a:r>
            <a:r>
              <a:rPr lang="en-US" sz="2800" dirty="0">
                <a:latin typeface="Times New Roman" panose="02020603050405020304" pitchFamily="18" charset="0"/>
                <a:cs typeface="Times New Roman" panose="02020603050405020304" pitchFamily="18" charset="0"/>
              </a:rPr>
              <a:t>;</a:t>
            </a:r>
          </a:p>
          <a:p>
            <a:pPr marL="116082" indent="0">
              <a:spcBef>
                <a:spcPts val="0"/>
              </a:spcBef>
              <a:buNone/>
            </a:pPr>
            <a:r>
              <a:rPr lang="en-US" sz="2000" i="1" dirty="0">
                <a:latin typeface="Times New Roman" panose="02020603050405020304" pitchFamily="18" charset="0"/>
                <a:cs typeface="Times New Roman" panose="02020603050405020304" pitchFamily="18" charset="0"/>
              </a:rPr>
              <a:t>// Storing user input in the array</a:t>
            </a:r>
          </a:p>
          <a:p>
            <a:pPr marL="116082" indent="0">
              <a:spcBef>
                <a:spcPts val="0"/>
              </a:spcBef>
              <a:buNone/>
            </a:pPr>
            <a:r>
              <a:rPr lang="en-US" sz="2800" dirty="0">
                <a:latin typeface="Times New Roman" panose="02020603050405020304" pitchFamily="18" charset="0"/>
                <a:cs typeface="Times New Roman" panose="02020603050405020304" pitchFamily="18" charset="0"/>
              </a:rPr>
              <a:t>for (</a:t>
            </a:r>
            <a:r>
              <a:rPr lang="en-US" sz="2800" dirty="0" err="1">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 0;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&lt; 2;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a:t>
            </a:r>
          </a:p>
          <a:p>
            <a:pPr marL="116082" indent="0">
              <a:spcBef>
                <a:spcPts val="0"/>
              </a:spcBef>
              <a:buNone/>
            </a:pPr>
            <a:r>
              <a:rPr lang="en-US" sz="2800" dirty="0">
                <a:latin typeface="Times New Roman" panose="02020603050405020304" pitchFamily="18" charset="0"/>
                <a:cs typeface="Times New Roman" panose="02020603050405020304" pitchFamily="18" charset="0"/>
              </a:rPr>
              <a:t>  {</a:t>
            </a:r>
          </a:p>
          <a:p>
            <a:pPr marL="116082" indent="0">
              <a:spcBef>
                <a:spcPts val="0"/>
              </a:spcBef>
              <a:buNone/>
            </a:pPr>
            <a:r>
              <a:rPr lang="en-US" sz="2800" dirty="0">
                <a:latin typeface="Times New Roman" panose="02020603050405020304" pitchFamily="18" charset="0"/>
                <a:cs typeface="Times New Roman" panose="02020603050405020304" pitchFamily="18" charset="0"/>
              </a:rPr>
              <a:t>    for (</a:t>
            </a:r>
            <a:r>
              <a:rPr lang="en-US" sz="2800" dirty="0" err="1">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j = 0; j &lt; 3; ++j) </a:t>
            </a:r>
          </a:p>
          <a:p>
            <a:pPr marL="116082" indent="0">
              <a:spcBef>
                <a:spcPts val="0"/>
              </a:spcBef>
              <a:buNone/>
            </a:pPr>
            <a:r>
              <a:rPr lang="en-US" sz="2800" dirty="0">
                <a:latin typeface="Times New Roman" panose="02020603050405020304" pitchFamily="18" charset="0"/>
                <a:cs typeface="Times New Roman" panose="02020603050405020304" pitchFamily="18" charset="0"/>
              </a:rPr>
              <a:t>       {</a:t>
            </a:r>
          </a:p>
          <a:p>
            <a:pPr marL="116082" indent="0">
              <a:spcBef>
                <a:spcPts val="0"/>
              </a:spcBef>
              <a:buNone/>
            </a:pP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cin</a:t>
            </a:r>
            <a:r>
              <a:rPr lang="en-US" sz="2800" dirty="0">
                <a:latin typeface="Times New Roman" panose="02020603050405020304" pitchFamily="18" charset="0"/>
                <a:cs typeface="Times New Roman" panose="02020603050405020304" pitchFamily="18" charset="0"/>
              </a:rPr>
              <a:t> &gt;&gt; numbers[</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][j];</a:t>
            </a:r>
          </a:p>
          <a:p>
            <a:pPr marL="116082" indent="0">
              <a:spcBef>
                <a:spcPts val="0"/>
              </a:spcBef>
              <a:buNone/>
            </a:pPr>
            <a:r>
              <a:rPr lang="en-US" sz="2800" dirty="0">
                <a:latin typeface="Times New Roman" panose="02020603050405020304" pitchFamily="18" charset="0"/>
                <a:cs typeface="Times New Roman" panose="02020603050405020304" pitchFamily="18" charset="0"/>
              </a:rPr>
              <a:t>        }</a:t>
            </a:r>
          </a:p>
          <a:p>
            <a:pPr marL="116082" indent="0">
              <a:spcBef>
                <a:spcPts val="0"/>
              </a:spcBef>
              <a:buNone/>
            </a:pPr>
            <a:r>
              <a:rPr lang="en-US" sz="2800" dirty="0">
                <a:latin typeface="Times New Roman" panose="02020603050405020304" pitchFamily="18" charset="0"/>
                <a:cs typeface="Times New Roman" panose="02020603050405020304" pitchFamily="18" charset="0"/>
              </a:rPr>
              <a:t>    }</a:t>
            </a:r>
          </a:p>
          <a:p>
            <a:pPr marL="116082" indent="0">
              <a:spcBef>
                <a:spcPts val="0"/>
              </a:spcBef>
              <a:buNone/>
            </a:pPr>
            <a:r>
              <a:rPr lang="en-US" sz="2800" dirty="0" err="1">
                <a:latin typeface="Times New Roman" panose="02020603050405020304" pitchFamily="18" charset="0"/>
                <a:cs typeface="Times New Roman" panose="02020603050405020304" pitchFamily="18" charset="0"/>
              </a:rPr>
              <a:t>cout</a:t>
            </a:r>
            <a:r>
              <a:rPr lang="en-US" sz="2800" dirty="0">
                <a:latin typeface="Times New Roman" panose="02020603050405020304" pitchFamily="18" charset="0"/>
                <a:cs typeface="Times New Roman" panose="02020603050405020304" pitchFamily="18" charset="0"/>
              </a:rPr>
              <a:t> &lt;&lt; "The numbers are: " &lt;&lt; </a:t>
            </a:r>
            <a:r>
              <a:rPr lang="en-US" sz="2800" dirty="0" err="1">
                <a:latin typeface="Times New Roman" panose="02020603050405020304" pitchFamily="18" charset="0"/>
                <a:cs typeface="Times New Roman" panose="02020603050405020304" pitchFamily="18" charset="0"/>
              </a:rPr>
              <a:t>endl</a:t>
            </a:r>
            <a:r>
              <a:rPr lang="en-US" sz="2800" dirty="0">
                <a:latin typeface="Times New Roman" panose="02020603050405020304" pitchFamily="18" charset="0"/>
                <a:cs typeface="Times New Roman" panose="02020603050405020304" pitchFamily="18" charset="0"/>
              </a:rPr>
              <a:t>;</a:t>
            </a:r>
          </a:p>
          <a:p>
            <a:pPr marL="116082" indent="0">
              <a:spcBef>
                <a:spcPts val="0"/>
              </a:spcBef>
              <a:buNone/>
            </a:pPr>
            <a:r>
              <a:rPr lang="en-US" sz="2000" i="1" dirty="0">
                <a:latin typeface="Times New Roman" panose="02020603050405020304" pitchFamily="18" charset="0"/>
                <a:cs typeface="Times New Roman" panose="02020603050405020304" pitchFamily="18" charset="0"/>
              </a:rPr>
              <a:t>  // Printing array elements</a:t>
            </a:r>
          </a:p>
          <a:p>
            <a:pPr marL="116082" indent="0">
              <a:spcBef>
                <a:spcPts val="0"/>
              </a:spcBef>
              <a:buNone/>
            </a:pPr>
            <a:r>
              <a:rPr lang="en-US" sz="2800" dirty="0">
                <a:latin typeface="Times New Roman" panose="02020603050405020304" pitchFamily="18" charset="0"/>
                <a:cs typeface="Times New Roman" panose="02020603050405020304" pitchFamily="18" charset="0"/>
              </a:rPr>
              <a:t>for (</a:t>
            </a:r>
            <a:r>
              <a:rPr lang="en-US" sz="2800" dirty="0" err="1">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 0;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&lt; 2;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a:t>
            </a:r>
          </a:p>
          <a:p>
            <a:pPr marL="116082" indent="0">
              <a:spcBef>
                <a:spcPts val="0"/>
              </a:spcBef>
              <a:buNone/>
            </a:pPr>
            <a:r>
              <a:rPr lang="en-US" sz="2800" dirty="0">
                <a:latin typeface="Times New Roman" panose="02020603050405020304" pitchFamily="18" charset="0"/>
                <a:cs typeface="Times New Roman" panose="02020603050405020304" pitchFamily="18" charset="0"/>
              </a:rPr>
              <a:t>     {</a:t>
            </a:r>
          </a:p>
          <a:p>
            <a:pPr marL="116082" indent="0">
              <a:spcBef>
                <a:spcPts val="0"/>
              </a:spcBef>
              <a:buNone/>
            </a:pPr>
            <a:r>
              <a:rPr lang="en-US" sz="2800" dirty="0">
                <a:latin typeface="Times New Roman" panose="02020603050405020304" pitchFamily="18" charset="0"/>
                <a:cs typeface="Times New Roman" panose="02020603050405020304" pitchFamily="18" charset="0"/>
              </a:rPr>
              <a:t>     for (</a:t>
            </a:r>
            <a:r>
              <a:rPr lang="en-US" sz="2800" dirty="0" err="1">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j = 0; j &lt; 3; ++j) </a:t>
            </a:r>
          </a:p>
          <a:p>
            <a:pPr marL="116082" indent="0">
              <a:spcBef>
                <a:spcPts val="0"/>
              </a:spcBef>
              <a:buNone/>
            </a:pPr>
            <a:r>
              <a:rPr lang="en-US" sz="2800" dirty="0">
                <a:latin typeface="Times New Roman" panose="02020603050405020304" pitchFamily="18" charset="0"/>
                <a:cs typeface="Times New Roman" panose="02020603050405020304" pitchFamily="18" charset="0"/>
              </a:rPr>
              <a:t>         {</a:t>
            </a:r>
          </a:p>
          <a:p>
            <a:pPr marL="116082" indent="0">
              <a:spcBef>
                <a:spcPts val="0"/>
              </a:spcBef>
              <a:buNone/>
            </a:pPr>
            <a:r>
              <a:rPr lang="en-US" sz="2800" dirty="0" err="1">
                <a:latin typeface="Times New Roman" panose="02020603050405020304" pitchFamily="18" charset="0"/>
                <a:cs typeface="Times New Roman" panose="02020603050405020304" pitchFamily="18" charset="0"/>
              </a:rPr>
              <a:t>cout</a:t>
            </a:r>
            <a:r>
              <a:rPr lang="en-US" sz="2800" dirty="0">
                <a:latin typeface="Times New Roman" panose="02020603050405020304" pitchFamily="18" charset="0"/>
                <a:cs typeface="Times New Roman" panose="02020603050405020304" pitchFamily="18" charset="0"/>
              </a:rPr>
              <a:t> &lt;&lt; "numbers[" &lt;&lt;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&lt;&lt; "][" &lt;&lt; j; </a:t>
            </a:r>
            <a:r>
              <a:rPr lang="en-US" sz="2800" dirty="0" err="1">
                <a:latin typeface="Times New Roman" panose="02020603050405020304" pitchFamily="18" charset="0"/>
                <a:cs typeface="Times New Roman" panose="02020603050405020304" pitchFamily="18" charset="0"/>
              </a:rPr>
              <a:t>cout</a:t>
            </a:r>
            <a:r>
              <a:rPr lang="en-US" sz="2800" dirty="0">
                <a:latin typeface="Times New Roman" panose="02020603050405020304" pitchFamily="18" charset="0"/>
                <a:cs typeface="Times New Roman" panose="02020603050405020304" pitchFamily="18" charset="0"/>
              </a:rPr>
              <a:t>&lt;&lt; "] = " &lt;&lt; numbers[</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][j] &lt;&lt; </a:t>
            </a:r>
            <a:r>
              <a:rPr lang="en-US" sz="2800" dirty="0" err="1">
                <a:latin typeface="Times New Roman" panose="02020603050405020304" pitchFamily="18" charset="0"/>
                <a:cs typeface="Times New Roman" panose="02020603050405020304" pitchFamily="18" charset="0"/>
              </a:rPr>
              <a:t>endl</a:t>
            </a:r>
            <a:r>
              <a:rPr lang="en-US" sz="2800" dirty="0">
                <a:latin typeface="Times New Roman" panose="02020603050405020304" pitchFamily="18" charset="0"/>
                <a:cs typeface="Times New Roman" panose="02020603050405020304" pitchFamily="18" charset="0"/>
              </a:rPr>
              <a:t>;</a:t>
            </a:r>
          </a:p>
          <a:p>
            <a:pPr marL="116082" indent="0">
              <a:spcBef>
                <a:spcPts val="0"/>
              </a:spcBef>
              <a:buNone/>
            </a:pPr>
            <a:r>
              <a:rPr lang="en-US" sz="2800" dirty="0">
                <a:latin typeface="Times New Roman" panose="02020603050405020304" pitchFamily="18" charset="0"/>
                <a:cs typeface="Times New Roman" panose="02020603050405020304" pitchFamily="18" charset="0"/>
              </a:rPr>
              <a:t>        }</a:t>
            </a:r>
          </a:p>
          <a:p>
            <a:pPr marL="116082" indent="0">
              <a:spcBef>
                <a:spcPts val="0"/>
              </a:spcBef>
              <a:buNone/>
            </a:pPr>
            <a:r>
              <a:rPr lang="en-US" sz="2800" dirty="0">
                <a:latin typeface="Times New Roman" panose="02020603050405020304" pitchFamily="18" charset="0"/>
                <a:cs typeface="Times New Roman" panose="02020603050405020304" pitchFamily="18" charset="0"/>
              </a:rPr>
              <a:t>    }</a:t>
            </a:r>
          </a:p>
          <a:p>
            <a:pPr marL="116082" indent="0">
              <a:spcBef>
                <a:spcPts val="0"/>
              </a:spcBef>
              <a:buNone/>
            </a:pPr>
            <a:r>
              <a:rPr lang="en-US" sz="2800" dirty="0">
                <a:latin typeface="Times New Roman" panose="02020603050405020304" pitchFamily="18" charset="0"/>
                <a:cs typeface="Times New Roman" panose="02020603050405020304" pitchFamily="18" charset="0"/>
              </a:rPr>
              <a:t>    return 0;</a:t>
            </a:r>
          </a:p>
          <a:p>
            <a:pPr marL="116082" indent="0">
              <a:spcBef>
                <a:spcPts val="0"/>
              </a:spcBef>
              <a:buNone/>
            </a:pP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0266346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p:cNvSpPr>
            <a:spLocks noGrp="1"/>
          </p:cNvSpPr>
          <p:nvPr>
            <p:ph idx="1"/>
          </p:nvPr>
        </p:nvSpPr>
        <p:spPr>
          <a:xfrm>
            <a:off x="286603" y="783770"/>
            <a:ext cx="11586949" cy="5845629"/>
          </a:xfrm>
        </p:spPr>
        <p:txBody>
          <a:bodyPr numCol="2" anchor="t"/>
          <a:lstStyle/>
          <a:p>
            <a:pPr marL="0" indent="0">
              <a:spcBef>
                <a:spcPct val="0"/>
              </a:spcBef>
              <a:buNone/>
            </a:pPr>
            <a:r>
              <a:rPr lang="en-US" altLang="en-US" sz="2400" dirty="0">
                <a:solidFill>
                  <a:srgbClr val="FF0000"/>
                </a:solidFill>
              </a:rPr>
              <a:t>#include&lt;</a:t>
            </a:r>
            <a:r>
              <a:rPr lang="en-US" altLang="en-US" sz="2400" dirty="0" err="1">
                <a:solidFill>
                  <a:srgbClr val="FF0000"/>
                </a:solidFill>
              </a:rPr>
              <a:t>stdio.h</a:t>
            </a:r>
            <a:r>
              <a:rPr lang="en-US" altLang="en-US" sz="2400" dirty="0">
                <a:solidFill>
                  <a:srgbClr val="FF0000"/>
                </a:solidFill>
              </a:rPr>
              <a:t>&gt;</a:t>
            </a:r>
          </a:p>
          <a:p>
            <a:pPr marL="0" indent="0">
              <a:spcBef>
                <a:spcPct val="0"/>
              </a:spcBef>
              <a:buNone/>
            </a:pPr>
            <a:r>
              <a:rPr lang="en-US" altLang="en-US" sz="2400" dirty="0">
                <a:solidFill>
                  <a:srgbClr val="FF0000"/>
                </a:solidFill>
              </a:rPr>
              <a:t>using namespace </a:t>
            </a:r>
            <a:r>
              <a:rPr lang="en-US" altLang="en-US" sz="2400" dirty="0" err="1">
                <a:solidFill>
                  <a:srgbClr val="FF0000"/>
                </a:solidFill>
              </a:rPr>
              <a:t>std</a:t>
            </a:r>
            <a:r>
              <a:rPr lang="en-US" altLang="en-US" sz="2400" dirty="0">
                <a:solidFill>
                  <a:srgbClr val="FF0000"/>
                </a:solidFill>
              </a:rPr>
              <a:t>;</a:t>
            </a:r>
          </a:p>
          <a:p>
            <a:pPr marL="0" indent="0">
              <a:spcBef>
                <a:spcPct val="0"/>
              </a:spcBef>
              <a:buNone/>
            </a:pPr>
            <a:r>
              <a:rPr lang="en-US" altLang="en-US" sz="2400" dirty="0" err="1">
                <a:solidFill>
                  <a:srgbClr val="FF0000"/>
                </a:solidFill>
              </a:rPr>
              <a:t>int</a:t>
            </a:r>
            <a:r>
              <a:rPr lang="en-US" altLang="en-US" sz="2400" dirty="0">
                <a:solidFill>
                  <a:srgbClr val="FF0000"/>
                </a:solidFill>
              </a:rPr>
              <a:t> main( )</a:t>
            </a:r>
          </a:p>
          <a:p>
            <a:pPr marL="0" indent="0">
              <a:spcBef>
                <a:spcPct val="0"/>
              </a:spcBef>
              <a:buNone/>
            </a:pPr>
            <a:r>
              <a:rPr lang="en-US" altLang="en-US" sz="2400" dirty="0">
                <a:solidFill>
                  <a:srgbClr val="FF0000"/>
                </a:solidFill>
              </a:rPr>
              <a:t>{</a:t>
            </a:r>
          </a:p>
          <a:p>
            <a:pPr marL="0" indent="0">
              <a:spcBef>
                <a:spcPct val="0"/>
              </a:spcBef>
              <a:buNone/>
            </a:pPr>
            <a:r>
              <a:rPr lang="en-US" altLang="en-US" sz="2400" dirty="0" err="1">
                <a:solidFill>
                  <a:srgbClr val="FF0000"/>
                </a:solidFill>
              </a:rPr>
              <a:t>int</a:t>
            </a:r>
            <a:r>
              <a:rPr lang="en-US" altLang="en-US" sz="2400" dirty="0">
                <a:solidFill>
                  <a:srgbClr val="FF0000"/>
                </a:solidFill>
              </a:rPr>
              <a:t> </a:t>
            </a:r>
            <a:r>
              <a:rPr lang="en-US" altLang="en-US" sz="2400" dirty="0" err="1">
                <a:solidFill>
                  <a:srgbClr val="FF0000"/>
                </a:solidFill>
              </a:rPr>
              <a:t>disp</a:t>
            </a:r>
            <a:r>
              <a:rPr lang="en-US" altLang="en-US" sz="2400" dirty="0">
                <a:solidFill>
                  <a:srgbClr val="FF0000"/>
                </a:solidFill>
              </a:rPr>
              <a:t>[3][5];</a:t>
            </a:r>
          </a:p>
          <a:p>
            <a:pPr marL="0" indent="0">
              <a:spcBef>
                <a:spcPct val="0"/>
              </a:spcBef>
              <a:buNone/>
            </a:pPr>
            <a:r>
              <a:rPr lang="en-US" altLang="en-US" sz="2400" dirty="0" err="1">
                <a:solidFill>
                  <a:srgbClr val="FF0000"/>
                </a:solidFill>
              </a:rPr>
              <a:t>int</a:t>
            </a:r>
            <a:r>
              <a:rPr lang="en-US" altLang="en-US" sz="2400" dirty="0">
                <a:solidFill>
                  <a:srgbClr val="FF0000"/>
                </a:solidFill>
              </a:rPr>
              <a:t> </a:t>
            </a:r>
            <a:r>
              <a:rPr lang="en-US" altLang="en-US" sz="2400" dirty="0" err="1">
                <a:solidFill>
                  <a:srgbClr val="FF0000"/>
                </a:solidFill>
              </a:rPr>
              <a:t>i</a:t>
            </a:r>
            <a:r>
              <a:rPr lang="en-US" altLang="en-US" sz="2400" dirty="0">
                <a:solidFill>
                  <a:srgbClr val="FF0000"/>
                </a:solidFill>
              </a:rPr>
              <a:t>, j;</a:t>
            </a:r>
          </a:p>
          <a:p>
            <a:pPr marL="0" indent="0">
              <a:spcBef>
                <a:spcPct val="0"/>
              </a:spcBef>
              <a:buNone/>
            </a:pPr>
            <a:r>
              <a:rPr lang="en-US" altLang="en-US" sz="2400" dirty="0">
                <a:solidFill>
                  <a:srgbClr val="FF0000"/>
                </a:solidFill>
              </a:rPr>
              <a:t>for(</a:t>
            </a:r>
            <a:r>
              <a:rPr lang="en-US" altLang="en-US" sz="2400" dirty="0" err="1">
                <a:solidFill>
                  <a:srgbClr val="FF0000"/>
                </a:solidFill>
              </a:rPr>
              <a:t>i</a:t>
            </a:r>
            <a:r>
              <a:rPr lang="en-US" altLang="en-US" sz="2400" dirty="0">
                <a:solidFill>
                  <a:srgbClr val="FF0000"/>
                </a:solidFill>
              </a:rPr>
              <a:t>=0; </a:t>
            </a:r>
            <a:r>
              <a:rPr lang="en-US" altLang="en-US" sz="2400" dirty="0" err="1">
                <a:solidFill>
                  <a:srgbClr val="FF0000"/>
                </a:solidFill>
              </a:rPr>
              <a:t>i</a:t>
            </a:r>
            <a:r>
              <a:rPr lang="en-US" altLang="en-US" sz="2400" dirty="0">
                <a:solidFill>
                  <a:srgbClr val="FF0000"/>
                </a:solidFill>
              </a:rPr>
              <a:t>&lt;=2; </a:t>
            </a:r>
            <a:r>
              <a:rPr lang="en-US" altLang="en-US" sz="2400" dirty="0" err="1">
                <a:solidFill>
                  <a:srgbClr val="FF0000"/>
                </a:solidFill>
              </a:rPr>
              <a:t>i</a:t>
            </a:r>
            <a:r>
              <a:rPr lang="en-US" altLang="en-US" sz="2400" dirty="0">
                <a:solidFill>
                  <a:srgbClr val="FF0000"/>
                </a:solidFill>
              </a:rPr>
              <a:t>++)</a:t>
            </a:r>
          </a:p>
          <a:p>
            <a:pPr marL="0" indent="0">
              <a:spcBef>
                <a:spcPct val="0"/>
              </a:spcBef>
              <a:buNone/>
            </a:pPr>
            <a:r>
              <a:rPr lang="en-US" altLang="en-US" sz="2400" dirty="0">
                <a:solidFill>
                  <a:srgbClr val="FF0000"/>
                </a:solidFill>
              </a:rPr>
              <a:t>{</a:t>
            </a:r>
          </a:p>
          <a:p>
            <a:pPr marL="0" indent="0">
              <a:spcBef>
                <a:spcPct val="0"/>
              </a:spcBef>
              <a:buNone/>
            </a:pPr>
            <a:r>
              <a:rPr lang="en-US" altLang="en-US" sz="2400" dirty="0">
                <a:solidFill>
                  <a:srgbClr val="FF0000"/>
                </a:solidFill>
              </a:rPr>
              <a:t>for(j=0;j&lt;=4;j++)</a:t>
            </a:r>
          </a:p>
          <a:p>
            <a:pPr marL="0" indent="0">
              <a:spcBef>
                <a:spcPct val="0"/>
              </a:spcBef>
              <a:buNone/>
            </a:pPr>
            <a:r>
              <a:rPr lang="en-US" altLang="en-US" sz="2400" dirty="0">
                <a:solidFill>
                  <a:srgbClr val="FF0000"/>
                </a:solidFill>
              </a:rPr>
              <a:t>{</a:t>
            </a:r>
          </a:p>
          <a:p>
            <a:pPr marL="0" indent="0">
              <a:spcBef>
                <a:spcPct val="0"/>
              </a:spcBef>
              <a:buNone/>
            </a:pPr>
            <a:r>
              <a:rPr lang="nb-NO" altLang="en-US" sz="2400" dirty="0">
                <a:solidFill>
                  <a:srgbClr val="FF0000"/>
                </a:solidFill>
              </a:rPr>
              <a:t>cout&lt;&lt;"Enter value for disp[3][5]: "&lt;&lt;endl;</a:t>
            </a:r>
          </a:p>
          <a:p>
            <a:pPr marL="0" indent="0">
              <a:spcBef>
                <a:spcPct val="0"/>
              </a:spcBef>
              <a:buNone/>
            </a:pPr>
            <a:r>
              <a:rPr lang="en-US" altLang="en-US" sz="2400" dirty="0" err="1">
                <a:solidFill>
                  <a:srgbClr val="FF0000"/>
                </a:solidFill>
              </a:rPr>
              <a:t>cin</a:t>
            </a:r>
            <a:r>
              <a:rPr lang="en-US" altLang="en-US" sz="2400" dirty="0">
                <a:solidFill>
                  <a:srgbClr val="FF0000"/>
                </a:solidFill>
              </a:rPr>
              <a:t>&gt;&gt;</a:t>
            </a:r>
            <a:r>
              <a:rPr lang="en-US" altLang="en-US" sz="2400" dirty="0" err="1">
                <a:solidFill>
                  <a:srgbClr val="FF0000"/>
                </a:solidFill>
              </a:rPr>
              <a:t>disp</a:t>
            </a:r>
            <a:r>
              <a:rPr lang="en-US" altLang="en-US" sz="2400" dirty="0">
                <a:solidFill>
                  <a:srgbClr val="FF0000"/>
                </a:solidFill>
              </a:rPr>
              <a:t>[</a:t>
            </a:r>
            <a:r>
              <a:rPr lang="en-US" altLang="en-US" sz="2400" dirty="0" err="1">
                <a:solidFill>
                  <a:srgbClr val="FF0000"/>
                </a:solidFill>
              </a:rPr>
              <a:t>i</a:t>
            </a:r>
            <a:r>
              <a:rPr lang="en-US" altLang="en-US" sz="2400" dirty="0">
                <a:solidFill>
                  <a:srgbClr val="FF0000"/>
                </a:solidFill>
              </a:rPr>
              <a:t>][j];</a:t>
            </a:r>
          </a:p>
          <a:p>
            <a:pPr marL="0" indent="0">
              <a:spcBef>
                <a:spcPct val="0"/>
              </a:spcBef>
              <a:buNone/>
            </a:pPr>
            <a:r>
              <a:rPr lang="en-US" altLang="en-US" sz="2400" dirty="0">
                <a:solidFill>
                  <a:srgbClr val="FF0000"/>
                </a:solidFill>
              </a:rPr>
              <a:t>}</a:t>
            </a:r>
          </a:p>
          <a:p>
            <a:pPr marL="0" indent="0">
              <a:spcBef>
                <a:spcPct val="0"/>
              </a:spcBef>
              <a:buNone/>
            </a:pPr>
            <a:r>
              <a:rPr lang="en-US" altLang="en-US" sz="2400" dirty="0">
                <a:solidFill>
                  <a:srgbClr val="FF0000"/>
                </a:solidFill>
              </a:rPr>
              <a:t>}</a:t>
            </a:r>
          </a:p>
          <a:p>
            <a:pPr marL="0" indent="0">
              <a:spcBef>
                <a:spcPct val="0"/>
              </a:spcBef>
              <a:buNone/>
            </a:pPr>
            <a:r>
              <a:rPr lang="nb-NO" altLang="en-US" sz="2400" dirty="0">
                <a:solidFill>
                  <a:srgbClr val="FF0000"/>
                </a:solidFill>
              </a:rPr>
              <a:t>cout&lt;&lt;"The elements of the array are"&lt;&lt;endl;</a:t>
            </a:r>
          </a:p>
          <a:p>
            <a:pPr marL="0" indent="0">
              <a:spcBef>
                <a:spcPct val="0"/>
              </a:spcBef>
              <a:buNone/>
            </a:pPr>
            <a:r>
              <a:rPr lang="en-US" altLang="en-US" sz="2400" dirty="0">
                <a:solidFill>
                  <a:srgbClr val="FF0000"/>
                </a:solidFill>
              </a:rPr>
              <a:t>for(</a:t>
            </a:r>
            <a:r>
              <a:rPr lang="en-US" altLang="en-US" sz="2400" dirty="0" err="1">
                <a:solidFill>
                  <a:srgbClr val="FF0000"/>
                </a:solidFill>
              </a:rPr>
              <a:t>i</a:t>
            </a:r>
            <a:r>
              <a:rPr lang="en-US" altLang="en-US" sz="2400" dirty="0">
                <a:solidFill>
                  <a:srgbClr val="FF0000"/>
                </a:solidFill>
              </a:rPr>
              <a:t>=0; </a:t>
            </a:r>
            <a:r>
              <a:rPr lang="en-US" altLang="en-US" sz="2400" dirty="0" err="1">
                <a:solidFill>
                  <a:srgbClr val="FF0000"/>
                </a:solidFill>
              </a:rPr>
              <a:t>i</a:t>
            </a:r>
            <a:r>
              <a:rPr lang="en-US" altLang="en-US" sz="2400" dirty="0">
                <a:solidFill>
                  <a:srgbClr val="FF0000"/>
                </a:solidFill>
              </a:rPr>
              <a:t>&lt;=2; </a:t>
            </a:r>
            <a:r>
              <a:rPr lang="en-US" altLang="en-US" sz="2400" dirty="0" err="1">
                <a:solidFill>
                  <a:srgbClr val="FF0000"/>
                </a:solidFill>
              </a:rPr>
              <a:t>i</a:t>
            </a:r>
            <a:r>
              <a:rPr lang="en-US" altLang="en-US" sz="2400" dirty="0">
                <a:solidFill>
                  <a:srgbClr val="FF0000"/>
                </a:solidFill>
              </a:rPr>
              <a:t>++)</a:t>
            </a:r>
          </a:p>
          <a:p>
            <a:pPr marL="0" indent="0">
              <a:spcBef>
                <a:spcPct val="0"/>
              </a:spcBef>
              <a:buNone/>
            </a:pPr>
            <a:r>
              <a:rPr lang="en-US" altLang="en-US" sz="2400" dirty="0">
                <a:solidFill>
                  <a:srgbClr val="FF0000"/>
                </a:solidFill>
              </a:rPr>
              <a:t>{</a:t>
            </a:r>
          </a:p>
          <a:p>
            <a:pPr marL="0" indent="0">
              <a:spcBef>
                <a:spcPct val="0"/>
              </a:spcBef>
              <a:buNone/>
            </a:pPr>
            <a:r>
              <a:rPr lang="en-US" altLang="en-US" sz="2400" dirty="0">
                <a:solidFill>
                  <a:srgbClr val="FF0000"/>
                </a:solidFill>
              </a:rPr>
              <a:t>for(j=0;j&lt;=4;j++)</a:t>
            </a:r>
          </a:p>
          <a:p>
            <a:pPr marL="0" indent="0">
              <a:spcBef>
                <a:spcPct val="0"/>
              </a:spcBef>
              <a:buNone/>
            </a:pPr>
            <a:r>
              <a:rPr lang="en-US" altLang="en-US" sz="2400" dirty="0">
                <a:solidFill>
                  <a:srgbClr val="FF0000"/>
                </a:solidFill>
              </a:rPr>
              <a:t>{</a:t>
            </a:r>
          </a:p>
          <a:p>
            <a:pPr marL="0" indent="0">
              <a:spcBef>
                <a:spcPct val="0"/>
              </a:spcBef>
              <a:buNone/>
            </a:pPr>
            <a:r>
              <a:rPr lang="en-US" altLang="en-US" sz="2400" dirty="0" err="1">
                <a:solidFill>
                  <a:srgbClr val="FF0000"/>
                </a:solidFill>
              </a:rPr>
              <a:t>cout</a:t>
            </a:r>
            <a:r>
              <a:rPr lang="en-US" altLang="en-US" sz="2400" dirty="0">
                <a:solidFill>
                  <a:srgbClr val="FF0000"/>
                </a:solidFill>
              </a:rPr>
              <a:t>&lt;&lt;</a:t>
            </a:r>
            <a:r>
              <a:rPr lang="en-US" altLang="en-US" sz="2400" dirty="0" err="1">
                <a:solidFill>
                  <a:srgbClr val="FF0000"/>
                </a:solidFill>
              </a:rPr>
              <a:t>disp</a:t>
            </a:r>
            <a:r>
              <a:rPr lang="en-US" altLang="en-US" sz="2400" dirty="0">
                <a:solidFill>
                  <a:srgbClr val="FF0000"/>
                </a:solidFill>
              </a:rPr>
              <a:t>[</a:t>
            </a:r>
            <a:r>
              <a:rPr lang="en-US" altLang="en-US" sz="2400" dirty="0" err="1">
                <a:solidFill>
                  <a:srgbClr val="FF0000"/>
                </a:solidFill>
              </a:rPr>
              <a:t>i</a:t>
            </a:r>
            <a:r>
              <a:rPr lang="en-US" altLang="en-US" sz="2400" dirty="0">
                <a:solidFill>
                  <a:srgbClr val="FF0000"/>
                </a:solidFill>
              </a:rPr>
              <a:t>][j]&lt;&lt;</a:t>
            </a:r>
            <a:r>
              <a:rPr lang="en-US" altLang="en-US" sz="2400" dirty="0" err="1">
                <a:solidFill>
                  <a:srgbClr val="FF0000"/>
                </a:solidFill>
              </a:rPr>
              <a:t>endl</a:t>
            </a:r>
            <a:r>
              <a:rPr lang="en-US" altLang="en-US" sz="2400" dirty="0">
                <a:solidFill>
                  <a:srgbClr val="FF0000"/>
                </a:solidFill>
              </a:rPr>
              <a:t>;</a:t>
            </a:r>
          </a:p>
          <a:p>
            <a:pPr marL="0" indent="0">
              <a:spcBef>
                <a:spcPct val="0"/>
              </a:spcBef>
              <a:buNone/>
            </a:pPr>
            <a:r>
              <a:rPr lang="en-US" altLang="en-US" sz="2400" dirty="0">
                <a:solidFill>
                  <a:srgbClr val="FF0000"/>
                </a:solidFill>
              </a:rPr>
              <a:t>}</a:t>
            </a:r>
          </a:p>
          <a:p>
            <a:pPr marL="0" indent="0">
              <a:spcBef>
                <a:spcPct val="0"/>
              </a:spcBef>
              <a:buNone/>
            </a:pPr>
            <a:r>
              <a:rPr lang="en-US" altLang="en-US" sz="2400" dirty="0">
                <a:solidFill>
                  <a:srgbClr val="FF0000"/>
                </a:solidFill>
              </a:rPr>
              <a:t>}</a:t>
            </a:r>
          </a:p>
          <a:p>
            <a:pPr marL="0" indent="0">
              <a:spcBef>
                <a:spcPct val="0"/>
              </a:spcBef>
              <a:buNone/>
            </a:pPr>
            <a:endParaRPr lang="en-US" altLang="en-US" sz="2400" dirty="0">
              <a:solidFill>
                <a:srgbClr val="FF0000"/>
              </a:solidFill>
            </a:endParaRPr>
          </a:p>
          <a:p>
            <a:pPr marL="0" indent="0">
              <a:spcBef>
                <a:spcPct val="0"/>
              </a:spcBef>
              <a:buNone/>
            </a:pPr>
            <a:r>
              <a:rPr lang="en-US" altLang="en-US" sz="2400" dirty="0">
                <a:solidFill>
                  <a:srgbClr val="FF0000"/>
                </a:solidFill>
              </a:rPr>
              <a:t>return 0;</a:t>
            </a:r>
          </a:p>
          <a:p>
            <a:pPr marL="0" indent="0">
              <a:spcBef>
                <a:spcPct val="0"/>
              </a:spcBef>
              <a:buNone/>
            </a:pPr>
            <a:r>
              <a:rPr lang="en-US" altLang="en-US" sz="2400" dirty="0">
                <a:solidFill>
                  <a:srgbClr val="FF0000"/>
                </a:solidFill>
              </a:rPr>
              <a:t>}</a:t>
            </a:r>
          </a:p>
        </p:txBody>
      </p:sp>
    </p:spTree>
    <p:extLst>
      <p:ext uri="{BB962C8B-B14F-4D97-AF65-F5344CB8AC3E}">
        <p14:creationId xmlns:p14="http://schemas.microsoft.com/office/powerpoint/2010/main" val="306189123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p:cNvSpPr>
            <a:spLocks noGrp="1"/>
          </p:cNvSpPr>
          <p:nvPr>
            <p:ph idx="1"/>
          </p:nvPr>
        </p:nvSpPr>
        <p:spPr>
          <a:xfrm>
            <a:off x="300252" y="859808"/>
            <a:ext cx="11682482" cy="5769591"/>
          </a:xfrm>
        </p:spPr>
        <p:txBody>
          <a:bodyPr numCol="2" anchor="t"/>
          <a:lstStyle/>
          <a:p>
            <a:pPr marL="0" indent="0">
              <a:spcBef>
                <a:spcPct val="0"/>
              </a:spcBef>
              <a:buNone/>
            </a:pPr>
            <a:r>
              <a:rPr lang="en-US" altLang="en-US" sz="2400" dirty="0"/>
              <a:t>/*Write a program to read 3*3 matrix and find maximum number*/</a:t>
            </a:r>
          </a:p>
          <a:p>
            <a:pPr marL="0" indent="0">
              <a:spcBef>
                <a:spcPct val="0"/>
              </a:spcBef>
              <a:buNone/>
            </a:pPr>
            <a:r>
              <a:rPr lang="en-US" altLang="en-US" sz="2400" dirty="0">
                <a:solidFill>
                  <a:srgbClr val="FF0000"/>
                </a:solidFill>
              </a:rPr>
              <a:t>#include&lt;</a:t>
            </a:r>
            <a:r>
              <a:rPr lang="en-US" altLang="en-US" sz="2400" dirty="0" err="1">
                <a:solidFill>
                  <a:srgbClr val="FF0000"/>
                </a:solidFill>
              </a:rPr>
              <a:t>iostream</a:t>
            </a:r>
            <a:r>
              <a:rPr lang="en-US" altLang="en-US" sz="2400" dirty="0">
                <a:solidFill>
                  <a:srgbClr val="FF0000"/>
                </a:solidFill>
              </a:rPr>
              <a:t>&gt;</a:t>
            </a:r>
          </a:p>
          <a:p>
            <a:pPr marL="0" indent="0">
              <a:spcBef>
                <a:spcPct val="0"/>
              </a:spcBef>
              <a:buNone/>
            </a:pPr>
            <a:r>
              <a:rPr lang="en-US" altLang="en-US" sz="2400" dirty="0">
                <a:solidFill>
                  <a:srgbClr val="FF0000"/>
                </a:solidFill>
              </a:rPr>
              <a:t>using namespace </a:t>
            </a:r>
            <a:r>
              <a:rPr lang="en-US" altLang="en-US" sz="2400" dirty="0" err="1">
                <a:solidFill>
                  <a:srgbClr val="FF0000"/>
                </a:solidFill>
              </a:rPr>
              <a:t>std</a:t>
            </a:r>
            <a:r>
              <a:rPr lang="en-US" altLang="en-US" sz="2400" dirty="0">
                <a:solidFill>
                  <a:srgbClr val="FF0000"/>
                </a:solidFill>
              </a:rPr>
              <a:t>;</a:t>
            </a:r>
          </a:p>
          <a:p>
            <a:pPr marL="0" indent="0">
              <a:spcBef>
                <a:spcPct val="0"/>
              </a:spcBef>
              <a:buNone/>
            </a:pPr>
            <a:r>
              <a:rPr lang="en-US" altLang="en-US" sz="2400" dirty="0">
                <a:solidFill>
                  <a:srgbClr val="FF0000"/>
                </a:solidFill>
              </a:rPr>
              <a:t>#include&lt;</a:t>
            </a:r>
            <a:r>
              <a:rPr lang="en-US" altLang="en-US" sz="2400" dirty="0" err="1">
                <a:solidFill>
                  <a:srgbClr val="FF0000"/>
                </a:solidFill>
              </a:rPr>
              <a:t>conio.h</a:t>
            </a:r>
            <a:r>
              <a:rPr lang="en-US" altLang="en-US" sz="2400" dirty="0">
                <a:solidFill>
                  <a:srgbClr val="FF0000"/>
                </a:solidFill>
              </a:rPr>
              <a:t>&gt;</a:t>
            </a:r>
          </a:p>
          <a:p>
            <a:pPr marL="0" indent="0">
              <a:spcBef>
                <a:spcPct val="0"/>
              </a:spcBef>
              <a:buNone/>
            </a:pPr>
            <a:r>
              <a:rPr lang="en-US" altLang="en-US" sz="2400" dirty="0" err="1">
                <a:solidFill>
                  <a:srgbClr val="FF0000"/>
                </a:solidFill>
              </a:rPr>
              <a:t>int</a:t>
            </a:r>
            <a:r>
              <a:rPr lang="en-US" altLang="en-US" sz="2400" dirty="0">
                <a:solidFill>
                  <a:srgbClr val="FF0000"/>
                </a:solidFill>
              </a:rPr>
              <a:t> main()</a:t>
            </a:r>
          </a:p>
          <a:p>
            <a:pPr marL="0" indent="0">
              <a:spcBef>
                <a:spcPct val="0"/>
              </a:spcBef>
              <a:buNone/>
            </a:pPr>
            <a:r>
              <a:rPr lang="en-US" altLang="en-US" sz="2400" dirty="0">
                <a:solidFill>
                  <a:srgbClr val="FF0000"/>
                </a:solidFill>
              </a:rPr>
              <a:t>{</a:t>
            </a:r>
          </a:p>
          <a:p>
            <a:pPr marL="0" indent="0">
              <a:spcBef>
                <a:spcPct val="0"/>
              </a:spcBef>
              <a:buNone/>
            </a:pPr>
            <a:r>
              <a:rPr lang="en-US" altLang="en-US" sz="2400" dirty="0">
                <a:solidFill>
                  <a:srgbClr val="FF0000"/>
                </a:solidFill>
              </a:rPr>
              <a:t>    </a:t>
            </a:r>
            <a:r>
              <a:rPr lang="en-US" altLang="en-US" sz="2400" dirty="0" err="1">
                <a:solidFill>
                  <a:srgbClr val="FF0000"/>
                </a:solidFill>
              </a:rPr>
              <a:t>int</a:t>
            </a:r>
            <a:r>
              <a:rPr lang="en-US" altLang="en-US" sz="2400" dirty="0">
                <a:solidFill>
                  <a:srgbClr val="FF0000"/>
                </a:solidFill>
              </a:rPr>
              <a:t> mat[3][3], </a:t>
            </a:r>
            <a:r>
              <a:rPr lang="en-US" altLang="en-US" sz="2400" dirty="0" err="1">
                <a:solidFill>
                  <a:srgbClr val="FF0000"/>
                </a:solidFill>
              </a:rPr>
              <a:t>i</a:t>
            </a:r>
            <a:r>
              <a:rPr lang="en-US" altLang="en-US" sz="2400" dirty="0">
                <a:solidFill>
                  <a:srgbClr val="FF0000"/>
                </a:solidFill>
              </a:rPr>
              <a:t>, j, max;</a:t>
            </a:r>
          </a:p>
          <a:p>
            <a:pPr marL="0" indent="0">
              <a:spcBef>
                <a:spcPct val="0"/>
              </a:spcBef>
              <a:buNone/>
            </a:pPr>
            <a:r>
              <a:rPr lang="en-US" altLang="en-US" sz="2400" dirty="0">
                <a:solidFill>
                  <a:srgbClr val="FF0000"/>
                </a:solidFill>
              </a:rPr>
              <a:t>   </a:t>
            </a:r>
            <a:r>
              <a:rPr lang="en-US" altLang="en-US" sz="2400" dirty="0" err="1">
                <a:solidFill>
                  <a:srgbClr val="FF0000"/>
                </a:solidFill>
              </a:rPr>
              <a:t>cout</a:t>
            </a:r>
            <a:r>
              <a:rPr lang="en-US" altLang="en-US" sz="2400" dirty="0">
                <a:solidFill>
                  <a:srgbClr val="FF0000"/>
                </a:solidFill>
              </a:rPr>
              <a:t>&lt;&lt;"Enter any 3*3 matrix: "&lt;&lt;</a:t>
            </a:r>
            <a:r>
              <a:rPr lang="en-US" altLang="en-US" sz="2400" dirty="0" err="1">
                <a:solidFill>
                  <a:srgbClr val="FF0000"/>
                </a:solidFill>
              </a:rPr>
              <a:t>endl</a:t>
            </a:r>
            <a:r>
              <a:rPr lang="en-US" altLang="en-US" sz="2400" dirty="0">
                <a:solidFill>
                  <a:srgbClr val="FF0000"/>
                </a:solidFill>
              </a:rPr>
              <a:t>;</a:t>
            </a:r>
          </a:p>
          <a:p>
            <a:pPr marL="0" indent="0">
              <a:spcBef>
                <a:spcPct val="0"/>
              </a:spcBef>
              <a:buNone/>
            </a:pPr>
            <a:r>
              <a:rPr lang="en-US" altLang="en-US" sz="2400" dirty="0">
                <a:solidFill>
                  <a:srgbClr val="FF0000"/>
                </a:solidFill>
              </a:rPr>
              <a:t>    for(</a:t>
            </a:r>
            <a:r>
              <a:rPr lang="en-US" altLang="en-US" sz="2400" dirty="0" err="1">
                <a:solidFill>
                  <a:srgbClr val="FF0000"/>
                </a:solidFill>
              </a:rPr>
              <a:t>i</a:t>
            </a:r>
            <a:r>
              <a:rPr lang="en-US" altLang="en-US" sz="2400" dirty="0">
                <a:solidFill>
                  <a:srgbClr val="FF0000"/>
                </a:solidFill>
              </a:rPr>
              <a:t>=0; </a:t>
            </a:r>
            <a:r>
              <a:rPr lang="en-US" altLang="en-US" sz="2400" dirty="0" err="1">
                <a:solidFill>
                  <a:srgbClr val="FF0000"/>
                </a:solidFill>
              </a:rPr>
              <a:t>i</a:t>
            </a:r>
            <a:r>
              <a:rPr lang="en-US" altLang="en-US" sz="2400" dirty="0">
                <a:solidFill>
                  <a:srgbClr val="FF0000"/>
                </a:solidFill>
              </a:rPr>
              <a:t>&lt;3; </a:t>
            </a:r>
            <a:r>
              <a:rPr lang="en-US" altLang="en-US" sz="2400" dirty="0" err="1">
                <a:solidFill>
                  <a:srgbClr val="FF0000"/>
                </a:solidFill>
              </a:rPr>
              <a:t>i</a:t>
            </a:r>
            <a:r>
              <a:rPr lang="en-US" altLang="en-US" sz="2400" dirty="0">
                <a:solidFill>
                  <a:srgbClr val="FF0000"/>
                </a:solidFill>
              </a:rPr>
              <a:t>++)</a:t>
            </a:r>
          </a:p>
          <a:p>
            <a:pPr marL="0" indent="0">
              <a:spcBef>
                <a:spcPct val="0"/>
              </a:spcBef>
              <a:buNone/>
            </a:pPr>
            <a:r>
              <a:rPr lang="en-US" altLang="en-US" sz="2400" dirty="0">
                <a:solidFill>
                  <a:srgbClr val="FF0000"/>
                </a:solidFill>
              </a:rPr>
              <a:t>    {</a:t>
            </a:r>
          </a:p>
          <a:p>
            <a:pPr marL="0" indent="0">
              <a:spcBef>
                <a:spcPct val="0"/>
              </a:spcBef>
              <a:buNone/>
            </a:pPr>
            <a:r>
              <a:rPr lang="en-US" altLang="en-US" sz="2400" dirty="0">
                <a:solidFill>
                  <a:srgbClr val="FF0000"/>
                </a:solidFill>
              </a:rPr>
              <a:t>        for(j=0; j&lt;3; </a:t>
            </a:r>
            <a:r>
              <a:rPr lang="en-US" altLang="en-US" sz="2400" dirty="0" err="1">
                <a:solidFill>
                  <a:srgbClr val="FF0000"/>
                </a:solidFill>
              </a:rPr>
              <a:t>j++</a:t>
            </a:r>
            <a:r>
              <a:rPr lang="en-US" altLang="en-US" sz="2400" dirty="0">
                <a:solidFill>
                  <a:srgbClr val="FF0000"/>
                </a:solidFill>
              </a:rPr>
              <a:t>)</a:t>
            </a:r>
          </a:p>
          <a:p>
            <a:pPr marL="0" indent="0">
              <a:spcBef>
                <a:spcPct val="0"/>
              </a:spcBef>
              <a:buNone/>
            </a:pPr>
            <a:r>
              <a:rPr lang="en-US" altLang="en-US" sz="2400" dirty="0">
                <a:solidFill>
                  <a:srgbClr val="FF0000"/>
                </a:solidFill>
              </a:rPr>
              <a:t>            {</a:t>
            </a:r>
          </a:p>
          <a:p>
            <a:pPr marL="0" indent="0">
              <a:spcBef>
                <a:spcPct val="0"/>
              </a:spcBef>
              <a:buNone/>
            </a:pPr>
            <a:r>
              <a:rPr lang="en-US" altLang="en-US" sz="2400" dirty="0">
                <a:solidFill>
                  <a:srgbClr val="FF0000"/>
                </a:solidFill>
              </a:rPr>
              <a:t>	</a:t>
            </a:r>
            <a:r>
              <a:rPr lang="en-US" altLang="en-US" sz="2400" dirty="0" err="1">
                <a:solidFill>
                  <a:srgbClr val="FF0000"/>
                </a:solidFill>
              </a:rPr>
              <a:t>cin</a:t>
            </a:r>
            <a:r>
              <a:rPr lang="en-US" altLang="en-US" sz="2400" dirty="0">
                <a:solidFill>
                  <a:srgbClr val="FF0000"/>
                </a:solidFill>
              </a:rPr>
              <a:t>&gt;&gt;mat[</a:t>
            </a:r>
            <a:r>
              <a:rPr lang="en-US" altLang="en-US" sz="2400" dirty="0" err="1">
                <a:solidFill>
                  <a:srgbClr val="FF0000"/>
                </a:solidFill>
              </a:rPr>
              <a:t>i</a:t>
            </a:r>
            <a:r>
              <a:rPr lang="en-US" altLang="en-US" sz="2400" dirty="0">
                <a:solidFill>
                  <a:srgbClr val="FF0000"/>
                </a:solidFill>
              </a:rPr>
              <a:t>][j]; </a:t>
            </a:r>
          </a:p>
          <a:p>
            <a:pPr marL="0" indent="0">
              <a:spcBef>
                <a:spcPct val="0"/>
              </a:spcBef>
              <a:buNone/>
            </a:pPr>
            <a:r>
              <a:rPr lang="en-US" altLang="en-US" sz="2400" dirty="0">
                <a:solidFill>
                  <a:srgbClr val="FF0000"/>
                </a:solidFill>
              </a:rPr>
              <a:t>                }</a:t>
            </a:r>
          </a:p>
          <a:p>
            <a:pPr marL="0" indent="0">
              <a:spcBef>
                <a:spcPct val="0"/>
              </a:spcBef>
              <a:buNone/>
            </a:pPr>
            <a:r>
              <a:rPr lang="en-US" altLang="en-US" sz="2400" dirty="0">
                <a:solidFill>
                  <a:srgbClr val="FF0000"/>
                </a:solidFill>
              </a:rPr>
              <a:t>               }</a:t>
            </a:r>
          </a:p>
          <a:p>
            <a:pPr marL="0" indent="0">
              <a:spcBef>
                <a:spcPct val="0"/>
              </a:spcBef>
              <a:buNone/>
            </a:pPr>
            <a:r>
              <a:rPr lang="en-US" altLang="en-US" sz="2400" dirty="0">
                <a:solidFill>
                  <a:srgbClr val="FF0000"/>
                </a:solidFill>
              </a:rPr>
              <a:t>    max = mat[0][0];</a:t>
            </a:r>
          </a:p>
          <a:p>
            <a:pPr marL="0" indent="0">
              <a:spcBef>
                <a:spcPct val="0"/>
              </a:spcBef>
              <a:buNone/>
            </a:pPr>
            <a:r>
              <a:rPr lang="en-US" altLang="en-US" sz="2400" dirty="0">
                <a:solidFill>
                  <a:srgbClr val="FF0000"/>
                </a:solidFill>
              </a:rPr>
              <a:t>    for(</a:t>
            </a:r>
            <a:r>
              <a:rPr lang="en-US" altLang="en-US" sz="2400" dirty="0" err="1">
                <a:solidFill>
                  <a:srgbClr val="FF0000"/>
                </a:solidFill>
              </a:rPr>
              <a:t>i</a:t>
            </a:r>
            <a:r>
              <a:rPr lang="en-US" altLang="en-US" sz="2400" dirty="0">
                <a:solidFill>
                  <a:srgbClr val="FF0000"/>
                </a:solidFill>
              </a:rPr>
              <a:t>=0; </a:t>
            </a:r>
            <a:r>
              <a:rPr lang="en-US" altLang="en-US" sz="2400" dirty="0" err="1">
                <a:solidFill>
                  <a:srgbClr val="FF0000"/>
                </a:solidFill>
              </a:rPr>
              <a:t>i</a:t>
            </a:r>
            <a:r>
              <a:rPr lang="en-US" altLang="en-US" sz="2400" dirty="0">
                <a:solidFill>
                  <a:srgbClr val="FF0000"/>
                </a:solidFill>
              </a:rPr>
              <a:t>&lt;3; </a:t>
            </a:r>
            <a:r>
              <a:rPr lang="en-US" altLang="en-US" sz="2400" dirty="0" err="1">
                <a:solidFill>
                  <a:srgbClr val="FF0000"/>
                </a:solidFill>
              </a:rPr>
              <a:t>i</a:t>
            </a:r>
            <a:r>
              <a:rPr lang="en-US" altLang="en-US" sz="2400" dirty="0">
                <a:solidFill>
                  <a:srgbClr val="FF0000"/>
                </a:solidFill>
              </a:rPr>
              <a:t>++)</a:t>
            </a:r>
          </a:p>
          <a:p>
            <a:pPr marL="0" indent="0">
              <a:spcBef>
                <a:spcPct val="0"/>
              </a:spcBef>
              <a:buNone/>
            </a:pPr>
            <a:r>
              <a:rPr lang="en-US" altLang="en-US" sz="2400" dirty="0">
                <a:solidFill>
                  <a:srgbClr val="FF0000"/>
                </a:solidFill>
              </a:rPr>
              <a:t>    {</a:t>
            </a:r>
          </a:p>
          <a:p>
            <a:pPr marL="0" indent="0">
              <a:spcBef>
                <a:spcPct val="0"/>
              </a:spcBef>
              <a:buNone/>
            </a:pPr>
            <a:r>
              <a:rPr lang="en-US" altLang="en-US" sz="2400" dirty="0">
                <a:solidFill>
                  <a:srgbClr val="FF0000"/>
                </a:solidFill>
              </a:rPr>
              <a:t>        for(j=0; j&lt;3; </a:t>
            </a:r>
            <a:r>
              <a:rPr lang="en-US" altLang="en-US" sz="2400" dirty="0" err="1">
                <a:solidFill>
                  <a:srgbClr val="FF0000"/>
                </a:solidFill>
              </a:rPr>
              <a:t>j++</a:t>
            </a:r>
            <a:r>
              <a:rPr lang="en-US" altLang="en-US" sz="2400" dirty="0">
                <a:solidFill>
                  <a:srgbClr val="FF0000"/>
                </a:solidFill>
              </a:rPr>
              <a:t>)</a:t>
            </a:r>
          </a:p>
          <a:p>
            <a:pPr marL="0" indent="0">
              <a:spcBef>
                <a:spcPct val="0"/>
              </a:spcBef>
              <a:buNone/>
            </a:pPr>
            <a:r>
              <a:rPr lang="en-US" altLang="en-US" sz="2400" dirty="0">
                <a:solidFill>
                  <a:srgbClr val="FF0000"/>
                </a:solidFill>
              </a:rPr>
              <a:t>        {</a:t>
            </a:r>
          </a:p>
          <a:p>
            <a:pPr marL="0" indent="0">
              <a:spcBef>
                <a:spcPct val="0"/>
              </a:spcBef>
              <a:buNone/>
            </a:pPr>
            <a:r>
              <a:rPr lang="en-US" altLang="en-US" sz="2400" dirty="0">
                <a:solidFill>
                  <a:srgbClr val="FF0000"/>
                </a:solidFill>
              </a:rPr>
              <a:t>            if(max&lt;mat[</a:t>
            </a:r>
            <a:r>
              <a:rPr lang="en-US" altLang="en-US" sz="2400" dirty="0" err="1">
                <a:solidFill>
                  <a:srgbClr val="FF0000"/>
                </a:solidFill>
              </a:rPr>
              <a:t>i</a:t>
            </a:r>
            <a:r>
              <a:rPr lang="en-US" altLang="en-US" sz="2400" dirty="0">
                <a:solidFill>
                  <a:srgbClr val="FF0000"/>
                </a:solidFill>
              </a:rPr>
              <a:t>][j])</a:t>
            </a:r>
          </a:p>
          <a:p>
            <a:pPr marL="0" indent="0">
              <a:spcBef>
                <a:spcPct val="0"/>
              </a:spcBef>
              <a:buNone/>
            </a:pPr>
            <a:r>
              <a:rPr lang="en-US" altLang="en-US" sz="2400" dirty="0">
                <a:solidFill>
                  <a:srgbClr val="FF0000"/>
                </a:solidFill>
              </a:rPr>
              <a:t>                max = mat[</a:t>
            </a:r>
            <a:r>
              <a:rPr lang="en-US" altLang="en-US" sz="2400" dirty="0" err="1">
                <a:solidFill>
                  <a:srgbClr val="FF0000"/>
                </a:solidFill>
              </a:rPr>
              <a:t>i</a:t>
            </a:r>
            <a:r>
              <a:rPr lang="en-US" altLang="en-US" sz="2400" dirty="0">
                <a:solidFill>
                  <a:srgbClr val="FF0000"/>
                </a:solidFill>
              </a:rPr>
              <a:t>][j];</a:t>
            </a:r>
          </a:p>
          <a:p>
            <a:pPr marL="0" indent="0">
              <a:spcBef>
                <a:spcPct val="0"/>
              </a:spcBef>
              <a:buNone/>
            </a:pPr>
            <a:r>
              <a:rPr lang="en-US" altLang="en-US" sz="2400" dirty="0">
                <a:solidFill>
                  <a:srgbClr val="FF0000"/>
                </a:solidFill>
              </a:rPr>
              <a:t>        }</a:t>
            </a:r>
          </a:p>
          <a:p>
            <a:pPr marL="0" indent="0">
              <a:spcBef>
                <a:spcPct val="0"/>
              </a:spcBef>
              <a:buNone/>
            </a:pPr>
            <a:r>
              <a:rPr lang="en-US" altLang="en-US" sz="2400" dirty="0">
                <a:solidFill>
                  <a:srgbClr val="FF0000"/>
                </a:solidFill>
              </a:rPr>
              <a:t>    }</a:t>
            </a:r>
          </a:p>
          <a:p>
            <a:pPr marL="0" indent="0">
              <a:spcBef>
                <a:spcPct val="0"/>
              </a:spcBef>
              <a:buNone/>
            </a:pPr>
            <a:r>
              <a:rPr lang="en-US" altLang="en-US" sz="2400" dirty="0">
                <a:solidFill>
                  <a:srgbClr val="FF0000"/>
                </a:solidFill>
              </a:rPr>
              <a:t>    </a:t>
            </a:r>
            <a:r>
              <a:rPr lang="en-US" altLang="en-US" sz="2400" dirty="0" err="1">
                <a:solidFill>
                  <a:srgbClr val="FF0000"/>
                </a:solidFill>
              </a:rPr>
              <a:t>cout</a:t>
            </a:r>
            <a:r>
              <a:rPr lang="en-US" altLang="en-US" sz="2400" dirty="0">
                <a:solidFill>
                  <a:srgbClr val="FF0000"/>
                </a:solidFill>
              </a:rPr>
              <a:t>&lt;&lt;"\</a:t>
            </a:r>
            <a:r>
              <a:rPr lang="en-US" altLang="en-US" sz="2400" dirty="0" err="1">
                <a:solidFill>
                  <a:srgbClr val="FF0000"/>
                </a:solidFill>
              </a:rPr>
              <a:t>nLargest</a:t>
            </a:r>
            <a:r>
              <a:rPr lang="en-US" altLang="en-US" sz="2400" dirty="0">
                <a:solidFill>
                  <a:srgbClr val="FF0000"/>
                </a:solidFill>
              </a:rPr>
              <a:t> Element = "&lt;&lt;max;</a:t>
            </a:r>
          </a:p>
          <a:p>
            <a:pPr marL="0" indent="0">
              <a:spcBef>
                <a:spcPct val="0"/>
              </a:spcBef>
              <a:buNone/>
            </a:pPr>
            <a:r>
              <a:rPr lang="en-US" altLang="en-US" sz="2400" dirty="0">
                <a:solidFill>
                  <a:srgbClr val="FF0000"/>
                </a:solidFill>
              </a:rPr>
              <a:t>    </a:t>
            </a:r>
            <a:r>
              <a:rPr lang="en-US" altLang="en-US" sz="2400" dirty="0" err="1">
                <a:solidFill>
                  <a:srgbClr val="FF0000"/>
                </a:solidFill>
              </a:rPr>
              <a:t>getch</a:t>
            </a:r>
            <a:r>
              <a:rPr lang="en-US" altLang="en-US" sz="2400" dirty="0">
                <a:solidFill>
                  <a:srgbClr val="FF0000"/>
                </a:solidFill>
              </a:rPr>
              <a:t>();</a:t>
            </a:r>
          </a:p>
          <a:p>
            <a:pPr marL="0" indent="0">
              <a:spcBef>
                <a:spcPct val="0"/>
              </a:spcBef>
              <a:buNone/>
            </a:pPr>
            <a:r>
              <a:rPr lang="en-US" altLang="en-US" sz="2400" dirty="0">
                <a:solidFill>
                  <a:srgbClr val="FF0000"/>
                </a:solidFill>
              </a:rPr>
              <a:t>    return 0;</a:t>
            </a:r>
          </a:p>
          <a:p>
            <a:pPr marL="0" indent="0">
              <a:spcBef>
                <a:spcPct val="0"/>
              </a:spcBef>
              <a:buNone/>
            </a:pPr>
            <a:r>
              <a:rPr lang="en-US" altLang="en-US" sz="2400" dirty="0">
                <a:solidFill>
                  <a:srgbClr val="FF0000"/>
                </a:solidFill>
              </a:rPr>
              <a:t>}</a:t>
            </a:r>
          </a:p>
        </p:txBody>
      </p:sp>
    </p:spTree>
    <p:extLst>
      <p:ext uri="{BB962C8B-B14F-4D97-AF65-F5344CB8AC3E}">
        <p14:creationId xmlns:p14="http://schemas.microsoft.com/office/powerpoint/2010/main" val="419759519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5429" y="841829"/>
            <a:ext cx="8229600" cy="1161141"/>
          </a:xfrm>
        </p:spPr>
        <p:txBody>
          <a:bodyPr>
            <a:noAutofit/>
          </a:bodyPr>
          <a:lstStyle/>
          <a:p>
            <a:pPr algn="ctr"/>
            <a:r>
              <a:rPr lang="en-US" sz="8000" b="1" i="1" dirty="0">
                <a:solidFill>
                  <a:srgbClr val="7030A0"/>
                </a:solidFill>
                <a:latin typeface="Times New Roman" panose="02020603050405020304" pitchFamily="18" charset="0"/>
                <a:cs typeface="Times New Roman" panose="02020603050405020304" pitchFamily="18" charset="0"/>
              </a:rPr>
              <a:t>Strings </a:t>
            </a:r>
            <a:endParaRPr lang="en-US" sz="8000" i="1"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48343" y="2002971"/>
            <a:ext cx="11625943" cy="4557486"/>
          </a:xfrm>
        </p:spPr>
        <p:txBody>
          <a:bodyPr anchor="t"/>
          <a:lstStyle/>
          <a:p>
            <a:pPr marL="457200" indent="-457200"/>
            <a:r>
              <a:rPr lang="en-US" sz="3200" dirty="0">
                <a:latin typeface="Times New Roman" panose="02020603050405020304" pitchFamily="18" charset="0"/>
                <a:cs typeface="Times New Roman" panose="02020603050405020304" pitchFamily="18" charset="0"/>
              </a:rPr>
              <a:t>String literals such as “Hello, world!” are actually represented by C++ as a sequence of characters in memory. </a:t>
            </a:r>
          </a:p>
          <a:p>
            <a:pPr marL="457200" indent="-457200"/>
            <a:r>
              <a:rPr lang="en-US" sz="3200" dirty="0">
                <a:latin typeface="Times New Roman" panose="02020603050405020304" pitchFamily="18" charset="0"/>
                <a:cs typeface="Times New Roman" panose="02020603050405020304" pitchFamily="18" charset="0"/>
              </a:rPr>
              <a:t>In other words, a string is simply a character array and can be manipulated as such.</a:t>
            </a:r>
          </a:p>
          <a:p>
            <a:pPr marL="457200" indent="-457200"/>
            <a:r>
              <a:rPr lang="en-US" sz="3200" dirty="0">
                <a:latin typeface="Times New Roman" panose="02020603050405020304" pitchFamily="18" charset="0"/>
                <a:cs typeface="Times New Roman" panose="02020603050405020304" pitchFamily="18" charset="0"/>
              </a:rPr>
              <a:t>Consider the following program: </a:t>
            </a:r>
          </a:p>
        </p:txBody>
      </p:sp>
    </p:spTree>
    <p:extLst>
      <p:ext uri="{BB962C8B-B14F-4D97-AF65-F5344CB8AC3E}">
        <p14:creationId xmlns:p14="http://schemas.microsoft.com/office/powerpoint/2010/main" val="418771622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6057" y="841828"/>
            <a:ext cx="11451771" cy="5791201"/>
          </a:xfrm>
        </p:spPr>
        <p:txBody>
          <a:bodyPr anchor="t">
            <a:normAutofit/>
          </a:bodyPr>
          <a:lstStyle/>
          <a:p>
            <a:pPr marL="0" indent="0">
              <a:buNone/>
            </a:pPr>
            <a:r>
              <a:rPr lang="en-US" sz="3200" dirty="0">
                <a:latin typeface="Times New Roman" panose="02020603050405020304" pitchFamily="18" charset="0"/>
                <a:cs typeface="Times New Roman" panose="02020603050405020304" pitchFamily="18" charset="0"/>
              </a:rPr>
              <a:t>#include &lt;iostream&gt;</a:t>
            </a:r>
          </a:p>
          <a:p>
            <a:pPr marL="0" indent="0">
              <a:buNone/>
            </a:pPr>
            <a:r>
              <a:rPr lang="en-US" sz="3200" dirty="0">
                <a:latin typeface="Times New Roman" panose="02020603050405020304" pitchFamily="18" charset="0"/>
                <a:cs typeface="Times New Roman" panose="02020603050405020304" pitchFamily="18" charset="0"/>
              </a:rPr>
              <a:t>using namespace std;</a:t>
            </a:r>
          </a:p>
          <a:p>
            <a:pPr marL="0" indent="0">
              <a:buNone/>
            </a:pPr>
            <a:r>
              <a:rPr lang="en-US" sz="3200" dirty="0" err="1">
                <a:latin typeface="Times New Roman" panose="02020603050405020304" pitchFamily="18" charset="0"/>
                <a:cs typeface="Times New Roman" panose="02020603050405020304" pitchFamily="18" charset="0"/>
              </a:rPr>
              <a:t>int</a:t>
            </a:r>
            <a:r>
              <a:rPr lang="en-US" sz="3200" dirty="0">
                <a:latin typeface="Times New Roman" panose="02020603050405020304" pitchFamily="18" charset="0"/>
                <a:cs typeface="Times New Roman" panose="02020603050405020304" pitchFamily="18" charset="0"/>
              </a:rPr>
              <a:t> main() </a:t>
            </a:r>
          </a:p>
          <a:p>
            <a:pPr marL="0" indent="0">
              <a:buNone/>
            </a:pPr>
            <a:r>
              <a:rPr lang="en-US" sz="3200" dirty="0">
                <a:latin typeface="Times New Roman" panose="02020603050405020304" pitchFamily="18" charset="0"/>
                <a:cs typeface="Times New Roman" panose="02020603050405020304" pitchFamily="18" charset="0"/>
              </a:rPr>
              <a:t>{</a:t>
            </a:r>
          </a:p>
          <a:p>
            <a:pPr marL="0" indent="0">
              <a:buNone/>
            </a:pPr>
            <a:r>
              <a:rPr lang="en-US" sz="3200" dirty="0">
                <a:latin typeface="Times New Roman" panose="02020603050405020304" pitchFamily="18" charset="0"/>
                <a:cs typeface="Times New Roman" panose="02020603050405020304" pitchFamily="18" charset="0"/>
              </a:rPr>
              <a:t>char helloworld[] = { 'H', 'e', 'l', 'l', 'o', ',', ' ', 'w', 'o', 'r', 'l', 'd', '!', '\0' };</a:t>
            </a:r>
          </a:p>
          <a:p>
            <a:pPr marL="0" indent="0">
              <a:buNone/>
            </a:pPr>
            <a:r>
              <a:rPr lang="en-US" sz="3200" dirty="0" err="1">
                <a:latin typeface="Times New Roman" panose="02020603050405020304" pitchFamily="18" charset="0"/>
                <a:cs typeface="Times New Roman" panose="02020603050405020304" pitchFamily="18" charset="0"/>
              </a:rPr>
              <a:t>cout</a:t>
            </a:r>
            <a:r>
              <a:rPr lang="en-US" sz="3200" dirty="0">
                <a:latin typeface="Times New Roman" panose="02020603050405020304" pitchFamily="18" charset="0"/>
                <a:cs typeface="Times New Roman" panose="02020603050405020304" pitchFamily="18" charset="0"/>
              </a:rPr>
              <a:t> &lt;&lt; helloworld &lt;&lt; endl;</a:t>
            </a:r>
          </a:p>
          <a:p>
            <a:pPr marL="0" indent="0">
              <a:buNone/>
            </a:pPr>
            <a:r>
              <a:rPr lang="en-US" sz="3200" dirty="0">
                <a:latin typeface="Times New Roman" panose="02020603050405020304" pitchFamily="18" charset="0"/>
                <a:cs typeface="Times New Roman" panose="02020603050405020304" pitchFamily="18" charset="0"/>
              </a:rPr>
              <a:t>return 0;</a:t>
            </a:r>
          </a:p>
          <a:p>
            <a:pPr marL="0" indent="0">
              <a:buNone/>
            </a:pPr>
            <a:r>
              <a:rPr lang="en-US" sz="3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7532964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8343" y="798286"/>
            <a:ext cx="11640457" cy="5820228"/>
          </a:xfrm>
        </p:spPr>
        <p:txBody>
          <a:bodyPr anchor="t">
            <a:normAutofit/>
          </a:bodyPr>
          <a:lstStyle/>
          <a:p>
            <a:r>
              <a:rPr lang="en-US" sz="3200" dirty="0">
                <a:latin typeface="Times New Roman" panose="02020603050405020304" pitchFamily="18" charset="0"/>
                <a:cs typeface="Times New Roman" panose="02020603050405020304" pitchFamily="18" charset="0"/>
              </a:rPr>
              <a:t>This program prints Hello, world! Note that the character array helloworld ends with a special character known as the null character. This character is used to indicate the end of the string.</a:t>
            </a:r>
          </a:p>
          <a:p>
            <a:r>
              <a:rPr lang="en-US" sz="3200" dirty="0">
                <a:latin typeface="Times New Roman" panose="02020603050405020304" pitchFamily="18" charset="0"/>
                <a:cs typeface="Times New Roman" panose="02020603050405020304" pitchFamily="18" charset="0"/>
              </a:rPr>
              <a:t>Character arrays can also be initialized using string literals. In this case, no null character is needed, as the compiler will automatically insert one:</a:t>
            </a:r>
          </a:p>
          <a:p>
            <a:pPr marL="0" indent="0">
              <a:buNone/>
            </a:pPr>
            <a:r>
              <a:rPr lang="en-US" sz="3200" dirty="0">
                <a:latin typeface="Times New Roman" panose="02020603050405020304" pitchFamily="18" charset="0"/>
                <a:cs typeface="Times New Roman" panose="02020603050405020304" pitchFamily="18" charset="0"/>
              </a:rPr>
              <a:t>    </a:t>
            </a:r>
            <a:r>
              <a:rPr lang="en-US" sz="4400" b="1" i="1" dirty="0">
                <a:latin typeface="Times New Roman" panose="02020603050405020304" pitchFamily="18" charset="0"/>
                <a:cs typeface="Times New Roman" panose="02020603050405020304" pitchFamily="18" charset="0"/>
              </a:rPr>
              <a:t>char helloworld[] = “Hello, world!”;</a:t>
            </a:r>
          </a:p>
        </p:txBody>
      </p:sp>
    </p:spTree>
    <p:extLst>
      <p:ext uri="{BB962C8B-B14F-4D97-AF65-F5344CB8AC3E}">
        <p14:creationId xmlns:p14="http://schemas.microsoft.com/office/powerpoint/2010/main" val="191066008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7113" y="2564501"/>
            <a:ext cx="8691563" cy="1205508"/>
          </a:xfrm>
        </p:spPr>
        <p:txBody>
          <a:bodyPr/>
          <a:lstStyle/>
          <a:p>
            <a:r>
              <a:rPr lang="en-US" b="1" dirty="0"/>
              <a:t>Reading words from user.</a:t>
            </a:r>
            <a:endParaRPr lang="en-US" dirty="0"/>
          </a:p>
        </p:txBody>
      </p:sp>
    </p:spTree>
    <p:extLst>
      <p:ext uri="{BB962C8B-B14F-4D97-AF65-F5344CB8AC3E}">
        <p14:creationId xmlns:p14="http://schemas.microsoft.com/office/powerpoint/2010/main" val="375088191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023" y="842211"/>
            <a:ext cx="10160000" cy="5773742"/>
          </a:xfrm>
        </p:spPr>
        <p:txBody>
          <a:bodyPr anchor="t"/>
          <a:lstStyle/>
          <a:p>
            <a:pPr marL="0" indent="0">
              <a:buNone/>
            </a:pPr>
            <a:r>
              <a:rPr lang="en-US" sz="2400" dirty="0">
                <a:latin typeface="Times New Roman" panose="02020603050405020304" pitchFamily="18" charset="0"/>
                <a:cs typeface="Times New Roman" panose="02020603050405020304" pitchFamily="18" charset="0"/>
              </a:rPr>
              <a:t>#include &lt;</a:t>
            </a:r>
            <a:r>
              <a:rPr lang="en-US" sz="2400" dirty="0" err="1">
                <a:latin typeface="Times New Roman" panose="02020603050405020304" pitchFamily="18" charset="0"/>
                <a:cs typeface="Times New Roman" panose="02020603050405020304" pitchFamily="18" charset="0"/>
              </a:rPr>
              <a:t>iostream</a:t>
            </a:r>
            <a:r>
              <a:rPr lang="en-US" sz="2400" dirty="0">
                <a:latin typeface="Times New Roman" panose="02020603050405020304" pitchFamily="18" charset="0"/>
                <a:cs typeface="Times New Roman" panose="02020603050405020304" pitchFamily="18" charset="0"/>
              </a:rPr>
              <a:t>&gt;</a:t>
            </a:r>
          </a:p>
          <a:p>
            <a:pPr marL="0" indent="0">
              <a:buNone/>
            </a:pPr>
            <a:r>
              <a:rPr lang="en-US" sz="2400" dirty="0">
                <a:latin typeface="Times New Roman" panose="02020603050405020304" pitchFamily="18" charset="0"/>
                <a:cs typeface="Times New Roman" panose="02020603050405020304" pitchFamily="18" charset="0"/>
              </a:rPr>
              <a:t>using namespace </a:t>
            </a:r>
            <a:r>
              <a:rPr lang="en-US" sz="2400" dirty="0" err="1">
                <a:latin typeface="Times New Roman" panose="02020603050405020304" pitchFamily="18" charset="0"/>
                <a:cs typeface="Times New Roman" panose="02020603050405020304" pitchFamily="18" charset="0"/>
              </a:rPr>
              <a:t>std</a:t>
            </a:r>
            <a:r>
              <a:rPr lang="en-US" sz="2400" dirty="0">
                <a:latin typeface="Times New Roman" panose="02020603050405020304" pitchFamily="18" charset="0"/>
                <a:cs typeface="Times New Roman" panose="02020603050405020304" pitchFamily="18" charset="0"/>
              </a:rPr>
              <a:t>;</a:t>
            </a:r>
          </a:p>
          <a:p>
            <a:pPr marL="0" indent="0">
              <a:buNone/>
            </a:pP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main()</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char name[20];</a:t>
            </a:r>
          </a:p>
          <a:p>
            <a:pPr marL="0" indent="0">
              <a:buNone/>
            </a:pPr>
            <a:r>
              <a:rPr lang="en-US" sz="2400" dirty="0" err="1">
                <a:latin typeface="Times New Roman" panose="02020603050405020304" pitchFamily="18" charset="0"/>
                <a:cs typeface="Times New Roman" panose="02020603050405020304" pitchFamily="18" charset="0"/>
              </a:rPr>
              <a:t>cout</a:t>
            </a:r>
            <a:r>
              <a:rPr lang="en-US" sz="2400" dirty="0">
                <a:latin typeface="Times New Roman" panose="02020603050405020304" pitchFamily="18" charset="0"/>
                <a:cs typeface="Times New Roman" panose="02020603050405020304" pitchFamily="18" charset="0"/>
              </a:rPr>
              <a:t>&lt;&lt;"Enter your name: ";</a:t>
            </a:r>
          </a:p>
          <a:p>
            <a:pPr marL="0" indent="0">
              <a:buNone/>
            </a:pPr>
            <a:r>
              <a:rPr lang="en-US" sz="2400" dirty="0" err="1">
                <a:latin typeface="Times New Roman" panose="02020603050405020304" pitchFamily="18" charset="0"/>
                <a:cs typeface="Times New Roman" panose="02020603050405020304" pitchFamily="18" charset="0"/>
              </a:rPr>
              <a:t>cin</a:t>
            </a:r>
            <a:r>
              <a:rPr lang="en-US" sz="2400" dirty="0">
                <a:latin typeface="Times New Roman" panose="02020603050405020304" pitchFamily="18" charset="0"/>
                <a:cs typeface="Times New Roman" panose="02020603050405020304" pitchFamily="18" charset="0"/>
              </a:rPr>
              <a:t>&gt;&gt;name;</a:t>
            </a:r>
          </a:p>
          <a:p>
            <a:pPr marL="0" indent="0">
              <a:buNone/>
            </a:pPr>
            <a:r>
              <a:rPr lang="en-US" sz="2400" dirty="0" err="1">
                <a:latin typeface="Times New Roman" panose="02020603050405020304" pitchFamily="18" charset="0"/>
                <a:cs typeface="Times New Roman" panose="02020603050405020304" pitchFamily="18" charset="0"/>
              </a:rPr>
              <a:t>cout</a:t>
            </a:r>
            <a:r>
              <a:rPr lang="en-US" sz="2400" dirty="0">
                <a:latin typeface="Times New Roman" panose="02020603050405020304" pitchFamily="18" charset="0"/>
                <a:cs typeface="Times New Roman" panose="02020603050405020304" pitchFamily="18" charset="0"/>
              </a:rPr>
              <a:t>&lt;&lt;"Your name is  “&lt;&lt;name;</a:t>
            </a:r>
          </a:p>
          <a:p>
            <a:pPr marL="0" indent="0">
              <a:buNone/>
            </a:pPr>
            <a:r>
              <a:rPr lang="en-US" sz="2400" dirty="0">
                <a:latin typeface="Times New Roman" panose="02020603050405020304" pitchFamily="18" charset="0"/>
                <a:cs typeface="Times New Roman" panose="02020603050405020304" pitchFamily="18" charset="0"/>
              </a:rPr>
              <a:t>return 0;</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08103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0625" y="818147"/>
            <a:ext cx="9810750" cy="5824700"/>
          </a:xfrm>
        </p:spPr>
        <p:txBody>
          <a:bodyPr anchor="t"/>
          <a:lstStyle/>
          <a:p>
            <a:pPr marL="0" indent="0">
              <a:spcBef>
                <a:spcPts val="600"/>
              </a:spcBef>
              <a:buNone/>
            </a:pPr>
            <a:r>
              <a:rPr lang="en-US" sz="2400" dirty="0"/>
              <a:t>#include &lt;</a:t>
            </a:r>
            <a:r>
              <a:rPr lang="en-US" sz="2400" dirty="0" err="1"/>
              <a:t>iostream</a:t>
            </a:r>
            <a:r>
              <a:rPr lang="en-US" sz="2400" dirty="0"/>
              <a:t>&gt;</a:t>
            </a:r>
          </a:p>
          <a:p>
            <a:pPr marL="0" indent="0">
              <a:spcBef>
                <a:spcPts val="600"/>
              </a:spcBef>
              <a:buNone/>
            </a:pPr>
            <a:r>
              <a:rPr lang="en-US" sz="2400" dirty="0"/>
              <a:t>using namespace </a:t>
            </a:r>
            <a:r>
              <a:rPr lang="en-US" sz="2400" dirty="0" err="1"/>
              <a:t>std</a:t>
            </a:r>
            <a:r>
              <a:rPr lang="en-US" sz="2400" dirty="0"/>
              <a:t>;</a:t>
            </a:r>
          </a:p>
          <a:p>
            <a:pPr marL="0" indent="0">
              <a:spcBef>
                <a:spcPts val="600"/>
              </a:spcBef>
              <a:buNone/>
            </a:pPr>
            <a:r>
              <a:rPr lang="en-US" sz="2400" dirty="0" err="1"/>
              <a:t>int</a:t>
            </a:r>
            <a:r>
              <a:rPr lang="en-US" sz="2400" dirty="0"/>
              <a:t> main( )</a:t>
            </a:r>
          </a:p>
          <a:p>
            <a:pPr marL="0" indent="0">
              <a:spcBef>
                <a:spcPts val="600"/>
              </a:spcBef>
              <a:buNone/>
            </a:pPr>
            <a:r>
              <a:rPr lang="en-US" sz="2400" dirty="0"/>
              <a:t> {</a:t>
            </a:r>
          </a:p>
          <a:p>
            <a:pPr marL="0" indent="0">
              <a:spcBef>
                <a:spcPts val="600"/>
              </a:spcBef>
              <a:buNone/>
            </a:pPr>
            <a:r>
              <a:rPr lang="en-US" sz="2400" dirty="0"/>
              <a:t>char name[30];</a:t>
            </a:r>
          </a:p>
          <a:p>
            <a:pPr marL="0" indent="0">
              <a:spcBef>
                <a:spcPts val="600"/>
              </a:spcBef>
              <a:buNone/>
            </a:pPr>
            <a:r>
              <a:rPr lang="en-US" sz="2400" dirty="0" err="1"/>
              <a:t>cout</a:t>
            </a:r>
            <a:r>
              <a:rPr lang="en-US" sz="2400" dirty="0"/>
              <a:t>&lt;&lt;"Enter your full name: ";</a:t>
            </a:r>
          </a:p>
          <a:p>
            <a:pPr marL="0" indent="0">
              <a:spcBef>
                <a:spcPts val="600"/>
              </a:spcBef>
              <a:buNone/>
            </a:pPr>
            <a:r>
              <a:rPr lang="en-US" sz="2400" dirty="0"/>
              <a:t>gets(name); //Function to read string from user.</a:t>
            </a:r>
          </a:p>
          <a:p>
            <a:pPr marL="0" indent="0">
              <a:spcBef>
                <a:spcPts val="600"/>
              </a:spcBef>
              <a:buNone/>
            </a:pPr>
            <a:r>
              <a:rPr lang="en-US" sz="2400" dirty="0" err="1"/>
              <a:t>cout</a:t>
            </a:r>
            <a:r>
              <a:rPr lang="en-US" sz="2400" dirty="0"/>
              <a:t>&lt;&lt;"Your Full Name is: ";</a:t>
            </a:r>
          </a:p>
          <a:p>
            <a:pPr marL="0" indent="0">
              <a:spcBef>
                <a:spcPts val="600"/>
              </a:spcBef>
              <a:buNone/>
            </a:pPr>
            <a:r>
              <a:rPr lang="en-US" sz="2400" dirty="0"/>
              <a:t>puts(name); //Function to display string.</a:t>
            </a:r>
          </a:p>
          <a:p>
            <a:pPr marL="0" indent="0">
              <a:spcBef>
                <a:spcPts val="600"/>
              </a:spcBef>
              <a:buNone/>
            </a:pPr>
            <a:r>
              <a:rPr lang="en-US" sz="2400" dirty="0"/>
              <a:t>system("pause");</a:t>
            </a:r>
          </a:p>
          <a:p>
            <a:pPr marL="0" indent="0">
              <a:spcBef>
                <a:spcPts val="600"/>
              </a:spcBef>
              <a:buNone/>
            </a:pPr>
            <a:r>
              <a:rPr lang="en-US" sz="2400" dirty="0"/>
              <a:t>return 0;</a:t>
            </a:r>
          </a:p>
          <a:p>
            <a:pPr marL="0" indent="0">
              <a:spcBef>
                <a:spcPts val="600"/>
              </a:spcBef>
              <a:buNone/>
            </a:pPr>
            <a:r>
              <a:rPr lang="en-US" sz="2400" dirty="0"/>
              <a:t>}</a:t>
            </a:r>
          </a:p>
          <a:p>
            <a:pPr marL="0" indent="0">
              <a:spcBef>
                <a:spcPts val="600"/>
              </a:spcBef>
              <a:buNone/>
            </a:pPr>
            <a:endParaRPr lang="en-US" sz="2400" dirty="0"/>
          </a:p>
          <a:p>
            <a:pPr>
              <a:spcBef>
                <a:spcPts val="600"/>
              </a:spcBef>
            </a:pPr>
            <a:endParaRPr lang="en-US" sz="2400" dirty="0"/>
          </a:p>
        </p:txBody>
      </p:sp>
    </p:spTree>
    <p:extLst>
      <p:ext uri="{BB962C8B-B14F-4D97-AF65-F5344CB8AC3E}">
        <p14:creationId xmlns:p14="http://schemas.microsoft.com/office/powerpoint/2010/main" val="186783399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0" y="798286"/>
            <a:ext cx="11582400" cy="5791200"/>
          </a:xfrm>
        </p:spPr>
        <p:txBody>
          <a:bodyPr anchor="t">
            <a:noAutofit/>
          </a:bodyPr>
          <a:lstStyle/>
          <a:p>
            <a:pPr marL="0" indent="0">
              <a:buNone/>
            </a:pPr>
            <a:r>
              <a:rPr lang="en-US" sz="3200" dirty="0">
                <a:latin typeface="Times New Roman" panose="02020603050405020304" pitchFamily="18" charset="0"/>
                <a:cs typeface="Times New Roman" panose="02020603050405020304" pitchFamily="18" charset="0"/>
              </a:rPr>
              <a:t>The individual characters in a string can be manipulated either directly by the programmer or by using special functions provided by the C/C++ libraries. These can be included in a program through the use of the #include directive. </a:t>
            </a:r>
          </a:p>
          <a:p>
            <a:pPr marL="0" indent="0">
              <a:buNone/>
            </a:pPr>
            <a:r>
              <a:rPr lang="en-US" sz="3200" dirty="0">
                <a:latin typeface="Times New Roman" panose="02020603050405020304" pitchFamily="18" charset="0"/>
                <a:cs typeface="Times New Roman" panose="02020603050405020304" pitchFamily="18" charset="0"/>
              </a:rPr>
              <a:t>Of particular note are the following:</a:t>
            </a:r>
          </a:p>
          <a:p>
            <a:pPr marL="1023938" indent="-457200">
              <a:buFont typeface="Wingdings" panose="05000000000000000000" pitchFamily="2" charset="2"/>
              <a:buChar char="Ø"/>
            </a:pPr>
            <a:r>
              <a:rPr lang="en-US" sz="3200" dirty="0" err="1">
                <a:latin typeface="Times New Roman" panose="02020603050405020304" pitchFamily="18" charset="0"/>
                <a:cs typeface="Times New Roman" panose="02020603050405020304" pitchFamily="18" charset="0"/>
              </a:rPr>
              <a:t>cctype</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ctype.h</a:t>
            </a:r>
            <a:r>
              <a:rPr lang="en-US" sz="3200" dirty="0">
                <a:latin typeface="Times New Roman" panose="02020603050405020304" pitchFamily="18" charset="0"/>
                <a:cs typeface="Times New Roman" panose="02020603050405020304" pitchFamily="18" charset="0"/>
              </a:rPr>
              <a:t>) : character handling</a:t>
            </a:r>
          </a:p>
          <a:p>
            <a:pPr marL="1023938" indent="-457200">
              <a:buFont typeface="Wingdings" panose="05000000000000000000" pitchFamily="2" charset="2"/>
              <a:buChar char="Ø"/>
            </a:pPr>
            <a:r>
              <a:rPr lang="en-US" sz="3200" dirty="0" err="1">
                <a:latin typeface="Times New Roman" panose="02020603050405020304" pitchFamily="18" charset="0"/>
                <a:cs typeface="Times New Roman" panose="02020603050405020304" pitchFamily="18" charset="0"/>
              </a:rPr>
              <a:t>cstdio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stdio.h</a:t>
            </a:r>
            <a:r>
              <a:rPr lang="en-US" sz="3200" dirty="0">
                <a:latin typeface="Times New Roman" panose="02020603050405020304" pitchFamily="18" charset="0"/>
                <a:cs typeface="Times New Roman" panose="02020603050405020304" pitchFamily="18" charset="0"/>
              </a:rPr>
              <a:t>)   : input/output operations</a:t>
            </a:r>
          </a:p>
          <a:p>
            <a:pPr marL="1023938" indent="-457200">
              <a:buFont typeface="Wingdings" panose="05000000000000000000" pitchFamily="2" charset="2"/>
              <a:buChar char="Ø"/>
            </a:pPr>
            <a:r>
              <a:rPr lang="en-US" sz="3200" dirty="0" err="1">
                <a:latin typeface="Times New Roman" panose="02020603050405020304" pitchFamily="18" charset="0"/>
                <a:cs typeface="Times New Roman" panose="02020603050405020304" pitchFamily="18" charset="0"/>
              </a:rPr>
              <a:t>cstdlib</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stdlib.h</a:t>
            </a:r>
            <a:r>
              <a:rPr lang="en-US" sz="3200" dirty="0">
                <a:latin typeface="Times New Roman" panose="02020603050405020304" pitchFamily="18" charset="0"/>
                <a:cs typeface="Times New Roman" panose="02020603050405020304" pitchFamily="18" charset="0"/>
              </a:rPr>
              <a:t>) : general utilities</a:t>
            </a:r>
          </a:p>
          <a:p>
            <a:pPr marL="1023938" indent="-457200">
              <a:buFont typeface="Wingdings" panose="05000000000000000000" pitchFamily="2" charset="2"/>
              <a:buChar char="Ø"/>
            </a:pPr>
            <a:r>
              <a:rPr lang="en-US" sz="3200" dirty="0" err="1">
                <a:latin typeface="Times New Roman" panose="02020603050405020304" pitchFamily="18" charset="0"/>
                <a:cs typeface="Times New Roman" panose="02020603050405020304" pitchFamily="18" charset="0"/>
              </a:rPr>
              <a:t>cstring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string.h</a:t>
            </a:r>
            <a:r>
              <a:rPr lang="en-US" sz="3200" dirty="0">
                <a:latin typeface="Times New Roman" panose="02020603050405020304" pitchFamily="18" charset="0"/>
                <a:cs typeface="Times New Roman" panose="02020603050405020304" pitchFamily="18" charset="0"/>
              </a:rPr>
              <a:t>) : string manipulation</a:t>
            </a:r>
          </a:p>
        </p:txBody>
      </p:sp>
    </p:spTree>
    <p:extLst>
      <p:ext uri="{BB962C8B-B14F-4D97-AF65-F5344CB8AC3E}">
        <p14:creationId xmlns:p14="http://schemas.microsoft.com/office/powerpoint/2010/main" val="306835430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4457" y="812800"/>
            <a:ext cx="11495314" cy="5791199"/>
          </a:xfrm>
        </p:spPr>
        <p:txBody>
          <a:bodyPr numCol="2" anchor="t">
            <a:normAutofit/>
          </a:bodyPr>
          <a:lstStyle/>
          <a:p>
            <a:pPr marL="0" indent="0">
              <a:buNone/>
            </a:pPr>
            <a:r>
              <a:rPr lang="en-US" dirty="0">
                <a:latin typeface="Times New Roman" panose="02020603050405020304" pitchFamily="18" charset="0"/>
                <a:cs typeface="Times New Roman" panose="02020603050405020304" pitchFamily="18" charset="0"/>
              </a:rPr>
              <a:t>Here is an example to illustrate the cstring library:</a:t>
            </a:r>
          </a:p>
          <a:p>
            <a:pPr marL="0" indent="0">
              <a:buNone/>
            </a:pPr>
            <a:r>
              <a:rPr lang="en-US" dirty="0">
                <a:latin typeface="Times New Roman" panose="02020603050405020304" pitchFamily="18" charset="0"/>
                <a:cs typeface="Times New Roman" panose="02020603050405020304" pitchFamily="18" charset="0"/>
              </a:rPr>
              <a:t>    </a:t>
            </a:r>
            <a:r>
              <a:rPr lang="en-US" sz="2800" i="1" dirty="0">
                <a:solidFill>
                  <a:srgbClr val="7030A0"/>
                </a:solidFill>
                <a:latin typeface="Times New Roman" panose="02020603050405020304" pitchFamily="18" charset="0"/>
                <a:cs typeface="Times New Roman" panose="02020603050405020304" pitchFamily="18" charset="0"/>
              </a:rPr>
              <a:t>#include &lt;iostream&gt;</a:t>
            </a:r>
          </a:p>
          <a:p>
            <a:pPr marL="0" indent="0">
              <a:buNone/>
            </a:pPr>
            <a:r>
              <a:rPr lang="en-US" sz="2800" i="1" dirty="0">
                <a:solidFill>
                  <a:srgbClr val="7030A0"/>
                </a:solidFill>
                <a:latin typeface="Times New Roman" panose="02020603050405020304" pitchFamily="18" charset="0"/>
                <a:cs typeface="Times New Roman" panose="02020603050405020304" pitchFamily="18" charset="0"/>
              </a:rPr>
              <a:t>    #include &lt;</a:t>
            </a:r>
            <a:r>
              <a:rPr lang="en-US" sz="2800" i="1" dirty="0" err="1">
                <a:solidFill>
                  <a:srgbClr val="7030A0"/>
                </a:solidFill>
                <a:latin typeface="Times New Roman" panose="02020603050405020304" pitchFamily="18" charset="0"/>
                <a:cs typeface="Times New Roman" panose="02020603050405020304" pitchFamily="18" charset="0"/>
              </a:rPr>
              <a:t>string.h</a:t>
            </a:r>
            <a:r>
              <a:rPr lang="en-US" sz="2800" i="1" dirty="0">
                <a:solidFill>
                  <a:srgbClr val="7030A0"/>
                </a:solidFill>
                <a:latin typeface="Times New Roman" panose="02020603050405020304" pitchFamily="18" charset="0"/>
                <a:cs typeface="Times New Roman" panose="02020603050405020304" pitchFamily="18" charset="0"/>
              </a:rPr>
              <a:t>&gt;</a:t>
            </a:r>
          </a:p>
          <a:p>
            <a:pPr marL="0" indent="0">
              <a:buNone/>
            </a:pPr>
            <a:r>
              <a:rPr lang="en-US" sz="2800" i="1" dirty="0">
                <a:solidFill>
                  <a:srgbClr val="7030A0"/>
                </a:solidFill>
                <a:latin typeface="Times New Roman" panose="02020603050405020304" pitchFamily="18" charset="0"/>
                <a:cs typeface="Times New Roman" panose="02020603050405020304" pitchFamily="18" charset="0"/>
              </a:rPr>
              <a:t>    using namespace std;</a:t>
            </a:r>
          </a:p>
          <a:p>
            <a:pPr marL="0" indent="0">
              <a:buNone/>
            </a:pPr>
            <a:r>
              <a:rPr lang="en-US" sz="2800" i="1" dirty="0">
                <a:solidFill>
                  <a:srgbClr val="7030A0"/>
                </a:solidFill>
                <a:latin typeface="Times New Roman" panose="02020603050405020304" pitchFamily="18" charset="0"/>
                <a:cs typeface="Times New Roman" panose="02020603050405020304" pitchFamily="18" charset="0"/>
              </a:rPr>
              <a:t>     int main() </a:t>
            </a:r>
          </a:p>
          <a:p>
            <a:pPr marL="0" indent="0">
              <a:buNone/>
            </a:pPr>
            <a:r>
              <a:rPr lang="en-US" sz="2800" i="1" dirty="0">
                <a:solidFill>
                  <a:srgbClr val="7030A0"/>
                </a:solidFill>
                <a:latin typeface="Times New Roman" panose="02020603050405020304" pitchFamily="18" charset="0"/>
                <a:cs typeface="Times New Roman" panose="02020603050405020304" pitchFamily="18" charset="0"/>
              </a:rPr>
              <a:t>    {</a:t>
            </a:r>
          </a:p>
          <a:p>
            <a:pPr marL="0" indent="0">
              <a:buNone/>
            </a:pPr>
            <a:r>
              <a:rPr lang="en-US" sz="2800" i="1" dirty="0">
                <a:solidFill>
                  <a:srgbClr val="7030A0"/>
                </a:solidFill>
                <a:latin typeface="Times New Roman" panose="02020603050405020304" pitchFamily="18" charset="0"/>
                <a:cs typeface="Times New Roman" panose="02020603050405020304" pitchFamily="18" charset="0"/>
              </a:rPr>
              <a:t>   char fragment1[] = "I'm a s";</a:t>
            </a:r>
          </a:p>
          <a:p>
            <a:pPr marL="0" indent="0">
              <a:buNone/>
            </a:pPr>
            <a:r>
              <a:rPr lang="en-US" sz="2800" i="1" dirty="0">
                <a:solidFill>
                  <a:srgbClr val="7030A0"/>
                </a:solidFill>
                <a:latin typeface="Times New Roman" panose="02020603050405020304" pitchFamily="18" charset="0"/>
                <a:cs typeface="Times New Roman" panose="02020603050405020304" pitchFamily="18" charset="0"/>
              </a:rPr>
              <a:t>   char fragment2[] = "tring!";</a:t>
            </a:r>
          </a:p>
          <a:p>
            <a:pPr marL="0" indent="0">
              <a:buNone/>
            </a:pPr>
            <a:r>
              <a:rPr lang="en-US" sz="2800" i="1" dirty="0">
                <a:solidFill>
                  <a:srgbClr val="7030A0"/>
                </a:solidFill>
                <a:latin typeface="Times New Roman" panose="02020603050405020304" pitchFamily="18" charset="0"/>
                <a:cs typeface="Times New Roman" panose="02020603050405020304" pitchFamily="18" charset="0"/>
              </a:rPr>
              <a:t>    char fragment3[20];</a:t>
            </a:r>
          </a:p>
          <a:p>
            <a:pPr marL="0" indent="0">
              <a:buNone/>
            </a:pPr>
            <a:r>
              <a:rPr lang="en-US" dirty="0">
                <a:solidFill>
                  <a:srgbClr val="7030A0"/>
                </a:solidFill>
                <a:latin typeface="Times New Roman" panose="02020603050405020304" pitchFamily="18" charset="0"/>
                <a:cs typeface="Times New Roman" panose="02020603050405020304" pitchFamily="18" charset="0"/>
              </a:rPr>
              <a:t>    char finalString[20] = "";</a:t>
            </a:r>
          </a:p>
          <a:p>
            <a:pPr marL="0" indent="0">
              <a:buNone/>
            </a:pPr>
            <a:r>
              <a:rPr lang="en-US" sz="2800" i="1" dirty="0">
                <a:solidFill>
                  <a:srgbClr val="7030A0"/>
                </a:solidFill>
                <a:latin typeface="Times New Roman" panose="02020603050405020304" pitchFamily="18" charset="0"/>
                <a:cs typeface="Times New Roman" panose="02020603050405020304" pitchFamily="18" charset="0"/>
              </a:rPr>
              <a:t>    </a:t>
            </a:r>
            <a:r>
              <a:rPr lang="en-US" sz="2800" i="1" dirty="0" err="1">
                <a:solidFill>
                  <a:srgbClr val="7030A0"/>
                </a:solidFill>
                <a:latin typeface="Times New Roman" panose="02020603050405020304" pitchFamily="18" charset="0"/>
                <a:cs typeface="Times New Roman" panose="02020603050405020304" pitchFamily="18" charset="0"/>
              </a:rPr>
              <a:t>strcpy</a:t>
            </a:r>
            <a:r>
              <a:rPr lang="en-US" sz="2800" i="1" dirty="0">
                <a:solidFill>
                  <a:srgbClr val="7030A0"/>
                </a:solidFill>
                <a:latin typeface="Times New Roman" panose="02020603050405020304" pitchFamily="18" charset="0"/>
                <a:cs typeface="Times New Roman" panose="02020603050405020304" pitchFamily="18" charset="0"/>
              </a:rPr>
              <a:t>(fragment3, fragment1);</a:t>
            </a:r>
          </a:p>
          <a:p>
            <a:pPr marL="0" indent="0">
              <a:buNone/>
            </a:pPr>
            <a:r>
              <a:rPr lang="en-US" sz="2800" i="1" dirty="0">
                <a:solidFill>
                  <a:srgbClr val="7030A0"/>
                </a:solidFill>
                <a:latin typeface="Times New Roman" panose="02020603050405020304" pitchFamily="18" charset="0"/>
                <a:cs typeface="Times New Roman" panose="02020603050405020304" pitchFamily="18" charset="0"/>
              </a:rPr>
              <a:t>    </a:t>
            </a:r>
            <a:r>
              <a:rPr lang="en-US" sz="2800" i="1" dirty="0" err="1">
                <a:solidFill>
                  <a:srgbClr val="7030A0"/>
                </a:solidFill>
                <a:latin typeface="Times New Roman" panose="02020603050405020304" pitchFamily="18" charset="0"/>
                <a:cs typeface="Times New Roman" panose="02020603050405020304" pitchFamily="18" charset="0"/>
              </a:rPr>
              <a:t>strcat</a:t>
            </a:r>
            <a:r>
              <a:rPr lang="en-US" sz="2800" i="1" dirty="0">
                <a:solidFill>
                  <a:srgbClr val="7030A0"/>
                </a:solidFill>
                <a:latin typeface="Times New Roman" panose="02020603050405020304" pitchFamily="18" charset="0"/>
                <a:cs typeface="Times New Roman" panose="02020603050405020304" pitchFamily="18" charset="0"/>
              </a:rPr>
              <a:t>(</a:t>
            </a:r>
            <a:r>
              <a:rPr lang="en-US" sz="2800" i="1" dirty="0" err="1">
                <a:solidFill>
                  <a:srgbClr val="7030A0"/>
                </a:solidFill>
                <a:latin typeface="Times New Roman" panose="02020603050405020304" pitchFamily="18" charset="0"/>
                <a:cs typeface="Times New Roman" panose="02020603050405020304" pitchFamily="18" charset="0"/>
              </a:rPr>
              <a:t>finalString</a:t>
            </a:r>
            <a:r>
              <a:rPr lang="en-US" sz="2800" i="1" dirty="0">
                <a:solidFill>
                  <a:srgbClr val="7030A0"/>
                </a:solidFill>
                <a:latin typeface="Times New Roman" panose="02020603050405020304" pitchFamily="18" charset="0"/>
                <a:cs typeface="Times New Roman" panose="02020603050405020304" pitchFamily="18" charset="0"/>
              </a:rPr>
              <a:t>, fragment3);</a:t>
            </a:r>
          </a:p>
          <a:p>
            <a:pPr marL="0" indent="0">
              <a:buNone/>
            </a:pPr>
            <a:r>
              <a:rPr lang="en-US" sz="2800" i="1" dirty="0">
                <a:solidFill>
                  <a:srgbClr val="7030A0"/>
                </a:solidFill>
                <a:latin typeface="Times New Roman" panose="02020603050405020304" pitchFamily="18" charset="0"/>
                <a:cs typeface="Times New Roman" panose="02020603050405020304" pitchFamily="18" charset="0"/>
              </a:rPr>
              <a:t>    </a:t>
            </a:r>
            <a:r>
              <a:rPr lang="en-US" sz="2800" i="1" dirty="0" err="1">
                <a:solidFill>
                  <a:srgbClr val="7030A0"/>
                </a:solidFill>
                <a:latin typeface="Times New Roman" panose="02020603050405020304" pitchFamily="18" charset="0"/>
                <a:cs typeface="Times New Roman" panose="02020603050405020304" pitchFamily="18" charset="0"/>
              </a:rPr>
              <a:t>strcat</a:t>
            </a:r>
            <a:r>
              <a:rPr lang="en-US" sz="2800" i="1" dirty="0">
                <a:solidFill>
                  <a:srgbClr val="7030A0"/>
                </a:solidFill>
                <a:latin typeface="Times New Roman" panose="02020603050405020304" pitchFamily="18" charset="0"/>
                <a:cs typeface="Times New Roman" panose="02020603050405020304" pitchFamily="18" charset="0"/>
              </a:rPr>
              <a:t>(</a:t>
            </a:r>
            <a:r>
              <a:rPr lang="en-US" sz="2800" i="1" dirty="0" err="1">
                <a:solidFill>
                  <a:srgbClr val="7030A0"/>
                </a:solidFill>
                <a:latin typeface="Times New Roman" panose="02020603050405020304" pitchFamily="18" charset="0"/>
                <a:cs typeface="Times New Roman" panose="02020603050405020304" pitchFamily="18" charset="0"/>
              </a:rPr>
              <a:t>finalString</a:t>
            </a:r>
            <a:r>
              <a:rPr lang="en-US" sz="2800" i="1" dirty="0">
                <a:solidFill>
                  <a:srgbClr val="7030A0"/>
                </a:solidFill>
                <a:latin typeface="Times New Roman" panose="02020603050405020304" pitchFamily="18" charset="0"/>
                <a:cs typeface="Times New Roman" panose="02020603050405020304" pitchFamily="18" charset="0"/>
              </a:rPr>
              <a:t>, fragment2);</a:t>
            </a:r>
          </a:p>
          <a:p>
            <a:pPr marL="0" indent="0">
              <a:buNone/>
            </a:pPr>
            <a:r>
              <a:rPr lang="en-US" i="1" dirty="0">
                <a:solidFill>
                  <a:srgbClr val="7030A0"/>
                </a:solidFill>
                <a:latin typeface="Times New Roman" panose="02020603050405020304" pitchFamily="18" charset="0"/>
                <a:cs typeface="Times New Roman" panose="02020603050405020304" pitchFamily="18" charset="0"/>
              </a:rPr>
              <a:t>   </a:t>
            </a:r>
            <a:r>
              <a:rPr lang="en-US" i="1" dirty="0" err="1">
                <a:solidFill>
                  <a:srgbClr val="7030A0"/>
                </a:solidFill>
                <a:latin typeface="Times New Roman" panose="02020603050405020304" pitchFamily="18" charset="0"/>
                <a:cs typeface="Times New Roman" panose="02020603050405020304" pitchFamily="18" charset="0"/>
              </a:rPr>
              <a:t>cout</a:t>
            </a:r>
            <a:r>
              <a:rPr lang="en-US" i="1" dirty="0">
                <a:solidFill>
                  <a:srgbClr val="7030A0"/>
                </a:solidFill>
                <a:latin typeface="Times New Roman" panose="02020603050405020304" pitchFamily="18" charset="0"/>
                <a:cs typeface="Times New Roman" panose="02020603050405020304" pitchFamily="18" charset="0"/>
              </a:rPr>
              <a:t> &lt;&lt; finalString;</a:t>
            </a:r>
          </a:p>
          <a:p>
            <a:pPr marL="0" indent="0">
              <a:buNone/>
            </a:pPr>
            <a:r>
              <a:rPr lang="en-US" i="1" dirty="0">
                <a:solidFill>
                  <a:srgbClr val="7030A0"/>
                </a:solidFill>
                <a:latin typeface="Times New Roman" panose="02020603050405020304" pitchFamily="18" charset="0"/>
                <a:cs typeface="Times New Roman" panose="02020603050405020304" pitchFamily="18" charset="0"/>
              </a:rPr>
              <a:t>   return 0;</a:t>
            </a:r>
          </a:p>
          <a:p>
            <a:pPr marL="0" indent="0">
              <a:buNone/>
            </a:pPr>
            <a:r>
              <a:rPr lang="en-US" i="1" dirty="0">
                <a:solidFill>
                  <a:srgbClr val="7030A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84752401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strlen</a:t>
            </a:r>
            <a:r>
              <a:rPr lang="en-US" b="1" dirty="0"/>
              <a:t>()</a:t>
            </a:r>
            <a:endParaRPr lang="en-US" dirty="0"/>
          </a:p>
        </p:txBody>
      </p:sp>
      <p:sp>
        <p:nvSpPr>
          <p:cNvPr id="3" name="Content Placeholder 2"/>
          <p:cNvSpPr>
            <a:spLocks noGrp="1"/>
          </p:cNvSpPr>
          <p:nvPr>
            <p:ph idx="1"/>
          </p:nvPr>
        </p:nvSpPr>
        <p:spPr/>
        <p:txBody>
          <a:bodyPr anchor="t"/>
          <a:lstStyle/>
          <a:p>
            <a:pPr marL="116082" indent="0">
              <a:buNone/>
            </a:pPr>
            <a:r>
              <a:rPr lang="en-US" b="1" dirty="0"/>
              <a:t>Syntax:</a:t>
            </a:r>
          </a:p>
          <a:p>
            <a:pPr marL="0" indent="0">
              <a:buNone/>
            </a:pPr>
            <a:r>
              <a:rPr lang="en-US" dirty="0" err="1"/>
              <a:t>temp_variable</a:t>
            </a:r>
            <a:r>
              <a:rPr lang="en-US" dirty="0"/>
              <a:t> = </a:t>
            </a:r>
            <a:r>
              <a:rPr lang="en-US" dirty="0" err="1"/>
              <a:t>strlen</a:t>
            </a:r>
            <a:r>
              <a:rPr lang="en-US" dirty="0"/>
              <a:t>(</a:t>
            </a:r>
            <a:r>
              <a:rPr lang="en-US" dirty="0" err="1"/>
              <a:t>string_name</a:t>
            </a:r>
            <a:r>
              <a:rPr lang="en-US" dirty="0"/>
              <a:t>);</a:t>
            </a:r>
          </a:p>
          <a:p>
            <a:pPr marL="0" indent="0">
              <a:buNone/>
            </a:pPr>
            <a:r>
              <a:rPr lang="en-US" dirty="0"/>
              <a:t>Function </a:t>
            </a:r>
            <a:r>
              <a:rPr lang="en-US" dirty="0" err="1"/>
              <a:t>strlen</a:t>
            </a:r>
            <a:r>
              <a:rPr lang="en-US" dirty="0"/>
              <a:t>() returns the value of type integer.</a:t>
            </a:r>
          </a:p>
          <a:p>
            <a:pPr marL="116082" indent="0">
              <a:buNone/>
            </a:pPr>
            <a:endParaRPr lang="en-US" b="1" dirty="0"/>
          </a:p>
          <a:p>
            <a:pPr marL="116082" indent="0">
              <a:buNone/>
            </a:pPr>
            <a:endParaRPr lang="en-US" dirty="0"/>
          </a:p>
        </p:txBody>
      </p:sp>
    </p:spTree>
    <p:extLst>
      <p:ext uri="{BB962C8B-B14F-4D97-AF65-F5344CB8AC3E}">
        <p14:creationId xmlns:p14="http://schemas.microsoft.com/office/powerpoint/2010/main" val="61144699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2400" y="820271"/>
            <a:ext cx="10160000" cy="5836023"/>
          </a:xfrm>
        </p:spPr>
        <p:txBody>
          <a:bodyPr anchor="t"/>
          <a:lstStyle/>
          <a:p>
            <a:pPr marL="0" indent="0">
              <a:spcBef>
                <a:spcPts val="0"/>
              </a:spcBef>
              <a:buNone/>
            </a:pPr>
            <a:r>
              <a:rPr lang="en-US" sz="2400" dirty="0"/>
              <a:t>#include&lt;</a:t>
            </a:r>
            <a:r>
              <a:rPr lang="en-US" sz="2400" dirty="0" err="1"/>
              <a:t>iostream</a:t>
            </a:r>
            <a:r>
              <a:rPr lang="en-US" sz="2400" dirty="0"/>
              <a:t>&gt;</a:t>
            </a:r>
          </a:p>
          <a:p>
            <a:pPr marL="0" indent="0">
              <a:spcBef>
                <a:spcPts val="0"/>
              </a:spcBef>
              <a:buNone/>
            </a:pPr>
            <a:r>
              <a:rPr lang="en-US" sz="2400" dirty="0"/>
              <a:t>#include&lt;string&gt;</a:t>
            </a:r>
          </a:p>
          <a:p>
            <a:pPr marL="0" indent="0">
              <a:spcBef>
                <a:spcPts val="0"/>
              </a:spcBef>
              <a:buNone/>
            </a:pPr>
            <a:r>
              <a:rPr lang="en-US" sz="2400" dirty="0"/>
              <a:t>using namespace </a:t>
            </a:r>
            <a:r>
              <a:rPr lang="en-US" sz="2400" dirty="0" err="1"/>
              <a:t>std</a:t>
            </a:r>
            <a:r>
              <a:rPr lang="en-US" sz="2400" dirty="0"/>
              <a:t>;</a:t>
            </a:r>
          </a:p>
          <a:p>
            <a:pPr marL="0" indent="0">
              <a:spcBef>
                <a:spcPts val="0"/>
              </a:spcBef>
              <a:buNone/>
            </a:pPr>
            <a:r>
              <a:rPr lang="en-US" sz="2400" dirty="0" err="1"/>
              <a:t>int</a:t>
            </a:r>
            <a:r>
              <a:rPr lang="en-US" sz="2400" dirty="0"/>
              <a:t> main()</a:t>
            </a:r>
          </a:p>
          <a:p>
            <a:pPr marL="0" indent="0">
              <a:spcBef>
                <a:spcPts val="0"/>
              </a:spcBef>
              <a:buNone/>
            </a:pPr>
            <a:r>
              <a:rPr lang="en-US" sz="2400" dirty="0"/>
              <a:t>{</a:t>
            </a:r>
          </a:p>
          <a:p>
            <a:pPr marL="0" indent="0">
              <a:spcBef>
                <a:spcPts val="0"/>
              </a:spcBef>
              <a:buNone/>
            </a:pPr>
            <a:r>
              <a:rPr lang="en-US" sz="2400" dirty="0"/>
              <a:t>char name[50];</a:t>
            </a:r>
          </a:p>
          <a:p>
            <a:pPr marL="0" indent="0">
              <a:spcBef>
                <a:spcPts val="0"/>
              </a:spcBef>
              <a:buNone/>
            </a:pPr>
            <a:r>
              <a:rPr lang="en-US" sz="2400" dirty="0" err="1"/>
              <a:t>int</a:t>
            </a:r>
            <a:r>
              <a:rPr lang="en-US" sz="2400" dirty="0"/>
              <a:t> </a:t>
            </a:r>
            <a:r>
              <a:rPr lang="en-US" sz="2400" dirty="0" err="1"/>
              <a:t>len</a:t>
            </a:r>
            <a:r>
              <a:rPr lang="en-US" sz="2400" dirty="0"/>
              <a:t>;</a:t>
            </a:r>
          </a:p>
          <a:p>
            <a:pPr marL="0" indent="0">
              <a:spcBef>
                <a:spcPts val="0"/>
              </a:spcBef>
              <a:buNone/>
            </a:pPr>
            <a:r>
              <a:rPr lang="en-US" sz="2400" dirty="0" err="1"/>
              <a:t>cout</a:t>
            </a:r>
            <a:r>
              <a:rPr lang="en-US" sz="2400" dirty="0"/>
              <a:t>&lt;&lt;"Enter your String not more than 50 character::";</a:t>
            </a:r>
          </a:p>
          <a:p>
            <a:pPr marL="0" indent="0">
              <a:spcBef>
                <a:spcPts val="0"/>
              </a:spcBef>
              <a:buNone/>
            </a:pPr>
            <a:r>
              <a:rPr lang="en-US" sz="2400" dirty="0"/>
              <a:t>gets(name);</a:t>
            </a:r>
          </a:p>
          <a:p>
            <a:pPr marL="0" indent="0">
              <a:spcBef>
                <a:spcPts val="0"/>
              </a:spcBef>
              <a:buNone/>
            </a:pPr>
            <a:r>
              <a:rPr lang="en-US" sz="2400" dirty="0" err="1"/>
              <a:t>len</a:t>
            </a:r>
            <a:r>
              <a:rPr lang="en-US" sz="2400" dirty="0"/>
              <a:t>=</a:t>
            </a:r>
            <a:r>
              <a:rPr lang="en-US" sz="2400" dirty="0" err="1"/>
              <a:t>strlen</a:t>
            </a:r>
            <a:r>
              <a:rPr lang="en-US" sz="2400" dirty="0"/>
              <a:t>(name);</a:t>
            </a:r>
          </a:p>
          <a:p>
            <a:pPr marL="0" indent="0">
              <a:spcBef>
                <a:spcPts val="0"/>
              </a:spcBef>
              <a:buNone/>
            </a:pPr>
            <a:r>
              <a:rPr lang="en-US" sz="2400" dirty="0" err="1"/>
              <a:t>cout</a:t>
            </a:r>
            <a:r>
              <a:rPr lang="en-US" sz="2400" dirty="0"/>
              <a:t>&lt;&lt;"The Length of String is "&lt;&lt;</a:t>
            </a:r>
            <a:r>
              <a:rPr lang="en-US" sz="2400" dirty="0" err="1"/>
              <a:t>len</a:t>
            </a:r>
            <a:r>
              <a:rPr lang="en-US" sz="2400" dirty="0"/>
              <a:t>&lt;&lt;</a:t>
            </a:r>
            <a:r>
              <a:rPr lang="en-US" sz="2400" dirty="0" err="1"/>
              <a:t>endl</a:t>
            </a:r>
            <a:r>
              <a:rPr lang="en-US" sz="2400" dirty="0"/>
              <a:t>;</a:t>
            </a:r>
          </a:p>
          <a:p>
            <a:pPr marL="0" indent="0">
              <a:spcBef>
                <a:spcPts val="0"/>
              </a:spcBef>
              <a:buNone/>
            </a:pPr>
            <a:r>
              <a:rPr lang="en-US" sz="2400" dirty="0"/>
              <a:t>return 0;</a:t>
            </a:r>
          </a:p>
          <a:p>
            <a:pPr marL="0" indent="0">
              <a:spcBef>
                <a:spcPts val="0"/>
              </a:spcBef>
              <a:buNone/>
            </a:pPr>
            <a:r>
              <a:rPr lang="en-US" sz="2400" dirty="0"/>
              <a:t>}</a:t>
            </a:r>
          </a:p>
        </p:txBody>
      </p:sp>
    </p:spTree>
    <p:extLst>
      <p:ext uri="{BB962C8B-B14F-4D97-AF65-F5344CB8AC3E}">
        <p14:creationId xmlns:p14="http://schemas.microsoft.com/office/powerpoint/2010/main" val="2954489000"/>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7895" y="833718"/>
            <a:ext cx="10160000" cy="5768788"/>
          </a:xfrm>
        </p:spPr>
        <p:txBody>
          <a:bodyPr anchor="t"/>
          <a:lstStyle/>
          <a:p>
            <a:pPr marL="0" indent="0">
              <a:spcBef>
                <a:spcPts val="600"/>
              </a:spcBef>
              <a:buNone/>
            </a:pPr>
            <a:r>
              <a:rPr lang="en-US" sz="2700" dirty="0"/>
              <a:t>#include&lt;</a:t>
            </a:r>
            <a:r>
              <a:rPr lang="en-US" sz="2700" dirty="0" err="1"/>
              <a:t>iostream</a:t>
            </a:r>
            <a:r>
              <a:rPr lang="en-US" sz="2700" dirty="0"/>
              <a:t>&gt;</a:t>
            </a:r>
          </a:p>
          <a:p>
            <a:pPr marL="0" indent="0">
              <a:spcBef>
                <a:spcPts val="600"/>
              </a:spcBef>
              <a:buNone/>
            </a:pPr>
            <a:r>
              <a:rPr lang="en-US" sz="2700" dirty="0"/>
              <a:t>#include &lt;</a:t>
            </a:r>
            <a:r>
              <a:rPr lang="en-US" sz="2700" dirty="0" err="1"/>
              <a:t>string.h</a:t>
            </a:r>
            <a:r>
              <a:rPr lang="en-US" sz="2700" dirty="0"/>
              <a:t>&gt;</a:t>
            </a:r>
          </a:p>
          <a:p>
            <a:pPr marL="0" indent="0">
              <a:spcBef>
                <a:spcPts val="600"/>
              </a:spcBef>
              <a:buNone/>
            </a:pPr>
            <a:r>
              <a:rPr lang="en-US" sz="2700" dirty="0"/>
              <a:t>#include &lt;</a:t>
            </a:r>
            <a:r>
              <a:rPr lang="en-US" sz="2700" dirty="0" err="1"/>
              <a:t>conio.h</a:t>
            </a:r>
            <a:r>
              <a:rPr lang="en-US" sz="2700" dirty="0"/>
              <a:t>&gt;</a:t>
            </a:r>
          </a:p>
          <a:p>
            <a:pPr marL="0" indent="0">
              <a:spcBef>
                <a:spcPts val="600"/>
              </a:spcBef>
              <a:buNone/>
            </a:pPr>
            <a:r>
              <a:rPr lang="en-US" sz="2700" dirty="0"/>
              <a:t>using namespace </a:t>
            </a:r>
            <a:r>
              <a:rPr lang="en-US" sz="2700" dirty="0" err="1"/>
              <a:t>std</a:t>
            </a:r>
            <a:r>
              <a:rPr lang="en-US" sz="2700" dirty="0"/>
              <a:t>;</a:t>
            </a:r>
          </a:p>
          <a:p>
            <a:pPr marL="0" indent="0">
              <a:spcBef>
                <a:spcPts val="600"/>
              </a:spcBef>
              <a:buNone/>
            </a:pPr>
            <a:r>
              <a:rPr lang="en-US" sz="2700" dirty="0" err="1"/>
              <a:t>int</a:t>
            </a:r>
            <a:r>
              <a:rPr lang="en-US" sz="2700" dirty="0"/>
              <a:t> main()</a:t>
            </a:r>
          </a:p>
          <a:p>
            <a:pPr marL="0" indent="0">
              <a:spcBef>
                <a:spcPts val="600"/>
              </a:spcBef>
              <a:buNone/>
            </a:pPr>
            <a:r>
              <a:rPr lang="en-US" sz="2700" dirty="0"/>
              <a:t>{</a:t>
            </a:r>
          </a:p>
          <a:p>
            <a:pPr marL="0" indent="0">
              <a:spcBef>
                <a:spcPts val="600"/>
              </a:spcBef>
              <a:buNone/>
            </a:pPr>
            <a:r>
              <a:rPr lang="en-US" sz="2700" dirty="0"/>
              <a:t>char name[30]= "hello </a:t>
            </a:r>
            <a:r>
              <a:rPr lang="en-US" sz="2700" dirty="0" err="1"/>
              <a:t>whatssup</a:t>
            </a:r>
            <a:r>
              <a:rPr lang="en-US" sz="2700" dirty="0"/>
              <a:t>";</a:t>
            </a:r>
          </a:p>
          <a:p>
            <a:pPr marL="0" indent="0">
              <a:spcBef>
                <a:spcPts val="600"/>
              </a:spcBef>
              <a:buNone/>
            </a:pPr>
            <a:r>
              <a:rPr lang="en-US" sz="2700" dirty="0" err="1"/>
              <a:t>cout</a:t>
            </a:r>
            <a:r>
              <a:rPr lang="en-US" sz="2700" dirty="0"/>
              <a:t>&lt;&lt;"\</a:t>
            </a:r>
            <a:r>
              <a:rPr lang="en-US" sz="2700" dirty="0" err="1"/>
              <a:t>nString</a:t>
            </a:r>
            <a:r>
              <a:rPr lang="en-US" sz="2700" dirty="0"/>
              <a:t> is "&lt;&lt;name;</a:t>
            </a:r>
          </a:p>
          <a:p>
            <a:pPr marL="0" indent="0">
              <a:spcBef>
                <a:spcPts val="600"/>
              </a:spcBef>
              <a:buNone/>
            </a:pPr>
            <a:r>
              <a:rPr lang="en-US" sz="2700" dirty="0" err="1"/>
              <a:t>cout</a:t>
            </a:r>
            <a:r>
              <a:rPr lang="en-US" sz="2700" dirty="0"/>
              <a:t>&lt;&lt;"The length of string is  "&lt;&lt;</a:t>
            </a:r>
            <a:r>
              <a:rPr lang="en-US" sz="2700" dirty="0" err="1"/>
              <a:t>strlen</a:t>
            </a:r>
            <a:r>
              <a:rPr lang="en-US" sz="2700" dirty="0"/>
              <a:t>(name);</a:t>
            </a:r>
          </a:p>
          <a:p>
            <a:pPr marL="0" indent="0">
              <a:spcBef>
                <a:spcPts val="600"/>
              </a:spcBef>
              <a:buNone/>
            </a:pPr>
            <a:r>
              <a:rPr lang="en-US" sz="2700" dirty="0" err="1"/>
              <a:t>getch</a:t>
            </a:r>
            <a:r>
              <a:rPr lang="en-US" sz="2700" dirty="0"/>
              <a:t>();</a:t>
            </a:r>
          </a:p>
          <a:p>
            <a:pPr marL="0" indent="0">
              <a:spcBef>
                <a:spcPts val="600"/>
              </a:spcBef>
              <a:buNone/>
            </a:pPr>
            <a:r>
              <a:rPr lang="en-US" sz="2700" dirty="0"/>
              <a:t>return 0;</a:t>
            </a:r>
          </a:p>
          <a:p>
            <a:pPr marL="0" indent="0">
              <a:spcBef>
                <a:spcPts val="600"/>
              </a:spcBef>
              <a:buNone/>
            </a:pPr>
            <a:r>
              <a:rPr lang="en-US" sz="2700" dirty="0"/>
              <a:t>}</a:t>
            </a:r>
          </a:p>
        </p:txBody>
      </p:sp>
    </p:spTree>
    <p:extLst>
      <p:ext uri="{BB962C8B-B14F-4D97-AF65-F5344CB8AC3E}">
        <p14:creationId xmlns:p14="http://schemas.microsoft.com/office/powerpoint/2010/main" val="217935834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2400" y="981634"/>
            <a:ext cx="10160000" cy="5634319"/>
          </a:xfrm>
        </p:spPr>
        <p:txBody>
          <a:bodyPr anchor="t"/>
          <a:lstStyle/>
          <a:p>
            <a:pPr marL="0" indent="0" algn="ctr">
              <a:buNone/>
            </a:pPr>
            <a:r>
              <a:rPr lang="en-US" b="1" dirty="0" err="1"/>
              <a:t>strcpy</a:t>
            </a:r>
            <a:r>
              <a:rPr lang="en-US" b="1" dirty="0"/>
              <a:t>()</a:t>
            </a:r>
          </a:p>
          <a:p>
            <a:r>
              <a:rPr lang="en-US" dirty="0"/>
              <a:t>Function </a:t>
            </a:r>
            <a:r>
              <a:rPr lang="en-US" dirty="0" err="1"/>
              <a:t>strcpy</a:t>
            </a:r>
            <a:r>
              <a:rPr lang="en-US" dirty="0"/>
              <a:t>() copies the content of one string to the content of another string. It is defined under "</a:t>
            </a:r>
            <a:r>
              <a:rPr lang="en-US" dirty="0" err="1"/>
              <a:t>string.h</a:t>
            </a:r>
            <a:r>
              <a:rPr lang="en-US" dirty="0"/>
              <a:t>" header file.</a:t>
            </a:r>
          </a:p>
          <a:p>
            <a:r>
              <a:rPr lang="en-US" dirty="0"/>
              <a:t>It takes two arguments.</a:t>
            </a:r>
          </a:p>
          <a:p>
            <a:pPr marL="0" indent="0" algn="ctr">
              <a:buNone/>
            </a:pPr>
            <a:r>
              <a:rPr lang="en-US" b="1" dirty="0"/>
              <a:t>Syntax of </a:t>
            </a:r>
            <a:r>
              <a:rPr lang="en-US" b="1" dirty="0" err="1"/>
              <a:t>strcpy</a:t>
            </a:r>
            <a:r>
              <a:rPr lang="en-US" b="1" dirty="0"/>
              <a:t>()</a:t>
            </a:r>
          </a:p>
          <a:p>
            <a:pPr marL="0" indent="0">
              <a:buNone/>
            </a:pPr>
            <a:r>
              <a:rPr lang="en-US" dirty="0"/>
              <a:t>      </a:t>
            </a:r>
            <a:r>
              <a:rPr lang="en-US" dirty="0" err="1"/>
              <a:t>strcpy</a:t>
            </a:r>
            <a:r>
              <a:rPr lang="en-US" dirty="0"/>
              <a:t>(destination,       source);</a:t>
            </a:r>
          </a:p>
          <a:p>
            <a:r>
              <a:rPr lang="en-US" dirty="0"/>
              <a:t>Here, source and destination are both the name of the string. This statement, copies the content of string source to the content of string destination.</a:t>
            </a:r>
          </a:p>
        </p:txBody>
      </p:sp>
    </p:spTree>
    <p:extLst>
      <p:ext uri="{BB962C8B-B14F-4D97-AF65-F5344CB8AC3E}">
        <p14:creationId xmlns:p14="http://schemas.microsoft.com/office/powerpoint/2010/main" val="4034864430"/>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2400" y="833717"/>
            <a:ext cx="10160000" cy="5755341"/>
          </a:xfrm>
        </p:spPr>
        <p:txBody>
          <a:bodyPr anchor="t"/>
          <a:lstStyle/>
          <a:p>
            <a:pPr marL="0" indent="0">
              <a:spcBef>
                <a:spcPts val="0"/>
              </a:spcBef>
              <a:buNone/>
            </a:pPr>
            <a:r>
              <a:rPr lang="en-US" sz="2800" dirty="0"/>
              <a:t>#include &lt;</a:t>
            </a:r>
            <a:r>
              <a:rPr lang="en-US" sz="2800" dirty="0" err="1"/>
              <a:t>iostream</a:t>
            </a:r>
            <a:r>
              <a:rPr lang="en-US" sz="2800" dirty="0"/>
              <a:t>&gt;</a:t>
            </a:r>
          </a:p>
          <a:p>
            <a:pPr marL="0" indent="0">
              <a:spcBef>
                <a:spcPts val="0"/>
              </a:spcBef>
              <a:buNone/>
            </a:pPr>
            <a:r>
              <a:rPr lang="en-US" sz="2800" dirty="0"/>
              <a:t>#include &lt;</a:t>
            </a:r>
            <a:r>
              <a:rPr lang="en-US" sz="2800" dirty="0" err="1"/>
              <a:t>string.h</a:t>
            </a:r>
            <a:r>
              <a:rPr lang="en-US" sz="2800" dirty="0"/>
              <a:t>&gt;</a:t>
            </a:r>
          </a:p>
          <a:p>
            <a:pPr marL="0" indent="0">
              <a:spcBef>
                <a:spcPts val="0"/>
              </a:spcBef>
              <a:buNone/>
            </a:pPr>
            <a:r>
              <a:rPr lang="en-US" sz="2800" dirty="0"/>
              <a:t>using namespace </a:t>
            </a:r>
            <a:r>
              <a:rPr lang="en-US" sz="2800" dirty="0" err="1"/>
              <a:t>std</a:t>
            </a:r>
            <a:r>
              <a:rPr lang="en-US" sz="2800" dirty="0"/>
              <a:t>;</a:t>
            </a:r>
          </a:p>
          <a:p>
            <a:pPr marL="0" indent="0">
              <a:spcBef>
                <a:spcPts val="0"/>
              </a:spcBef>
              <a:buNone/>
            </a:pPr>
            <a:r>
              <a:rPr lang="en-US" sz="2800" dirty="0" err="1"/>
              <a:t>int</a:t>
            </a:r>
            <a:r>
              <a:rPr lang="en-US" sz="2800" dirty="0"/>
              <a:t> main()</a:t>
            </a:r>
          </a:p>
          <a:p>
            <a:pPr marL="0" indent="0">
              <a:spcBef>
                <a:spcPts val="0"/>
              </a:spcBef>
              <a:buNone/>
            </a:pPr>
            <a:r>
              <a:rPr lang="en-US" sz="2800" dirty="0"/>
              <a:t>{</a:t>
            </a:r>
          </a:p>
          <a:p>
            <a:pPr marL="0" indent="0">
              <a:spcBef>
                <a:spcPts val="0"/>
              </a:spcBef>
              <a:buNone/>
            </a:pPr>
            <a:r>
              <a:rPr lang="en-US" sz="2800" dirty="0"/>
              <a:t>char a[10], b[10];</a:t>
            </a:r>
          </a:p>
          <a:p>
            <a:pPr marL="0" indent="0">
              <a:spcBef>
                <a:spcPts val="0"/>
              </a:spcBef>
              <a:buNone/>
            </a:pPr>
            <a:r>
              <a:rPr lang="en-US" sz="2800" dirty="0" err="1"/>
              <a:t>cout</a:t>
            </a:r>
            <a:r>
              <a:rPr lang="en-US" sz="2800" dirty="0"/>
              <a:t>&lt;&lt;"Enter string: ";</a:t>
            </a:r>
          </a:p>
          <a:p>
            <a:pPr marL="0" indent="0">
              <a:spcBef>
                <a:spcPts val="0"/>
              </a:spcBef>
              <a:buNone/>
            </a:pPr>
            <a:r>
              <a:rPr lang="en-US" sz="2800" dirty="0"/>
              <a:t>gets(a);</a:t>
            </a:r>
          </a:p>
          <a:p>
            <a:pPr marL="0" indent="0">
              <a:spcBef>
                <a:spcPts val="0"/>
              </a:spcBef>
              <a:buNone/>
            </a:pPr>
            <a:r>
              <a:rPr lang="en-US" sz="2800" dirty="0" err="1"/>
              <a:t>strcpy</a:t>
            </a:r>
            <a:r>
              <a:rPr lang="en-US" sz="2800" dirty="0"/>
              <a:t>(b, a); //Content of string a is copied to string b.</a:t>
            </a:r>
          </a:p>
          <a:p>
            <a:pPr marL="0" indent="0">
              <a:spcBef>
                <a:spcPts val="0"/>
              </a:spcBef>
              <a:buNone/>
            </a:pPr>
            <a:r>
              <a:rPr lang="en-US" sz="2800" dirty="0" err="1"/>
              <a:t>cout</a:t>
            </a:r>
            <a:r>
              <a:rPr lang="en-US" sz="2800" dirty="0"/>
              <a:t>&lt;&lt;"Copied string: "&lt;&lt;</a:t>
            </a:r>
            <a:r>
              <a:rPr lang="en-US" sz="2800" dirty="0" err="1"/>
              <a:t>endl</a:t>
            </a:r>
            <a:r>
              <a:rPr lang="en-US" sz="2800" dirty="0"/>
              <a:t>;</a:t>
            </a:r>
          </a:p>
          <a:p>
            <a:pPr marL="0" indent="0">
              <a:spcBef>
                <a:spcPts val="0"/>
              </a:spcBef>
              <a:buNone/>
            </a:pPr>
            <a:r>
              <a:rPr lang="en-US" sz="2800" dirty="0"/>
              <a:t>puts(b);</a:t>
            </a:r>
          </a:p>
          <a:p>
            <a:pPr marL="0" indent="0">
              <a:spcBef>
                <a:spcPts val="0"/>
              </a:spcBef>
              <a:buNone/>
            </a:pPr>
            <a:r>
              <a:rPr lang="en-US" sz="2800" dirty="0"/>
              <a:t>return 0;</a:t>
            </a:r>
          </a:p>
          <a:p>
            <a:pPr marL="0" indent="0">
              <a:spcBef>
                <a:spcPts val="0"/>
              </a:spcBef>
              <a:buNone/>
            </a:pPr>
            <a:r>
              <a:rPr lang="en-US" sz="2800" dirty="0"/>
              <a:t>}</a:t>
            </a:r>
          </a:p>
        </p:txBody>
      </p:sp>
    </p:spTree>
    <p:extLst>
      <p:ext uri="{BB962C8B-B14F-4D97-AF65-F5344CB8AC3E}">
        <p14:creationId xmlns:p14="http://schemas.microsoft.com/office/powerpoint/2010/main" val="3036908510"/>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6141" y="927846"/>
            <a:ext cx="10856259" cy="4939553"/>
          </a:xfrm>
        </p:spPr>
        <p:txBody>
          <a:bodyPr anchor="t"/>
          <a:lstStyle/>
          <a:p>
            <a:pPr marL="0" indent="0" algn="ctr">
              <a:buNone/>
            </a:pPr>
            <a:r>
              <a:rPr lang="en-US" b="1" dirty="0" err="1"/>
              <a:t>strcat</a:t>
            </a:r>
            <a:r>
              <a:rPr lang="en-US" b="1" dirty="0"/>
              <a:t>()</a:t>
            </a:r>
          </a:p>
          <a:p>
            <a:pPr marL="0" indent="0">
              <a:buNone/>
            </a:pPr>
            <a:r>
              <a:rPr lang="en-US" dirty="0"/>
              <a:t>In C++ programming, </a:t>
            </a:r>
            <a:r>
              <a:rPr lang="en-US" dirty="0" err="1"/>
              <a:t>strcat</a:t>
            </a:r>
            <a:r>
              <a:rPr lang="en-US" dirty="0"/>
              <a:t>() concatenates(joins) two strings.</a:t>
            </a:r>
          </a:p>
          <a:p>
            <a:pPr marL="0" indent="0">
              <a:buNone/>
            </a:pPr>
            <a:r>
              <a:rPr lang="en-US" dirty="0"/>
              <a:t>It takes two arguments, </a:t>
            </a:r>
            <a:r>
              <a:rPr lang="en-US" dirty="0" err="1"/>
              <a:t>i.e</a:t>
            </a:r>
            <a:r>
              <a:rPr lang="en-US" dirty="0"/>
              <a:t>, two strings and resultant string is stored in the first string specified in the argument.</a:t>
            </a:r>
          </a:p>
          <a:p>
            <a:pPr marL="0" indent="0">
              <a:buNone/>
            </a:pPr>
            <a:r>
              <a:rPr lang="en-US" dirty="0"/>
              <a:t>Function </a:t>
            </a:r>
            <a:r>
              <a:rPr lang="en-US" dirty="0" err="1"/>
              <a:t>strcat</a:t>
            </a:r>
            <a:r>
              <a:rPr lang="en-US" dirty="0"/>
              <a:t>() is defined under "</a:t>
            </a:r>
            <a:r>
              <a:rPr lang="en-US" dirty="0" err="1"/>
              <a:t>string.h</a:t>
            </a:r>
            <a:r>
              <a:rPr lang="en-US" dirty="0"/>
              <a:t>" header file.</a:t>
            </a:r>
          </a:p>
          <a:p>
            <a:pPr marL="0" indent="0">
              <a:buNone/>
            </a:pPr>
            <a:endParaRPr lang="en-US" b="1" dirty="0"/>
          </a:p>
          <a:p>
            <a:pPr marL="0" indent="0">
              <a:buNone/>
            </a:pPr>
            <a:r>
              <a:rPr lang="en-US" b="1" dirty="0"/>
              <a:t>Syntax of </a:t>
            </a:r>
            <a:r>
              <a:rPr lang="en-US" b="1" dirty="0" err="1"/>
              <a:t>strcat</a:t>
            </a:r>
            <a:r>
              <a:rPr lang="en-US" b="1" dirty="0"/>
              <a:t>()</a:t>
            </a:r>
          </a:p>
          <a:p>
            <a:pPr marL="0" indent="0">
              <a:buNone/>
            </a:pPr>
            <a:r>
              <a:rPr lang="en-US" dirty="0" err="1"/>
              <a:t>strcat</a:t>
            </a:r>
            <a:r>
              <a:rPr lang="en-US" dirty="0"/>
              <a:t>(</a:t>
            </a:r>
            <a:r>
              <a:rPr lang="en-US" dirty="0" err="1"/>
              <a:t>first_string</a:t>
            </a:r>
            <a:r>
              <a:rPr lang="en-US" dirty="0"/>
              <a:t>, </a:t>
            </a:r>
            <a:r>
              <a:rPr lang="en-US" dirty="0" err="1"/>
              <a:t>second_string</a:t>
            </a:r>
            <a:r>
              <a:rPr lang="en-US" dirty="0"/>
              <a:t>);</a:t>
            </a:r>
          </a:p>
        </p:txBody>
      </p:sp>
    </p:spTree>
    <p:extLst>
      <p:ext uri="{BB962C8B-B14F-4D97-AF65-F5344CB8AC3E}">
        <p14:creationId xmlns:p14="http://schemas.microsoft.com/office/powerpoint/2010/main" val="1634844112"/>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2400" y="806824"/>
            <a:ext cx="10160000" cy="5822576"/>
          </a:xfrm>
        </p:spPr>
        <p:txBody>
          <a:bodyPr anchor="t"/>
          <a:lstStyle/>
          <a:p>
            <a:pPr marL="0" indent="0">
              <a:spcBef>
                <a:spcPts val="0"/>
              </a:spcBef>
              <a:buNone/>
            </a:pPr>
            <a:r>
              <a:rPr lang="en-US" sz="2400" dirty="0"/>
              <a:t>#include&lt;</a:t>
            </a:r>
            <a:r>
              <a:rPr lang="en-US" sz="2400" dirty="0" err="1"/>
              <a:t>iostream</a:t>
            </a:r>
            <a:r>
              <a:rPr lang="en-US" sz="2400" dirty="0"/>
              <a:t>&gt;</a:t>
            </a:r>
          </a:p>
          <a:p>
            <a:pPr marL="0" indent="0">
              <a:spcBef>
                <a:spcPts val="0"/>
              </a:spcBef>
              <a:buNone/>
            </a:pPr>
            <a:r>
              <a:rPr lang="en-US" sz="2400" dirty="0"/>
              <a:t>#include&lt;</a:t>
            </a:r>
            <a:r>
              <a:rPr lang="en-US" sz="2400" dirty="0" err="1"/>
              <a:t>string.h</a:t>
            </a:r>
            <a:r>
              <a:rPr lang="en-US" sz="2400" dirty="0"/>
              <a:t>&gt;</a:t>
            </a:r>
          </a:p>
          <a:p>
            <a:pPr marL="0" indent="0">
              <a:spcBef>
                <a:spcPts val="0"/>
              </a:spcBef>
              <a:buNone/>
            </a:pPr>
            <a:r>
              <a:rPr lang="en-US" sz="2400" dirty="0"/>
              <a:t>using namespace </a:t>
            </a:r>
            <a:r>
              <a:rPr lang="en-US" sz="2400" dirty="0" err="1"/>
              <a:t>std</a:t>
            </a:r>
            <a:r>
              <a:rPr lang="en-US" sz="2400" dirty="0"/>
              <a:t>;</a:t>
            </a:r>
          </a:p>
          <a:p>
            <a:pPr marL="0" indent="0">
              <a:spcBef>
                <a:spcPts val="0"/>
              </a:spcBef>
              <a:buNone/>
            </a:pPr>
            <a:r>
              <a:rPr lang="en-US" sz="2400" dirty="0" err="1"/>
              <a:t>int</a:t>
            </a:r>
            <a:r>
              <a:rPr lang="en-US" sz="2400" dirty="0"/>
              <a:t> main()</a:t>
            </a:r>
          </a:p>
          <a:p>
            <a:pPr marL="0" indent="0">
              <a:spcBef>
                <a:spcPts val="0"/>
              </a:spcBef>
              <a:buNone/>
            </a:pPr>
            <a:r>
              <a:rPr lang="en-US" sz="2400" dirty="0"/>
              <a:t>{</a:t>
            </a:r>
          </a:p>
          <a:p>
            <a:pPr marL="0" indent="0">
              <a:spcBef>
                <a:spcPts val="0"/>
              </a:spcBef>
              <a:buNone/>
            </a:pPr>
            <a:r>
              <a:rPr lang="en-US" sz="2400" dirty="0"/>
              <a:t>char name[10], name1[10];</a:t>
            </a:r>
          </a:p>
          <a:p>
            <a:pPr marL="0" indent="0">
              <a:spcBef>
                <a:spcPts val="0"/>
              </a:spcBef>
              <a:buNone/>
            </a:pPr>
            <a:r>
              <a:rPr lang="en-US" sz="2400" dirty="0"/>
              <a:t>//</a:t>
            </a:r>
            <a:r>
              <a:rPr lang="en-US" sz="2400" dirty="0" err="1"/>
              <a:t>clrscr</a:t>
            </a:r>
            <a:r>
              <a:rPr lang="en-US" sz="2400" dirty="0"/>
              <a:t>();</a:t>
            </a:r>
          </a:p>
          <a:p>
            <a:pPr marL="0" indent="0">
              <a:spcBef>
                <a:spcPts val="0"/>
              </a:spcBef>
              <a:buNone/>
            </a:pPr>
            <a:r>
              <a:rPr lang="en-US" sz="2400" dirty="0" err="1"/>
              <a:t>cout</a:t>
            </a:r>
            <a:r>
              <a:rPr lang="en-US" sz="2400" dirty="0"/>
              <a:t>&lt;&lt;"Enter the First string \t";</a:t>
            </a:r>
          </a:p>
          <a:p>
            <a:pPr marL="0" indent="0">
              <a:spcBef>
                <a:spcPts val="0"/>
              </a:spcBef>
              <a:buNone/>
            </a:pPr>
            <a:r>
              <a:rPr lang="en-US" sz="2400" dirty="0"/>
              <a:t>gets(name);</a:t>
            </a:r>
          </a:p>
          <a:p>
            <a:pPr marL="0" indent="0">
              <a:spcBef>
                <a:spcPts val="0"/>
              </a:spcBef>
              <a:buNone/>
            </a:pPr>
            <a:r>
              <a:rPr lang="en-US" sz="2400" dirty="0" err="1"/>
              <a:t>cout</a:t>
            </a:r>
            <a:r>
              <a:rPr lang="en-US" sz="2400" dirty="0"/>
              <a:t>&lt;&lt;"Enter the Second string \t";</a:t>
            </a:r>
          </a:p>
          <a:p>
            <a:pPr marL="0" indent="0">
              <a:spcBef>
                <a:spcPts val="0"/>
              </a:spcBef>
              <a:buNone/>
            </a:pPr>
            <a:r>
              <a:rPr lang="en-US" sz="2400" dirty="0"/>
              <a:t>gets(name1);</a:t>
            </a:r>
          </a:p>
          <a:p>
            <a:pPr marL="0" indent="0">
              <a:spcBef>
                <a:spcPts val="0"/>
              </a:spcBef>
              <a:buNone/>
            </a:pPr>
            <a:r>
              <a:rPr lang="en-US" sz="2400" dirty="0" err="1"/>
              <a:t>strcat</a:t>
            </a:r>
            <a:r>
              <a:rPr lang="en-US" sz="2400" dirty="0"/>
              <a:t>(name,name1);</a:t>
            </a:r>
          </a:p>
          <a:p>
            <a:pPr marL="0" indent="0">
              <a:spcBef>
                <a:spcPts val="0"/>
              </a:spcBef>
              <a:buNone/>
            </a:pPr>
            <a:r>
              <a:rPr lang="en-US" sz="2400" dirty="0" err="1"/>
              <a:t>cout</a:t>
            </a:r>
            <a:r>
              <a:rPr lang="en-US" sz="2400" dirty="0"/>
              <a:t>&lt;&lt;"The string after concatenations is "&lt;&lt;</a:t>
            </a:r>
            <a:r>
              <a:rPr lang="en-US" sz="2400" dirty="0" err="1"/>
              <a:t>endl</a:t>
            </a:r>
            <a:r>
              <a:rPr lang="en-US" sz="2400" dirty="0"/>
              <a:t>&lt;&lt;name;</a:t>
            </a:r>
          </a:p>
          <a:p>
            <a:pPr marL="0" indent="0">
              <a:spcBef>
                <a:spcPts val="0"/>
              </a:spcBef>
              <a:buNone/>
            </a:pPr>
            <a:r>
              <a:rPr lang="en-US" sz="2400" dirty="0"/>
              <a:t>return 0;</a:t>
            </a:r>
          </a:p>
          <a:p>
            <a:pPr marL="0" indent="0">
              <a:spcBef>
                <a:spcPts val="0"/>
              </a:spcBef>
              <a:buNone/>
            </a:pPr>
            <a:r>
              <a:rPr lang="en-US" sz="2400" dirty="0"/>
              <a:t>}</a:t>
            </a:r>
          </a:p>
        </p:txBody>
      </p:sp>
    </p:spTree>
    <p:extLst>
      <p:ext uri="{BB962C8B-B14F-4D97-AF65-F5344CB8AC3E}">
        <p14:creationId xmlns:p14="http://schemas.microsoft.com/office/powerpoint/2010/main" val="987994508"/>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2400" y="806823"/>
            <a:ext cx="10160000" cy="5782235"/>
          </a:xfrm>
        </p:spPr>
        <p:txBody>
          <a:bodyPr anchor="t"/>
          <a:lstStyle/>
          <a:p>
            <a:pPr marL="0" indent="0" algn="ctr">
              <a:spcBef>
                <a:spcPts val="0"/>
              </a:spcBef>
              <a:buNone/>
            </a:pPr>
            <a:r>
              <a:rPr lang="en-US" sz="2800" b="1" dirty="0" err="1"/>
              <a:t>strrev</a:t>
            </a:r>
            <a:r>
              <a:rPr lang="en-US" sz="2800" b="1" dirty="0"/>
              <a:t> ()</a:t>
            </a:r>
          </a:p>
          <a:p>
            <a:pPr marL="0" indent="0">
              <a:spcBef>
                <a:spcPts val="0"/>
              </a:spcBef>
              <a:buNone/>
            </a:pPr>
            <a:r>
              <a:rPr lang="en-US" sz="2500" dirty="0">
                <a:latin typeface="Times New Roman" panose="02020603050405020304" pitchFamily="18" charset="0"/>
                <a:cs typeface="Times New Roman" panose="02020603050405020304" pitchFamily="18" charset="0"/>
              </a:rPr>
              <a:t>#include&lt;</a:t>
            </a:r>
            <a:r>
              <a:rPr lang="en-US" sz="2500" dirty="0" err="1">
                <a:latin typeface="Times New Roman" panose="02020603050405020304" pitchFamily="18" charset="0"/>
                <a:cs typeface="Times New Roman" panose="02020603050405020304" pitchFamily="18" charset="0"/>
              </a:rPr>
              <a:t>iostream</a:t>
            </a:r>
            <a:r>
              <a:rPr lang="en-US" sz="2500" dirty="0">
                <a:latin typeface="Times New Roman" panose="02020603050405020304" pitchFamily="18" charset="0"/>
                <a:cs typeface="Times New Roman" panose="02020603050405020304" pitchFamily="18" charset="0"/>
              </a:rPr>
              <a:t>&gt;</a:t>
            </a:r>
          </a:p>
          <a:p>
            <a:pPr marL="0" indent="0">
              <a:spcBef>
                <a:spcPts val="0"/>
              </a:spcBef>
              <a:buNone/>
            </a:pPr>
            <a:r>
              <a:rPr lang="en-US" sz="2500" dirty="0">
                <a:latin typeface="Times New Roman" panose="02020603050405020304" pitchFamily="18" charset="0"/>
                <a:cs typeface="Times New Roman" panose="02020603050405020304" pitchFamily="18" charset="0"/>
              </a:rPr>
              <a:t>#include&lt;</a:t>
            </a:r>
            <a:r>
              <a:rPr lang="en-US" sz="2500" dirty="0" err="1">
                <a:latin typeface="Times New Roman" panose="02020603050405020304" pitchFamily="18" charset="0"/>
                <a:cs typeface="Times New Roman" panose="02020603050405020304" pitchFamily="18" charset="0"/>
              </a:rPr>
              <a:t>conio.h</a:t>
            </a:r>
            <a:r>
              <a:rPr lang="en-US" sz="2500" dirty="0">
                <a:latin typeface="Times New Roman" panose="02020603050405020304" pitchFamily="18" charset="0"/>
                <a:cs typeface="Times New Roman" panose="02020603050405020304" pitchFamily="18" charset="0"/>
              </a:rPr>
              <a:t>&gt;</a:t>
            </a:r>
          </a:p>
          <a:p>
            <a:pPr marL="0" indent="0">
              <a:spcBef>
                <a:spcPts val="0"/>
              </a:spcBef>
              <a:buNone/>
            </a:pPr>
            <a:r>
              <a:rPr lang="en-US" sz="2500" dirty="0">
                <a:latin typeface="Times New Roman" panose="02020603050405020304" pitchFamily="18" charset="0"/>
                <a:cs typeface="Times New Roman" panose="02020603050405020304" pitchFamily="18" charset="0"/>
              </a:rPr>
              <a:t>#include&lt;</a:t>
            </a:r>
            <a:r>
              <a:rPr lang="en-US" sz="2500" dirty="0" err="1">
                <a:latin typeface="Times New Roman" panose="02020603050405020304" pitchFamily="18" charset="0"/>
                <a:cs typeface="Times New Roman" panose="02020603050405020304" pitchFamily="18" charset="0"/>
              </a:rPr>
              <a:t>string.h</a:t>
            </a:r>
            <a:r>
              <a:rPr lang="en-US" sz="2500" dirty="0">
                <a:latin typeface="Times New Roman" panose="02020603050405020304" pitchFamily="18" charset="0"/>
                <a:cs typeface="Times New Roman" panose="02020603050405020304" pitchFamily="18" charset="0"/>
              </a:rPr>
              <a:t>&gt;</a:t>
            </a:r>
          </a:p>
          <a:p>
            <a:pPr marL="0" indent="0">
              <a:spcBef>
                <a:spcPts val="0"/>
              </a:spcBef>
              <a:buNone/>
            </a:pPr>
            <a:r>
              <a:rPr lang="en-US" sz="2500" dirty="0">
                <a:latin typeface="Times New Roman" panose="02020603050405020304" pitchFamily="18" charset="0"/>
                <a:cs typeface="Times New Roman" panose="02020603050405020304" pitchFamily="18" charset="0"/>
              </a:rPr>
              <a:t>using namespace </a:t>
            </a:r>
            <a:r>
              <a:rPr lang="en-US" sz="2500" dirty="0" err="1">
                <a:latin typeface="Times New Roman" panose="02020603050405020304" pitchFamily="18" charset="0"/>
                <a:cs typeface="Times New Roman" panose="02020603050405020304" pitchFamily="18" charset="0"/>
              </a:rPr>
              <a:t>std</a:t>
            </a:r>
            <a:r>
              <a:rPr lang="en-US" sz="2500" dirty="0">
                <a:latin typeface="Times New Roman" panose="02020603050405020304" pitchFamily="18" charset="0"/>
                <a:cs typeface="Times New Roman" panose="02020603050405020304" pitchFamily="18" charset="0"/>
              </a:rPr>
              <a:t>;</a:t>
            </a:r>
          </a:p>
          <a:p>
            <a:pPr marL="0" indent="0">
              <a:spcBef>
                <a:spcPts val="0"/>
              </a:spcBef>
              <a:buNone/>
            </a:pPr>
            <a:r>
              <a:rPr lang="en-US" sz="2500" dirty="0" err="1">
                <a:latin typeface="Times New Roman" panose="02020603050405020304" pitchFamily="18" charset="0"/>
                <a:cs typeface="Times New Roman" panose="02020603050405020304" pitchFamily="18" charset="0"/>
              </a:rPr>
              <a:t>int</a:t>
            </a:r>
            <a:r>
              <a:rPr lang="en-US" sz="2500" dirty="0">
                <a:latin typeface="Times New Roman" panose="02020603050405020304" pitchFamily="18" charset="0"/>
                <a:cs typeface="Times New Roman" panose="02020603050405020304" pitchFamily="18" charset="0"/>
              </a:rPr>
              <a:t> main()</a:t>
            </a:r>
          </a:p>
          <a:p>
            <a:pPr marL="0" indent="0">
              <a:spcBef>
                <a:spcPts val="0"/>
              </a:spcBef>
              <a:buNone/>
            </a:pPr>
            <a:r>
              <a:rPr lang="en-US" sz="2500" dirty="0">
                <a:latin typeface="Times New Roman" panose="02020603050405020304" pitchFamily="18" charset="0"/>
                <a:cs typeface="Times New Roman" panose="02020603050405020304" pitchFamily="18" charset="0"/>
              </a:rPr>
              <a:t>{</a:t>
            </a:r>
          </a:p>
          <a:p>
            <a:pPr marL="0" indent="0">
              <a:spcBef>
                <a:spcPts val="0"/>
              </a:spcBef>
              <a:buNone/>
            </a:pPr>
            <a:r>
              <a:rPr lang="en-US" sz="2500" dirty="0">
                <a:latin typeface="Times New Roman" panose="02020603050405020304" pitchFamily="18" charset="0"/>
                <a:cs typeface="Times New Roman" panose="02020603050405020304" pitchFamily="18" charset="0"/>
              </a:rPr>
              <a:t>char name[10];</a:t>
            </a:r>
          </a:p>
          <a:p>
            <a:pPr marL="0" indent="0">
              <a:spcBef>
                <a:spcPts val="0"/>
              </a:spcBef>
              <a:buNone/>
            </a:pPr>
            <a:r>
              <a:rPr lang="en-US" sz="2500" dirty="0" err="1">
                <a:latin typeface="Times New Roman" panose="02020603050405020304" pitchFamily="18" charset="0"/>
                <a:cs typeface="Times New Roman" panose="02020603050405020304" pitchFamily="18" charset="0"/>
              </a:rPr>
              <a:t>cout</a:t>
            </a:r>
            <a:r>
              <a:rPr lang="en-US" sz="2500" dirty="0">
                <a:latin typeface="Times New Roman" panose="02020603050405020304" pitchFamily="18" charset="0"/>
                <a:cs typeface="Times New Roman" panose="02020603050405020304" pitchFamily="18" charset="0"/>
              </a:rPr>
              <a:t>&lt;&lt;"Enter the String ";</a:t>
            </a:r>
          </a:p>
          <a:p>
            <a:pPr marL="0" indent="0">
              <a:spcBef>
                <a:spcPts val="0"/>
              </a:spcBef>
              <a:buNone/>
            </a:pPr>
            <a:r>
              <a:rPr lang="en-US" sz="2500" dirty="0">
                <a:latin typeface="Times New Roman" panose="02020603050405020304" pitchFamily="18" charset="0"/>
                <a:cs typeface="Times New Roman" panose="02020603050405020304" pitchFamily="18" charset="0"/>
              </a:rPr>
              <a:t>gets(name);</a:t>
            </a:r>
          </a:p>
          <a:p>
            <a:pPr marL="0" indent="0">
              <a:spcBef>
                <a:spcPts val="0"/>
              </a:spcBef>
              <a:buNone/>
            </a:pPr>
            <a:r>
              <a:rPr lang="en-US" sz="2500" dirty="0" err="1">
                <a:latin typeface="Times New Roman" panose="02020603050405020304" pitchFamily="18" charset="0"/>
                <a:cs typeface="Times New Roman" panose="02020603050405020304" pitchFamily="18" charset="0"/>
              </a:rPr>
              <a:t>strrev</a:t>
            </a:r>
            <a:r>
              <a:rPr lang="en-US" sz="2500" dirty="0">
                <a:latin typeface="Times New Roman" panose="02020603050405020304" pitchFamily="18" charset="0"/>
                <a:cs typeface="Times New Roman" panose="02020603050405020304" pitchFamily="18" charset="0"/>
              </a:rPr>
              <a:t>(name);</a:t>
            </a:r>
          </a:p>
          <a:p>
            <a:pPr marL="0" indent="0">
              <a:spcBef>
                <a:spcPts val="0"/>
              </a:spcBef>
              <a:buNone/>
            </a:pPr>
            <a:r>
              <a:rPr lang="en-US" sz="2500" dirty="0" err="1">
                <a:latin typeface="Times New Roman" panose="02020603050405020304" pitchFamily="18" charset="0"/>
                <a:cs typeface="Times New Roman" panose="02020603050405020304" pitchFamily="18" charset="0"/>
              </a:rPr>
              <a:t>cout</a:t>
            </a:r>
            <a:r>
              <a:rPr lang="en-US" sz="2500" dirty="0">
                <a:latin typeface="Times New Roman" panose="02020603050405020304" pitchFamily="18" charset="0"/>
                <a:cs typeface="Times New Roman" panose="02020603050405020304" pitchFamily="18" charset="0"/>
              </a:rPr>
              <a:t>&lt;&lt;"The String after reverse is\n "&lt;&lt;name;</a:t>
            </a:r>
          </a:p>
          <a:p>
            <a:pPr marL="0" indent="0">
              <a:spcBef>
                <a:spcPts val="0"/>
              </a:spcBef>
              <a:buNone/>
            </a:pPr>
            <a:r>
              <a:rPr lang="en-US" sz="2500" dirty="0" err="1">
                <a:latin typeface="Times New Roman" panose="02020603050405020304" pitchFamily="18" charset="0"/>
                <a:cs typeface="Times New Roman" panose="02020603050405020304" pitchFamily="18" charset="0"/>
              </a:rPr>
              <a:t>getch</a:t>
            </a:r>
            <a:r>
              <a:rPr lang="en-US" sz="2500" dirty="0">
                <a:latin typeface="Times New Roman" panose="02020603050405020304" pitchFamily="18" charset="0"/>
                <a:cs typeface="Times New Roman" panose="02020603050405020304" pitchFamily="18" charset="0"/>
              </a:rPr>
              <a:t>();</a:t>
            </a:r>
          </a:p>
          <a:p>
            <a:pPr marL="0" indent="0">
              <a:spcBef>
                <a:spcPts val="0"/>
              </a:spcBef>
              <a:buNone/>
            </a:pPr>
            <a:r>
              <a:rPr lang="en-US" sz="2500" dirty="0">
                <a:latin typeface="Times New Roman" panose="02020603050405020304" pitchFamily="18" charset="0"/>
                <a:cs typeface="Times New Roman" panose="02020603050405020304" pitchFamily="18" charset="0"/>
              </a:rPr>
              <a:t>return 0;</a:t>
            </a:r>
          </a:p>
          <a:p>
            <a:pPr marL="0" indent="0">
              <a:spcBef>
                <a:spcPts val="0"/>
              </a:spcBef>
              <a:buNone/>
            </a:pPr>
            <a:r>
              <a:rPr lang="en-US" sz="25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1228789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2400" y="793376"/>
            <a:ext cx="10160000" cy="5822576"/>
          </a:xfrm>
        </p:spPr>
        <p:txBody>
          <a:bodyPr anchor="t"/>
          <a:lstStyle/>
          <a:p>
            <a:pPr marL="0" indent="0" algn="ctr">
              <a:spcBef>
                <a:spcPts val="0"/>
              </a:spcBef>
              <a:buNone/>
            </a:pPr>
            <a:r>
              <a:rPr lang="en-US" sz="2800" b="1" dirty="0" err="1"/>
              <a:t>strcmp</a:t>
            </a:r>
            <a:r>
              <a:rPr lang="en-US" sz="2800" b="1" dirty="0"/>
              <a:t> ()</a:t>
            </a:r>
          </a:p>
          <a:p>
            <a:pPr marL="0" indent="0">
              <a:spcBef>
                <a:spcPts val="0"/>
              </a:spcBef>
              <a:buNone/>
            </a:pPr>
            <a:r>
              <a:rPr lang="en-US" sz="2400" dirty="0"/>
              <a:t>#include &lt;</a:t>
            </a:r>
            <a:r>
              <a:rPr lang="en-US" sz="2400" dirty="0" err="1"/>
              <a:t>iostream</a:t>
            </a:r>
            <a:r>
              <a:rPr lang="en-US" sz="2400" dirty="0"/>
              <a:t>&gt;</a:t>
            </a:r>
          </a:p>
          <a:p>
            <a:pPr marL="0" indent="0">
              <a:spcBef>
                <a:spcPts val="0"/>
              </a:spcBef>
              <a:buNone/>
            </a:pPr>
            <a:r>
              <a:rPr lang="en-US" sz="2400" dirty="0"/>
              <a:t>#include &lt;</a:t>
            </a:r>
            <a:r>
              <a:rPr lang="en-US" sz="2400" dirty="0" err="1"/>
              <a:t>string.h</a:t>
            </a:r>
            <a:r>
              <a:rPr lang="en-US" sz="2400" dirty="0"/>
              <a:t>&gt;</a:t>
            </a:r>
          </a:p>
          <a:p>
            <a:pPr marL="0" indent="0">
              <a:spcBef>
                <a:spcPts val="0"/>
              </a:spcBef>
              <a:buNone/>
            </a:pPr>
            <a:r>
              <a:rPr lang="en-US" sz="2400" dirty="0"/>
              <a:t>#include&lt;</a:t>
            </a:r>
            <a:r>
              <a:rPr lang="en-US" sz="2400" dirty="0" err="1"/>
              <a:t>conio.h</a:t>
            </a:r>
            <a:r>
              <a:rPr lang="en-US" sz="2400" dirty="0"/>
              <a:t>&gt;</a:t>
            </a:r>
          </a:p>
          <a:p>
            <a:pPr marL="0" indent="0">
              <a:spcBef>
                <a:spcPts val="0"/>
              </a:spcBef>
              <a:buNone/>
            </a:pPr>
            <a:r>
              <a:rPr lang="en-US" sz="2400" dirty="0"/>
              <a:t>using namespace </a:t>
            </a:r>
            <a:r>
              <a:rPr lang="en-US" sz="2400" dirty="0" err="1"/>
              <a:t>std</a:t>
            </a:r>
            <a:r>
              <a:rPr lang="en-US" sz="2400" dirty="0"/>
              <a:t>;</a:t>
            </a:r>
          </a:p>
          <a:p>
            <a:pPr marL="0" indent="0">
              <a:spcBef>
                <a:spcPts val="0"/>
              </a:spcBef>
              <a:buNone/>
            </a:pPr>
            <a:r>
              <a:rPr lang="en-US" sz="2400" dirty="0" err="1"/>
              <a:t>int</a:t>
            </a:r>
            <a:r>
              <a:rPr lang="en-US" sz="2400" dirty="0"/>
              <a:t> main()</a:t>
            </a:r>
          </a:p>
          <a:p>
            <a:pPr marL="0" indent="0">
              <a:spcBef>
                <a:spcPts val="0"/>
              </a:spcBef>
              <a:buNone/>
            </a:pPr>
            <a:r>
              <a:rPr lang="en-US" sz="2400" dirty="0"/>
              <a:t>{</a:t>
            </a:r>
          </a:p>
          <a:p>
            <a:pPr marL="0" indent="0">
              <a:spcBef>
                <a:spcPts val="0"/>
              </a:spcBef>
              <a:buNone/>
            </a:pPr>
            <a:r>
              <a:rPr lang="en-US" sz="2400" dirty="0"/>
              <a:t>char *str1 = "sample", *str2 = "sample";</a:t>
            </a:r>
          </a:p>
          <a:p>
            <a:pPr marL="0" indent="0">
              <a:spcBef>
                <a:spcPts val="0"/>
              </a:spcBef>
              <a:buNone/>
            </a:pPr>
            <a:r>
              <a:rPr lang="en-US" sz="2400" dirty="0"/>
              <a:t>if(</a:t>
            </a:r>
            <a:r>
              <a:rPr lang="en-US" sz="2400" dirty="0" err="1"/>
              <a:t>strcmp</a:t>
            </a:r>
            <a:r>
              <a:rPr lang="en-US" sz="2400" dirty="0"/>
              <a:t>(str1, str2)==0)</a:t>
            </a:r>
          </a:p>
          <a:p>
            <a:pPr marL="0" indent="0">
              <a:spcBef>
                <a:spcPts val="0"/>
              </a:spcBef>
              <a:buNone/>
            </a:pPr>
            <a:r>
              <a:rPr lang="en-US" sz="2400" dirty="0" err="1"/>
              <a:t>cout</a:t>
            </a:r>
            <a:r>
              <a:rPr lang="en-US" sz="2400" dirty="0"/>
              <a:t>&lt;&lt;"strings are equal";</a:t>
            </a:r>
          </a:p>
          <a:p>
            <a:pPr marL="0" indent="0">
              <a:spcBef>
                <a:spcPts val="0"/>
              </a:spcBef>
              <a:buNone/>
            </a:pPr>
            <a:r>
              <a:rPr lang="en-US" sz="2400" dirty="0"/>
              <a:t>else</a:t>
            </a:r>
          </a:p>
          <a:p>
            <a:pPr marL="0" indent="0">
              <a:spcBef>
                <a:spcPts val="0"/>
              </a:spcBef>
              <a:buNone/>
            </a:pPr>
            <a:r>
              <a:rPr lang="en-US" sz="2400" dirty="0" err="1"/>
              <a:t>cout</a:t>
            </a:r>
            <a:r>
              <a:rPr lang="en-US" sz="2400" dirty="0"/>
              <a:t>&lt;&lt;"strings are not equal";</a:t>
            </a:r>
          </a:p>
          <a:p>
            <a:pPr marL="0" indent="0">
              <a:spcBef>
                <a:spcPts val="0"/>
              </a:spcBef>
              <a:buNone/>
            </a:pPr>
            <a:r>
              <a:rPr lang="en-US" sz="2400" dirty="0" err="1"/>
              <a:t>getch</a:t>
            </a:r>
            <a:r>
              <a:rPr lang="en-US" sz="2400" dirty="0"/>
              <a:t>();</a:t>
            </a:r>
          </a:p>
          <a:p>
            <a:pPr marL="0" indent="0">
              <a:spcBef>
                <a:spcPts val="0"/>
              </a:spcBef>
              <a:buNone/>
            </a:pPr>
            <a:r>
              <a:rPr lang="en-US" sz="2400" dirty="0"/>
              <a:t>return 0;</a:t>
            </a:r>
          </a:p>
          <a:p>
            <a:pPr marL="0" indent="0">
              <a:spcBef>
                <a:spcPts val="0"/>
              </a:spcBef>
              <a:buNone/>
            </a:pPr>
            <a:r>
              <a:rPr lang="en-US" sz="2400" dirty="0"/>
              <a:t>}</a:t>
            </a:r>
          </a:p>
          <a:p>
            <a:pPr marL="0" indent="0">
              <a:spcBef>
                <a:spcPts val="0"/>
              </a:spcBef>
              <a:buNone/>
            </a:pPr>
            <a:endParaRPr lang="en-US" sz="2800" dirty="0"/>
          </a:p>
        </p:txBody>
      </p:sp>
    </p:spTree>
    <p:extLst>
      <p:ext uri="{BB962C8B-B14F-4D97-AF65-F5344CB8AC3E}">
        <p14:creationId xmlns:p14="http://schemas.microsoft.com/office/powerpoint/2010/main" val="974991662"/>
      </p:ext>
    </p:extLst>
  </p:cSld>
  <p:clrMapOvr>
    <a:masterClrMapping/>
  </p:clrMapOvr>
  <p:transition/>
</p:sld>
</file>

<file path=ppt/theme/theme1.xml><?xml version="1.0" encoding="utf-8"?>
<a:theme xmlns:a="http://schemas.openxmlformats.org/drawingml/2006/main" name="Title &amp; Bullets">
  <a:themeElements>
    <a:clrScheme name="">
      <a:dk1>
        <a:srgbClr val="000000"/>
      </a:dk1>
      <a:lt1>
        <a:srgbClr val="FFFFFF"/>
      </a:lt1>
      <a:dk2>
        <a:srgbClr val="000000"/>
      </a:dk2>
      <a:lt2>
        <a:srgbClr val="000000"/>
      </a:lt2>
      <a:accent1>
        <a:srgbClr val="66FFCC"/>
      </a:accent1>
      <a:accent2>
        <a:srgbClr val="333399"/>
      </a:accent2>
      <a:accent3>
        <a:srgbClr val="FFFFFF"/>
      </a:accent3>
      <a:accent4>
        <a:srgbClr val="000000"/>
      </a:accent4>
      <a:accent5>
        <a:srgbClr val="B8FFE2"/>
      </a:accent5>
      <a:accent6>
        <a:srgbClr val="2D2D8A"/>
      </a:accent6>
      <a:hlink>
        <a:srgbClr val="009999"/>
      </a:hlink>
      <a:folHlink>
        <a:srgbClr val="99CC00"/>
      </a:folHlink>
    </a:clrScheme>
    <a:fontScheme name="Title &amp; Bullets">
      <a:majorFont>
        <a:latin typeface="Stone Sans ITC TT-Semi"/>
        <a:ea typeface="ヒラギノ角ゴ ProN W6"/>
        <a:cs typeface="ヒラギノ角ゴ ProN W6"/>
      </a:majorFont>
      <a:minorFont>
        <a:latin typeface="Bradley Hand ITC TT-Bold"/>
        <a:ea typeface="ヒラギノ明朝 ProN W6"/>
        <a:cs typeface="ヒラギノ明朝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D7E2EE"/>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Bradley Hand ITC TT-Bold" charset="0"/>
            <a:ea typeface="ヒラギノ明朝 ProN W6" charset="-128"/>
            <a:cs typeface="ヒラギノ明朝 ProN W6" charset="-128"/>
            <a:sym typeface="Bradley Hand ITC TT-Bold" charset="0"/>
          </a:defRPr>
        </a:defPPr>
      </a:lstStyle>
    </a:spDef>
    <a:lnDef>
      <a:spPr bwMode="auto">
        <a:xfrm>
          <a:off x="0" y="0"/>
          <a:ext cx="1" cy="1"/>
        </a:xfrm>
        <a:custGeom>
          <a:avLst/>
          <a:gdLst/>
          <a:ahLst/>
          <a:cxnLst/>
          <a:rect l="0" t="0" r="0" b="0"/>
          <a:pathLst/>
        </a:custGeom>
        <a:solidFill>
          <a:srgbClr val="D7E2EE"/>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Bradley Hand ITC TT-Bold" charset="0"/>
            <a:ea typeface="ヒラギノ明朝 ProN W6" charset="-128"/>
            <a:cs typeface="ヒラギノ明朝 ProN W6" charset="-128"/>
            <a:sym typeface="Bradley Hand ITC TT-Bold" charset="0"/>
          </a:defRPr>
        </a:defPPr>
      </a:lstStyle>
    </a:lnDef>
  </a:objectDefaults>
  <a:extraClrSchemeLst>
    <a:extraClrScheme>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5865</TotalTime>
  <Words>3256</Words>
  <Application>Microsoft Office PowerPoint</Application>
  <PresentationFormat>Widescreen</PresentationFormat>
  <Paragraphs>433</Paragraphs>
  <Slides>38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Bradley Hand ITC TT-Bold</vt:lpstr>
      <vt:lpstr>Calibri</vt:lpstr>
      <vt:lpstr>Stone Sans ITC TT-Semi</vt:lpstr>
      <vt:lpstr>Times New Roman</vt:lpstr>
      <vt:lpstr>Wingdings</vt:lpstr>
      <vt:lpstr>Title &amp; Bullets</vt:lpstr>
      <vt:lpstr>PowerPoint Presentation</vt:lpstr>
      <vt:lpstr>PowerPoint Presentation</vt:lpstr>
      <vt:lpstr>PowerPoint Presentation</vt:lpstr>
      <vt:lpstr>Initializing an Arrays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Examples</vt:lpstr>
      <vt:lpstr>PowerPoint Presentation</vt:lpstr>
      <vt:lpstr>PowerPoint Presentation</vt:lpstr>
      <vt:lpstr>PowerPoint Presentation</vt:lpstr>
      <vt:lpstr>Strings </vt:lpstr>
      <vt:lpstr>PowerPoint Presentation</vt:lpstr>
      <vt:lpstr>PowerPoint Presentation</vt:lpstr>
      <vt:lpstr>Reading words from user.</vt:lpstr>
      <vt:lpstr>PowerPoint Presentation</vt:lpstr>
      <vt:lpstr>PowerPoint Presentation</vt:lpstr>
      <vt:lpstr>PowerPoint Presentation</vt:lpstr>
      <vt:lpstr>PowerPoint Presentation</vt:lpstr>
      <vt:lpstr>strlen()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ORDINARY DIPLOMA IN LABORATOTY TECHNOLOGY NTA 6 COT 103: COMPUTER PROGRAMMING {OBJECT-ORIENTED PROGRAMMING (OOP)}</dc:title>
  <dc:creator>HP</dc:creator>
  <cp:lastModifiedBy>SIKORO</cp:lastModifiedBy>
  <cp:revision>84</cp:revision>
  <dcterms:created xsi:type="dcterms:W3CDTF">2017-04-10T08:40:46Z</dcterms:created>
  <dcterms:modified xsi:type="dcterms:W3CDTF">2024-12-04T13:46:52Z</dcterms:modified>
</cp:coreProperties>
</file>