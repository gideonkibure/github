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theme/themeOverride1.xml" ContentType="application/vnd.openxmlformats-officedocument.themeOverr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4"/>
  </p:notesMasterIdLst>
  <p:sldIdLst>
    <p:sldId id="320" r:id="rId2"/>
    <p:sldId id="297" r:id="rId3"/>
    <p:sldId id="258" r:id="rId4"/>
    <p:sldId id="259" r:id="rId5"/>
    <p:sldId id="260" r:id="rId6"/>
    <p:sldId id="261" r:id="rId7"/>
    <p:sldId id="262" r:id="rId8"/>
    <p:sldId id="305" r:id="rId9"/>
    <p:sldId id="263" r:id="rId10"/>
    <p:sldId id="264" r:id="rId11"/>
    <p:sldId id="265" r:id="rId12"/>
    <p:sldId id="266" r:id="rId13"/>
    <p:sldId id="267" r:id="rId14"/>
    <p:sldId id="268" r:id="rId15"/>
    <p:sldId id="301" r:id="rId16"/>
    <p:sldId id="302" r:id="rId17"/>
    <p:sldId id="303" r:id="rId18"/>
    <p:sldId id="304" r:id="rId19"/>
    <p:sldId id="270" r:id="rId20"/>
    <p:sldId id="271" r:id="rId21"/>
    <p:sldId id="273" r:id="rId22"/>
    <p:sldId id="275" r:id="rId23"/>
    <p:sldId id="277" r:id="rId24"/>
    <p:sldId id="278" r:id="rId25"/>
    <p:sldId id="279" r:id="rId26"/>
    <p:sldId id="280" r:id="rId27"/>
    <p:sldId id="316" r:id="rId28"/>
    <p:sldId id="317" r:id="rId29"/>
    <p:sldId id="281" r:id="rId30"/>
    <p:sldId id="314" r:id="rId31"/>
    <p:sldId id="284" r:id="rId32"/>
    <p:sldId id="285" r:id="rId33"/>
    <p:sldId id="286" r:id="rId34"/>
    <p:sldId id="287" r:id="rId35"/>
    <p:sldId id="288" r:id="rId36"/>
    <p:sldId id="289" r:id="rId37"/>
    <p:sldId id="290" r:id="rId38"/>
    <p:sldId id="312" r:id="rId39"/>
    <p:sldId id="313" r:id="rId40"/>
    <p:sldId id="291" r:id="rId41"/>
    <p:sldId id="292" r:id="rId42"/>
    <p:sldId id="293" r:id="rId43"/>
    <p:sldId id="294" r:id="rId44"/>
    <p:sldId id="306" r:id="rId45"/>
    <p:sldId id="307" r:id="rId46"/>
    <p:sldId id="311" r:id="rId47"/>
    <p:sldId id="319" r:id="rId48"/>
    <p:sldId id="295" r:id="rId49"/>
    <p:sldId id="310" r:id="rId50"/>
    <p:sldId id="318" r:id="rId51"/>
    <p:sldId id="298" r:id="rId52"/>
    <p:sldId id="299" r:id="rId5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2" autoAdjust="0"/>
    <p:restoredTop sz="94660"/>
  </p:normalViewPr>
  <p:slideViewPr>
    <p:cSldViewPr snapToGrid="0">
      <p:cViewPr varScale="1">
        <p:scale>
          <a:sx n="66" d="100"/>
          <a:sy n="66" d="100"/>
        </p:scale>
        <p:origin x="816"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F7448B4-22BE-438F-B920-4E86BD6280B1}" type="datetimeFigureOut">
              <a:rPr lang="en-US" smtClean="0"/>
              <a:t>10/30/2024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6F83DCC-64DF-4736-8EF7-2280892E934E}" type="slidenum">
              <a:rPr lang="en-US" smtClean="0"/>
              <a:t>‹#›</a:t>
            </a:fld>
            <a:endParaRPr lang="en-US"/>
          </a:p>
        </p:txBody>
      </p:sp>
    </p:spTree>
    <p:extLst>
      <p:ext uri="{BB962C8B-B14F-4D97-AF65-F5344CB8AC3E}">
        <p14:creationId xmlns:p14="http://schemas.microsoft.com/office/powerpoint/2010/main" val="42851404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a:noFill/>
        </p:spPr>
        <p:txBody>
          <a:bodyPr/>
          <a:lstStyle>
            <a:lvl1pPr eaLnBrk="0" hangingPunct="0">
              <a:defRPr b="1">
                <a:solidFill>
                  <a:schemeClr val="tx1"/>
                </a:solidFill>
                <a:latin typeface="Arial" charset="0"/>
              </a:defRPr>
            </a:lvl1pPr>
            <a:lvl2pPr marL="742950" indent="-285750" eaLnBrk="0" hangingPunct="0">
              <a:defRPr b="1">
                <a:solidFill>
                  <a:schemeClr val="tx1"/>
                </a:solidFill>
                <a:latin typeface="Arial" charset="0"/>
              </a:defRPr>
            </a:lvl2pPr>
            <a:lvl3pPr marL="1143000" indent="-228600" eaLnBrk="0" hangingPunct="0">
              <a:defRPr b="1">
                <a:solidFill>
                  <a:schemeClr val="tx1"/>
                </a:solidFill>
                <a:latin typeface="Arial" charset="0"/>
              </a:defRPr>
            </a:lvl3pPr>
            <a:lvl4pPr marL="1600200" indent="-228600" eaLnBrk="0" hangingPunct="0">
              <a:defRPr b="1">
                <a:solidFill>
                  <a:schemeClr val="tx1"/>
                </a:solidFill>
                <a:latin typeface="Arial" charset="0"/>
              </a:defRPr>
            </a:lvl4pPr>
            <a:lvl5pPr marL="2057400" indent="-228600" eaLnBrk="0" hangingPunct="0">
              <a:defRPr b="1">
                <a:solidFill>
                  <a:schemeClr val="tx1"/>
                </a:solidFill>
                <a:latin typeface="Arial" charset="0"/>
              </a:defRPr>
            </a:lvl5pPr>
            <a:lvl6pPr marL="2514600" indent="-228600" eaLnBrk="0" fontAlgn="base" hangingPunct="0">
              <a:spcBef>
                <a:spcPct val="0"/>
              </a:spcBef>
              <a:spcAft>
                <a:spcPct val="0"/>
              </a:spcAft>
              <a:defRPr b="1">
                <a:solidFill>
                  <a:schemeClr val="tx1"/>
                </a:solidFill>
                <a:latin typeface="Arial" charset="0"/>
              </a:defRPr>
            </a:lvl6pPr>
            <a:lvl7pPr marL="2971800" indent="-228600" eaLnBrk="0" fontAlgn="base" hangingPunct="0">
              <a:spcBef>
                <a:spcPct val="0"/>
              </a:spcBef>
              <a:spcAft>
                <a:spcPct val="0"/>
              </a:spcAft>
              <a:defRPr b="1">
                <a:solidFill>
                  <a:schemeClr val="tx1"/>
                </a:solidFill>
                <a:latin typeface="Arial" charset="0"/>
              </a:defRPr>
            </a:lvl7pPr>
            <a:lvl8pPr marL="3429000" indent="-228600" eaLnBrk="0" fontAlgn="base" hangingPunct="0">
              <a:spcBef>
                <a:spcPct val="0"/>
              </a:spcBef>
              <a:spcAft>
                <a:spcPct val="0"/>
              </a:spcAft>
              <a:defRPr b="1">
                <a:solidFill>
                  <a:schemeClr val="tx1"/>
                </a:solidFill>
                <a:latin typeface="Arial" charset="0"/>
              </a:defRPr>
            </a:lvl8pPr>
            <a:lvl9pPr marL="3886200" indent="-228600" eaLnBrk="0" fontAlgn="base" hangingPunct="0">
              <a:spcBef>
                <a:spcPct val="0"/>
              </a:spcBef>
              <a:spcAft>
                <a:spcPct val="0"/>
              </a:spcAft>
              <a:defRPr b="1">
                <a:solidFill>
                  <a:schemeClr val="tx1"/>
                </a:solidFill>
                <a:latin typeface="Arial" charset="0"/>
              </a:defRPr>
            </a:lvl9pPr>
          </a:lstStyle>
          <a:p>
            <a:pPr eaLnBrk="1" hangingPunct="1"/>
            <a:fld id="{538B5C02-A61C-49E3-8BAA-50FB57B67CD6}" type="slidenum">
              <a:rPr lang="en-US" b="0">
                <a:solidFill>
                  <a:prstClr val="black"/>
                </a:solidFill>
              </a:rPr>
              <a:pPr eaLnBrk="1" hangingPunct="1"/>
              <a:t>3</a:t>
            </a:fld>
            <a:endParaRPr lang="en-US" b="0">
              <a:solidFill>
                <a:prstClr val="black"/>
              </a:solidFill>
            </a:endParaRPr>
          </a:p>
        </p:txBody>
      </p:sp>
      <p:sp>
        <p:nvSpPr>
          <p:cNvPr id="76803" name="Rectangle 2"/>
          <p:cNvSpPr>
            <a:spLocks noGrp="1" noRot="1" noChangeAspect="1" noChangeArrowheads="1" noTextEdit="1"/>
          </p:cNvSpPr>
          <p:nvPr>
            <p:ph type="sldImg"/>
          </p:nvPr>
        </p:nvSpPr>
        <p:spPr>
          <a:ln/>
        </p:spPr>
      </p:sp>
      <p:sp>
        <p:nvSpPr>
          <p:cNvPr id="76804" name="Rectangle 3"/>
          <p:cNvSpPr>
            <a:spLocks noGrp="1" noChangeArrowheads="1"/>
          </p:cNvSpPr>
          <p:nvPr>
            <p:ph type="body" idx="1"/>
          </p:nvPr>
        </p:nvSpPr>
        <p:spPr>
          <a:noFill/>
        </p:spPr>
        <p:txBody>
          <a:bodyPr/>
          <a:lstStyle/>
          <a:p>
            <a:pPr eaLnBrk="1" hangingPunct="1"/>
            <a:r>
              <a:rPr lang="en-US" dirty="0"/>
              <a:t>A type is a set of values, together with a collection of operations on those values. Associating each entity with a type makes it possible to check whether an object is appropriate in a certain context. </a:t>
            </a:r>
          </a:p>
          <a:p>
            <a:pPr eaLnBrk="1" hangingPunct="1"/>
            <a:r>
              <a:rPr lang="en-US" dirty="0"/>
              <a:t>Hence, it constitutes an error when a function receives as input an object of the wrong type. Automatically detecting these errors is a process called </a:t>
            </a:r>
            <a:r>
              <a:rPr lang="en-US" i="1" dirty="0"/>
              <a:t>type checking</a:t>
            </a:r>
            <a:r>
              <a:rPr lang="en-US" dirty="0"/>
              <a:t>. </a:t>
            </a:r>
          </a:p>
          <a:p>
            <a:pPr eaLnBrk="1" hangingPunct="1"/>
            <a:r>
              <a:rPr lang="en-US" dirty="0"/>
              <a:t>C++ provides a rich type structure and checks types very carefully, making it, as it is called, a </a:t>
            </a:r>
            <a:r>
              <a:rPr lang="en-US" i="1" dirty="0"/>
              <a:t>strongly typed language</a:t>
            </a:r>
            <a:r>
              <a:rPr lang="en-US" dirty="0"/>
              <a:t> </a:t>
            </a:r>
          </a:p>
          <a:p>
            <a:pPr eaLnBrk="1" hangingPunct="1"/>
            <a:r>
              <a:rPr lang="en-US" dirty="0"/>
              <a:t>First, the first three of the above types (that is, bool, char, and int) are called </a:t>
            </a:r>
            <a:r>
              <a:rPr lang="en-US" i="1" dirty="0"/>
              <a:t>integral types</a:t>
            </a:r>
            <a:r>
              <a:rPr lang="en-US" dirty="0"/>
              <a:t>, and all four are called </a:t>
            </a:r>
            <a:r>
              <a:rPr lang="en-US" i="1" dirty="0"/>
              <a:t>arithmetic types</a:t>
            </a:r>
            <a:r>
              <a:rPr lang="en-US" dirty="0"/>
              <a:t>. Second, there are some variations of these types—such as signed char and unsigned long int. Third, a large set of operations for these data types is available in the language. </a:t>
            </a:r>
          </a:p>
          <a:p>
            <a:pPr eaLnBrk="1" hangingPunct="1"/>
            <a:endParaRPr lang="en-US" dirty="0"/>
          </a:p>
          <a:p>
            <a:pPr eaLnBrk="1" hangingPunct="1"/>
            <a:r>
              <a:rPr lang="en-US" dirty="0"/>
              <a:t>Finally, there is a special type known as the void type that is used to specify functions that return no value. </a:t>
            </a:r>
          </a:p>
          <a:p>
            <a:pPr eaLnBrk="1" hangingPunct="1"/>
            <a:r>
              <a:rPr lang="en-US" dirty="0"/>
              <a:t>However, unlike other types, there are no entities of type void, and there are no operations on type void. The void type is also important in connection with pointers. </a:t>
            </a:r>
          </a:p>
          <a:p>
            <a:pPr eaLnBrk="1" hangingPunct="1"/>
            <a:endParaRPr lang="en-US" dirty="0"/>
          </a:p>
        </p:txBody>
      </p:sp>
      <p:sp>
        <p:nvSpPr>
          <p:cNvPr id="2" name="Footer Placeholder 1"/>
          <p:cNvSpPr>
            <a:spLocks noGrp="1"/>
          </p:cNvSpPr>
          <p:nvPr>
            <p:ph type="ftr" sz="quarter" idx="10"/>
          </p:nvPr>
        </p:nvSpPr>
        <p:spPr/>
        <p:txBody>
          <a:bodyPr/>
          <a:lstStyle/>
          <a:p>
            <a:r>
              <a:rPr lang="en-US"/>
              <a:t>Prepared by: E.A.S.S.</a:t>
            </a:r>
          </a:p>
        </p:txBody>
      </p:sp>
      <p:sp>
        <p:nvSpPr>
          <p:cNvPr id="3" name="Header Placeholder 2"/>
          <p:cNvSpPr>
            <a:spLocks noGrp="1"/>
          </p:cNvSpPr>
          <p:nvPr>
            <p:ph type="hdr" sz="quarter" idx="11"/>
          </p:nvPr>
        </p:nvSpPr>
        <p:spPr/>
        <p:txBody>
          <a:bodyPr/>
          <a:lstStyle/>
          <a:p>
            <a:r>
              <a:rPr lang="en-US"/>
              <a:t>BASIC COMPUTER APPLICATION VI - GSD 06205</a:t>
            </a:r>
          </a:p>
        </p:txBody>
      </p:sp>
    </p:spTree>
    <p:extLst>
      <p:ext uri="{BB962C8B-B14F-4D97-AF65-F5344CB8AC3E}">
        <p14:creationId xmlns:p14="http://schemas.microsoft.com/office/powerpoint/2010/main" val="17330770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p:spPr>
        <p:txBody>
          <a:bodyPr/>
          <a:lstStyle>
            <a:lvl1pPr eaLnBrk="0" hangingPunct="0">
              <a:defRPr b="1">
                <a:solidFill>
                  <a:schemeClr val="tx1"/>
                </a:solidFill>
                <a:latin typeface="Arial" charset="0"/>
              </a:defRPr>
            </a:lvl1pPr>
            <a:lvl2pPr marL="742950" indent="-285750" eaLnBrk="0" hangingPunct="0">
              <a:defRPr b="1">
                <a:solidFill>
                  <a:schemeClr val="tx1"/>
                </a:solidFill>
                <a:latin typeface="Arial" charset="0"/>
              </a:defRPr>
            </a:lvl2pPr>
            <a:lvl3pPr marL="1143000" indent="-228600" eaLnBrk="0" hangingPunct="0">
              <a:defRPr b="1">
                <a:solidFill>
                  <a:schemeClr val="tx1"/>
                </a:solidFill>
                <a:latin typeface="Arial" charset="0"/>
              </a:defRPr>
            </a:lvl3pPr>
            <a:lvl4pPr marL="1600200" indent="-228600" eaLnBrk="0" hangingPunct="0">
              <a:defRPr b="1">
                <a:solidFill>
                  <a:schemeClr val="tx1"/>
                </a:solidFill>
                <a:latin typeface="Arial" charset="0"/>
              </a:defRPr>
            </a:lvl4pPr>
            <a:lvl5pPr marL="2057400" indent="-228600" eaLnBrk="0" hangingPunct="0">
              <a:defRPr b="1">
                <a:solidFill>
                  <a:schemeClr val="tx1"/>
                </a:solidFill>
                <a:latin typeface="Arial" charset="0"/>
              </a:defRPr>
            </a:lvl5pPr>
            <a:lvl6pPr marL="2514600" indent="-228600" eaLnBrk="0" fontAlgn="base" hangingPunct="0">
              <a:spcBef>
                <a:spcPct val="0"/>
              </a:spcBef>
              <a:spcAft>
                <a:spcPct val="0"/>
              </a:spcAft>
              <a:defRPr b="1">
                <a:solidFill>
                  <a:schemeClr val="tx1"/>
                </a:solidFill>
                <a:latin typeface="Arial" charset="0"/>
              </a:defRPr>
            </a:lvl6pPr>
            <a:lvl7pPr marL="2971800" indent="-228600" eaLnBrk="0" fontAlgn="base" hangingPunct="0">
              <a:spcBef>
                <a:spcPct val="0"/>
              </a:spcBef>
              <a:spcAft>
                <a:spcPct val="0"/>
              </a:spcAft>
              <a:defRPr b="1">
                <a:solidFill>
                  <a:schemeClr val="tx1"/>
                </a:solidFill>
                <a:latin typeface="Arial" charset="0"/>
              </a:defRPr>
            </a:lvl7pPr>
            <a:lvl8pPr marL="3429000" indent="-228600" eaLnBrk="0" fontAlgn="base" hangingPunct="0">
              <a:spcBef>
                <a:spcPct val="0"/>
              </a:spcBef>
              <a:spcAft>
                <a:spcPct val="0"/>
              </a:spcAft>
              <a:defRPr b="1">
                <a:solidFill>
                  <a:schemeClr val="tx1"/>
                </a:solidFill>
                <a:latin typeface="Arial" charset="0"/>
              </a:defRPr>
            </a:lvl8pPr>
            <a:lvl9pPr marL="3886200" indent="-228600" eaLnBrk="0" fontAlgn="base" hangingPunct="0">
              <a:spcBef>
                <a:spcPct val="0"/>
              </a:spcBef>
              <a:spcAft>
                <a:spcPct val="0"/>
              </a:spcAft>
              <a:defRPr b="1">
                <a:solidFill>
                  <a:schemeClr val="tx1"/>
                </a:solidFill>
                <a:latin typeface="Arial" charset="0"/>
              </a:defRPr>
            </a:lvl9pPr>
          </a:lstStyle>
          <a:p>
            <a:pPr eaLnBrk="1" hangingPunct="1"/>
            <a:fld id="{DF4EE06C-D6AA-41D3-BE6A-80BA42AD7B64}" type="slidenum">
              <a:rPr lang="en-US" b="0">
                <a:solidFill>
                  <a:prstClr val="black"/>
                </a:solidFill>
              </a:rPr>
              <a:pPr eaLnBrk="1" hangingPunct="1"/>
              <a:t>4</a:t>
            </a:fld>
            <a:endParaRPr lang="en-US" b="0">
              <a:solidFill>
                <a:prstClr val="black"/>
              </a:solidFill>
            </a:endParaRPr>
          </a:p>
        </p:txBody>
      </p:sp>
      <p:sp>
        <p:nvSpPr>
          <p:cNvPr id="77827" name="Rectangle 2"/>
          <p:cNvSpPr>
            <a:spLocks noGrp="1" noRot="1" noChangeAspect="1" noChangeArrowheads="1" noTextEdit="1"/>
          </p:cNvSpPr>
          <p:nvPr>
            <p:ph type="sldImg"/>
          </p:nvPr>
        </p:nvSpPr>
        <p:spPr>
          <a:ln/>
        </p:spPr>
      </p:sp>
      <p:sp>
        <p:nvSpPr>
          <p:cNvPr id="77828" name="Rectangle 3"/>
          <p:cNvSpPr>
            <a:spLocks noGrp="1" noChangeArrowheads="1"/>
          </p:cNvSpPr>
          <p:nvPr>
            <p:ph type="body" idx="1"/>
          </p:nvPr>
        </p:nvSpPr>
        <p:spPr>
          <a:noFill/>
        </p:spPr>
        <p:txBody>
          <a:bodyPr/>
          <a:lstStyle/>
          <a:p>
            <a:pPr eaLnBrk="1" hangingPunct="1"/>
            <a:r>
              <a:rPr lang="en-US" dirty="0"/>
              <a:t>A type is a set of values, together with a collection of operations on those values. Associating each entity with a type makes it possible to check whether an object is appropriate in a certain context. </a:t>
            </a:r>
          </a:p>
          <a:p>
            <a:pPr eaLnBrk="1" hangingPunct="1"/>
            <a:r>
              <a:rPr lang="en-US" dirty="0"/>
              <a:t>Hence, it constitutes an error when a function receives as input an object of the wrong type. Automatically detecting these errors is a process called </a:t>
            </a:r>
            <a:r>
              <a:rPr lang="en-US" i="1" dirty="0"/>
              <a:t>type checking</a:t>
            </a:r>
            <a:r>
              <a:rPr lang="en-US" dirty="0"/>
              <a:t>. </a:t>
            </a:r>
          </a:p>
          <a:p>
            <a:pPr eaLnBrk="1" hangingPunct="1"/>
            <a:r>
              <a:rPr lang="en-US" dirty="0"/>
              <a:t>C++ provides a rich type structure and checks types very carefully, making it, as it is called, a </a:t>
            </a:r>
            <a:r>
              <a:rPr lang="en-US" i="1" dirty="0"/>
              <a:t>strongly typed language</a:t>
            </a:r>
            <a:r>
              <a:rPr lang="en-US" dirty="0"/>
              <a:t> </a:t>
            </a:r>
          </a:p>
          <a:p>
            <a:pPr eaLnBrk="1" hangingPunct="1"/>
            <a:r>
              <a:rPr lang="en-US" dirty="0"/>
              <a:t>First, the first three of the above types (that is, bool, char, and int) are called </a:t>
            </a:r>
            <a:r>
              <a:rPr lang="en-US" i="1" dirty="0"/>
              <a:t>integral types</a:t>
            </a:r>
            <a:r>
              <a:rPr lang="en-US" dirty="0"/>
              <a:t>, and all four are called </a:t>
            </a:r>
            <a:r>
              <a:rPr lang="en-US" i="1" dirty="0"/>
              <a:t>arithmetic types</a:t>
            </a:r>
            <a:r>
              <a:rPr lang="en-US" dirty="0"/>
              <a:t>. Second, there are some variations of these types—such as signed char and unsigned long int. Third, a large set of operations for these data types is available in the language. </a:t>
            </a:r>
          </a:p>
          <a:p>
            <a:pPr eaLnBrk="1" hangingPunct="1"/>
            <a:endParaRPr lang="en-US" dirty="0"/>
          </a:p>
        </p:txBody>
      </p:sp>
      <p:sp>
        <p:nvSpPr>
          <p:cNvPr id="2" name="Footer Placeholder 1"/>
          <p:cNvSpPr>
            <a:spLocks noGrp="1"/>
          </p:cNvSpPr>
          <p:nvPr>
            <p:ph type="ftr" sz="quarter" idx="10"/>
          </p:nvPr>
        </p:nvSpPr>
        <p:spPr/>
        <p:txBody>
          <a:bodyPr/>
          <a:lstStyle/>
          <a:p>
            <a:r>
              <a:rPr lang="en-US"/>
              <a:t>Prepared by: E.A.S.S.</a:t>
            </a:r>
          </a:p>
        </p:txBody>
      </p:sp>
      <p:sp>
        <p:nvSpPr>
          <p:cNvPr id="3" name="Header Placeholder 2"/>
          <p:cNvSpPr>
            <a:spLocks noGrp="1"/>
          </p:cNvSpPr>
          <p:nvPr>
            <p:ph type="hdr" sz="quarter" idx="11"/>
          </p:nvPr>
        </p:nvSpPr>
        <p:spPr/>
        <p:txBody>
          <a:bodyPr/>
          <a:lstStyle/>
          <a:p>
            <a:r>
              <a:rPr lang="en-US"/>
              <a:t>BASIC COMPUTER APPLICATION VI - GSD 06205</a:t>
            </a:r>
          </a:p>
        </p:txBody>
      </p:sp>
    </p:spTree>
    <p:extLst>
      <p:ext uri="{BB962C8B-B14F-4D97-AF65-F5344CB8AC3E}">
        <p14:creationId xmlns:p14="http://schemas.microsoft.com/office/powerpoint/2010/main" val="22368160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p:spPr>
        <p:txBody>
          <a:bodyPr/>
          <a:lstStyle>
            <a:lvl1pPr eaLnBrk="0" hangingPunct="0">
              <a:defRPr b="1">
                <a:solidFill>
                  <a:schemeClr val="tx1"/>
                </a:solidFill>
                <a:latin typeface="Arial" charset="0"/>
              </a:defRPr>
            </a:lvl1pPr>
            <a:lvl2pPr marL="742950" indent="-285750" eaLnBrk="0" hangingPunct="0">
              <a:defRPr b="1">
                <a:solidFill>
                  <a:schemeClr val="tx1"/>
                </a:solidFill>
                <a:latin typeface="Arial" charset="0"/>
              </a:defRPr>
            </a:lvl2pPr>
            <a:lvl3pPr marL="1143000" indent="-228600" eaLnBrk="0" hangingPunct="0">
              <a:defRPr b="1">
                <a:solidFill>
                  <a:schemeClr val="tx1"/>
                </a:solidFill>
                <a:latin typeface="Arial" charset="0"/>
              </a:defRPr>
            </a:lvl3pPr>
            <a:lvl4pPr marL="1600200" indent="-228600" eaLnBrk="0" hangingPunct="0">
              <a:defRPr b="1">
                <a:solidFill>
                  <a:schemeClr val="tx1"/>
                </a:solidFill>
                <a:latin typeface="Arial" charset="0"/>
              </a:defRPr>
            </a:lvl4pPr>
            <a:lvl5pPr marL="2057400" indent="-228600" eaLnBrk="0" hangingPunct="0">
              <a:defRPr b="1">
                <a:solidFill>
                  <a:schemeClr val="tx1"/>
                </a:solidFill>
                <a:latin typeface="Arial" charset="0"/>
              </a:defRPr>
            </a:lvl5pPr>
            <a:lvl6pPr marL="2514600" indent="-228600" eaLnBrk="0" fontAlgn="base" hangingPunct="0">
              <a:spcBef>
                <a:spcPct val="0"/>
              </a:spcBef>
              <a:spcAft>
                <a:spcPct val="0"/>
              </a:spcAft>
              <a:defRPr b="1">
                <a:solidFill>
                  <a:schemeClr val="tx1"/>
                </a:solidFill>
                <a:latin typeface="Arial" charset="0"/>
              </a:defRPr>
            </a:lvl6pPr>
            <a:lvl7pPr marL="2971800" indent="-228600" eaLnBrk="0" fontAlgn="base" hangingPunct="0">
              <a:spcBef>
                <a:spcPct val="0"/>
              </a:spcBef>
              <a:spcAft>
                <a:spcPct val="0"/>
              </a:spcAft>
              <a:defRPr b="1">
                <a:solidFill>
                  <a:schemeClr val="tx1"/>
                </a:solidFill>
                <a:latin typeface="Arial" charset="0"/>
              </a:defRPr>
            </a:lvl7pPr>
            <a:lvl8pPr marL="3429000" indent="-228600" eaLnBrk="0" fontAlgn="base" hangingPunct="0">
              <a:spcBef>
                <a:spcPct val="0"/>
              </a:spcBef>
              <a:spcAft>
                <a:spcPct val="0"/>
              </a:spcAft>
              <a:defRPr b="1">
                <a:solidFill>
                  <a:schemeClr val="tx1"/>
                </a:solidFill>
                <a:latin typeface="Arial" charset="0"/>
              </a:defRPr>
            </a:lvl8pPr>
            <a:lvl9pPr marL="3886200" indent="-228600" eaLnBrk="0" fontAlgn="base" hangingPunct="0">
              <a:spcBef>
                <a:spcPct val="0"/>
              </a:spcBef>
              <a:spcAft>
                <a:spcPct val="0"/>
              </a:spcAft>
              <a:defRPr b="1">
                <a:solidFill>
                  <a:schemeClr val="tx1"/>
                </a:solidFill>
                <a:latin typeface="Arial" charset="0"/>
              </a:defRPr>
            </a:lvl9pPr>
          </a:lstStyle>
          <a:p>
            <a:pPr eaLnBrk="1" hangingPunct="1"/>
            <a:fld id="{F34B39FF-1427-4B7A-AB55-E8C703683499}" type="slidenum">
              <a:rPr lang="en-US" b="0">
                <a:solidFill>
                  <a:prstClr val="black"/>
                </a:solidFill>
              </a:rPr>
              <a:pPr eaLnBrk="1" hangingPunct="1"/>
              <a:t>6</a:t>
            </a:fld>
            <a:endParaRPr lang="en-US" b="0">
              <a:solidFill>
                <a:prstClr val="black"/>
              </a:solidFill>
            </a:endParaRPr>
          </a:p>
        </p:txBody>
      </p:sp>
      <p:sp>
        <p:nvSpPr>
          <p:cNvPr id="78851" name="Rectangle 2"/>
          <p:cNvSpPr>
            <a:spLocks noGrp="1" noRot="1" noChangeAspect="1" noChangeArrowheads="1" noTextEdit="1"/>
          </p:cNvSpPr>
          <p:nvPr>
            <p:ph type="sldImg"/>
          </p:nvPr>
        </p:nvSpPr>
        <p:spPr>
          <a:ln/>
        </p:spPr>
      </p:sp>
      <p:sp>
        <p:nvSpPr>
          <p:cNvPr id="78852" name="Rectangle 3"/>
          <p:cNvSpPr>
            <a:spLocks noGrp="1" noChangeArrowheads="1"/>
          </p:cNvSpPr>
          <p:nvPr>
            <p:ph type="body" idx="1"/>
          </p:nvPr>
        </p:nvSpPr>
        <p:spPr>
          <a:noFill/>
        </p:spPr>
        <p:txBody>
          <a:bodyPr/>
          <a:lstStyle/>
          <a:p>
            <a:pPr eaLnBrk="1" hangingPunct="1"/>
            <a:r>
              <a:rPr lang="en-US"/>
              <a:t>The operations used and the types of variables or constants involved determine the type of expression. </a:t>
            </a:r>
          </a:p>
          <a:p>
            <a:pPr eaLnBrk="1" hangingPunct="1"/>
            <a:r>
              <a:rPr lang="en-US"/>
              <a:t>Each expression has an associated value. </a:t>
            </a:r>
          </a:p>
        </p:txBody>
      </p:sp>
      <p:sp>
        <p:nvSpPr>
          <p:cNvPr id="2" name="Footer Placeholder 1"/>
          <p:cNvSpPr>
            <a:spLocks noGrp="1"/>
          </p:cNvSpPr>
          <p:nvPr>
            <p:ph type="ftr" sz="quarter" idx="10"/>
          </p:nvPr>
        </p:nvSpPr>
        <p:spPr/>
        <p:txBody>
          <a:bodyPr/>
          <a:lstStyle/>
          <a:p>
            <a:r>
              <a:rPr lang="en-US"/>
              <a:t>Prepared by: E.A.S.S.</a:t>
            </a:r>
          </a:p>
        </p:txBody>
      </p:sp>
      <p:sp>
        <p:nvSpPr>
          <p:cNvPr id="3" name="Header Placeholder 2"/>
          <p:cNvSpPr>
            <a:spLocks noGrp="1"/>
          </p:cNvSpPr>
          <p:nvPr>
            <p:ph type="hdr" sz="quarter" idx="11"/>
          </p:nvPr>
        </p:nvSpPr>
        <p:spPr/>
        <p:txBody>
          <a:bodyPr/>
          <a:lstStyle/>
          <a:p>
            <a:r>
              <a:rPr lang="en-US"/>
              <a:t>BASIC COMPUTER APPLICATION VI - GSD 06205</a:t>
            </a:r>
          </a:p>
        </p:txBody>
      </p:sp>
    </p:spTree>
    <p:extLst>
      <p:ext uri="{BB962C8B-B14F-4D97-AF65-F5344CB8AC3E}">
        <p14:creationId xmlns:p14="http://schemas.microsoft.com/office/powerpoint/2010/main" val="3777329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p:spPr>
        <p:txBody>
          <a:bodyPr/>
          <a:lstStyle>
            <a:lvl1pPr eaLnBrk="0" hangingPunct="0">
              <a:defRPr b="1">
                <a:solidFill>
                  <a:schemeClr val="tx1"/>
                </a:solidFill>
                <a:latin typeface="Arial" charset="0"/>
              </a:defRPr>
            </a:lvl1pPr>
            <a:lvl2pPr marL="742950" indent="-285750" eaLnBrk="0" hangingPunct="0">
              <a:defRPr b="1">
                <a:solidFill>
                  <a:schemeClr val="tx1"/>
                </a:solidFill>
                <a:latin typeface="Arial" charset="0"/>
              </a:defRPr>
            </a:lvl2pPr>
            <a:lvl3pPr marL="1143000" indent="-228600" eaLnBrk="0" hangingPunct="0">
              <a:defRPr b="1">
                <a:solidFill>
                  <a:schemeClr val="tx1"/>
                </a:solidFill>
                <a:latin typeface="Arial" charset="0"/>
              </a:defRPr>
            </a:lvl3pPr>
            <a:lvl4pPr marL="1600200" indent="-228600" eaLnBrk="0" hangingPunct="0">
              <a:defRPr b="1">
                <a:solidFill>
                  <a:schemeClr val="tx1"/>
                </a:solidFill>
                <a:latin typeface="Arial" charset="0"/>
              </a:defRPr>
            </a:lvl4pPr>
            <a:lvl5pPr marL="2057400" indent="-228600" eaLnBrk="0" hangingPunct="0">
              <a:defRPr b="1">
                <a:solidFill>
                  <a:schemeClr val="tx1"/>
                </a:solidFill>
                <a:latin typeface="Arial" charset="0"/>
              </a:defRPr>
            </a:lvl5pPr>
            <a:lvl6pPr marL="2514600" indent="-228600" eaLnBrk="0" fontAlgn="base" hangingPunct="0">
              <a:spcBef>
                <a:spcPct val="0"/>
              </a:spcBef>
              <a:spcAft>
                <a:spcPct val="0"/>
              </a:spcAft>
              <a:defRPr b="1">
                <a:solidFill>
                  <a:schemeClr val="tx1"/>
                </a:solidFill>
                <a:latin typeface="Arial" charset="0"/>
              </a:defRPr>
            </a:lvl6pPr>
            <a:lvl7pPr marL="2971800" indent="-228600" eaLnBrk="0" fontAlgn="base" hangingPunct="0">
              <a:spcBef>
                <a:spcPct val="0"/>
              </a:spcBef>
              <a:spcAft>
                <a:spcPct val="0"/>
              </a:spcAft>
              <a:defRPr b="1">
                <a:solidFill>
                  <a:schemeClr val="tx1"/>
                </a:solidFill>
                <a:latin typeface="Arial" charset="0"/>
              </a:defRPr>
            </a:lvl7pPr>
            <a:lvl8pPr marL="3429000" indent="-228600" eaLnBrk="0" fontAlgn="base" hangingPunct="0">
              <a:spcBef>
                <a:spcPct val="0"/>
              </a:spcBef>
              <a:spcAft>
                <a:spcPct val="0"/>
              </a:spcAft>
              <a:defRPr b="1">
                <a:solidFill>
                  <a:schemeClr val="tx1"/>
                </a:solidFill>
                <a:latin typeface="Arial" charset="0"/>
              </a:defRPr>
            </a:lvl8pPr>
            <a:lvl9pPr marL="3886200" indent="-228600" eaLnBrk="0" fontAlgn="base" hangingPunct="0">
              <a:spcBef>
                <a:spcPct val="0"/>
              </a:spcBef>
              <a:spcAft>
                <a:spcPct val="0"/>
              </a:spcAft>
              <a:defRPr b="1">
                <a:solidFill>
                  <a:schemeClr val="tx1"/>
                </a:solidFill>
                <a:latin typeface="Arial" charset="0"/>
              </a:defRPr>
            </a:lvl9pPr>
          </a:lstStyle>
          <a:p>
            <a:pPr eaLnBrk="1" hangingPunct="1"/>
            <a:fld id="{2E5D8103-DB71-40D5-B7BA-54BC2C1CECED}" type="slidenum">
              <a:rPr lang="en-US" b="0">
                <a:solidFill>
                  <a:prstClr val="black"/>
                </a:solidFill>
              </a:rPr>
              <a:pPr eaLnBrk="1" hangingPunct="1"/>
              <a:t>7</a:t>
            </a:fld>
            <a:endParaRPr lang="en-US" b="0">
              <a:solidFill>
                <a:prstClr val="black"/>
              </a:solidFill>
            </a:endParaRPr>
          </a:p>
        </p:txBody>
      </p:sp>
      <p:sp>
        <p:nvSpPr>
          <p:cNvPr id="79875" name="Rectangle 2"/>
          <p:cNvSpPr>
            <a:spLocks noGrp="1" noRot="1" noChangeAspect="1" noChangeArrowheads="1" noTextEdit="1"/>
          </p:cNvSpPr>
          <p:nvPr>
            <p:ph type="sldImg"/>
          </p:nvPr>
        </p:nvSpPr>
        <p:spPr>
          <a:ln/>
        </p:spPr>
      </p:sp>
      <p:sp>
        <p:nvSpPr>
          <p:cNvPr id="79876" name="Rectangle 3"/>
          <p:cNvSpPr>
            <a:spLocks noGrp="1" noChangeArrowheads="1"/>
          </p:cNvSpPr>
          <p:nvPr>
            <p:ph type="body" idx="1"/>
          </p:nvPr>
        </p:nvSpPr>
        <p:spPr>
          <a:noFill/>
        </p:spPr>
        <p:txBody>
          <a:bodyPr/>
          <a:lstStyle/>
          <a:p>
            <a:pPr eaLnBrk="1" hangingPunct="1"/>
            <a:r>
              <a:rPr lang="en-US" sz="1000" dirty="0"/>
              <a:t>In order to use a variable in C++, we must first declare it specifying which data type we want it to be. The syntax to declare a new variable is to write the specifier of the desired data type (like int, bool, float...) followed by a valid variable identifier.</a:t>
            </a:r>
          </a:p>
          <a:p>
            <a:pPr eaLnBrk="1" hangingPunct="1"/>
            <a:r>
              <a:rPr lang="en-US" sz="1000" dirty="0"/>
              <a:t>If you are going to declare more than one variable of the same type, you can declare all of them in a single statement by separating their identifiers with commas. </a:t>
            </a:r>
          </a:p>
          <a:p>
            <a:pPr eaLnBrk="1" hangingPunct="1"/>
            <a:r>
              <a:rPr lang="en-US" sz="1000" dirty="0"/>
              <a:t>The integer data types char, short, long and int can be either signed or unsigned depending on the range of numbers needed to be represented. Signed types can represent both positive and negative values, whereas unsigned types can only represent positive values (and zero). This can be specified by using either the specifier signed or the specifier unsigned before the type name. For example: </a:t>
            </a:r>
            <a:endParaRPr lang="en-US" sz="1000" b="1" dirty="0"/>
          </a:p>
          <a:p>
            <a:pPr eaLnBrk="1" hangingPunct="1"/>
            <a:r>
              <a:rPr lang="en-US" sz="1000" b="1" dirty="0"/>
              <a:t>unsigned short int </a:t>
            </a:r>
            <a:r>
              <a:rPr lang="en-US" sz="1000" b="1" dirty="0" err="1"/>
              <a:t>NumberOfSisters</a:t>
            </a:r>
            <a:r>
              <a:rPr lang="en-US" sz="1000" b="1" dirty="0"/>
              <a:t>; </a:t>
            </a:r>
          </a:p>
          <a:p>
            <a:pPr eaLnBrk="1" hangingPunct="1"/>
            <a:r>
              <a:rPr lang="en-US" sz="1000" b="1" dirty="0"/>
              <a:t>signed int </a:t>
            </a:r>
            <a:r>
              <a:rPr lang="en-US" sz="1000" b="1" dirty="0" err="1"/>
              <a:t>MyAccountBalance</a:t>
            </a:r>
            <a:r>
              <a:rPr lang="en-US" sz="1000" b="1" dirty="0"/>
              <a:t>; </a:t>
            </a:r>
          </a:p>
          <a:p>
            <a:pPr eaLnBrk="1" hangingPunct="1"/>
            <a:r>
              <a:rPr lang="en-US" sz="1000" dirty="0"/>
              <a:t>By default, if we do not specify either signed or unsigned most compiler settings will assume the type to be signed, therefore instead of the second declaration above we could have written: </a:t>
            </a:r>
            <a:endParaRPr lang="en-US" sz="1000" b="1" dirty="0"/>
          </a:p>
          <a:p>
            <a:pPr eaLnBrk="1" hangingPunct="1"/>
            <a:r>
              <a:rPr lang="en-US" sz="1000" b="1" dirty="0"/>
              <a:t>int </a:t>
            </a:r>
            <a:r>
              <a:rPr lang="en-US" sz="1000" b="1" dirty="0" err="1"/>
              <a:t>MyAccountBalance</a:t>
            </a:r>
            <a:r>
              <a:rPr lang="en-US" sz="1000" b="1" dirty="0"/>
              <a:t>;</a:t>
            </a:r>
            <a:r>
              <a:rPr lang="en-US" sz="1000" dirty="0"/>
              <a:t> </a:t>
            </a:r>
          </a:p>
          <a:p>
            <a:pPr eaLnBrk="1" hangingPunct="1"/>
            <a:endParaRPr lang="en-US" sz="1000" dirty="0"/>
          </a:p>
          <a:p>
            <a:pPr eaLnBrk="1" hangingPunct="1"/>
            <a:r>
              <a:rPr lang="en-US" sz="1000" b="1" dirty="0"/>
              <a:t>short</a:t>
            </a:r>
            <a:r>
              <a:rPr lang="en-US" sz="1000" dirty="0"/>
              <a:t> and</a:t>
            </a:r>
            <a:r>
              <a:rPr lang="en-US" sz="1000" b="1" dirty="0"/>
              <a:t> long</a:t>
            </a:r>
            <a:r>
              <a:rPr lang="en-US" sz="1000" dirty="0"/>
              <a:t> can be used alone as type </a:t>
            </a:r>
            <a:r>
              <a:rPr lang="en-US" sz="1000" dirty="0" err="1"/>
              <a:t>specifiers</a:t>
            </a:r>
            <a:r>
              <a:rPr lang="en-US" sz="1000" dirty="0"/>
              <a:t>. In this case, they refer to their respective integer fundamental types: short is equivalent to short int and long is equivalent to long int. The following two variable declarations are equivalent: </a:t>
            </a:r>
            <a:endParaRPr lang="en-US" sz="1000" b="1" dirty="0"/>
          </a:p>
          <a:p>
            <a:pPr eaLnBrk="1" hangingPunct="1"/>
            <a:r>
              <a:rPr lang="en-US" sz="1000" b="1" dirty="0"/>
              <a:t>short Year; short int Year;</a:t>
            </a:r>
            <a:r>
              <a:rPr lang="en-US" sz="1000" dirty="0"/>
              <a:t> </a:t>
            </a:r>
          </a:p>
          <a:p>
            <a:pPr eaLnBrk="1" hangingPunct="1"/>
            <a:endParaRPr lang="en-US" sz="1000" dirty="0"/>
          </a:p>
        </p:txBody>
      </p:sp>
      <p:sp>
        <p:nvSpPr>
          <p:cNvPr id="2" name="Footer Placeholder 1"/>
          <p:cNvSpPr>
            <a:spLocks noGrp="1"/>
          </p:cNvSpPr>
          <p:nvPr>
            <p:ph type="ftr" sz="quarter" idx="10"/>
          </p:nvPr>
        </p:nvSpPr>
        <p:spPr/>
        <p:txBody>
          <a:bodyPr/>
          <a:lstStyle/>
          <a:p>
            <a:r>
              <a:rPr lang="en-US"/>
              <a:t>Prepared by: E.A.S.S.</a:t>
            </a:r>
          </a:p>
        </p:txBody>
      </p:sp>
      <p:sp>
        <p:nvSpPr>
          <p:cNvPr id="3" name="Header Placeholder 2"/>
          <p:cNvSpPr>
            <a:spLocks noGrp="1"/>
          </p:cNvSpPr>
          <p:nvPr>
            <p:ph type="hdr" sz="quarter" idx="11"/>
          </p:nvPr>
        </p:nvSpPr>
        <p:spPr/>
        <p:txBody>
          <a:bodyPr/>
          <a:lstStyle/>
          <a:p>
            <a:r>
              <a:rPr lang="en-US"/>
              <a:t>BASIC COMPUTER APPLICATION VI - GSD 06205</a:t>
            </a:r>
          </a:p>
        </p:txBody>
      </p:sp>
    </p:spTree>
    <p:extLst>
      <p:ext uri="{BB962C8B-B14F-4D97-AF65-F5344CB8AC3E}">
        <p14:creationId xmlns:p14="http://schemas.microsoft.com/office/powerpoint/2010/main" val="35555205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p:spPr>
        <p:txBody>
          <a:bodyPr/>
          <a:lstStyle>
            <a:lvl1pPr eaLnBrk="0" hangingPunct="0">
              <a:defRPr b="1">
                <a:solidFill>
                  <a:schemeClr val="tx1"/>
                </a:solidFill>
                <a:latin typeface="Arial" charset="0"/>
              </a:defRPr>
            </a:lvl1pPr>
            <a:lvl2pPr marL="742950" indent="-285750" eaLnBrk="0" hangingPunct="0">
              <a:defRPr b="1">
                <a:solidFill>
                  <a:schemeClr val="tx1"/>
                </a:solidFill>
                <a:latin typeface="Arial" charset="0"/>
              </a:defRPr>
            </a:lvl2pPr>
            <a:lvl3pPr marL="1143000" indent="-228600" eaLnBrk="0" hangingPunct="0">
              <a:defRPr b="1">
                <a:solidFill>
                  <a:schemeClr val="tx1"/>
                </a:solidFill>
                <a:latin typeface="Arial" charset="0"/>
              </a:defRPr>
            </a:lvl3pPr>
            <a:lvl4pPr marL="1600200" indent="-228600" eaLnBrk="0" hangingPunct="0">
              <a:defRPr b="1">
                <a:solidFill>
                  <a:schemeClr val="tx1"/>
                </a:solidFill>
                <a:latin typeface="Arial" charset="0"/>
              </a:defRPr>
            </a:lvl4pPr>
            <a:lvl5pPr marL="2057400" indent="-228600" eaLnBrk="0" hangingPunct="0">
              <a:defRPr b="1">
                <a:solidFill>
                  <a:schemeClr val="tx1"/>
                </a:solidFill>
                <a:latin typeface="Arial" charset="0"/>
              </a:defRPr>
            </a:lvl5pPr>
            <a:lvl6pPr marL="2514600" indent="-228600" eaLnBrk="0" fontAlgn="base" hangingPunct="0">
              <a:spcBef>
                <a:spcPct val="0"/>
              </a:spcBef>
              <a:spcAft>
                <a:spcPct val="0"/>
              </a:spcAft>
              <a:defRPr b="1">
                <a:solidFill>
                  <a:schemeClr val="tx1"/>
                </a:solidFill>
                <a:latin typeface="Arial" charset="0"/>
              </a:defRPr>
            </a:lvl6pPr>
            <a:lvl7pPr marL="2971800" indent="-228600" eaLnBrk="0" fontAlgn="base" hangingPunct="0">
              <a:spcBef>
                <a:spcPct val="0"/>
              </a:spcBef>
              <a:spcAft>
                <a:spcPct val="0"/>
              </a:spcAft>
              <a:defRPr b="1">
                <a:solidFill>
                  <a:schemeClr val="tx1"/>
                </a:solidFill>
                <a:latin typeface="Arial" charset="0"/>
              </a:defRPr>
            </a:lvl7pPr>
            <a:lvl8pPr marL="3429000" indent="-228600" eaLnBrk="0" fontAlgn="base" hangingPunct="0">
              <a:spcBef>
                <a:spcPct val="0"/>
              </a:spcBef>
              <a:spcAft>
                <a:spcPct val="0"/>
              </a:spcAft>
              <a:defRPr b="1">
                <a:solidFill>
                  <a:schemeClr val="tx1"/>
                </a:solidFill>
                <a:latin typeface="Arial" charset="0"/>
              </a:defRPr>
            </a:lvl8pPr>
            <a:lvl9pPr marL="3886200" indent="-228600" eaLnBrk="0" fontAlgn="base" hangingPunct="0">
              <a:spcBef>
                <a:spcPct val="0"/>
              </a:spcBef>
              <a:spcAft>
                <a:spcPct val="0"/>
              </a:spcAft>
              <a:defRPr b="1">
                <a:solidFill>
                  <a:schemeClr val="tx1"/>
                </a:solidFill>
                <a:latin typeface="Arial" charset="0"/>
              </a:defRPr>
            </a:lvl9pPr>
          </a:lstStyle>
          <a:p>
            <a:pPr eaLnBrk="1" hangingPunct="1"/>
            <a:fld id="{1FE36649-1BD7-43DB-9734-DAB8CFB7E4B9}" type="slidenum">
              <a:rPr lang="en-US" b="0">
                <a:solidFill>
                  <a:prstClr val="black"/>
                </a:solidFill>
              </a:rPr>
              <a:pPr eaLnBrk="1" hangingPunct="1"/>
              <a:t>10</a:t>
            </a:fld>
            <a:endParaRPr lang="en-US" b="0">
              <a:solidFill>
                <a:prstClr val="black"/>
              </a:solidFill>
            </a:endParaRPr>
          </a:p>
        </p:txBody>
      </p:sp>
      <p:sp>
        <p:nvSpPr>
          <p:cNvPr id="80899" name="Rectangle 2"/>
          <p:cNvSpPr>
            <a:spLocks noGrp="1" noRot="1" noChangeAspect="1" noChangeArrowheads="1" noTextEdit="1"/>
          </p:cNvSpPr>
          <p:nvPr>
            <p:ph type="sldImg"/>
          </p:nvPr>
        </p:nvSpPr>
        <p:spPr>
          <a:ln/>
        </p:spPr>
      </p:sp>
      <p:sp>
        <p:nvSpPr>
          <p:cNvPr id="80900" name="Rectangle 3"/>
          <p:cNvSpPr>
            <a:spLocks noGrp="1" noChangeArrowheads="1"/>
          </p:cNvSpPr>
          <p:nvPr>
            <p:ph type="body" idx="1"/>
          </p:nvPr>
        </p:nvSpPr>
        <p:spPr>
          <a:noFill/>
        </p:spPr>
        <p:txBody>
          <a:bodyPr/>
          <a:lstStyle/>
          <a:p>
            <a:pPr eaLnBrk="1" hangingPunct="1"/>
            <a:r>
              <a:rPr lang="en-US" dirty="0"/>
              <a:t>Once a variable is declared, we can assign values to it.</a:t>
            </a:r>
          </a:p>
          <a:p>
            <a:pPr eaLnBrk="1" hangingPunct="1"/>
            <a:r>
              <a:rPr lang="en-US" dirty="0"/>
              <a:t>In the example above, single quotation marks delimit the value A, which is assigned to the char variable c. On the other hand, the numeric values 12 and 3.14159 are assigned to the int and float variables without being enclosed in quotation marks. Needless to say, the type of the value on the right must match that of the variable ("must match" in this context does not mean "must be identical to," because some conversions are reasonable and are performed automatically). </a:t>
            </a:r>
          </a:p>
          <a:p>
            <a:pPr eaLnBrk="1" hangingPunct="1"/>
            <a:r>
              <a:rPr lang="en-US" dirty="0"/>
              <a:t>There is another, slightly surprising form of initialization that will become clearer in the chapter on object-based programming. float  x1(5.3678);  // initialize x1 to 5.3678; </a:t>
            </a:r>
          </a:p>
        </p:txBody>
      </p:sp>
      <p:sp>
        <p:nvSpPr>
          <p:cNvPr id="2" name="Footer Placeholder 1"/>
          <p:cNvSpPr>
            <a:spLocks noGrp="1"/>
          </p:cNvSpPr>
          <p:nvPr>
            <p:ph type="ftr" sz="quarter" idx="10"/>
          </p:nvPr>
        </p:nvSpPr>
        <p:spPr/>
        <p:txBody>
          <a:bodyPr/>
          <a:lstStyle/>
          <a:p>
            <a:r>
              <a:rPr lang="en-US"/>
              <a:t>Prepared by: E.A.S.S.</a:t>
            </a:r>
          </a:p>
        </p:txBody>
      </p:sp>
      <p:sp>
        <p:nvSpPr>
          <p:cNvPr id="3" name="Header Placeholder 2"/>
          <p:cNvSpPr>
            <a:spLocks noGrp="1"/>
          </p:cNvSpPr>
          <p:nvPr>
            <p:ph type="hdr" sz="quarter" idx="11"/>
          </p:nvPr>
        </p:nvSpPr>
        <p:spPr/>
        <p:txBody>
          <a:bodyPr/>
          <a:lstStyle/>
          <a:p>
            <a:r>
              <a:rPr lang="en-US"/>
              <a:t>BASIC COMPUTER APPLICATION VI - GSD 06205</a:t>
            </a:r>
          </a:p>
        </p:txBody>
      </p:sp>
    </p:spTree>
    <p:extLst>
      <p:ext uri="{BB962C8B-B14F-4D97-AF65-F5344CB8AC3E}">
        <p14:creationId xmlns:p14="http://schemas.microsoft.com/office/powerpoint/2010/main" val="36764157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p:spPr>
        <p:txBody>
          <a:bodyPr/>
          <a:lstStyle>
            <a:lvl1pPr eaLnBrk="0" hangingPunct="0">
              <a:defRPr b="1">
                <a:solidFill>
                  <a:schemeClr val="tx1"/>
                </a:solidFill>
                <a:latin typeface="Arial" charset="0"/>
              </a:defRPr>
            </a:lvl1pPr>
            <a:lvl2pPr marL="742950" indent="-285750" eaLnBrk="0" hangingPunct="0">
              <a:defRPr b="1">
                <a:solidFill>
                  <a:schemeClr val="tx1"/>
                </a:solidFill>
                <a:latin typeface="Arial" charset="0"/>
              </a:defRPr>
            </a:lvl2pPr>
            <a:lvl3pPr marL="1143000" indent="-228600" eaLnBrk="0" hangingPunct="0">
              <a:defRPr b="1">
                <a:solidFill>
                  <a:schemeClr val="tx1"/>
                </a:solidFill>
                <a:latin typeface="Arial" charset="0"/>
              </a:defRPr>
            </a:lvl3pPr>
            <a:lvl4pPr marL="1600200" indent="-228600" eaLnBrk="0" hangingPunct="0">
              <a:defRPr b="1">
                <a:solidFill>
                  <a:schemeClr val="tx1"/>
                </a:solidFill>
                <a:latin typeface="Arial" charset="0"/>
              </a:defRPr>
            </a:lvl4pPr>
            <a:lvl5pPr marL="2057400" indent="-228600" eaLnBrk="0" hangingPunct="0">
              <a:defRPr b="1">
                <a:solidFill>
                  <a:schemeClr val="tx1"/>
                </a:solidFill>
                <a:latin typeface="Arial" charset="0"/>
              </a:defRPr>
            </a:lvl5pPr>
            <a:lvl6pPr marL="2514600" indent="-228600" eaLnBrk="0" fontAlgn="base" hangingPunct="0">
              <a:spcBef>
                <a:spcPct val="0"/>
              </a:spcBef>
              <a:spcAft>
                <a:spcPct val="0"/>
              </a:spcAft>
              <a:defRPr b="1">
                <a:solidFill>
                  <a:schemeClr val="tx1"/>
                </a:solidFill>
                <a:latin typeface="Arial" charset="0"/>
              </a:defRPr>
            </a:lvl6pPr>
            <a:lvl7pPr marL="2971800" indent="-228600" eaLnBrk="0" fontAlgn="base" hangingPunct="0">
              <a:spcBef>
                <a:spcPct val="0"/>
              </a:spcBef>
              <a:spcAft>
                <a:spcPct val="0"/>
              </a:spcAft>
              <a:defRPr b="1">
                <a:solidFill>
                  <a:schemeClr val="tx1"/>
                </a:solidFill>
                <a:latin typeface="Arial" charset="0"/>
              </a:defRPr>
            </a:lvl7pPr>
            <a:lvl8pPr marL="3429000" indent="-228600" eaLnBrk="0" fontAlgn="base" hangingPunct="0">
              <a:spcBef>
                <a:spcPct val="0"/>
              </a:spcBef>
              <a:spcAft>
                <a:spcPct val="0"/>
              </a:spcAft>
              <a:defRPr b="1">
                <a:solidFill>
                  <a:schemeClr val="tx1"/>
                </a:solidFill>
                <a:latin typeface="Arial" charset="0"/>
              </a:defRPr>
            </a:lvl8pPr>
            <a:lvl9pPr marL="3886200" indent="-228600" eaLnBrk="0" fontAlgn="base" hangingPunct="0">
              <a:spcBef>
                <a:spcPct val="0"/>
              </a:spcBef>
              <a:spcAft>
                <a:spcPct val="0"/>
              </a:spcAft>
              <a:defRPr b="1">
                <a:solidFill>
                  <a:schemeClr val="tx1"/>
                </a:solidFill>
                <a:latin typeface="Arial" charset="0"/>
              </a:defRPr>
            </a:lvl9pPr>
          </a:lstStyle>
          <a:p>
            <a:pPr eaLnBrk="1" hangingPunct="1"/>
            <a:fld id="{12F4A6E0-DF75-42DA-954D-EE6686EA345C}" type="slidenum">
              <a:rPr lang="en-US" b="0">
                <a:solidFill>
                  <a:prstClr val="black"/>
                </a:solidFill>
              </a:rPr>
              <a:pPr eaLnBrk="1" hangingPunct="1"/>
              <a:t>14</a:t>
            </a:fld>
            <a:endParaRPr lang="en-US" b="0">
              <a:solidFill>
                <a:prstClr val="black"/>
              </a:solidFill>
            </a:endParaRPr>
          </a:p>
        </p:txBody>
      </p:sp>
      <p:sp>
        <p:nvSpPr>
          <p:cNvPr id="81923" name="Rectangle 2"/>
          <p:cNvSpPr>
            <a:spLocks noGrp="1" noRot="1" noChangeAspect="1" noChangeArrowheads="1" noTextEdit="1"/>
          </p:cNvSpPr>
          <p:nvPr>
            <p:ph type="sldImg"/>
          </p:nvPr>
        </p:nvSpPr>
        <p:spPr>
          <a:ln/>
        </p:spPr>
      </p:sp>
      <p:sp>
        <p:nvSpPr>
          <p:cNvPr id="81924" name="Rectangle 3"/>
          <p:cNvSpPr>
            <a:spLocks noGrp="1" noChangeArrowheads="1"/>
          </p:cNvSpPr>
          <p:nvPr>
            <p:ph type="body" idx="1"/>
          </p:nvPr>
        </p:nvSpPr>
        <p:spPr>
          <a:noFill/>
        </p:spPr>
        <p:txBody>
          <a:bodyPr/>
          <a:lstStyle/>
          <a:p>
            <a:pPr eaLnBrk="1" hangingPunct="1"/>
            <a:r>
              <a:rPr lang="en-US" dirty="0"/>
              <a:t>All the variables that we intend to use in a program must have been declared with its type specifier in an earlier point in the code, like we did in the previous code at the beginning of the body of the function main when we declared that a, b, and result were of type int. </a:t>
            </a:r>
          </a:p>
          <a:p>
            <a:pPr eaLnBrk="1" hangingPunct="1"/>
            <a:r>
              <a:rPr lang="en-US" b="1" dirty="0"/>
              <a:t>Variable can be either of global or local scope.</a:t>
            </a:r>
          </a:p>
        </p:txBody>
      </p:sp>
      <p:sp>
        <p:nvSpPr>
          <p:cNvPr id="2" name="Footer Placeholder 1"/>
          <p:cNvSpPr>
            <a:spLocks noGrp="1"/>
          </p:cNvSpPr>
          <p:nvPr>
            <p:ph type="ftr" sz="quarter" idx="10"/>
          </p:nvPr>
        </p:nvSpPr>
        <p:spPr/>
        <p:txBody>
          <a:bodyPr/>
          <a:lstStyle/>
          <a:p>
            <a:r>
              <a:rPr lang="en-US"/>
              <a:t>Prepared by: E.A.S.S.</a:t>
            </a:r>
          </a:p>
        </p:txBody>
      </p:sp>
      <p:sp>
        <p:nvSpPr>
          <p:cNvPr id="3" name="Header Placeholder 2"/>
          <p:cNvSpPr>
            <a:spLocks noGrp="1"/>
          </p:cNvSpPr>
          <p:nvPr>
            <p:ph type="hdr" sz="quarter" idx="11"/>
          </p:nvPr>
        </p:nvSpPr>
        <p:spPr/>
        <p:txBody>
          <a:bodyPr/>
          <a:lstStyle/>
          <a:p>
            <a:r>
              <a:rPr lang="en-US"/>
              <a:t>BASIC COMPUTER APPLICATION VI - GSD 06205</a:t>
            </a:r>
          </a:p>
        </p:txBody>
      </p:sp>
    </p:spTree>
    <p:extLst>
      <p:ext uri="{BB962C8B-B14F-4D97-AF65-F5344CB8AC3E}">
        <p14:creationId xmlns:p14="http://schemas.microsoft.com/office/powerpoint/2010/main" val="23752234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a:spLocks noGrp="1" noChangeArrowheads="1"/>
          </p:cNvSpPr>
          <p:nvPr>
            <p:ph type="sldNum" sz="quarter" idx="5"/>
          </p:nvPr>
        </p:nvSpPr>
        <p:spPr>
          <a:noFill/>
        </p:spPr>
        <p:txBody>
          <a:bodyPr/>
          <a:lstStyle>
            <a:lvl1pPr eaLnBrk="0" hangingPunct="0">
              <a:defRPr b="1">
                <a:solidFill>
                  <a:schemeClr val="tx1"/>
                </a:solidFill>
                <a:latin typeface="Arial" charset="0"/>
              </a:defRPr>
            </a:lvl1pPr>
            <a:lvl2pPr marL="742950" indent="-285750" eaLnBrk="0" hangingPunct="0">
              <a:defRPr b="1">
                <a:solidFill>
                  <a:schemeClr val="tx1"/>
                </a:solidFill>
                <a:latin typeface="Arial" charset="0"/>
              </a:defRPr>
            </a:lvl2pPr>
            <a:lvl3pPr marL="1143000" indent="-228600" eaLnBrk="0" hangingPunct="0">
              <a:defRPr b="1">
                <a:solidFill>
                  <a:schemeClr val="tx1"/>
                </a:solidFill>
                <a:latin typeface="Arial" charset="0"/>
              </a:defRPr>
            </a:lvl3pPr>
            <a:lvl4pPr marL="1600200" indent="-228600" eaLnBrk="0" hangingPunct="0">
              <a:defRPr b="1">
                <a:solidFill>
                  <a:schemeClr val="tx1"/>
                </a:solidFill>
                <a:latin typeface="Arial" charset="0"/>
              </a:defRPr>
            </a:lvl4pPr>
            <a:lvl5pPr marL="2057400" indent="-228600" eaLnBrk="0" hangingPunct="0">
              <a:defRPr b="1">
                <a:solidFill>
                  <a:schemeClr val="tx1"/>
                </a:solidFill>
                <a:latin typeface="Arial" charset="0"/>
              </a:defRPr>
            </a:lvl5pPr>
            <a:lvl6pPr marL="2514600" indent="-228600" eaLnBrk="0" fontAlgn="base" hangingPunct="0">
              <a:spcBef>
                <a:spcPct val="0"/>
              </a:spcBef>
              <a:spcAft>
                <a:spcPct val="0"/>
              </a:spcAft>
              <a:defRPr b="1">
                <a:solidFill>
                  <a:schemeClr val="tx1"/>
                </a:solidFill>
                <a:latin typeface="Arial" charset="0"/>
              </a:defRPr>
            </a:lvl6pPr>
            <a:lvl7pPr marL="2971800" indent="-228600" eaLnBrk="0" fontAlgn="base" hangingPunct="0">
              <a:spcBef>
                <a:spcPct val="0"/>
              </a:spcBef>
              <a:spcAft>
                <a:spcPct val="0"/>
              </a:spcAft>
              <a:defRPr b="1">
                <a:solidFill>
                  <a:schemeClr val="tx1"/>
                </a:solidFill>
                <a:latin typeface="Arial" charset="0"/>
              </a:defRPr>
            </a:lvl7pPr>
            <a:lvl8pPr marL="3429000" indent="-228600" eaLnBrk="0" fontAlgn="base" hangingPunct="0">
              <a:spcBef>
                <a:spcPct val="0"/>
              </a:spcBef>
              <a:spcAft>
                <a:spcPct val="0"/>
              </a:spcAft>
              <a:defRPr b="1">
                <a:solidFill>
                  <a:schemeClr val="tx1"/>
                </a:solidFill>
                <a:latin typeface="Arial" charset="0"/>
              </a:defRPr>
            </a:lvl8pPr>
            <a:lvl9pPr marL="3886200" indent="-228600" eaLnBrk="0" fontAlgn="base" hangingPunct="0">
              <a:spcBef>
                <a:spcPct val="0"/>
              </a:spcBef>
              <a:spcAft>
                <a:spcPct val="0"/>
              </a:spcAft>
              <a:defRPr b="1">
                <a:solidFill>
                  <a:schemeClr val="tx1"/>
                </a:solidFill>
                <a:latin typeface="Arial" charset="0"/>
              </a:defRPr>
            </a:lvl9pPr>
          </a:lstStyle>
          <a:p>
            <a:pPr eaLnBrk="1" hangingPunct="1"/>
            <a:fld id="{7CC4991E-352B-4D3C-98B3-E28196B4BB48}" type="slidenum">
              <a:rPr lang="en-US" b="0">
                <a:solidFill>
                  <a:prstClr val="black"/>
                </a:solidFill>
              </a:rPr>
              <a:pPr eaLnBrk="1" hangingPunct="1"/>
              <a:t>19</a:t>
            </a:fld>
            <a:endParaRPr lang="en-US" b="0">
              <a:solidFill>
                <a:prstClr val="black"/>
              </a:solidFill>
            </a:endParaRPr>
          </a:p>
        </p:txBody>
      </p:sp>
      <p:sp>
        <p:nvSpPr>
          <p:cNvPr id="83971" name="Rectangle 2"/>
          <p:cNvSpPr>
            <a:spLocks noGrp="1" noRot="1" noChangeAspect="1" noChangeArrowheads="1" noTextEdit="1"/>
          </p:cNvSpPr>
          <p:nvPr>
            <p:ph type="sldImg"/>
          </p:nvPr>
        </p:nvSpPr>
        <p:spPr>
          <a:ln/>
        </p:spPr>
      </p:sp>
      <p:sp>
        <p:nvSpPr>
          <p:cNvPr id="83972" name="Rectangle 3"/>
          <p:cNvSpPr>
            <a:spLocks noGrp="1" noChangeArrowheads="1"/>
          </p:cNvSpPr>
          <p:nvPr>
            <p:ph type="body" idx="1"/>
          </p:nvPr>
        </p:nvSpPr>
        <p:spPr>
          <a:noFill/>
        </p:spPr>
        <p:txBody>
          <a:bodyPr/>
          <a:lstStyle/>
          <a:p>
            <a:pPr eaLnBrk="1" hangingPunct="1"/>
            <a:r>
              <a:rPr lang="en-US"/>
              <a:t>Literal constants can be divided in Integer Numerals, Floating-Point Numerals, Characters, Strings and Boolean Values.</a:t>
            </a:r>
          </a:p>
        </p:txBody>
      </p:sp>
      <p:sp>
        <p:nvSpPr>
          <p:cNvPr id="2" name="Footer Placeholder 1"/>
          <p:cNvSpPr>
            <a:spLocks noGrp="1"/>
          </p:cNvSpPr>
          <p:nvPr>
            <p:ph type="ftr" sz="quarter" idx="10"/>
          </p:nvPr>
        </p:nvSpPr>
        <p:spPr/>
        <p:txBody>
          <a:bodyPr/>
          <a:lstStyle/>
          <a:p>
            <a:r>
              <a:rPr lang="en-US"/>
              <a:t>Prepared by: E.A.S.S.</a:t>
            </a:r>
          </a:p>
        </p:txBody>
      </p:sp>
      <p:sp>
        <p:nvSpPr>
          <p:cNvPr id="3" name="Header Placeholder 2"/>
          <p:cNvSpPr>
            <a:spLocks noGrp="1"/>
          </p:cNvSpPr>
          <p:nvPr>
            <p:ph type="hdr" sz="quarter" idx="11"/>
          </p:nvPr>
        </p:nvSpPr>
        <p:spPr/>
        <p:txBody>
          <a:bodyPr/>
          <a:lstStyle/>
          <a:p>
            <a:r>
              <a:rPr lang="en-US"/>
              <a:t>BASIC COMPUTER APPLICATION VI - GSD 06205</a:t>
            </a:r>
          </a:p>
        </p:txBody>
      </p:sp>
    </p:spTree>
    <p:extLst>
      <p:ext uri="{BB962C8B-B14F-4D97-AF65-F5344CB8AC3E}">
        <p14:creationId xmlns:p14="http://schemas.microsoft.com/office/powerpoint/2010/main" val="14752998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p:spPr>
        <p:txBody>
          <a:bodyPr/>
          <a:lstStyle>
            <a:lvl1pPr eaLnBrk="0" hangingPunct="0">
              <a:defRPr b="1">
                <a:solidFill>
                  <a:schemeClr val="tx1"/>
                </a:solidFill>
                <a:latin typeface="Arial" charset="0"/>
              </a:defRPr>
            </a:lvl1pPr>
            <a:lvl2pPr marL="742950" indent="-285750" eaLnBrk="0" hangingPunct="0">
              <a:defRPr b="1">
                <a:solidFill>
                  <a:schemeClr val="tx1"/>
                </a:solidFill>
                <a:latin typeface="Arial" charset="0"/>
              </a:defRPr>
            </a:lvl2pPr>
            <a:lvl3pPr marL="1143000" indent="-228600" eaLnBrk="0" hangingPunct="0">
              <a:defRPr b="1">
                <a:solidFill>
                  <a:schemeClr val="tx1"/>
                </a:solidFill>
                <a:latin typeface="Arial" charset="0"/>
              </a:defRPr>
            </a:lvl3pPr>
            <a:lvl4pPr marL="1600200" indent="-228600" eaLnBrk="0" hangingPunct="0">
              <a:defRPr b="1">
                <a:solidFill>
                  <a:schemeClr val="tx1"/>
                </a:solidFill>
                <a:latin typeface="Arial" charset="0"/>
              </a:defRPr>
            </a:lvl4pPr>
            <a:lvl5pPr marL="2057400" indent="-228600" eaLnBrk="0" hangingPunct="0">
              <a:defRPr b="1">
                <a:solidFill>
                  <a:schemeClr val="tx1"/>
                </a:solidFill>
                <a:latin typeface="Arial" charset="0"/>
              </a:defRPr>
            </a:lvl5pPr>
            <a:lvl6pPr marL="2514600" indent="-228600" eaLnBrk="0" fontAlgn="base" hangingPunct="0">
              <a:spcBef>
                <a:spcPct val="0"/>
              </a:spcBef>
              <a:spcAft>
                <a:spcPct val="0"/>
              </a:spcAft>
              <a:defRPr b="1">
                <a:solidFill>
                  <a:schemeClr val="tx1"/>
                </a:solidFill>
                <a:latin typeface="Arial" charset="0"/>
              </a:defRPr>
            </a:lvl6pPr>
            <a:lvl7pPr marL="2971800" indent="-228600" eaLnBrk="0" fontAlgn="base" hangingPunct="0">
              <a:spcBef>
                <a:spcPct val="0"/>
              </a:spcBef>
              <a:spcAft>
                <a:spcPct val="0"/>
              </a:spcAft>
              <a:defRPr b="1">
                <a:solidFill>
                  <a:schemeClr val="tx1"/>
                </a:solidFill>
                <a:latin typeface="Arial" charset="0"/>
              </a:defRPr>
            </a:lvl7pPr>
            <a:lvl8pPr marL="3429000" indent="-228600" eaLnBrk="0" fontAlgn="base" hangingPunct="0">
              <a:spcBef>
                <a:spcPct val="0"/>
              </a:spcBef>
              <a:spcAft>
                <a:spcPct val="0"/>
              </a:spcAft>
              <a:defRPr b="1">
                <a:solidFill>
                  <a:schemeClr val="tx1"/>
                </a:solidFill>
                <a:latin typeface="Arial" charset="0"/>
              </a:defRPr>
            </a:lvl8pPr>
            <a:lvl9pPr marL="3886200" indent="-228600" eaLnBrk="0" fontAlgn="base" hangingPunct="0">
              <a:spcBef>
                <a:spcPct val="0"/>
              </a:spcBef>
              <a:spcAft>
                <a:spcPct val="0"/>
              </a:spcAft>
              <a:defRPr b="1">
                <a:solidFill>
                  <a:schemeClr val="tx1"/>
                </a:solidFill>
                <a:latin typeface="Arial" charset="0"/>
              </a:defRPr>
            </a:lvl9pPr>
          </a:lstStyle>
          <a:p>
            <a:pPr eaLnBrk="1" hangingPunct="1"/>
            <a:fld id="{37D252AD-52FC-4E31-8B72-CA868FCECF93}" type="slidenum">
              <a:rPr lang="en-US" b="0">
                <a:solidFill>
                  <a:prstClr val="black"/>
                </a:solidFill>
              </a:rPr>
              <a:pPr eaLnBrk="1" hangingPunct="1"/>
              <a:t>20</a:t>
            </a:fld>
            <a:endParaRPr lang="en-US" b="0">
              <a:solidFill>
                <a:prstClr val="black"/>
              </a:solidFill>
            </a:endParaRPr>
          </a:p>
        </p:txBody>
      </p:sp>
      <p:sp>
        <p:nvSpPr>
          <p:cNvPr id="84995" name="Rectangle 2"/>
          <p:cNvSpPr>
            <a:spLocks noGrp="1" noRot="1" noChangeAspect="1" noChangeArrowheads="1" noTextEdit="1"/>
          </p:cNvSpPr>
          <p:nvPr>
            <p:ph type="sldImg"/>
          </p:nvPr>
        </p:nvSpPr>
        <p:spPr>
          <a:ln/>
        </p:spPr>
      </p:sp>
      <p:sp>
        <p:nvSpPr>
          <p:cNvPr id="84996" name="Rectangle 3"/>
          <p:cNvSpPr>
            <a:spLocks noGrp="1" noChangeArrowheads="1"/>
          </p:cNvSpPr>
          <p:nvPr>
            <p:ph type="body" idx="1"/>
          </p:nvPr>
        </p:nvSpPr>
        <p:spPr>
          <a:noFill/>
        </p:spPr>
        <p:txBody>
          <a:bodyPr/>
          <a:lstStyle/>
          <a:p>
            <a:pPr eaLnBrk="1" hangingPunct="1"/>
            <a:r>
              <a:rPr lang="en-US"/>
              <a:t>If we want to express an octal number we have to precede it with a 0 (zero character). And in order to express a hexadecimal number we have to precede it with the characters 0x (zero, x). </a:t>
            </a:r>
          </a:p>
          <a:p>
            <a:pPr eaLnBrk="1" hangingPunct="1"/>
            <a:r>
              <a:rPr lang="en-US"/>
              <a:t>All the examples represent the same number: 75 (seventy-five) expressed as a base-10 numeral, octal numeral and hexadecimal numeral, respectively. </a:t>
            </a:r>
          </a:p>
        </p:txBody>
      </p:sp>
      <p:sp>
        <p:nvSpPr>
          <p:cNvPr id="2" name="Footer Placeholder 1"/>
          <p:cNvSpPr>
            <a:spLocks noGrp="1"/>
          </p:cNvSpPr>
          <p:nvPr>
            <p:ph type="ftr" sz="quarter" idx="10"/>
          </p:nvPr>
        </p:nvSpPr>
        <p:spPr/>
        <p:txBody>
          <a:bodyPr/>
          <a:lstStyle/>
          <a:p>
            <a:r>
              <a:rPr lang="en-US"/>
              <a:t>Prepared by: E.A.S.S.</a:t>
            </a:r>
          </a:p>
        </p:txBody>
      </p:sp>
      <p:sp>
        <p:nvSpPr>
          <p:cNvPr id="3" name="Header Placeholder 2"/>
          <p:cNvSpPr>
            <a:spLocks noGrp="1"/>
          </p:cNvSpPr>
          <p:nvPr>
            <p:ph type="hdr" sz="quarter" idx="11"/>
          </p:nvPr>
        </p:nvSpPr>
        <p:spPr/>
        <p:txBody>
          <a:bodyPr/>
          <a:lstStyle/>
          <a:p>
            <a:r>
              <a:rPr lang="en-US"/>
              <a:t>BASIC COMPUTER APPLICATION VI - GSD 06205</a:t>
            </a:r>
          </a:p>
        </p:txBody>
      </p:sp>
    </p:spTree>
    <p:extLst>
      <p:ext uri="{BB962C8B-B14F-4D97-AF65-F5344CB8AC3E}">
        <p14:creationId xmlns:p14="http://schemas.microsoft.com/office/powerpoint/2010/main" val="24121619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a:noFill/>
        </p:spPr>
        <p:txBody>
          <a:bodyPr/>
          <a:lstStyle>
            <a:lvl1pPr eaLnBrk="0" hangingPunct="0">
              <a:defRPr b="1">
                <a:solidFill>
                  <a:schemeClr val="tx1"/>
                </a:solidFill>
                <a:latin typeface="Arial" charset="0"/>
              </a:defRPr>
            </a:lvl1pPr>
            <a:lvl2pPr marL="742950" indent="-285750" eaLnBrk="0" hangingPunct="0">
              <a:defRPr b="1">
                <a:solidFill>
                  <a:schemeClr val="tx1"/>
                </a:solidFill>
                <a:latin typeface="Arial" charset="0"/>
              </a:defRPr>
            </a:lvl2pPr>
            <a:lvl3pPr marL="1143000" indent="-228600" eaLnBrk="0" hangingPunct="0">
              <a:defRPr b="1">
                <a:solidFill>
                  <a:schemeClr val="tx1"/>
                </a:solidFill>
                <a:latin typeface="Arial" charset="0"/>
              </a:defRPr>
            </a:lvl3pPr>
            <a:lvl4pPr marL="1600200" indent="-228600" eaLnBrk="0" hangingPunct="0">
              <a:defRPr b="1">
                <a:solidFill>
                  <a:schemeClr val="tx1"/>
                </a:solidFill>
                <a:latin typeface="Arial" charset="0"/>
              </a:defRPr>
            </a:lvl4pPr>
            <a:lvl5pPr marL="2057400" indent="-228600" eaLnBrk="0" hangingPunct="0">
              <a:defRPr b="1">
                <a:solidFill>
                  <a:schemeClr val="tx1"/>
                </a:solidFill>
                <a:latin typeface="Arial" charset="0"/>
              </a:defRPr>
            </a:lvl5pPr>
            <a:lvl6pPr marL="2514600" indent="-228600" eaLnBrk="0" fontAlgn="base" hangingPunct="0">
              <a:spcBef>
                <a:spcPct val="0"/>
              </a:spcBef>
              <a:spcAft>
                <a:spcPct val="0"/>
              </a:spcAft>
              <a:defRPr b="1">
                <a:solidFill>
                  <a:schemeClr val="tx1"/>
                </a:solidFill>
                <a:latin typeface="Arial" charset="0"/>
              </a:defRPr>
            </a:lvl6pPr>
            <a:lvl7pPr marL="2971800" indent="-228600" eaLnBrk="0" fontAlgn="base" hangingPunct="0">
              <a:spcBef>
                <a:spcPct val="0"/>
              </a:spcBef>
              <a:spcAft>
                <a:spcPct val="0"/>
              </a:spcAft>
              <a:defRPr b="1">
                <a:solidFill>
                  <a:schemeClr val="tx1"/>
                </a:solidFill>
                <a:latin typeface="Arial" charset="0"/>
              </a:defRPr>
            </a:lvl7pPr>
            <a:lvl8pPr marL="3429000" indent="-228600" eaLnBrk="0" fontAlgn="base" hangingPunct="0">
              <a:spcBef>
                <a:spcPct val="0"/>
              </a:spcBef>
              <a:spcAft>
                <a:spcPct val="0"/>
              </a:spcAft>
              <a:defRPr b="1">
                <a:solidFill>
                  <a:schemeClr val="tx1"/>
                </a:solidFill>
                <a:latin typeface="Arial" charset="0"/>
              </a:defRPr>
            </a:lvl8pPr>
            <a:lvl9pPr marL="3886200" indent="-228600" eaLnBrk="0" fontAlgn="base" hangingPunct="0">
              <a:spcBef>
                <a:spcPct val="0"/>
              </a:spcBef>
              <a:spcAft>
                <a:spcPct val="0"/>
              </a:spcAft>
              <a:defRPr b="1">
                <a:solidFill>
                  <a:schemeClr val="tx1"/>
                </a:solidFill>
                <a:latin typeface="Arial" charset="0"/>
              </a:defRPr>
            </a:lvl9pPr>
          </a:lstStyle>
          <a:p>
            <a:pPr eaLnBrk="1" hangingPunct="1"/>
            <a:fld id="{EA4C4054-DFAF-44F1-A333-6F03ADE62E9B}" type="slidenum">
              <a:rPr lang="en-US" b="0">
                <a:solidFill>
                  <a:prstClr val="black"/>
                </a:solidFill>
              </a:rPr>
              <a:pPr eaLnBrk="1" hangingPunct="1"/>
              <a:t>21</a:t>
            </a:fld>
            <a:endParaRPr lang="en-US" b="0">
              <a:solidFill>
                <a:prstClr val="black"/>
              </a:solidFill>
            </a:endParaRPr>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p:spPr>
        <p:txBody>
          <a:bodyPr/>
          <a:lstStyle/>
          <a:p>
            <a:pPr eaLnBrk="1" hangingPunct="1"/>
            <a:r>
              <a:rPr lang="en-US" sz="1000" b="1"/>
              <a:t>They can include either a decimal point, an e character (that expresses "by ten at the Xth height", where X is an integer value that follows the e character), or both a decimal point and an e character:</a:t>
            </a:r>
            <a:r>
              <a:rPr lang="en-US" sz="1000"/>
              <a:t> </a:t>
            </a:r>
            <a:endParaRPr lang="en-US" sz="1000" b="1"/>
          </a:p>
          <a:p>
            <a:pPr eaLnBrk="1" hangingPunct="1"/>
            <a:r>
              <a:rPr lang="en-US"/>
              <a:t>These are four valid numbers with decimals expressed in C++. The first number is PI, the second one is the number of Avogadro, the third is the electric charge of an electron (an extremely small number) -all of them approximated- and the last one is the number three expressed as a floating-point numeric literal.</a:t>
            </a:r>
          </a:p>
          <a:p>
            <a:pPr lvl="1" eaLnBrk="1" hangingPunct="1"/>
            <a:r>
              <a:rPr lang="en-US" b="1"/>
              <a:t>If you explicitly want to express a float or long double numerical literal, you can use the f or l suffixes respectively</a:t>
            </a:r>
            <a:r>
              <a:rPr lang="en-US"/>
              <a:t> </a:t>
            </a:r>
          </a:p>
          <a:p>
            <a:pPr lvl="1" eaLnBrk="1" hangingPunct="1"/>
            <a:r>
              <a:rPr lang="en-US"/>
              <a:t>Any of the letters than can be part of a floating-point numerical constant (e, f, l) can be written using either lower or uppercase letters without any difference in their meanings.</a:t>
            </a:r>
          </a:p>
          <a:p>
            <a:pPr eaLnBrk="1" hangingPunct="1"/>
            <a:r>
              <a:rPr lang="en-US"/>
              <a:t>	</a:t>
            </a:r>
          </a:p>
        </p:txBody>
      </p:sp>
      <p:sp>
        <p:nvSpPr>
          <p:cNvPr id="2" name="Footer Placeholder 1"/>
          <p:cNvSpPr>
            <a:spLocks noGrp="1"/>
          </p:cNvSpPr>
          <p:nvPr>
            <p:ph type="ftr" sz="quarter" idx="10"/>
          </p:nvPr>
        </p:nvSpPr>
        <p:spPr/>
        <p:txBody>
          <a:bodyPr/>
          <a:lstStyle/>
          <a:p>
            <a:r>
              <a:rPr lang="en-US"/>
              <a:t>Prepared by: E.A.S.S.</a:t>
            </a:r>
          </a:p>
        </p:txBody>
      </p:sp>
      <p:sp>
        <p:nvSpPr>
          <p:cNvPr id="3" name="Header Placeholder 2"/>
          <p:cNvSpPr>
            <a:spLocks noGrp="1"/>
          </p:cNvSpPr>
          <p:nvPr>
            <p:ph type="hdr" sz="quarter" idx="11"/>
          </p:nvPr>
        </p:nvSpPr>
        <p:spPr/>
        <p:txBody>
          <a:bodyPr/>
          <a:lstStyle/>
          <a:p>
            <a:r>
              <a:rPr lang="en-US"/>
              <a:t>BASIC COMPUTER APPLICATION VI - GSD 06205</a:t>
            </a:r>
          </a:p>
        </p:txBody>
      </p:sp>
    </p:spTree>
    <p:extLst>
      <p:ext uri="{BB962C8B-B14F-4D97-AF65-F5344CB8AC3E}">
        <p14:creationId xmlns:p14="http://schemas.microsoft.com/office/powerpoint/2010/main" val="38323941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a:spLocks noGrp="1" noChangeArrowheads="1"/>
          </p:cNvSpPr>
          <p:nvPr>
            <p:ph type="sldNum" sz="quarter" idx="5"/>
          </p:nvPr>
        </p:nvSpPr>
        <p:spPr>
          <a:noFill/>
        </p:spPr>
        <p:txBody>
          <a:bodyPr/>
          <a:lstStyle>
            <a:lvl1pPr eaLnBrk="0" hangingPunct="0">
              <a:defRPr b="1">
                <a:solidFill>
                  <a:schemeClr val="tx1"/>
                </a:solidFill>
                <a:latin typeface="Arial" charset="0"/>
              </a:defRPr>
            </a:lvl1pPr>
            <a:lvl2pPr marL="742950" indent="-285750" eaLnBrk="0" hangingPunct="0">
              <a:defRPr b="1">
                <a:solidFill>
                  <a:schemeClr val="tx1"/>
                </a:solidFill>
                <a:latin typeface="Arial" charset="0"/>
              </a:defRPr>
            </a:lvl2pPr>
            <a:lvl3pPr marL="1143000" indent="-228600" eaLnBrk="0" hangingPunct="0">
              <a:defRPr b="1">
                <a:solidFill>
                  <a:schemeClr val="tx1"/>
                </a:solidFill>
                <a:latin typeface="Arial" charset="0"/>
              </a:defRPr>
            </a:lvl3pPr>
            <a:lvl4pPr marL="1600200" indent="-228600" eaLnBrk="0" hangingPunct="0">
              <a:defRPr b="1">
                <a:solidFill>
                  <a:schemeClr val="tx1"/>
                </a:solidFill>
                <a:latin typeface="Arial" charset="0"/>
              </a:defRPr>
            </a:lvl4pPr>
            <a:lvl5pPr marL="2057400" indent="-228600" eaLnBrk="0" hangingPunct="0">
              <a:defRPr b="1">
                <a:solidFill>
                  <a:schemeClr val="tx1"/>
                </a:solidFill>
                <a:latin typeface="Arial" charset="0"/>
              </a:defRPr>
            </a:lvl5pPr>
            <a:lvl6pPr marL="2514600" indent="-228600" eaLnBrk="0" fontAlgn="base" hangingPunct="0">
              <a:spcBef>
                <a:spcPct val="0"/>
              </a:spcBef>
              <a:spcAft>
                <a:spcPct val="0"/>
              </a:spcAft>
              <a:defRPr b="1">
                <a:solidFill>
                  <a:schemeClr val="tx1"/>
                </a:solidFill>
                <a:latin typeface="Arial" charset="0"/>
              </a:defRPr>
            </a:lvl6pPr>
            <a:lvl7pPr marL="2971800" indent="-228600" eaLnBrk="0" fontAlgn="base" hangingPunct="0">
              <a:spcBef>
                <a:spcPct val="0"/>
              </a:spcBef>
              <a:spcAft>
                <a:spcPct val="0"/>
              </a:spcAft>
              <a:defRPr b="1">
                <a:solidFill>
                  <a:schemeClr val="tx1"/>
                </a:solidFill>
                <a:latin typeface="Arial" charset="0"/>
              </a:defRPr>
            </a:lvl7pPr>
            <a:lvl8pPr marL="3429000" indent="-228600" eaLnBrk="0" fontAlgn="base" hangingPunct="0">
              <a:spcBef>
                <a:spcPct val="0"/>
              </a:spcBef>
              <a:spcAft>
                <a:spcPct val="0"/>
              </a:spcAft>
              <a:defRPr b="1">
                <a:solidFill>
                  <a:schemeClr val="tx1"/>
                </a:solidFill>
                <a:latin typeface="Arial" charset="0"/>
              </a:defRPr>
            </a:lvl8pPr>
            <a:lvl9pPr marL="3886200" indent="-228600" eaLnBrk="0" fontAlgn="base" hangingPunct="0">
              <a:spcBef>
                <a:spcPct val="0"/>
              </a:spcBef>
              <a:spcAft>
                <a:spcPct val="0"/>
              </a:spcAft>
              <a:defRPr b="1">
                <a:solidFill>
                  <a:schemeClr val="tx1"/>
                </a:solidFill>
                <a:latin typeface="Arial" charset="0"/>
              </a:defRPr>
            </a:lvl9pPr>
          </a:lstStyle>
          <a:p>
            <a:pPr eaLnBrk="1" hangingPunct="1"/>
            <a:fld id="{01C4BDC4-A285-4A04-9BB5-C14AA9F41490}" type="slidenum">
              <a:rPr lang="en-US" b="0">
                <a:solidFill>
                  <a:prstClr val="black"/>
                </a:solidFill>
              </a:rPr>
              <a:pPr eaLnBrk="1" hangingPunct="1"/>
              <a:t>22</a:t>
            </a:fld>
            <a:endParaRPr lang="en-US" b="0">
              <a:solidFill>
                <a:prstClr val="black"/>
              </a:solidFill>
            </a:endParaRPr>
          </a:p>
        </p:txBody>
      </p:sp>
      <p:sp>
        <p:nvSpPr>
          <p:cNvPr id="88067" name="Rectangle 2"/>
          <p:cNvSpPr>
            <a:spLocks noGrp="1" noRot="1" noChangeAspect="1" noChangeArrowheads="1" noTextEdit="1"/>
          </p:cNvSpPr>
          <p:nvPr>
            <p:ph type="sldImg"/>
          </p:nvPr>
        </p:nvSpPr>
        <p:spPr>
          <a:ln/>
        </p:spPr>
      </p:sp>
      <p:sp>
        <p:nvSpPr>
          <p:cNvPr id="88068" name="Rectangle 3"/>
          <p:cNvSpPr>
            <a:spLocks noGrp="1" noChangeArrowheads="1"/>
          </p:cNvSpPr>
          <p:nvPr>
            <p:ph type="body" idx="1"/>
          </p:nvPr>
        </p:nvSpPr>
        <p:spPr>
          <a:noFill/>
        </p:spPr>
        <p:txBody>
          <a:bodyPr/>
          <a:lstStyle/>
          <a:p>
            <a:pPr eaLnBrk="1" hangingPunct="1"/>
            <a:r>
              <a:rPr lang="en-US"/>
              <a:t>The first two expressions represent single character constants, and the following two represent string literals composed of several characters. Notice that to represent a single character we enclose it between single quotes (') and to express a string (which generally consists of more than one character) we enclose it between double quotes ("). </a:t>
            </a:r>
          </a:p>
          <a:p>
            <a:pPr eaLnBrk="1" hangingPunct="1"/>
            <a:r>
              <a:rPr lang="en-US"/>
              <a:t>When writing both single character and string literals, it is necessary to put the quotation marks surrounding them to distinguish them from possible variable identifiers or reserved keywords. </a:t>
            </a:r>
          </a:p>
        </p:txBody>
      </p:sp>
      <p:sp>
        <p:nvSpPr>
          <p:cNvPr id="2" name="Footer Placeholder 1"/>
          <p:cNvSpPr>
            <a:spLocks noGrp="1"/>
          </p:cNvSpPr>
          <p:nvPr>
            <p:ph type="ftr" sz="quarter" idx="10"/>
          </p:nvPr>
        </p:nvSpPr>
        <p:spPr/>
        <p:txBody>
          <a:bodyPr/>
          <a:lstStyle/>
          <a:p>
            <a:r>
              <a:rPr lang="en-US"/>
              <a:t>Prepared by: E.A.S.S.</a:t>
            </a:r>
          </a:p>
        </p:txBody>
      </p:sp>
      <p:sp>
        <p:nvSpPr>
          <p:cNvPr id="3" name="Header Placeholder 2"/>
          <p:cNvSpPr>
            <a:spLocks noGrp="1"/>
          </p:cNvSpPr>
          <p:nvPr>
            <p:ph type="hdr" sz="quarter" idx="11"/>
          </p:nvPr>
        </p:nvSpPr>
        <p:spPr/>
        <p:txBody>
          <a:bodyPr/>
          <a:lstStyle/>
          <a:p>
            <a:r>
              <a:rPr lang="en-US"/>
              <a:t>BASIC COMPUTER APPLICATION VI - GSD 06205</a:t>
            </a:r>
          </a:p>
        </p:txBody>
      </p:sp>
    </p:spTree>
    <p:extLst>
      <p:ext uri="{BB962C8B-B14F-4D97-AF65-F5344CB8AC3E}">
        <p14:creationId xmlns:p14="http://schemas.microsoft.com/office/powerpoint/2010/main" val="33689529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p:cNvSpPr>
            <a:spLocks noGrp="1" noChangeArrowheads="1"/>
          </p:cNvSpPr>
          <p:nvPr>
            <p:ph type="sldNum" sz="quarter" idx="5"/>
          </p:nvPr>
        </p:nvSpPr>
        <p:spPr>
          <a:noFill/>
        </p:spPr>
        <p:txBody>
          <a:bodyPr/>
          <a:lstStyle>
            <a:lvl1pPr eaLnBrk="0" hangingPunct="0">
              <a:defRPr b="1">
                <a:solidFill>
                  <a:schemeClr val="tx1"/>
                </a:solidFill>
                <a:latin typeface="Arial" charset="0"/>
              </a:defRPr>
            </a:lvl1pPr>
            <a:lvl2pPr marL="742950" indent="-285750" eaLnBrk="0" hangingPunct="0">
              <a:defRPr b="1">
                <a:solidFill>
                  <a:schemeClr val="tx1"/>
                </a:solidFill>
                <a:latin typeface="Arial" charset="0"/>
              </a:defRPr>
            </a:lvl2pPr>
            <a:lvl3pPr marL="1143000" indent="-228600" eaLnBrk="0" hangingPunct="0">
              <a:defRPr b="1">
                <a:solidFill>
                  <a:schemeClr val="tx1"/>
                </a:solidFill>
                <a:latin typeface="Arial" charset="0"/>
              </a:defRPr>
            </a:lvl3pPr>
            <a:lvl4pPr marL="1600200" indent="-228600" eaLnBrk="0" hangingPunct="0">
              <a:defRPr b="1">
                <a:solidFill>
                  <a:schemeClr val="tx1"/>
                </a:solidFill>
                <a:latin typeface="Arial" charset="0"/>
              </a:defRPr>
            </a:lvl4pPr>
            <a:lvl5pPr marL="2057400" indent="-228600" eaLnBrk="0" hangingPunct="0">
              <a:defRPr b="1">
                <a:solidFill>
                  <a:schemeClr val="tx1"/>
                </a:solidFill>
                <a:latin typeface="Arial" charset="0"/>
              </a:defRPr>
            </a:lvl5pPr>
            <a:lvl6pPr marL="2514600" indent="-228600" eaLnBrk="0" fontAlgn="base" hangingPunct="0">
              <a:spcBef>
                <a:spcPct val="0"/>
              </a:spcBef>
              <a:spcAft>
                <a:spcPct val="0"/>
              </a:spcAft>
              <a:defRPr b="1">
                <a:solidFill>
                  <a:schemeClr val="tx1"/>
                </a:solidFill>
                <a:latin typeface="Arial" charset="0"/>
              </a:defRPr>
            </a:lvl6pPr>
            <a:lvl7pPr marL="2971800" indent="-228600" eaLnBrk="0" fontAlgn="base" hangingPunct="0">
              <a:spcBef>
                <a:spcPct val="0"/>
              </a:spcBef>
              <a:spcAft>
                <a:spcPct val="0"/>
              </a:spcAft>
              <a:defRPr b="1">
                <a:solidFill>
                  <a:schemeClr val="tx1"/>
                </a:solidFill>
                <a:latin typeface="Arial" charset="0"/>
              </a:defRPr>
            </a:lvl7pPr>
            <a:lvl8pPr marL="3429000" indent="-228600" eaLnBrk="0" fontAlgn="base" hangingPunct="0">
              <a:spcBef>
                <a:spcPct val="0"/>
              </a:spcBef>
              <a:spcAft>
                <a:spcPct val="0"/>
              </a:spcAft>
              <a:defRPr b="1">
                <a:solidFill>
                  <a:schemeClr val="tx1"/>
                </a:solidFill>
                <a:latin typeface="Arial" charset="0"/>
              </a:defRPr>
            </a:lvl8pPr>
            <a:lvl9pPr marL="3886200" indent="-228600" eaLnBrk="0" fontAlgn="base" hangingPunct="0">
              <a:spcBef>
                <a:spcPct val="0"/>
              </a:spcBef>
              <a:spcAft>
                <a:spcPct val="0"/>
              </a:spcAft>
              <a:defRPr b="1">
                <a:solidFill>
                  <a:schemeClr val="tx1"/>
                </a:solidFill>
                <a:latin typeface="Arial" charset="0"/>
              </a:defRPr>
            </a:lvl9pPr>
          </a:lstStyle>
          <a:p>
            <a:pPr eaLnBrk="1" hangingPunct="1"/>
            <a:fld id="{ECBCD634-3406-40E3-A095-53B93286A305}" type="slidenum">
              <a:rPr lang="en-US" b="0">
                <a:solidFill>
                  <a:prstClr val="black"/>
                </a:solidFill>
              </a:rPr>
              <a:pPr eaLnBrk="1" hangingPunct="1"/>
              <a:t>23</a:t>
            </a:fld>
            <a:endParaRPr lang="en-US" b="0">
              <a:solidFill>
                <a:prstClr val="black"/>
              </a:solidFill>
            </a:endParaRPr>
          </a:p>
        </p:txBody>
      </p:sp>
      <p:sp>
        <p:nvSpPr>
          <p:cNvPr id="91139" name="Rectangle 2"/>
          <p:cNvSpPr>
            <a:spLocks noGrp="1" noRot="1" noChangeAspect="1" noChangeArrowheads="1" noTextEdit="1"/>
          </p:cNvSpPr>
          <p:nvPr>
            <p:ph type="sldImg"/>
          </p:nvPr>
        </p:nvSpPr>
        <p:spPr>
          <a:ln/>
        </p:spPr>
      </p:sp>
      <p:sp>
        <p:nvSpPr>
          <p:cNvPr id="91140" name="Rectangle 3"/>
          <p:cNvSpPr>
            <a:spLocks noGrp="1" noChangeArrowheads="1"/>
          </p:cNvSpPr>
          <p:nvPr>
            <p:ph type="body" idx="1"/>
          </p:nvPr>
        </p:nvSpPr>
        <p:spPr>
          <a:noFill/>
        </p:spPr>
        <p:txBody>
          <a:bodyPr/>
          <a:lstStyle/>
          <a:p>
            <a:pPr eaLnBrk="1" hangingPunct="1"/>
            <a:r>
              <a:rPr lang="en-US"/>
              <a:t>You can define your own names for constants that you use very often without having to resort to memory-consuming variables, simply by using the #define preprocessor directive. </a:t>
            </a:r>
          </a:p>
        </p:txBody>
      </p:sp>
      <p:sp>
        <p:nvSpPr>
          <p:cNvPr id="2" name="Footer Placeholder 1"/>
          <p:cNvSpPr>
            <a:spLocks noGrp="1"/>
          </p:cNvSpPr>
          <p:nvPr>
            <p:ph type="ftr" sz="quarter" idx="10"/>
          </p:nvPr>
        </p:nvSpPr>
        <p:spPr/>
        <p:txBody>
          <a:bodyPr/>
          <a:lstStyle/>
          <a:p>
            <a:r>
              <a:rPr lang="en-US"/>
              <a:t>Prepared by: E.A.S.S.</a:t>
            </a:r>
          </a:p>
        </p:txBody>
      </p:sp>
      <p:sp>
        <p:nvSpPr>
          <p:cNvPr id="3" name="Header Placeholder 2"/>
          <p:cNvSpPr>
            <a:spLocks noGrp="1"/>
          </p:cNvSpPr>
          <p:nvPr>
            <p:ph type="hdr" sz="quarter" idx="11"/>
          </p:nvPr>
        </p:nvSpPr>
        <p:spPr/>
        <p:txBody>
          <a:bodyPr/>
          <a:lstStyle/>
          <a:p>
            <a:r>
              <a:rPr lang="en-US"/>
              <a:t>BASIC COMPUTER APPLICATION VI - GSD 06205</a:t>
            </a:r>
          </a:p>
        </p:txBody>
      </p:sp>
    </p:spTree>
    <p:extLst>
      <p:ext uri="{BB962C8B-B14F-4D97-AF65-F5344CB8AC3E}">
        <p14:creationId xmlns:p14="http://schemas.microsoft.com/office/powerpoint/2010/main" val="11075777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p:cNvSpPr>
            <a:spLocks noGrp="1" noChangeArrowheads="1"/>
          </p:cNvSpPr>
          <p:nvPr>
            <p:ph type="sldNum" sz="quarter" idx="5"/>
          </p:nvPr>
        </p:nvSpPr>
        <p:spPr>
          <a:noFill/>
        </p:spPr>
        <p:txBody>
          <a:bodyPr/>
          <a:lstStyle>
            <a:lvl1pPr eaLnBrk="0" hangingPunct="0">
              <a:defRPr b="1">
                <a:solidFill>
                  <a:schemeClr val="tx1"/>
                </a:solidFill>
                <a:latin typeface="Arial" charset="0"/>
              </a:defRPr>
            </a:lvl1pPr>
            <a:lvl2pPr marL="742950" indent="-285750" eaLnBrk="0" hangingPunct="0">
              <a:defRPr b="1">
                <a:solidFill>
                  <a:schemeClr val="tx1"/>
                </a:solidFill>
                <a:latin typeface="Arial" charset="0"/>
              </a:defRPr>
            </a:lvl2pPr>
            <a:lvl3pPr marL="1143000" indent="-228600" eaLnBrk="0" hangingPunct="0">
              <a:defRPr b="1">
                <a:solidFill>
                  <a:schemeClr val="tx1"/>
                </a:solidFill>
                <a:latin typeface="Arial" charset="0"/>
              </a:defRPr>
            </a:lvl3pPr>
            <a:lvl4pPr marL="1600200" indent="-228600" eaLnBrk="0" hangingPunct="0">
              <a:defRPr b="1">
                <a:solidFill>
                  <a:schemeClr val="tx1"/>
                </a:solidFill>
                <a:latin typeface="Arial" charset="0"/>
              </a:defRPr>
            </a:lvl4pPr>
            <a:lvl5pPr marL="2057400" indent="-228600" eaLnBrk="0" hangingPunct="0">
              <a:defRPr b="1">
                <a:solidFill>
                  <a:schemeClr val="tx1"/>
                </a:solidFill>
                <a:latin typeface="Arial" charset="0"/>
              </a:defRPr>
            </a:lvl5pPr>
            <a:lvl6pPr marL="2514600" indent="-228600" eaLnBrk="0" fontAlgn="base" hangingPunct="0">
              <a:spcBef>
                <a:spcPct val="0"/>
              </a:spcBef>
              <a:spcAft>
                <a:spcPct val="0"/>
              </a:spcAft>
              <a:defRPr b="1">
                <a:solidFill>
                  <a:schemeClr val="tx1"/>
                </a:solidFill>
                <a:latin typeface="Arial" charset="0"/>
              </a:defRPr>
            </a:lvl6pPr>
            <a:lvl7pPr marL="2971800" indent="-228600" eaLnBrk="0" fontAlgn="base" hangingPunct="0">
              <a:spcBef>
                <a:spcPct val="0"/>
              </a:spcBef>
              <a:spcAft>
                <a:spcPct val="0"/>
              </a:spcAft>
              <a:defRPr b="1">
                <a:solidFill>
                  <a:schemeClr val="tx1"/>
                </a:solidFill>
                <a:latin typeface="Arial" charset="0"/>
              </a:defRPr>
            </a:lvl7pPr>
            <a:lvl8pPr marL="3429000" indent="-228600" eaLnBrk="0" fontAlgn="base" hangingPunct="0">
              <a:spcBef>
                <a:spcPct val="0"/>
              </a:spcBef>
              <a:spcAft>
                <a:spcPct val="0"/>
              </a:spcAft>
              <a:defRPr b="1">
                <a:solidFill>
                  <a:schemeClr val="tx1"/>
                </a:solidFill>
                <a:latin typeface="Arial" charset="0"/>
              </a:defRPr>
            </a:lvl8pPr>
            <a:lvl9pPr marL="3886200" indent="-228600" eaLnBrk="0" fontAlgn="base" hangingPunct="0">
              <a:spcBef>
                <a:spcPct val="0"/>
              </a:spcBef>
              <a:spcAft>
                <a:spcPct val="0"/>
              </a:spcAft>
              <a:defRPr b="1">
                <a:solidFill>
                  <a:schemeClr val="tx1"/>
                </a:solidFill>
                <a:latin typeface="Arial" charset="0"/>
              </a:defRPr>
            </a:lvl9pPr>
          </a:lstStyle>
          <a:p>
            <a:pPr eaLnBrk="1" hangingPunct="1"/>
            <a:fld id="{E113BCDA-33C0-49FD-99FF-9248C67AC312}" type="slidenum">
              <a:rPr lang="en-US" b="0">
                <a:solidFill>
                  <a:prstClr val="black"/>
                </a:solidFill>
              </a:rPr>
              <a:pPr eaLnBrk="1" hangingPunct="1"/>
              <a:t>24</a:t>
            </a:fld>
            <a:endParaRPr lang="en-US" b="0">
              <a:solidFill>
                <a:prstClr val="black"/>
              </a:solidFill>
            </a:endParaRPr>
          </a:p>
        </p:txBody>
      </p:sp>
      <p:sp>
        <p:nvSpPr>
          <p:cNvPr id="92163" name="Rectangle 2"/>
          <p:cNvSpPr>
            <a:spLocks noGrp="1" noRot="1" noChangeAspect="1" noChangeArrowheads="1" noTextEdit="1"/>
          </p:cNvSpPr>
          <p:nvPr>
            <p:ph type="sldImg"/>
          </p:nvPr>
        </p:nvSpPr>
        <p:spPr>
          <a:ln/>
        </p:spPr>
      </p:sp>
      <p:sp>
        <p:nvSpPr>
          <p:cNvPr id="92164" name="Rectangle 3"/>
          <p:cNvSpPr>
            <a:spLocks noGrp="1" noChangeArrowheads="1"/>
          </p:cNvSpPr>
          <p:nvPr>
            <p:ph type="body" idx="1"/>
          </p:nvPr>
        </p:nvSpPr>
        <p:spPr>
          <a:noFill/>
        </p:spPr>
        <p:txBody>
          <a:bodyPr/>
          <a:lstStyle/>
          <a:p>
            <a:pPr eaLnBrk="1" hangingPunct="1"/>
            <a:r>
              <a:rPr lang="en-US" dirty="0"/>
              <a:t>This defines two new constants: PI and NEWLINE. Once they are defined, you can use them in the rest of the code as if they were any other regular constant.</a:t>
            </a:r>
          </a:p>
          <a:p>
            <a:pPr eaLnBrk="1" hangingPunct="1"/>
            <a:r>
              <a:rPr lang="en-US" dirty="0"/>
              <a:t>In fact the only thing that the compiler preprocessor does when it encounters #define directives is to literally replace any occurrence of their identifier (in the previous example, these were PI and NEWLINE) by the code to which they have been defined (3.14159265 and '\n' respectively). </a:t>
            </a:r>
          </a:p>
          <a:p>
            <a:pPr eaLnBrk="1" hangingPunct="1"/>
            <a:r>
              <a:rPr lang="en-US" dirty="0"/>
              <a:t>The #define directive is not a C++ statement but a directive for the preprocessor; therefore it assumes the entire line as the directive and does not require a semicolon (;) at its end. If you append a semicolon character (;) at the end, it will also be appended in all occurrences within the body of the program that the preprocessor replaces. </a:t>
            </a:r>
          </a:p>
        </p:txBody>
      </p:sp>
      <p:sp>
        <p:nvSpPr>
          <p:cNvPr id="2" name="Footer Placeholder 1"/>
          <p:cNvSpPr>
            <a:spLocks noGrp="1"/>
          </p:cNvSpPr>
          <p:nvPr>
            <p:ph type="ftr" sz="quarter" idx="10"/>
          </p:nvPr>
        </p:nvSpPr>
        <p:spPr/>
        <p:txBody>
          <a:bodyPr/>
          <a:lstStyle/>
          <a:p>
            <a:r>
              <a:rPr lang="en-US"/>
              <a:t>Prepared by: E.A.S.S.</a:t>
            </a:r>
          </a:p>
        </p:txBody>
      </p:sp>
      <p:sp>
        <p:nvSpPr>
          <p:cNvPr id="3" name="Header Placeholder 2"/>
          <p:cNvSpPr>
            <a:spLocks noGrp="1"/>
          </p:cNvSpPr>
          <p:nvPr>
            <p:ph type="hdr" sz="quarter" idx="11"/>
          </p:nvPr>
        </p:nvSpPr>
        <p:spPr/>
        <p:txBody>
          <a:bodyPr/>
          <a:lstStyle/>
          <a:p>
            <a:r>
              <a:rPr lang="en-US"/>
              <a:t>BASIC COMPUTER APPLICATION VI - GSD 06205</a:t>
            </a:r>
          </a:p>
        </p:txBody>
      </p:sp>
    </p:spTree>
    <p:extLst>
      <p:ext uri="{BB962C8B-B14F-4D97-AF65-F5344CB8AC3E}">
        <p14:creationId xmlns:p14="http://schemas.microsoft.com/office/powerpoint/2010/main" val="1059896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p:cNvSpPr>
            <a:spLocks noGrp="1" noChangeArrowheads="1"/>
          </p:cNvSpPr>
          <p:nvPr>
            <p:ph type="sldNum" sz="quarter" idx="5"/>
          </p:nvPr>
        </p:nvSpPr>
        <p:spPr>
          <a:noFill/>
        </p:spPr>
        <p:txBody>
          <a:bodyPr/>
          <a:lstStyle>
            <a:lvl1pPr eaLnBrk="0" hangingPunct="0">
              <a:defRPr b="1">
                <a:solidFill>
                  <a:schemeClr val="tx1"/>
                </a:solidFill>
                <a:latin typeface="Arial" charset="0"/>
              </a:defRPr>
            </a:lvl1pPr>
            <a:lvl2pPr marL="742950" indent="-285750" eaLnBrk="0" hangingPunct="0">
              <a:defRPr b="1">
                <a:solidFill>
                  <a:schemeClr val="tx1"/>
                </a:solidFill>
                <a:latin typeface="Arial" charset="0"/>
              </a:defRPr>
            </a:lvl2pPr>
            <a:lvl3pPr marL="1143000" indent="-228600" eaLnBrk="0" hangingPunct="0">
              <a:defRPr b="1">
                <a:solidFill>
                  <a:schemeClr val="tx1"/>
                </a:solidFill>
                <a:latin typeface="Arial" charset="0"/>
              </a:defRPr>
            </a:lvl3pPr>
            <a:lvl4pPr marL="1600200" indent="-228600" eaLnBrk="0" hangingPunct="0">
              <a:defRPr b="1">
                <a:solidFill>
                  <a:schemeClr val="tx1"/>
                </a:solidFill>
                <a:latin typeface="Arial" charset="0"/>
              </a:defRPr>
            </a:lvl4pPr>
            <a:lvl5pPr marL="2057400" indent="-228600" eaLnBrk="0" hangingPunct="0">
              <a:defRPr b="1">
                <a:solidFill>
                  <a:schemeClr val="tx1"/>
                </a:solidFill>
                <a:latin typeface="Arial" charset="0"/>
              </a:defRPr>
            </a:lvl5pPr>
            <a:lvl6pPr marL="2514600" indent="-228600" eaLnBrk="0" fontAlgn="base" hangingPunct="0">
              <a:spcBef>
                <a:spcPct val="0"/>
              </a:spcBef>
              <a:spcAft>
                <a:spcPct val="0"/>
              </a:spcAft>
              <a:defRPr b="1">
                <a:solidFill>
                  <a:schemeClr val="tx1"/>
                </a:solidFill>
                <a:latin typeface="Arial" charset="0"/>
              </a:defRPr>
            </a:lvl6pPr>
            <a:lvl7pPr marL="2971800" indent="-228600" eaLnBrk="0" fontAlgn="base" hangingPunct="0">
              <a:spcBef>
                <a:spcPct val="0"/>
              </a:spcBef>
              <a:spcAft>
                <a:spcPct val="0"/>
              </a:spcAft>
              <a:defRPr b="1">
                <a:solidFill>
                  <a:schemeClr val="tx1"/>
                </a:solidFill>
                <a:latin typeface="Arial" charset="0"/>
              </a:defRPr>
            </a:lvl7pPr>
            <a:lvl8pPr marL="3429000" indent="-228600" eaLnBrk="0" fontAlgn="base" hangingPunct="0">
              <a:spcBef>
                <a:spcPct val="0"/>
              </a:spcBef>
              <a:spcAft>
                <a:spcPct val="0"/>
              </a:spcAft>
              <a:defRPr b="1">
                <a:solidFill>
                  <a:schemeClr val="tx1"/>
                </a:solidFill>
                <a:latin typeface="Arial" charset="0"/>
              </a:defRPr>
            </a:lvl8pPr>
            <a:lvl9pPr marL="3886200" indent="-228600" eaLnBrk="0" fontAlgn="base" hangingPunct="0">
              <a:spcBef>
                <a:spcPct val="0"/>
              </a:spcBef>
              <a:spcAft>
                <a:spcPct val="0"/>
              </a:spcAft>
              <a:defRPr b="1">
                <a:solidFill>
                  <a:schemeClr val="tx1"/>
                </a:solidFill>
                <a:latin typeface="Arial" charset="0"/>
              </a:defRPr>
            </a:lvl9pPr>
          </a:lstStyle>
          <a:p>
            <a:pPr eaLnBrk="1" hangingPunct="1"/>
            <a:fld id="{702F95C3-C4DB-427A-8AE5-9E2138A831DA}" type="slidenum">
              <a:rPr lang="en-US" b="0">
                <a:solidFill>
                  <a:prstClr val="black"/>
                </a:solidFill>
              </a:rPr>
              <a:pPr eaLnBrk="1" hangingPunct="1"/>
              <a:t>25</a:t>
            </a:fld>
            <a:endParaRPr lang="en-US" b="0">
              <a:solidFill>
                <a:prstClr val="black"/>
              </a:solidFill>
            </a:endParaRPr>
          </a:p>
        </p:txBody>
      </p:sp>
      <p:sp>
        <p:nvSpPr>
          <p:cNvPr id="93187" name="Rectangle 2"/>
          <p:cNvSpPr>
            <a:spLocks noGrp="1" noRot="1" noChangeAspect="1" noChangeArrowheads="1" noTextEdit="1"/>
          </p:cNvSpPr>
          <p:nvPr>
            <p:ph type="sldImg"/>
          </p:nvPr>
        </p:nvSpPr>
        <p:spPr>
          <a:ln/>
        </p:spPr>
      </p:sp>
      <p:sp>
        <p:nvSpPr>
          <p:cNvPr id="93188" name="Rectangle 3"/>
          <p:cNvSpPr>
            <a:spLocks noGrp="1" noChangeArrowheads="1"/>
          </p:cNvSpPr>
          <p:nvPr>
            <p:ph type="body" idx="1"/>
          </p:nvPr>
        </p:nvSpPr>
        <p:spPr>
          <a:noFill/>
        </p:spPr>
        <p:txBody>
          <a:bodyPr/>
          <a:lstStyle/>
          <a:p>
            <a:pPr eaLnBrk="1" hangingPunct="1"/>
            <a:r>
              <a:rPr lang="en-US" dirty="0"/>
              <a:t>Here, pathwidth and tabulator are two typed constants. They are treated just like regular variables except that their values cannot be modified after their definition.</a:t>
            </a:r>
            <a:br>
              <a:rPr lang="en-US" dirty="0"/>
            </a:br>
            <a:endParaRPr lang="en-US" dirty="0"/>
          </a:p>
        </p:txBody>
      </p:sp>
      <p:sp>
        <p:nvSpPr>
          <p:cNvPr id="2" name="Footer Placeholder 1"/>
          <p:cNvSpPr>
            <a:spLocks noGrp="1"/>
          </p:cNvSpPr>
          <p:nvPr>
            <p:ph type="ftr" sz="quarter" idx="10"/>
          </p:nvPr>
        </p:nvSpPr>
        <p:spPr/>
        <p:txBody>
          <a:bodyPr/>
          <a:lstStyle/>
          <a:p>
            <a:r>
              <a:rPr lang="en-US"/>
              <a:t>Prepared by: E.A.S.S.</a:t>
            </a:r>
          </a:p>
        </p:txBody>
      </p:sp>
      <p:sp>
        <p:nvSpPr>
          <p:cNvPr id="3" name="Header Placeholder 2"/>
          <p:cNvSpPr>
            <a:spLocks noGrp="1"/>
          </p:cNvSpPr>
          <p:nvPr>
            <p:ph type="hdr" sz="quarter" idx="11"/>
          </p:nvPr>
        </p:nvSpPr>
        <p:spPr/>
        <p:txBody>
          <a:bodyPr/>
          <a:lstStyle/>
          <a:p>
            <a:r>
              <a:rPr lang="en-US"/>
              <a:t>BASIC COMPUTER APPLICATION VI - GSD 06205</a:t>
            </a:r>
          </a:p>
        </p:txBody>
      </p:sp>
    </p:spTree>
    <p:extLst>
      <p:ext uri="{BB962C8B-B14F-4D97-AF65-F5344CB8AC3E}">
        <p14:creationId xmlns:p14="http://schemas.microsoft.com/office/powerpoint/2010/main" val="309430811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p:cNvSpPr>
            <a:spLocks noGrp="1" noChangeArrowheads="1"/>
          </p:cNvSpPr>
          <p:nvPr>
            <p:ph type="sldNum" sz="quarter" idx="5"/>
          </p:nvPr>
        </p:nvSpPr>
        <p:spPr>
          <a:noFill/>
        </p:spPr>
        <p:txBody>
          <a:bodyPr/>
          <a:lstStyle>
            <a:lvl1pPr eaLnBrk="0" hangingPunct="0">
              <a:defRPr b="1">
                <a:solidFill>
                  <a:schemeClr val="tx1"/>
                </a:solidFill>
                <a:latin typeface="Arial" charset="0"/>
              </a:defRPr>
            </a:lvl1pPr>
            <a:lvl2pPr marL="742950" indent="-285750" eaLnBrk="0" hangingPunct="0">
              <a:defRPr b="1">
                <a:solidFill>
                  <a:schemeClr val="tx1"/>
                </a:solidFill>
                <a:latin typeface="Arial" charset="0"/>
              </a:defRPr>
            </a:lvl2pPr>
            <a:lvl3pPr marL="1143000" indent="-228600" eaLnBrk="0" hangingPunct="0">
              <a:defRPr b="1">
                <a:solidFill>
                  <a:schemeClr val="tx1"/>
                </a:solidFill>
                <a:latin typeface="Arial" charset="0"/>
              </a:defRPr>
            </a:lvl3pPr>
            <a:lvl4pPr marL="1600200" indent="-228600" eaLnBrk="0" hangingPunct="0">
              <a:defRPr b="1">
                <a:solidFill>
                  <a:schemeClr val="tx1"/>
                </a:solidFill>
                <a:latin typeface="Arial" charset="0"/>
              </a:defRPr>
            </a:lvl4pPr>
            <a:lvl5pPr marL="2057400" indent="-228600" eaLnBrk="0" hangingPunct="0">
              <a:defRPr b="1">
                <a:solidFill>
                  <a:schemeClr val="tx1"/>
                </a:solidFill>
                <a:latin typeface="Arial" charset="0"/>
              </a:defRPr>
            </a:lvl5pPr>
            <a:lvl6pPr marL="2514600" indent="-228600" eaLnBrk="0" fontAlgn="base" hangingPunct="0">
              <a:spcBef>
                <a:spcPct val="0"/>
              </a:spcBef>
              <a:spcAft>
                <a:spcPct val="0"/>
              </a:spcAft>
              <a:defRPr b="1">
                <a:solidFill>
                  <a:schemeClr val="tx1"/>
                </a:solidFill>
                <a:latin typeface="Arial" charset="0"/>
              </a:defRPr>
            </a:lvl6pPr>
            <a:lvl7pPr marL="2971800" indent="-228600" eaLnBrk="0" fontAlgn="base" hangingPunct="0">
              <a:spcBef>
                <a:spcPct val="0"/>
              </a:spcBef>
              <a:spcAft>
                <a:spcPct val="0"/>
              </a:spcAft>
              <a:defRPr b="1">
                <a:solidFill>
                  <a:schemeClr val="tx1"/>
                </a:solidFill>
                <a:latin typeface="Arial" charset="0"/>
              </a:defRPr>
            </a:lvl7pPr>
            <a:lvl8pPr marL="3429000" indent="-228600" eaLnBrk="0" fontAlgn="base" hangingPunct="0">
              <a:spcBef>
                <a:spcPct val="0"/>
              </a:spcBef>
              <a:spcAft>
                <a:spcPct val="0"/>
              </a:spcAft>
              <a:defRPr b="1">
                <a:solidFill>
                  <a:schemeClr val="tx1"/>
                </a:solidFill>
                <a:latin typeface="Arial" charset="0"/>
              </a:defRPr>
            </a:lvl8pPr>
            <a:lvl9pPr marL="3886200" indent="-228600" eaLnBrk="0" fontAlgn="base" hangingPunct="0">
              <a:spcBef>
                <a:spcPct val="0"/>
              </a:spcBef>
              <a:spcAft>
                <a:spcPct val="0"/>
              </a:spcAft>
              <a:defRPr b="1">
                <a:solidFill>
                  <a:schemeClr val="tx1"/>
                </a:solidFill>
                <a:latin typeface="Arial" charset="0"/>
              </a:defRPr>
            </a:lvl9pPr>
          </a:lstStyle>
          <a:p>
            <a:pPr eaLnBrk="1" hangingPunct="1"/>
            <a:fld id="{ABBD3AFD-84A5-48CD-8062-30637796C60C}" type="slidenum">
              <a:rPr lang="en-US" b="0">
                <a:solidFill>
                  <a:prstClr val="black"/>
                </a:solidFill>
              </a:rPr>
              <a:pPr eaLnBrk="1" hangingPunct="1"/>
              <a:t>26</a:t>
            </a:fld>
            <a:endParaRPr lang="en-US" b="0">
              <a:solidFill>
                <a:prstClr val="black"/>
              </a:solidFill>
            </a:endParaRPr>
          </a:p>
        </p:txBody>
      </p:sp>
      <p:sp>
        <p:nvSpPr>
          <p:cNvPr id="94211" name="Rectangle 2"/>
          <p:cNvSpPr>
            <a:spLocks noGrp="1" noRot="1" noChangeAspect="1" noChangeArrowheads="1" noTextEdit="1"/>
          </p:cNvSpPr>
          <p:nvPr>
            <p:ph type="sldImg"/>
          </p:nvPr>
        </p:nvSpPr>
        <p:spPr>
          <a:ln/>
        </p:spPr>
      </p:sp>
      <p:sp>
        <p:nvSpPr>
          <p:cNvPr id="94212" name="Rectangle 3"/>
          <p:cNvSpPr>
            <a:spLocks noGrp="1" noChangeArrowheads="1"/>
          </p:cNvSpPr>
          <p:nvPr>
            <p:ph type="body" idx="1"/>
          </p:nvPr>
        </p:nvSpPr>
        <p:spPr>
          <a:noFill/>
        </p:spPr>
        <p:txBody>
          <a:bodyPr/>
          <a:lstStyle/>
          <a:p>
            <a:pPr eaLnBrk="1" hangingPunct="1"/>
            <a:r>
              <a:rPr lang="en-US"/>
              <a:t>Once we know of the existence of variables and constants, we can begin to operate with them. For that purpose, C++ integrates operators. </a:t>
            </a:r>
          </a:p>
          <a:p>
            <a:pPr eaLnBrk="1" hangingPunct="1"/>
            <a:r>
              <a:rPr lang="en-US"/>
              <a:t>The part at the left of the assignment operator (=) is known as the </a:t>
            </a:r>
            <a:r>
              <a:rPr lang="en-US" i="1"/>
              <a:t>lvalue</a:t>
            </a:r>
            <a:r>
              <a:rPr lang="en-US"/>
              <a:t> (left value) and the right one as the </a:t>
            </a:r>
            <a:r>
              <a:rPr lang="en-US" i="1"/>
              <a:t>rvalue</a:t>
            </a:r>
            <a:r>
              <a:rPr lang="en-US"/>
              <a:t> (right value). </a:t>
            </a:r>
          </a:p>
        </p:txBody>
      </p:sp>
      <p:sp>
        <p:nvSpPr>
          <p:cNvPr id="2" name="Footer Placeholder 1"/>
          <p:cNvSpPr>
            <a:spLocks noGrp="1"/>
          </p:cNvSpPr>
          <p:nvPr>
            <p:ph type="ftr" sz="quarter" idx="10"/>
          </p:nvPr>
        </p:nvSpPr>
        <p:spPr/>
        <p:txBody>
          <a:bodyPr/>
          <a:lstStyle/>
          <a:p>
            <a:r>
              <a:rPr lang="en-US"/>
              <a:t>Prepared by: E.A.S.S.</a:t>
            </a:r>
          </a:p>
        </p:txBody>
      </p:sp>
      <p:sp>
        <p:nvSpPr>
          <p:cNvPr id="3" name="Header Placeholder 2"/>
          <p:cNvSpPr>
            <a:spLocks noGrp="1"/>
          </p:cNvSpPr>
          <p:nvPr>
            <p:ph type="hdr" sz="quarter" idx="11"/>
          </p:nvPr>
        </p:nvSpPr>
        <p:spPr/>
        <p:txBody>
          <a:bodyPr/>
          <a:lstStyle/>
          <a:p>
            <a:r>
              <a:rPr lang="en-US"/>
              <a:t>BASIC COMPUTER APPLICATION VI - GSD 06205</a:t>
            </a:r>
          </a:p>
        </p:txBody>
      </p:sp>
    </p:spTree>
    <p:extLst>
      <p:ext uri="{BB962C8B-B14F-4D97-AF65-F5344CB8AC3E}">
        <p14:creationId xmlns:p14="http://schemas.microsoft.com/office/powerpoint/2010/main" val="390055424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p:cNvSpPr>
            <a:spLocks noGrp="1" noChangeArrowheads="1"/>
          </p:cNvSpPr>
          <p:nvPr>
            <p:ph type="sldNum" sz="quarter" idx="5"/>
          </p:nvPr>
        </p:nvSpPr>
        <p:spPr>
          <a:noFill/>
        </p:spPr>
        <p:txBody>
          <a:bodyPr/>
          <a:lstStyle>
            <a:lvl1pPr eaLnBrk="0" hangingPunct="0">
              <a:defRPr b="1">
                <a:solidFill>
                  <a:schemeClr val="tx1"/>
                </a:solidFill>
                <a:latin typeface="Arial" charset="0"/>
              </a:defRPr>
            </a:lvl1pPr>
            <a:lvl2pPr marL="742950" indent="-285750" eaLnBrk="0" hangingPunct="0">
              <a:defRPr b="1">
                <a:solidFill>
                  <a:schemeClr val="tx1"/>
                </a:solidFill>
                <a:latin typeface="Arial" charset="0"/>
              </a:defRPr>
            </a:lvl2pPr>
            <a:lvl3pPr marL="1143000" indent="-228600" eaLnBrk="0" hangingPunct="0">
              <a:defRPr b="1">
                <a:solidFill>
                  <a:schemeClr val="tx1"/>
                </a:solidFill>
                <a:latin typeface="Arial" charset="0"/>
              </a:defRPr>
            </a:lvl3pPr>
            <a:lvl4pPr marL="1600200" indent="-228600" eaLnBrk="0" hangingPunct="0">
              <a:defRPr b="1">
                <a:solidFill>
                  <a:schemeClr val="tx1"/>
                </a:solidFill>
                <a:latin typeface="Arial" charset="0"/>
              </a:defRPr>
            </a:lvl4pPr>
            <a:lvl5pPr marL="2057400" indent="-228600" eaLnBrk="0" hangingPunct="0">
              <a:defRPr b="1">
                <a:solidFill>
                  <a:schemeClr val="tx1"/>
                </a:solidFill>
                <a:latin typeface="Arial" charset="0"/>
              </a:defRPr>
            </a:lvl5pPr>
            <a:lvl6pPr marL="2514600" indent="-228600" eaLnBrk="0" fontAlgn="base" hangingPunct="0">
              <a:spcBef>
                <a:spcPct val="0"/>
              </a:spcBef>
              <a:spcAft>
                <a:spcPct val="0"/>
              </a:spcAft>
              <a:defRPr b="1">
                <a:solidFill>
                  <a:schemeClr val="tx1"/>
                </a:solidFill>
                <a:latin typeface="Arial" charset="0"/>
              </a:defRPr>
            </a:lvl6pPr>
            <a:lvl7pPr marL="2971800" indent="-228600" eaLnBrk="0" fontAlgn="base" hangingPunct="0">
              <a:spcBef>
                <a:spcPct val="0"/>
              </a:spcBef>
              <a:spcAft>
                <a:spcPct val="0"/>
              </a:spcAft>
              <a:defRPr b="1">
                <a:solidFill>
                  <a:schemeClr val="tx1"/>
                </a:solidFill>
                <a:latin typeface="Arial" charset="0"/>
              </a:defRPr>
            </a:lvl7pPr>
            <a:lvl8pPr marL="3429000" indent="-228600" eaLnBrk="0" fontAlgn="base" hangingPunct="0">
              <a:spcBef>
                <a:spcPct val="0"/>
              </a:spcBef>
              <a:spcAft>
                <a:spcPct val="0"/>
              </a:spcAft>
              <a:defRPr b="1">
                <a:solidFill>
                  <a:schemeClr val="tx1"/>
                </a:solidFill>
                <a:latin typeface="Arial" charset="0"/>
              </a:defRPr>
            </a:lvl8pPr>
            <a:lvl9pPr marL="3886200" indent="-228600" eaLnBrk="0" fontAlgn="base" hangingPunct="0">
              <a:spcBef>
                <a:spcPct val="0"/>
              </a:spcBef>
              <a:spcAft>
                <a:spcPct val="0"/>
              </a:spcAft>
              <a:defRPr b="1">
                <a:solidFill>
                  <a:schemeClr val="tx1"/>
                </a:solidFill>
                <a:latin typeface="Arial" charset="0"/>
              </a:defRPr>
            </a:lvl9pPr>
          </a:lstStyle>
          <a:p>
            <a:pPr eaLnBrk="1" hangingPunct="1"/>
            <a:fld id="{34AEABB0-FEFF-442B-99A1-EC821DCF7283}" type="slidenum">
              <a:rPr lang="en-US" b="0">
                <a:solidFill>
                  <a:prstClr val="black"/>
                </a:solidFill>
              </a:rPr>
              <a:pPr eaLnBrk="1" hangingPunct="1"/>
              <a:t>32</a:t>
            </a:fld>
            <a:endParaRPr lang="en-US" b="0">
              <a:solidFill>
                <a:prstClr val="black"/>
              </a:solidFill>
            </a:endParaRPr>
          </a:p>
        </p:txBody>
      </p:sp>
      <p:sp>
        <p:nvSpPr>
          <p:cNvPr id="96259" name="Rectangle 2"/>
          <p:cNvSpPr>
            <a:spLocks noGrp="1" noRot="1" noChangeAspect="1" noChangeArrowheads="1" noTextEdit="1"/>
          </p:cNvSpPr>
          <p:nvPr>
            <p:ph type="sldImg"/>
          </p:nvPr>
        </p:nvSpPr>
        <p:spPr>
          <a:ln/>
        </p:spPr>
      </p:sp>
      <p:sp>
        <p:nvSpPr>
          <p:cNvPr id="96260" name="Rectangle 3"/>
          <p:cNvSpPr>
            <a:spLocks noGrp="1" noChangeArrowheads="1"/>
          </p:cNvSpPr>
          <p:nvPr>
            <p:ph type="body" idx="1"/>
          </p:nvPr>
        </p:nvSpPr>
        <p:spPr>
          <a:noFill/>
        </p:spPr>
        <p:txBody>
          <a:bodyPr/>
          <a:lstStyle/>
          <a:p>
            <a:pPr eaLnBrk="1" hangingPunct="1"/>
            <a:r>
              <a:rPr lang="en-US"/>
              <a:t>The Operator ! is the C++ operator to perform the Boolean operation NOT, it has only one operand, located at its right, and the only thing that it does is to inverse the value of it, producing false if its operand is true and true if its operand is false. Basically, it returns the opposite Boolean value of evaluating its operand. </a:t>
            </a:r>
          </a:p>
        </p:txBody>
      </p:sp>
      <p:sp>
        <p:nvSpPr>
          <p:cNvPr id="2" name="Footer Placeholder 1"/>
          <p:cNvSpPr>
            <a:spLocks noGrp="1"/>
          </p:cNvSpPr>
          <p:nvPr>
            <p:ph type="ftr" sz="quarter" idx="10"/>
          </p:nvPr>
        </p:nvSpPr>
        <p:spPr/>
        <p:txBody>
          <a:bodyPr/>
          <a:lstStyle/>
          <a:p>
            <a:r>
              <a:rPr lang="en-US"/>
              <a:t>Prepared by: E.A.S.S.</a:t>
            </a:r>
          </a:p>
        </p:txBody>
      </p:sp>
      <p:sp>
        <p:nvSpPr>
          <p:cNvPr id="3" name="Header Placeholder 2"/>
          <p:cNvSpPr>
            <a:spLocks noGrp="1"/>
          </p:cNvSpPr>
          <p:nvPr>
            <p:ph type="hdr" sz="quarter" idx="11"/>
          </p:nvPr>
        </p:nvSpPr>
        <p:spPr/>
        <p:txBody>
          <a:bodyPr/>
          <a:lstStyle/>
          <a:p>
            <a:r>
              <a:rPr lang="en-US"/>
              <a:t>BASIC COMPUTER APPLICATION VI - GSD 06205</a:t>
            </a:r>
          </a:p>
        </p:txBody>
      </p:sp>
    </p:spTree>
    <p:extLst>
      <p:ext uri="{BB962C8B-B14F-4D97-AF65-F5344CB8AC3E}">
        <p14:creationId xmlns:p14="http://schemas.microsoft.com/office/powerpoint/2010/main" val="249133741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p:cNvSpPr>
            <a:spLocks noGrp="1" noChangeArrowheads="1"/>
          </p:cNvSpPr>
          <p:nvPr>
            <p:ph type="sldNum" sz="quarter" idx="5"/>
          </p:nvPr>
        </p:nvSpPr>
        <p:spPr>
          <a:noFill/>
        </p:spPr>
        <p:txBody>
          <a:bodyPr/>
          <a:lstStyle>
            <a:lvl1pPr eaLnBrk="0" hangingPunct="0">
              <a:defRPr b="1">
                <a:solidFill>
                  <a:schemeClr val="tx1"/>
                </a:solidFill>
                <a:latin typeface="Arial" charset="0"/>
              </a:defRPr>
            </a:lvl1pPr>
            <a:lvl2pPr marL="742950" indent="-285750" eaLnBrk="0" hangingPunct="0">
              <a:defRPr b="1">
                <a:solidFill>
                  <a:schemeClr val="tx1"/>
                </a:solidFill>
                <a:latin typeface="Arial" charset="0"/>
              </a:defRPr>
            </a:lvl2pPr>
            <a:lvl3pPr marL="1143000" indent="-228600" eaLnBrk="0" hangingPunct="0">
              <a:defRPr b="1">
                <a:solidFill>
                  <a:schemeClr val="tx1"/>
                </a:solidFill>
                <a:latin typeface="Arial" charset="0"/>
              </a:defRPr>
            </a:lvl3pPr>
            <a:lvl4pPr marL="1600200" indent="-228600" eaLnBrk="0" hangingPunct="0">
              <a:defRPr b="1">
                <a:solidFill>
                  <a:schemeClr val="tx1"/>
                </a:solidFill>
                <a:latin typeface="Arial" charset="0"/>
              </a:defRPr>
            </a:lvl4pPr>
            <a:lvl5pPr marL="2057400" indent="-228600" eaLnBrk="0" hangingPunct="0">
              <a:defRPr b="1">
                <a:solidFill>
                  <a:schemeClr val="tx1"/>
                </a:solidFill>
                <a:latin typeface="Arial" charset="0"/>
              </a:defRPr>
            </a:lvl5pPr>
            <a:lvl6pPr marL="2514600" indent="-228600" eaLnBrk="0" fontAlgn="base" hangingPunct="0">
              <a:spcBef>
                <a:spcPct val="0"/>
              </a:spcBef>
              <a:spcAft>
                <a:spcPct val="0"/>
              </a:spcAft>
              <a:defRPr b="1">
                <a:solidFill>
                  <a:schemeClr val="tx1"/>
                </a:solidFill>
                <a:latin typeface="Arial" charset="0"/>
              </a:defRPr>
            </a:lvl6pPr>
            <a:lvl7pPr marL="2971800" indent="-228600" eaLnBrk="0" fontAlgn="base" hangingPunct="0">
              <a:spcBef>
                <a:spcPct val="0"/>
              </a:spcBef>
              <a:spcAft>
                <a:spcPct val="0"/>
              </a:spcAft>
              <a:defRPr b="1">
                <a:solidFill>
                  <a:schemeClr val="tx1"/>
                </a:solidFill>
                <a:latin typeface="Arial" charset="0"/>
              </a:defRPr>
            </a:lvl7pPr>
            <a:lvl8pPr marL="3429000" indent="-228600" eaLnBrk="0" fontAlgn="base" hangingPunct="0">
              <a:spcBef>
                <a:spcPct val="0"/>
              </a:spcBef>
              <a:spcAft>
                <a:spcPct val="0"/>
              </a:spcAft>
              <a:defRPr b="1">
                <a:solidFill>
                  <a:schemeClr val="tx1"/>
                </a:solidFill>
                <a:latin typeface="Arial" charset="0"/>
              </a:defRPr>
            </a:lvl8pPr>
            <a:lvl9pPr marL="3886200" indent="-228600" eaLnBrk="0" fontAlgn="base" hangingPunct="0">
              <a:spcBef>
                <a:spcPct val="0"/>
              </a:spcBef>
              <a:spcAft>
                <a:spcPct val="0"/>
              </a:spcAft>
              <a:defRPr b="1">
                <a:solidFill>
                  <a:schemeClr val="tx1"/>
                </a:solidFill>
                <a:latin typeface="Arial" charset="0"/>
              </a:defRPr>
            </a:lvl9pPr>
          </a:lstStyle>
          <a:p>
            <a:pPr eaLnBrk="1" hangingPunct="1"/>
            <a:fld id="{0BCA1349-260C-4693-B21E-9511890F39EE}" type="slidenum">
              <a:rPr lang="en-US" b="0">
                <a:solidFill>
                  <a:prstClr val="black"/>
                </a:solidFill>
              </a:rPr>
              <a:pPr eaLnBrk="1" hangingPunct="1"/>
              <a:t>37</a:t>
            </a:fld>
            <a:endParaRPr lang="en-US" b="0">
              <a:solidFill>
                <a:prstClr val="black"/>
              </a:solidFill>
            </a:endParaRPr>
          </a:p>
        </p:txBody>
      </p:sp>
      <p:sp>
        <p:nvSpPr>
          <p:cNvPr id="97283" name="Rectangle 2"/>
          <p:cNvSpPr>
            <a:spLocks noGrp="1" noRot="1" noChangeAspect="1" noChangeArrowheads="1" noTextEdit="1"/>
          </p:cNvSpPr>
          <p:nvPr>
            <p:ph type="sldImg"/>
          </p:nvPr>
        </p:nvSpPr>
        <p:spPr>
          <a:ln/>
        </p:spPr>
      </p:sp>
      <p:sp>
        <p:nvSpPr>
          <p:cNvPr id="97284" name="Rectangle 3"/>
          <p:cNvSpPr>
            <a:spLocks noGrp="1" noChangeArrowheads="1"/>
          </p:cNvSpPr>
          <p:nvPr>
            <p:ph type="body" idx="1"/>
          </p:nvPr>
        </p:nvSpPr>
        <p:spPr>
          <a:noFill/>
        </p:spPr>
        <p:txBody>
          <a:bodyPr/>
          <a:lstStyle/>
          <a:p>
            <a:pPr eaLnBrk="1" hangingPunct="1"/>
            <a:r>
              <a:rPr lang="en-US"/>
              <a:t>Bitwise operators modify variables considering the bit patterns that represent the values they store.</a:t>
            </a:r>
          </a:p>
        </p:txBody>
      </p:sp>
      <p:sp>
        <p:nvSpPr>
          <p:cNvPr id="2" name="Footer Placeholder 1"/>
          <p:cNvSpPr>
            <a:spLocks noGrp="1"/>
          </p:cNvSpPr>
          <p:nvPr>
            <p:ph type="ftr" sz="quarter" idx="10"/>
          </p:nvPr>
        </p:nvSpPr>
        <p:spPr/>
        <p:txBody>
          <a:bodyPr/>
          <a:lstStyle/>
          <a:p>
            <a:r>
              <a:rPr lang="en-US"/>
              <a:t>Prepared by: E.A.S.S.</a:t>
            </a:r>
          </a:p>
        </p:txBody>
      </p:sp>
      <p:sp>
        <p:nvSpPr>
          <p:cNvPr id="3" name="Header Placeholder 2"/>
          <p:cNvSpPr>
            <a:spLocks noGrp="1"/>
          </p:cNvSpPr>
          <p:nvPr>
            <p:ph type="hdr" sz="quarter" idx="11"/>
          </p:nvPr>
        </p:nvSpPr>
        <p:spPr/>
        <p:txBody>
          <a:bodyPr/>
          <a:lstStyle/>
          <a:p>
            <a:r>
              <a:rPr lang="en-US"/>
              <a:t>BASIC COMPUTER APPLICATION VI - GSD 06205</a:t>
            </a:r>
          </a:p>
        </p:txBody>
      </p:sp>
    </p:spTree>
    <p:extLst>
      <p:ext uri="{BB962C8B-B14F-4D97-AF65-F5344CB8AC3E}">
        <p14:creationId xmlns:p14="http://schemas.microsoft.com/office/powerpoint/2010/main" val="384852559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noFill/>
        </p:spPr>
        <p:txBody>
          <a:bodyPr/>
          <a:lstStyle>
            <a:lvl1pPr eaLnBrk="0" hangingPunct="0">
              <a:defRPr b="1">
                <a:solidFill>
                  <a:schemeClr val="tx1"/>
                </a:solidFill>
                <a:latin typeface="Arial" charset="0"/>
              </a:defRPr>
            </a:lvl1pPr>
            <a:lvl2pPr marL="742950" indent="-285750" eaLnBrk="0" hangingPunct="0">
              <a:defRPr b="1">
                <a:solidFill>
                  <a:schemeClr val="tx1"/>
                </a:solidFill>
                <a:latin typeface="Arial" charset="0"/>
              </a:defRPr>
            </a:lvl2pPr>
            <a:lvl3pPr marL="1143000" indent="-228600" eaLnBrk="0" hangingPunct="0">
              <a:defRPr b="1">
                <a:solidFill>
                  <a:schemeClr val="tx1"/>
                </a:solidFill>
                <a:latin typeface="Arial" charset="0"/>
              </a:defRPr>
            </a:lvl3pPr>
            <a:lvl4pPr marL="1600200" indent="-228600" eaLnBrk="0" hangingPunct="0">
              <a:defRPr b="1">
                <a:solidFill>
                  <a:schemeClr val="tx1"/>
                </a:solidFill>
                <a:latin typeface="Arial" charset="0"/>
              </a:defRPr>
            </a:lvl4pPr>
            <a:lvl5pPr marL="2057400" indent="-228600" eaLnBrk="0" hangingPunct="0">
              <a:defRPr b="1">
                <a:solidFill>
                  <a:schemeClr val="tx1"/>
                </a:solidFill>
                <a:latin typeface="Arial" charset="0"/>
              </a:defRPr>
            </a:lvl5pPr>
            <a:lvl6pPr marL="2514600" indent="-228600" eaLnBrk="0" fontAlgn="base" hangingPunct="0">
              <a:spcBef>
                <a:spcPct val="0"/>
              </a:spcBef>
              <a:spcAft>
                <a:spcPct val="0"/>
              </a:spcAft>
              <a:defRPr b="1">
                <a:solidFill>
                  <a:schemeClr val="tx1"/>
                </a:solidFill>
                <a:latin typeface="Arial" charset="0"/>
              </a:defRPr>
            </a:lvl6pPr>
            <a:lvl7pPr marL="2971800" indent="-228600" eaLnBrk="0" fontAlgn="base" hangingPunct="0">
              <a:spcBef>
                <a:spcPct val="0"/>
              </a:spcBef>
              <a:spcAft>
                <a:spcPct val="0"/>
              </a:spcAft>
              <a:defRPr b="1">
                <a:solidFill>
                  <a:schemeClr val="tx1"/>
                </a:solidFill>
                <a:latin typeface="Arial" charset="0"/>
              </a:defRPr>
            </a:lvl7pPr>
            <a:lvl8pPr marL="3429000" indent="-228600" eaLnBrk="0" fontAlgn="base" hangingPunct="0">
              <a:spcBef>
                <a:spcPct val="0"/>
              </a:spcBef>
              <a:spcAft>
                <a:spcPct val="0"/>
              </a:spcAft>
              <a:defRPr b="1">
                <a:solidFill>
                  <a:schemeClr val="tx1"/>
                </a:solidFill>
                <a:latin typeface="Arial" charset="0"/>
              </a:defRPr>
            </a:lvl8pPr>
            <a:lvl9pPr marL="3886200" indent="-228600" eaLnBrk="0" fontAlgn="base" hangingPunct="0">
              <a:spcBef>
                <a:spcPct val="0"/>
              </a:spcBef>
              <a:spcAft>
                <a:spcPct val="0"/>
              </a:spcAft>
              <a:defRPr b="1">
                <a:solidFill>
                  <a:schemeClr val="tx1"/>
                </a:solidFill>
                <a:latin typeface="Arial" charset="0"/>
              </a:defRPr>
            </a:lvl9pPr>
          </a:lstStyle>
          <a:p>
            <a:pPr eaLnBrk="1" hangingPunct="1"/>
            <a:fld id="{91169EF0-1A01-4F07-9BAA-9B05E660677F}" type="slidenum">
              <a:rPr lang="en-US" b="0">
                <a:solidFill>
                  <a:prstClr val="black"/>
                </a:solidFill>
              </a:rPr>
              <a:pPr eaLnBrk="1" hangingPunct="1"/>
              <a:t>40</a:t>
            </a:fld>
            <a:endParaRPr lang="en-US" b="0">
              <a:solidFill>
                <a:prstClr val="black"/>
              </a:solidFill>
            </a:endParaRPr>
          </a:p>
        </p:txBody>
      </p:sp>
      <p:sp>
        <p:nvSpPr>
          <p:cNvPr id="98307" name="Rectangle 2"/>
          <p:cNvSpPr>
            <a:spLocks noGrp="1" noRot="1" noChangeAspect="1" noChangeArrowheads="1" noTextEdit="1"/>
          </p:cNvSpPr>
          <p:nvPr>
            <p:ph type="sldImg"/>
          </p:nvPr>
        </p:nvSpPr>
        <p:spPr>
          <a:ln/>
        </p:spPr>
      </p:sp>
      <p:sp>
        <p:nvSpPr>
          <p:cNvPr id="98308" name="Rectangle 3"/>
          <p:cNvSpPr>
            <a:spLocks noGrp="1" noChangeArrowheads="1"/>
          </p:cNvSpPr>
          <p:nvPr>
            <p:ph type="body" idx="1"/>
          </p:nvPr>
        </p:nvSpPr>
        <p:spPr>
          <a:noFill/>
        </p:spPr>
        <p:txBody>
          <a:bodyPr/>
          <a:lstStyle/>
          <a:p>
            <a:pPr eaLnBrk="1" hangingPunct="1"/>
            <a:r>
              <a:rPr lang="en-US" dirty="0"/>
              <a:t> There are several ways to do this in C++. The simplest one, which has been inherited from the C language, is to precede the expression to be converted by the new type enclosed between parentheses (()):</a:t>
            </a:r>
          </a:p>
          <a:p>
            <a:pPr eaLnBrk="1" hangingPunct="1"/>
            <a:r>
              <a:rPr lang="en-US" dirty="0"/>
              <a:t> </a:t>
            </a:r>
            <a:r>
              <a:rPr lang="en-US" b="1" dirty="0"/>
              <a:t>int i; </a:t>
            </a:r>
          </a:p>
          <a:p>
            <a:pPr eaLnBrk="1" hangingPunct="1"/>
            <a:r>
              <a:rPr lang="en-US" b="1" dirty="0"/>
              <a:t>float f = 3.14; </a:t>
            </a:r>
          </a:p>
          <a:p>
            <a:pPr eaLnBrk="1" hangingPunct="1"/>
            <a:r>
              <a:rPr lang="en-US" b="1" dirty="0"/>
              <a:t>i = (int) f; </a:t>
            </a:r>
            <a:endParaRPr lang="en-US" dirty="0"/>
          </a:p>
          <a:p>
            <a:pPr eaLnBrk="1" hangingPunct="1"/>
            <a:r>
              <a:rPr lang="en-US" dirty="0"/>
              <a:t>The previous code converts the float number 3.14 to an integer value (3), the remainder is lost. Here, the typecasting operator was (int). Another way to do the same thing in C++ is using the functional notation: preceding the expression to be converted by the type and enclosing the expression between parentheses: </a:t>
            </a:r>
            <a:endParaRPr lang="en-US" b="1" dirty="0"/>
          </a:p>
          <a:p>
            <a:pPr eaLnBrk="1" hangingPunct="1"/>
            <a:r>
              <a:rPr lang="en-US" b="1" dirty="0"/>
              <a:t>i = int ( f );</a:t>
            </a:r>
            <a:r>
              <a:rPr lang="en-US" dirty="0"/>
              <a:t> </a:t>
            </a:r>
          </a:p>
          <a:p>
            <a:pPr eaLnBrk="1" hangingPunct="1"/>
            <a:endParaRPr lang="en-US" dirty="0"/>
          </a:p>
        </p:txBody>
      </p:sp>
      <p:sp>
        <p:nvSpPr>
          <p:cNvPr id="2" name="Footer Placeholder 1"/>
          <p:cNvSpPr>
            <a:spLocks noGrp="1"/>
          </p:cNvSpPr>
          <p:nvPr>
            <p:ph type="ftr" sz="quarter" idx="10"/>
          </p:nvPr>
        </p:nvSpPr>
        <p:spPr/>
        <p:txBody>
          <a:bodyPr/>
          <a:lstStyle/>
          <a:p>
            <a:r>
              <a:rPr lang="en-US"/>
              <a:t>Prepared by: E.A.S.S.</a:t>
            </a:r>
          </a:p>
        </p:txBody>
      </p:sp>
      <p:sp>
        <p:nvSpPr>
          <p:cNvPr id="3" name="Header Placeholder 2"/>
          <p:cNvSpPr>
            <a:spLocks noGrp="1"/>
          </p:cNvSpPr>
          <p:nvPr>
            <p:ph type="hdr" sz="quarter" idx="11"/>
          </p:nvPr>
        </p:nvSpPr>
        <p:spPr/>
        <p:txBody>
          <a:bodyPr/>
          <a:lstStyle/>
          <a:p>
            <a:r>
              <a:rPr lang="en-US"/>
              <a:t>BASIC COMPUTER APPLICATION VI - GSD 06205</a:t>
            </a:r>
          </a:p>
        </p:txBody>
      </p:sp>
    </p:spTree>
    <p:extLst>
      <p:ext uri="{BB962C8B-B14F-4D97-AF65-F5344CB8AC3E}">
        <p14:creationId xmlns:p14="http://schemas.microsoft.com/office/powerpoint/2010/main" val="12648497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p:cNvSpPr>
            <a:spLocks noGrp="1" noChangeArrowheads="1"/>
          </p:cNvSpPr>
          <p:nvPr>
            <p:ph type="sldNum" sz="quarter" idx="5"/>
          </p:nvPr>
        </p:nvSpPr>
        <p:spPr>
          <a:noFill/>
        </p:spPr>
        <p:txBody>
          <a:bodyPr/>
          <a:lstStyle>
            <a:lvl1pPr eaLnBrk="0" hangingPunct="0">
              <a:defRPr b="1">
                <a:solidFill>
                  <a:schemeClr val="tx1"/>
                </a:solidFill>
                <a:latin typeface="Arial" charset="0"/>
              </a:defRPr>
            </a:lvl1pPr>
            <a:lvl2pPr marL="742950" indent="-285750" eaLnBrk="0" hangingPunct="0">
              <a:defRPr b="1">
                <a:solidFill>
                  <a:schemeClr val="tx1"/>
                </a:solidFill>
                <a:latin typeface="Arial" charset="0"/>
              </a:defRPr>
            </a:lvl2pPr>
            <a:lvl3pPr marL="1143000" indent="-228600" eaLnBrk="0" hangingPunct="0">
              <a:defRPr b="1">
                <a:solidFill>
                  <a:schemeClr val="tx1"/>
                </a:solidFill>
                <a:latin typeface="Arial" charset="0"/>
              </a:defRPr>
            </a:lvl3pPr>
            <a:lvl4pPr marL="1600200" indent="-228600" eaLnBrk="0" hangingPunct="0">
              <a:defRPr b="1">
                <a:solidFill>
                  <a:schemeClr val="tx1"/>
                </a:solidFill>
                <a:latin typeface="Arial" charset="0"/>
              </a:defRPr>
            </a:lvl4pPr>
            <a:lvl5pPr marL="2057400" indent="-228600" eaLnBrk="0" hangingPunct="0">
              <a:defRPr b="1">
                <a:solidFill>
                  <a:schemeClr val="tx1"/>
                </a:solidFill>
                <a:latin typeface="Arial" charset="0"/>
              </a:defRPr>
            </a:lvl5pPr>
            <a:lvl6pPr marL="2514600" indent="-228600" eaLnBrk="0" fontAlgn="base" hangingPunct="0">
              <a:spcBef>
                <a:spcPct val="0"/>
              </a:spcBef>
              <a:spcAft>
                <a:spcPct val="0"/>
              </a:spcAft>
              <a:defRPr b="1">
                <a:solidFill>
                  <a:schemeClr val="tx1"/>
                </a:solidFill>
                <a:latin typeface="Arial" charset="0"/>
              </a:defRPr>
            </a:lvl6pPr>
            <a:lvl7pPr marL="2971800" indent="-228600" eaLnBrk="0" fontAlgn="base" hangingPunct="0">
              <a:spcBef>
                <a:spcPct val="0"/>
              </a:spcBef>
              <a:spcAft>
                <a:spcPct val="0"/>
              </a:spcAft>
              <a:defRPr b="1">
                <a:solidFill>
                  <a:schemeClr val="tx1"/>
                </a:solidFill>
                <a:latin typeface="Arial" charset="0"/>
              </a:defRPr>
            </a:lvl7pPr>
            <a:lvl8pPr marL="3429000" indent="-228600" eaLnBrk="0" fontAlgn="base" hangingPunct="0">
              <a:spcBef>
                <a:spcPct val="0"/>
              </a:spcBef>
              <a:spcAft>
                <a:spcPct val="0"/>
              </a:spcAft>
              <a:defRPr b="1">
                <a:solidFill>
                  <a:schemeClr val="tx1"/>
                </a:solidFill>
                <a:latin typeface="Arial" charset="0"/>
              </a:defRPr>
            </a:lvl8pPr>
            <a:lvl9pPr marL="3886200" indent="-228600" eaLnBrk="0" fontAlgn="base" hangingPunct="0">
              <a:spcBef>
                <a:spcPct val="0"/>
              </a:spcBef>
              <a:spcAft>
                <a:spcPct val="0"/>
              </a:spcAft>
              <a:defRPr b="1">
                <a:solidFill>
                  <a:schemeClr val="tx1"/>
                </a:solidFill>
                <a:latin typeface="Arial" charset="0"/>
              </a:defRPr>
            </a:lvl9pPr>
          </a:lstStyle>
          <a:p>
            <a:pPr eaLnBrk="1" hangingPunct="1"/>
            <a:fld id="{76090ADD-3235-4C46-AF8A-FE92A64C3698}" type="slidenum">
              <a:rPr lang="en-US" b="0">
                <a:solidFill>
                  <a:prstClr val="black"/>
                </a:solidFill>
              </a:rPr>
              <a:pPr eaLnBrk="1" hangingPunct="1"/>
              <a:t>42</a:t>
            </a:fld>
            <a:endParaRPr lang="en-US" b="0">
              <a:solidFill>
                <a:prstClr val="black"/>
              </a:solidFill>
            </a:endParaRPr>
          </a:p>
        </p:txBody>
      </p:sp>
      <p:sp>
        <p:nvSpPr>
          <p:cNvPr id="100355" name="Rectangle 2"/>
          <p:cNvSpPr>
            <a:spLocks noGrp="1" noRot="1" noChangeAspect="1" noChangeArrowheads="1" noTextEdit="1"/>
          </p:cNvSpPr>
          <p:nvPr>
            <p:ph type="sldImg"/>
          </p:nvPr>
        </p:nvSpPr>
        <p:spPr>
          <a:ln/>
        </p:spPr>
      </p:sp>
      <p:sp>
        <p:nvSpPr>
          <p:cNvPr id="100356" name="Rectangle 3"/>
          <p:cNvSpPr>
            <a:spLocks noGrp="1" noChangeArrowheads="1"/>
          </p:cNvSpPr>
          <p:nvPr>
            <p:ph type="body" idx="1"/>
          </p:nvPr>
        </p:nvSpPr>
        <p:spPr>
          <a:noFill/>
        </p:spPr>
        <p:txBody>
          <a:bodyPr/>
          <a:lstStyle/>
          <a:p>
            <a:pPr eaLnBrk="1" hangingPunct="1">
              <a:lnSpc>
                <a:spcPct val="80000"/>
              </a:lnSpc>
            </a:pPr>
            <a:r>
              <a:rPr lang="en-US" sz="800" dirty="0"/>
              <a:t> Using the standard input and output library, we will be able to interact with the user by printing messages on the screen and getting the user's input from the keyboard. </a:t>
            </a:r>
          </a:p>
          <a:p>
            <a:pPr eaLnBrk="1" hangingPunct="1">
              <a:lnSpc>
                <a:spcPct val="80000"/>
              </a:lnSpc>
            </a:pPr>
            <a:r>
              <a:rPr lang="en-US" sz="800" dirty="0"/>
              <a:t>C++ uses a convenient abstraction called </a:t>
            </a:r>
            <a:r>
              <a:rPr lang="en-US" sz="800" i="1" dirty="0"/>
              <a:t>streams</a:t>
            </a:r>
            <a:r>
              <a:rPr lang="en-US" sz="800" dirty="0"/>
              <a:t> to perform input and output operations in sequential media such as the screen or the keyboard. </a:t>
            </a:r>
          </a:p>
          <a:p>
            <a:pPr eaLnBrk="1" hangingPunct="1">
              <a:lnSpc>
                <a:spcPct val="80000"/>
              </a:lnSpc>
            </a:pPr>
            <a:r>
              <a:rPr lang="en-US" sz="800" dirty="0"/>
              <a:t>A stream is an object where a program can either insert or extract characters to/from it. We do not really need to care about many specifications about the physical media associated with the stream - we only need to know it will accept or provide characters </a:t>
            </a:r>
            <a:r>
              <a:rPr lang="en-US" sz="800" dirty="0" err="1"/>
              <a:t>sequentialy</a:t>
            </a:r>
            <a:r>
              <a:rPr lang="en-US" sz="800" dirty="0"/>
              <a:t>. </a:t>
            </a:r>
          </a:p>
          <a:p>
            <a:pPr eaLnBrk="1" hangingPunct="1">
              <a:lnSpc>
                <a:spcPct val="80000"/>
              </a:lnSpc>
            </a:pPr>
            <a:endParaRPr lang="en-US" sz="800" dirty="0"/>
          </a:p>
          <a:p>
            <a:pPr eaLnBrk="1" hangingPunct="1">
              <a:lnSpc>
                <a:spcPct val="80000"/>
              </a:lnSpc>
            </a:pPr>
            <a:r>
              <a:rPr lang="en-US" sz="800" dirty="0"/>
              <a:t>By default, the standard output of a program is the screen, and the C++ stream object defined to access it is cout. </a:t>
            </a:r>
          </a:p>
          <a:p>
            <a:pPr eaLnBrk="1" hangingPunct="1">
              <a:lnSpc>
                <a:spcPct val="80000"/>
              </a:lnSpc>
            </a:pPr>
            <a:r>
              <a:rPr lang="en-US" sz="800" dirty="0"/>
              <a:t>cout is used in conjunction with the </a:t>
            </a:r>
            <a:r>
              <a:rPr lang="en-US" sz="800" i="1" dirty="0"/>
              <a:t>insertion operator</a:t>
            </a:r>
            <a:r>
              <a:rPr lang="en-US" sz="800" dirty="0"/>
              <a:t>, which is written as &lt;&lt; (two "less than" signs). </a:t>
            </a:r>
          </a:p>
          <a:p>
            <a:pPr eaLnBrk="1" hangingPunct="1">
              <a:lnSpc>
                <a:spcPct val="80000"/>
              </a:lnSpc>
            </a:pPr>
            <a:r>
              <a:rPr lang="en-US" sz="800" dirty="0"/>
              <a:t>cout &lt;&lt; "Output sentence"; // prints Output sentence on screen</a:t>
            </a:r>
          </a:p>
          <a:p>
            <a:pPr eaLnBrk="1" hangingPunct="1">
              <a:lnSpc>
                <a:spcPct val="80000"/>
              </a:lnSpc>
            </a:pPr>
            <a:r>
              <a:rPr lang="en-US" sz="800" dirty="0"/>
              <a:t>cout &lt;&lt; 120;               // prints number 120 on screen</a:t>
            </a:r>
          </a:p>
          <a:p>
            <a:pPr eaLnBrk="1" hangingPunct="1">
              <a:lnSpc>
                <a:spcPct val="80000"/>
              </a:lnSpc>
            </a:pPr>
            <a:r>
              <a:rPr lang="en-US" sz="800" dirty="0"/>
              <a:t>cout &lt;&lt; x;                 // prints the content of x on screen</a:t>
            </a:r>
          </a:p>
          <a:p>
            <a:pPr eaLnBrk="1" hangingPunct="1">
              <a:lnSpc>
                <a:spcPct val="80000"/>
              </a:lnSpc>
            </a:pPr>
            <a:endParaRPr lang="en-US" sz="800" dirty="0"/>
          </a:p>
          <a:p>
            <a:pPr eaLnBrk="1" hangingPunct="1">
              <a:lnSpc>
                <a:spcPct val="80000"/>
              </a:lnSpc>
            </a:pPr>
            <a:r>
              <a:rPr lang="en-US" sz="800" dirty="0"/>
              <a:t>The &lt;&lt; operator inserts the data that follows it into the stream preceding it. In the examples above it inserted the constant string Output sentence, the numerical constant 120 and variable x into the standard output stream cout. Notice that the sentence in the first instruction is enclosed between double quotes (") because it is a constant string of characters. Whenever we want to use constant strings of characters we must enclose them between double quotes (") so that they can be clearly distinguished from variable names. For example, these two sentences have very different results: </a:t>
            </a:r>
          </a:p>
          <a:p>
            <a:pPr eaLnBrk="1" hangingPunct="1">
              <a:lnSpc>
                <a:spcPct val="80000"/>
              </a:lnSpc>
            </a:pPr>
            <a:r>
              <a:rPr lang="en-US" sz="800" dirty="0"/>
              <a:t>cout &lt;&lt; "Hello";  // prints Hello</a:t>
            </a:r>
          </a:p>
          <a:p>
            <a:pPr eaLnBrk="1" hangingPunct="1">
              <a:lnSpc>
                <a:spcPct val="80000"/>
              </a:lnSpc>
            </a:pPr>
            <a:r>
              <a:rPr lang="en-US" sz="800" dirty="0"/>
              <a:t>cout &lt;&lt; Hello;    // prints the content of Hello variable</a:t>
            </a:r>
          </a:p>
          <a:p>
            <a:pPr eaLnBrk="1" hangingPunct="1">
              <a:lnSpc>
                <a:spcPct val="80000"/>
              </a:lnSpc>
            </a:pPr>
            <a:endParaRPr lang="en-US" sz="800" dirty="0"/>
          </a:p>
          <a:p>
            <a:pPr eaLnBrk="1" hangingPunct="1">
              <a:lnSpc>
                <a:spcPct val="80000"/>
              </a:lnSpc>
            </a:pPr>
            <a:r>
              <a:rPr lang="en-US" sz="800" dirty="0"/>
              <a:t>The insertion operator (&lt;&lt;) may be used more than once in a single statement: </a:t>
            </a:r>
          </a:p>
          <a:p>
            <a:pPr eaLnBrk="1" hangingPunct="1">
              <a:lnSpc>
                <a:spcPct val="80000"/>
              </a:lnSpc>
            </a:pPr>
            <a:endParaRPr lang="en-US" sz="800" dirty="0"/>
          </a:p>
          <a:p>
            <a:pPr eaLnBrk="1" hangingPunct="1">
              <a:lnSpc>
                <a:spcPct val="80000"/>
              </a:lnSpc>
            </a:pPr>
            <a:r>
              <a:rPr lang="en-US" sz="800" dirty="0"/>
              <a:t>cout &lt;&lt; "Hello, " &lt;&lt; "I am " &lt;&lt; "a C++ statement";</a:t>
            </a:r>
          </a:p>
          <a:p>
            <a:pPr eaLnBrk="1" hangingPunct="1">
              <a:lnSpc>
                <a:spcPct val="80000"/>
              </a:lnSpc>
            </a:pPr>
            <a:endParaRPr lang="en-US" sz="800" dirty="0"/>
          </a:p>
          <a:p>
            <a:pPr eaLnBrk="1" hangingPunct="1">
              <a:lnSpc>
                <a:spcPct val="80000"/>
              </a:lnSpc>
            </a:pPr>
            <a:r>
              <a:rPr lang="en-US" sz="800" dirty="0"/>
              <a:t>This last statement would print the message Hello, I am a C++ statement on the screen. The utility of repeating the insertion operator (&lt;&lt;) is demonstrated when we want to print out a combination of variables and constants or more than one variable: </a:t>
            </a:r>
          </a:p>
          <a:p>
            <a:pPr eaLnBrk="1" hangingPunct="1">
              <a:lnSpc>
                <a:spcPct val="80000"/>
              </a:lnSpc>
            </a:pPr>
            <a:endParaRPr lang="en-US" sz="800" dirty="0"/>
          </a:p>
          <a:p>
            <a:pPr eaLnBrk="1" hangingPunct="1">
              <a:lnSpc>
                <a:spcPct val="80000"/>
              </a:lnSpc>
            </a:pPr>
            <a:r>
              <a:rPr lang="en-US" sz="800" dirty="0"/>
              <a:t>cout &lt;&lt; "Hello, I am " &lt;&lt; age &lt;&lt; " years old and my zipcode is " &lt;&lt; zipcode;</a:t>
            </a:r>
          </a:p>
          <a:p>
            <a:pPr eaLnBrk="1" hangingPunct="1">
              <a:lnSpc>
                <a:spcPct val="80000"/>
              </a:lnSpc>
            </a:pPr>
            <a:endParaRPr lang="en-US" sz="800" dirty="0"/>
          </a:p>
          <a:p>
            <a:pPr eaLnBrk="1" hangingPunct="1">
              <a:lnSpc>
                <a:spcPct val="80000"/>
              </a:lnSpc>
            </a:pPr>
            <a:r>
              <a:rPr lang="en-US" sz="800" dirty="0"/>
              <a:t>If we assume the age variable to contain the value 24 and the zipcode variable to contain 90064 the output of the previous statement would be: </a:t>
            </a:r>
          </a:p>
          <a:p>
            <a:pPr eaLnBrk="1" hangingPunct="1">
              <a:lnSpc>
                <a:spcPct val="80000"/>
              </a:lnSpc>
            </a:pPr>
            <a:endParaRPr lang="en-US" sz="800" dirty="0"/>
          </a:p>
          <a:p>
            <a:pPr eaLnBrk="1" hangingPunct="1">
              <a:lnSpc>
                <a:spcPct val="80000"/>
              </a:lnSpc>
            </a:pPr>
            <a:r>
              <a:rPr lang="en-US" sz="800" dirty="0"/>
              <a:t>Hello, I am 24 years old and my zipcode is 90064 </a:t>
            </a:r>
          </a:p>
          <a:p>
            <a:pPr eaLnBrk="1" hangingPunct="1">
              <a:lnSpc>
                <a:spcPct val="80000"/>
              </a:lnSpc>
            </a:pPr>
            <a:endParaRPr lang="en-US" sz="800" dirty="0"/>
          </a:p>
          <a:p>
            <a:pPr eaLnBrk="1" hangingPunct="1">
              <a:lnSpc>
                <a:spcPct val="80000"/>
              </a:lnSpc>
            </a:pPr>
            <a:r>
              <a:rPr lang="en-US" sz="800" dirty="0"/>
              <a:t>It is important to notice that cout does not add a line break after its output unless we explicitly indicate it, therefore, the following statements: </a:t>
            </a:r>
          </a:p>
          <a:p>
            <a:pPr eaLnBrk="1" hangingPunct="1">
              <a:lnSpc>
                <a:spcPct val="80000"/>
              </a:lnSpc>
            </a:pPr>
            <a:r>
              <a:rPr lang="en-US" sz="800" dirty="0"/>
              <a:t>cout &lt;&lt; "This is a sentence.";</a:t>
            </a:r>
          </a:p>
          <a:p>
            <a:pPr eaLnBrk="1" hangingPunct="1">
              <a:lnSpc>
                <a:spcPct val="80000"/>
              </a:lnSpc>
            </a:pPr>
            <a:r>
              <a:rPr lang="en-US" sz="800" dirty="0"/>
              <a:t>cout &lt;&lt; "This is another sentence."; </a:t>
            </a:r>
          </a:p>
          <a:p>
            <a:pPr eaLnBrk="1" hangingPunct="1">
              <a:lnSpc>
                <a:spcPct val="80000"/>
              </a:lnSpc>
            </a:pPr>
            <a:r>
              <a:rPr lang="en-US" sz="800" dirty="0"/>
              <a:t>will be shown on the screen one following the other without any line break between them: </a:t>
            </a:r>
          </a:p>
          <a:p>
            <a:pPr eaLnBrk="1" hangingPunct="1">
              <a:lnSpc>
                <a:spcPct val="80000"/>
              </a:lnSpc>
            </a:pPr>
            <a:endParaRPr lang="en-US" sz="800" dirty="0"/>
          </a:p>
          <a:p>
            <a:pPr eaLnBrk="1" hangingPunct="1">
              <a:lnSpc>
                <a:spcPct val="80000"/>
              </a:lnSpc>
            </a:pPr>
            <a:r>
              <a:rPr lang="en-US" sz="800" dirty="0"/>
              <a:t>This is a </a:t>
            </a:r>
            <a:r>
              <a:rPr lang="en-US" sz="800" dirty="0" err="1"/>
              <a:t>sentence.This</a:t>
            </a:r>
            <a:r>
              <a:rPr lang="en-US" sz="800" dirty="0"/>
              <a:t> is another sentence. </a:t>
            </a:r>
          </a:p>
          <a:p>
            <a:pPr eaLnBrk="1" hangingPunct="1">
              <a:lnSpc>
                <a:spcPct val="80000"/>
              </a:lnSpc>
            </a:pPr>
            <a:endParaRPr lang="en-US" sz="800" dirty="0"/>
          </a:p>
          <a:p>
            <a:pPr eaLnBrk="1" hangingPunct="1">
              <a:lnSpc>
                <a:spcPct val="80000"/>
              </a:lnSpc>
            </a:pPr>
            <a:r>
              <a:rPr lang="en-US" sz="800" dirty="0"/>
              <a:t>even though we had written them in two different insertions into cout. In order to perform a line break on the output we must explicitly insert a new-line character into cout. In C++ a new-line character can be specified as \n (backslash, n): </a:t>
            </a:r>
          </a:p>
          <a:p>
            <a:pPr eaLnBrk="1" hangingPunct="1">
              <a:lnSpc>
                <a:spcPct val="80000"/>
              </a:lnSpc>
            </a:pPr>
            <a:r>
              <a:rPr lang="en-US" sz="800" dirty="0"/>
              <a:t>cout &lt;&lt; "First sentence.\n ";</a:t>
            </a:r>
          </a:p>
          <a:p>
            <a:pPr eaLnBrk="1" hangingPunct="1">
              <a:lnSpc>
                <a:spcPct val="80000"/>
              </a:lnSpc>
            </a:pPr>
            <a:r>
              <a:rPr lang="en-US" sz="800" dirty="0"/>
              <a:t>cout &lt;&lt; "Second sentence.\</a:t>
            </a:r>
            <a:r>
              <a:rPr lang="en-US" sz="800" dirty="0" err="1"/>
              <a:t>nThird</a:t>
            </a:r>
            <a:r>
              <a:rPr lang="en-US" sz="800" dirty="0"/>
              <a:t> sentence."; </a:t>
            </a:r>
          </a:p>
          <a:p>
            <a:pPr eaLnBrk="1" hangingPunct="1">
              <a:lnSpc>
                <a:spcPct val="80000"/>
              </a:lnSpc>
            </a:pPr>
            <a:endParaRPr lang="en-US" sz="800" dirty="0"/>
          </a:p>
          <a:p>
            <a:pPr eaLnBrk="1" hangingPunct="1">
              <a:lnSpc>
                <a:spcPct val="80000"/>
              </a:lnSpc>
            </a:pPr>
            <a:r>
              <a:rPr lang="en-US" sz="800" dirty="0"/>
              <a:t>This produces the following output: </a:t>
            </a:r>
          </a:p>
          <a:p>
            <a:pPr eaLnBrk="1" hangingPunct="1">
              <a:lnSpc>
                <a:spcPct val="80000"/>
              </a:lnSpc>
            </a:pPr>
            <a:endParaRPr lang="en-US" sz="800" dirty="0"/>
          </a:p>
          <a:p>
            <a:pPr eaLnBrk="1" hangingPunct="1">
              <a:lnSpc>
                <a:spcPct val="80000"/>
              </a:lnSpc>
            </a:pPr>
            <a:r>
              <a:rPr lang="en-US" sz="800" dirty="0"/>
              <a:t>First sentence.</a:t>
            </a:r>
            <a:br>
              <a:rPr lang="en-US" sz="800" dirty="0"/>
            </a:br>
            <a:r>
              <a:rPr lang="en-US" sz="800" dirty="0"/>
              <a:t>Second sentence.</a:t>
            </a:r>
            <a:br>
              <a:rPr lang="en-US" sz="800" dirty="0"/>
            </a:br>
            <a:r>
              <a:rPr lang="en-US" sz="800" dirty="0"/>
              <a:t>Third sentence.</a:t>
            </a:r>
          </a:p>
          <a:p>
            <a:pPr eaLnBrk="1" hangingPunct="1">
              <a:lnSpc>
                <a:spcPct val="80000"/>
              </a:lnSpc>
            </a:pPr>
            <a:endParaRPr lang="en-US" sz="800" dirty="0"/>
          </a:p>
          <a:p>
            <a:pPr eaLnBrk="1" hangingPunct="1">
              <a:lnSpc>
                <a:spcPct val="80000"/>
              </a:lnSpc>
            </a:pPr>
            <a:r>
              <a:rPr lang="en-US" sz="800" dirty="0"/>
              <a:t>Additionally, to add a new-line, you may also use the endl manipulator. For example: </a:t>
            </a:r>
          </a:p>
          <a:p>
            <a:pPr eaLnBrk="1" hangingPunct="1">
              <a:lnSpc>
                <a:spcPct val="80000"/>
              </a:lnSpc>
            </a:pPr>
            <a:r>
              <a:rPr lang="en-US" sz="800" dirty="0"/>
              <a:t>cout &lt;&lt; "First sentence." &lt;&lt; endl;</a:t>
            </a:r>
          </a:p>
          <a:p>
            <a:pPr eaLnBrk="1" hangingPunct="1">
              <a:lnSpc>
                <a:spcPct val="80000"/>
              </a:lnSpc>
            </a:pPr>
            <a:r>
              <a:rPr lang="en-US" sz="800" dirty="0"/>
              <a:t>cout &lt;&lt; "Second sentence." &lt;&lt; endl; </a:t>
            </a:r>
          </a:p>
          <a:p>
            <a:pPr eaLnBrk="1" hangingPunct="1">
              <a:lnSpc>
                <a:spcPct val="80000"/>
              </a:lnSpc>
            </a:pPr>
            <a:endParaRPr lang="en-US" sz="800" dirty="0"/>
          </a:p>
          <a:p>
            <a:pPr eaLnBrk="1" hangingPunct="1">
              <a:lnSpc>
                <a:spcPct val="80000"/>
              </a:lnSpc>
            </a:pPr>
            <a:r>
              <a:rPr lang="en-US" sz="800" dirty="0"/>
              <a:t>would print out: </a:t>
            </a:r>
          </a:p>
          <a:p>
            <a:pPr eaLnBrk="1" hangingPunct="1">
              <a:lnSpc>
                <a:spcPct val="80000"/>
              </a:lnSpc>
            </a:pPr>
            <a:endParaRPr lang="en-US" sz="800" dirty="0"/>
          </a:p>
          <a:p>
            <a:pPr eaLnBrk="1" hangingPunct="1">
              <a:lnSpc>
                <a:spcPct val="80000"/>
              </a:lnSpc>
            </a:pPr>
            <a:r>
              <a:rPr lang="en-US" sz="800" dirty="0"/>
              <a:t>First sentence.</a:t>
            </a:r>
            <a:br>
              <a:rPr lang="en-US" sz="800" dirty="0"/>
            </a:br>
            <a:r>
              <a:rPr lang="en-US" sz="800" dirty="0"/>
              <a:t>Second sentence. </a:t>
            </a:r>
          </a:p>
          <a:p>
            <a:pPr eaLnBrk="1" hangingPunct="1">
              <a:lnSpc>
                <a:spcPct val="80000"/>
              </a:lnSpc>
            </a:pPr>
            <a:endParaRPr lang="en-US" sz="800" dirty="0"/>
          </a:p>
          <a:p>
            <a:pPr eaLnBrk="1" hangingPunct="1">
              <a:lnSpc>
                <a:spcPct val="80000"/>
              </a:lnSpc>
            </a:pPr>
            <a:r>
              <a:rPr lang="en-US" sz="800" dirty="0"/>
              <a:t>The endl manipulator produces a newline character, exactly as the insertion of '\n' does, but it also has an additional behavior when it is used with buffered streams: the buffer is flushed. Anyway, cout will be an </a:t>
            </a:r>
            <a:r>
              <a:rPr lang="en-US" sz="800" dirty="0" err="1"/>
              <a:t>unbuffered</a:t>
            </a:r>
            <a:r>
              <a:rPr lang="en-US" sz="800" dirty="0"/>
              <a:t> stream in most cases, so you can generally use both the \n escape character and the endl manipulator in order to specify a new line without any difference in its behavior. </a:t>
            </a:r>
          </a:p>
        </p:txBody>
      </p:sp>
      <p:sp>
        <p:nvSpPr>
          <p:cNvPr id="2" name="Footer Placeholder 1"/>
          <p:cNvSpPr>
            <a:spLocks noGrp="1"/>
          </p:cNvSpPr>
          <p:nvPr>
            <p:ph type="ftr" sz="quarter" idx="10"/>
          </p:nvPr>
        </p:nvSpPr>
        <p:spPr/>
        <p:txBody>
          <a:bodyPr/>
          <a:lstStyle/>
          <a:p>
            <a:r>
              <a:rPr lang="en-US"/>
              <a:t>Prepared by: E.A.S.S.</a:t>
            </a:r>
          </a:p>
        </p:txBody>
      </p:sp>
      <p:sp>
        <p:nvSpPr>
          <p:cNvPr id="3" name="Header Placeholder 2"/>
          <p:cNvSpPr>
            <a:spLocks noGrp="1"/>
          </p:cNvSpPr>
          <p:nvPr>
            <p:ph type="hdr" sz="quarter" idx="11"/>
          </p:nvPr>
        </p:nvSpPr>
        <p:spPr/>
        <p:txBody>
          <a:bodyPr/>
          <a:lstStyle/>
          <a:p>
            <a:r>
              <a:rPr lang="en-US"/>
              <a:t>BASIC COMPUTER APPLICATION VI - GSD 06205</a:t>
            </a:r>
          </a:p>
        </p:txBody>
      </p:sp>
    </p:spTree>
    <p:extLst>
      <p:ext uri="{BB962C8B-B14F-4D97-AF65-F5344CB8AC3E}">
        <p14:creationId xmlns:p14="http://schemas.microsoft.com/office/powerpoint/2010/main" val="329064698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p:spPr>
        <p:txBody>
          <a:bodyPr/>
          <a:lstStyle>
            <a:lvl1pPr eaLnBrk="0" hangingPunct="0">
              <a:defRPr b="1">
                <a:solidFill>
                  <a:schemeClr val="tx1"/>
                </a:solidFill>
                <a:latin typeface="Arial" charset="0"/>
              </a:defRPr>
            </a:lvl1pPr>
            <a:lvl2pPr marL="742950" indent="-285750" eaLnBrk="0" hangingPunct="0">
              <a:defRPr b="1">
                <a:solidFill>
                  <a:schemeClr val="tx1"/>
                </a:solidFill>
                <a:latin typeface="Arial" charset="0"/>
              </a:defRPr>
            </a:lvl2pPr>
            <a:lvl3pPr marL="1143000" indent="-228600" eaLnBrk="0" hangingPunct="0">
              <a:defRPr b="1">
                <a:solidFill>
                  <a:schemeClr val="tx1"/>
                </a:solidFill>
                <a:latin typeface="Arial" charset="0"/>
              </a:defRPr>
            </a:lvl3pPr>
            <a:lvl4pPr marL="1600200" indent="-228600" eaLnBrk="0" hangingPunct="0">
              <a:defRPr b="1">
                <a:solidFill>
                  <a:schemeClr val="tx1"/>
                </a:solidFill>
                <a:latin typeface="Arial" charset="0"/>
              </a:defRPr>
            </a:lvl4pPr>
            <a:lvl5pPr marL="2057400" indent="-228600" eaLnBrk="0" hangingPunct="0">
              <a:defRPr b="1">
                <a:solidFill>
                  <a:schemeClr val="tx1"/>
                </a:solidFill>
                <a:latin typeface="Arial" charset="0"/>
              </a:defRPr>
            </a:lvl5pPr>
            <a:lvl6pPr marL="2514600" indent="-228600" eaLnBrk="0" fontAlgn="base" hangingPunct="0">
              <a:spcBef>
                <a:spcPct val="0"/>
              </a:spcBef>
              <a:spcAft>
                <a:spcPct val="0"/>
              </a:spcAft>
              <a:defRPr b="1">
                <a:solidFill>
                  <a:schemeClr val="tx1"/>
                </a:solidFill>
                <a:latin typeface="Arial" charset="0"/>
              </a:defRPr>
            </a:lvl6pPr>
            <a:lvl7pPr marL="2971800" indent="-228600" eaLnBrk="0" fontAlgn="base" hangingPunct="0">
              <a:spcBef>
                <a:spcPct val="0"/>
              </a:spcBef>
              <a:spcAft>
                <a:spcPct val="0"/>
              </a:spcAft>
              <a:defRPr b="1">
                <a:solidFill>
                  <a:schemeClr val="tx1"/>
                </a:solidFill>
                <a:latin typeface="Arial" charset="0"/>
              </a:defRPr>
            </a:lvl7pPr>
            <a:lvl8pPr marL="3429000" indent="-228600" eaLnBrk="0" fontAlgn="base" hangingPunct="0">
              <a:spcBef>
                <a:spcPct val="0"/>
              </a:spcBef>
              <a:spcAft>
                <a:spcPct val="0"/>
              </a:spcAft>
              <a:defRPr b="1">
                <a:solidFill>
                  <a:schemeClr val="tx1"/>
                </a:solidFill>
                <a:latin typeface="Arial" charset="0"/>
              </a:defRPr>
            </a:lvl8pPr>
            <a:lvl9pPr marL="3886200" indent="-228600" eaLnBrk="0" fontAlgn="base" hangingPunct="0">
              <a:spcBef>
                <a:spcPct val="0"/>
              </a:spcBef>
              <a:spcAft>
                <a:spcPct val="0"/>
              </a:spcAft>
              <a:defRPr b="1">
                <a:solidFill>
                  <a:schemeClr val="tx1"/>
                </a:solidFill>
                <a:latin typeface="Arial" charset="0"/>
              </a:defRPr>
            </a:lvl9pPr>
          </a:lstStyle>
          <a:p>
            <a:pPr eaLnBrk="1" hangingPunct="1"/>
            <a:fld id="{3631461A-9BE4-4033-B17F-21DEF1EEE108}" type="slidenum">
              <a:rPr lang="en-US" b="0">
                <a:solidFill>
                  <a:prstClr val="black"/>
                </a:solidFill>
              </a:rPr>
              <a:pPr eaLnBrk="1" hangingPunct="1"/>
              <a:t>48</a:t>
            </a:fld>
            <a:endParaRPr lang="en-US" b="0">
              <a:solidFill>
                <a:prstClr val="black"/>
              </a:solidFill>
            </a:endParaRPr>
          </a:p>
        </p:txBody>
      </p:sp>
      <p:sp>
        <p:nvSpPr>
          <p:cNvPr id="101379" name="Rectangle 2"/>
          <p:cNvSpPr>
            <a:spLocks noGrp="1" noRot="1" noChangeAspect="1" noChangeArrowheads="1" noTextEdit="1"/>
          </p:cNvSpPr>
          <p:nvPr>
            <p:ph type="sldImg"/>
          </p:nvPr>
        </p:nvSpPr>
        <p:spPr>
          <a:ln/>
        </p:spPr>
      </p:sp>
      <p:sp>
        <p:nvSpPr>
          <p:cNvPr id="101380" name="Rectangle 3"/>
          <p:cNvSpPr>
            <a:spLocks noGrp="1" noChangeArrowheads="1"/>
          </p:cNvSpPr>
          <p:nvPr>
            <p:ph type="body" idx="1"/>
          </p:nvPr>
        </p:nvSpPr>
        <p:spPr>
          <a:noFill/>
        </p:spPr>
        <p:txBody>
          <a:bodyPr/>
          <a:lstStyle/>
          <a:p>
            <a:pPr eaLnBrk="1" hangingPunct="1"/>
            <a:r>
              <a:rPr lang="en-US" dirty="0"/>
              <a:t>The standard input device is usually the keyboard. Handling the standard input in C++ is done by applying the overloaded operator of extraction (&gt;&gt;) on the cin stream. The operator must be followed by the variable that will store the data that is going to be extracted from the stream. For example: </a:t>
            </a:r>
          </a:p>
          <a:p>
            <a:pPr eaLnBrk="1" hangingPunct="1"/>
            <a:r>
              <a:rPr lang="en-US" dirty="0"/>
              <a:t>int age;</a:t>
            </a:r>
          </a:p>
          <a:p>
            <a:pPr eaLnBrk="1" hangingPunct="1"/>
            <a:r>
              <a:rPr lang="en-US" dirty="0"/>
              <a:t>cin &gt;&gt; age; </a:t>
            </a:r>
          </a:p>
          <a:p>
            <a:pPr eaLnBrk="1" hangingPunct="1"/>
            <a:r>
              <a:rPr lang="en-US" dirty="0"/>
              <a:t>The first statement declares a variable of type int called age, and the second one waits for an input from cin (the keyboard) in order to store it in this integer variable. </a:t>
            </a:r>
          </a:p>
          <a:p>
            <a:pPr eaLnBrk="1" hangingPunct="1"/>
            <a:r>
              <a:rPr lang="en-US" dirty="0"/>
              <a:t>cin can only process the input from the keyboard once the RETURN key has been pressed. Therefore, even if you request a single character, the extraction from cin will not process the input until the user presses RETURN after the character has been introduced. </a:t>
            </a:r>
          </a:p>
          <a:p>
            <a:pPr eaLnBrk="1" hangingPunct="1"/>
            <a:r>
              <a:rPr lang="en-US" dirty="0"/>
              <a:t>You must always consider the type of the variable that you are using as a container with cin extractions. If you request an integer you will get an integer, if you request a character you will get a character and if you request a string of characters you will get a string of characters. </a:t>
            </a:r>
          </a:p>
        </p:txBody>
      </p:sp>
      <p:sp>
        <p:nvSpPr>
          <p:cNvPr id="2" name="Footer Placeholder 1"/>
          <p:cNvSpPr>
            <a:spLocks noGrp="1"/>
          </p:cNvSpPr>
          <p:nvPr>
            <p:ph type="ftr" sz="quarter" idx="10"/>
          </p:nvPr>
        </p:nvSpPr>
        <p:spPr/>
        <p:txBody>
          <a:bodyPr/>
          <a:lstStyle/>
          <a:p>
            <a:r>
              <a:rPr lang="en-US"/>
              <a:t>Prepared by: E.A.S.S.</a:t>
            </a:r>
          </a:p>
        </p:txBody>
      </p:sp>
      <p:sp>
        <p:nvSpPr>
          <p:cNvPr id="3" name="Header Placeholder 2"/>
          <p:cNvSpPr>
            <a:spLocks noGrp="1"/>
          </p:cNvSpPr>
          <p:nvPr>
            <p:ph type="hdr" sz="quarter" idx="11"/>
          </p:nvPr>
        </p:nvSpPr>
        <p:spPr/>
        <p:txBody>
          <a:bodyPr/>
          <a:lstStyle/>
          <a:p>
            <a:r>
              <a:rPr lang="en-US"/>
              <a:t>BASIC COMPUTER APPLICATION VI - GSD 06205</a:t>
            </a:r>
          </a:p>
        </p:txBody>
      </p:sp>
    </p:spTree>
    <p:extLst>
      <p:ext uri="{BB962C8B-B14F-4D97-AF65-F5344CB8AC3E}">
        <p14:creationId xmlns:p14="http://schemas.microsoft.com/office/powerpoint/2010/main" val="9820403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3805" y="2130848"/>
            <a:ext cx="10364391" cy="1470049"/>
          </a:xfrm>
        </p:spPr>
        <p:txBody>
          <a:bodyPr/>
          <a:lstStyle/>
          <a:p>
            <a:r>
              <a:rPr lang="en-US"/>
              <a:t>Click to edit Master title style</a:t>
            </a:r>
          </a:p>
        </p:txBody>
      </p:sp>
      <p:sp>
        <p:nvSpPr>
          <p:cNvPr id="3" name="Subtitle 2"/>
          <p:cNvSpPr>
            <a:spLocks noGrp="1"/>
          </p:cNvSpPr>
          <p:nvPr>
            <p:ph type="subTitle" idx="1"/>
          </p:nvPr>
        </p:nvSpPr>
        <p:spPr>
          <a:xfrm>
            <a:off x="1829098" y="3886647"/>
            <a:ext cx="8533805" cy="1752451"/>
          </a:xfrm>
        </p:spPr>
        <p:txBody>
          <a:bodyPr/>
          <a:lstStyle>
            <a:lvl1pPr marL="0" indent="0" algn="ctr">
              <a:buNone/>
              <a:defRPr/>
            </a:lvl1pPr>
            <a:lvl2pPr marL="321457" indent="0" algn="ctr">
              <a:buNone/>
              <a:defRPr/>
            </a:lvl2pPr>
            <a:lvl3pPr marL="642915" indent="0" algn="ctr">
              <a:buNone/>
              <a:defRPr/>
            </a:lvl3pPr>
            <a:lvl4pPr marL="964372" indent="0" algn="ctr">
              <a:buNone/>
              <a:defRPr/>
            </a:lvl4pPr>
            <a:lvl5pPr marL="1285829" indent="0" algn="ctr">
              <a:buNone/>
              <a:defRPr/>
            </a:lvl5pPr>
            <a:lvl6pPr marL="1607287" indent="0" algn="ctr">
              <a:buNone/>
              <a:defRPr/>
            </a:lvl6pPr>
            <a:lvl7pPr marL="1928744" indent="0" algn="ctr">
              <a:buNone/>
              <a:defRPr/>
            </a:lvl7pPr>
            <a:lvl8pPr marL="2250201" indent="0" algn="ctr">
              <a:buNone/>
              <a:defRPr/>
            </a:lvl8pPr>
            <a:lvl9pPr marL="2571659" indent="0" algn="ctr">
              <a:buNone/>
              <a:defRPr/>
            </a:lvl9pPr>
          </a:lstStyle>
          <a:p>
            <a:r>
              <a:rPr lang="en-US"/>
              <a:t>Click to edit Master subtitle style</a:t>
            </a:r>
          </a:p>
        </p:txBody>
      </p:sp>
    </p:spTree>
    <p:extLst>
      <p:ext uri="{BB962C8B-B14F-4D97-AF65-F5344CB8AC3E}">
        <p14:creationId xmlns:p14="http://schemas.microsoft.com/office/powerpoint/2010/main" val="467038749"/>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2894406"/>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2918" y="4406801"/>
            <a:ext cx="10362902" cy="1361777"/>
          </a:xfrm>
        </p:spPr>
        <p:txBody>
          <a:bodyPr anchor="t"/>
          <a:lstStyle>
            <a:lvl1pPr algn="l">
              <a:defRPr sz="2812" b="1" cap="all"/>
            </a:lvl1pPr>
          </a:lstStyle>
          <a:p>
            <a:r>
              <a:rPr lang="en-US"/>
              <a:t>Click to edit Master title style</a:t>
            </a:r>
          </a:p>
        </p:txBody>
      </p:sp>
      <p:sp>
        <p:nvSpPr>
          <p:cNvPr id="3" name="Text Placeholder 2"/>
          <p:cNvSpPr>
            <a:spLocks noGrp="1"/>
          </p:cNvSpPr>
          <p:nvPr>
            <p:ph type="body" idx="1"/>
          </p:nvPr>
        </p:nvSpPr>
        <p:spPr>
          <a:xfrm>
            <a:off x="962918" y="2906613"/>
            <a:ext cx="10362902" cy="1500188"/>
          </a:xfrm>
        </p:spPr>
        <p:txBody>
          <a:bodyPr anchor="b"/>
          <a:lstStyle>
            <a:lvl1pPr marL="0" indent="0">
              <a:buNone/>
              <a:defRPr sz="1406"/>
            </a:lvl1pPr>
            <a:lvl2pPr marL="321457" indent="0">
              <a:buNone/>
              <a:defRPr sz="1266"/>
            </a:lvl2pPr>
            <a:lvl3pPr marL="642915" indent="0">
              <a:buNone/>
              <a:defRPr sz="1125"/>
            </a:lvl3pPr>
            <a:lvl4pPr marL="964372" indent="0">
              <a:buNone/>
              <a:defRPr sz="984"/>
            </a:lvl4pPr>
            <a:lvl5pPr marL="1285829" indent="0">
              <a:buNone/>
              <a:defRPr sz="984"/>
            </a:lvl5pPr>
            <a:lvl6pPr marL="1607287" indent="0">
              <a:buNone/>
              <a:defRPr sz="984"/>
            </a:lvl6pPr>
            <a:lvl7pPr marL="1928744" indent="0">
              <a:buNone/>
              <a:defRPr sz="984"/>
            </a:lvl7pPr>
            <a:lvl8pPr marL="2250201" indent="0">
              <a:buNone/>
              <a:defRPr sz="984"/>
            </a:lvl8pPr>
            <a:lvl9pPr marL="2571659" indent="0">
              <a:buNone/>
              <a:defRPr sz="984"/>
            </a:lvl9pPr>
          </a:lstStyle>
          <a:p>
            <a:pPr lvl="0"/>
            <a:r>
              <a:rPr lang="en-US"/>
              <a:t>Click to edit Master text styles</a:t>
            </a:r>
          </a:p>
        </p:txBody>
      </p:sp>
    </p:spTree>
    <p:extLst>
      <p:ext uri="{BB962C8B-B14F-4D97-AF65-F5344CB8AC3E}">
        <p14:creationId xmlns:p14="http://schemas.microsoft.com/office/powerpoint/2010/main" val="237211355"/>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190625" y="2196703"/>
            <a:ext cx="4833938" cy="3982641"/>
          </a:xfrm>
        </p:spPr>
        <p:txBody>
          <a:bodyPr/>
          <a:lstStyle>
            <a:lvl1pPr>
              <a:defRPr sz="1969"/>
            </a:lvl1pPr>
            <a:lvl2pPr>
              <a:defRPr sz="1687"/>
            </a:lvl2pPr>
            <a:lvl3pPr>
              <a:defRPr sz="1406"/>
            </a:lvl3pPr>
            <a:lvl4pPr>
              <a:defRPr sz="1266"/>
            </a:lvl4pPr>
            <a:lvl5pPr>
              <a:defRPr sz="1266"/>
            </a:lvl5pPr>
            <a:lvl6pPr>
              <a:defRPr sz="1266"/>
            </a:lvl6pPr>
            <a:lvl7pPr>
              <a:defRPr sz="1266"/>
            </a:lvl7pPr>
            <a:lvl8pPr>
              <a:defRPr sz="1266"/>
            </a:lvl8pPr>
            <a:lvl9pPr>
              <a:defRPr sz="1266"/>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67437" y="2196703"/>
            <a:ext cx="4833938" cy="3982641"/>
          </a:xfrm>
        </p:spPr>
        <p:txBody>
          <a:bodyPr/>
          <a:lstStyle>
            <a:lvl1pPr>
              <a:defRPr sz="1969"/>
            </a:lvl1pPr>
            <a:lvl2pPr>
              <a:defRPr sz="1687"/>
            </a:lvl2pPr>
            <a:lvl3pPr>
              <a:defRPr sz="1406"/>
            </a:lvl3pPr>
            <a:lvl4pPr>
              <a:defRPr sz="1266"/>
            </a:lvl4pPr>
            <a:lvl5pPr>
              <a:defRPr sz="1266"/>
            </a:lvl5pPr>
            <a:lvl6pPr>
              <a:defRPr sz="1266"/>
            </a:lvl6pPr>
            <a:lvl7pPr>
              <a:defRPr sz="1266"/>
            </a:lvl7pPr>
            <a:lvl8pPr>
              <a:defRPr sz="1266"/>
            </a:lvl8pPr>
            <a:lvl9pPr>
              <a:defRPr sz="1266"/>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40965353"/>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10196" y="274588"/>
            <a:ext cx="10971609"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10196" y="1534791"/>
            <a:ext cx="5386090" cy="639589"/>
          </a:xfrm>
        </p:spPr>
        <p:txBody>
          <a:bodyPr anchor="b"/>
          <a:lstStyle>
            <a:lvl1pPr marL="0" indent="0">
              <a:buNone/>
              <a:defRPr sz="1687" b="1"/>
            </a:lvl1pPr>
            <a:lvl2pPr marL="321457" indent="0">
              <a:buNone/>
              <a:defRPr sz="1406" b="1"/>
            </a:lvl2pPr>
            <a:lvl3pPr marL="642915" indent="0">
              <a:buNone/>
              <a:defRPr sz="1266" b="1"/>
            </a:lvl3pPr>
            <a:lvl4pPr marL="964372" indent="0">
              <a:buNone/>
              <a:defRPr sz="1125" b="1"/>
            </a:lvl4pPr>
            <a:lvl5pPr marL="1285829" indent="0">
              <a:buNone/>
              <a:defRPr sz="1125" b="1"/>
            </a:lvl5pPr>
            <a:lvl6pPr marL="1607287" indent="0">
              <a:buNone/>
              <a:defRPr sz="1125" b="1"/>
            </a:lvl6pPr>
            <a:lvl7pPr marL="1928744" indent="0">
              <a:buNone/>
              <a:defRPr sz="1125" b="1"/>
            </a:lvl7pPr>
            <a:lvl8pPr marL="2250201" indent="0">
              <a:buNone/>
              <a:defRPr sz="1125" b="1"/>
            </a:lvl8pPr>
            <a:lvl9pPr marL="2571659" indent="0">
              <a:buNone/>
              <a:defRPr sz="1125" b="1"/>
            </a:lvl9pPr>
          </a:lstStyle>
          <a:p>
            <a:pPr lvl="0"/>
            <a:r>
              <a:rPr lang="en-US"/>
              <a:t>Click to edit Master text styles</a:t>
            </a:r>
          </a:p>
        </p:txBody>
      </p:sp>
      <p:sp>
        <p:nvSpPr>
          <p:cNvPr id="4" name="Content Placeholder 3"/>
          <p:cNvSpPr>
            <a:spLocks noGrp="1"/>
          </p:cNvSpPr>
          <p:nvPr>
            <p:ph sz="half" idx="2"/>
          </p:nvPr>
        </p:nvSpPr>
        <p:spPr>
          <a:xfrm>
            <a:off x="610196" y="2174379"/>
            <a:ext cx="5386090" cy="3951387"/>
          </a:xfrm>
        </p:spPr>
        <p:txBody>
          <a:bodyPr/>
          <a:lstStyle>
            <a:lvl1pPr>
              <a:defRPr sz="1687"/>
            </a:lvl1pPr>
            <a:lvl2pPr>
              <a:defRPr sz="1406"/>
            </a:lvl2pPr>
            <a:lvl3pPr>
              <a:defRPr sz="1266"/>
            </a:lvl3pPr>
            <a:lvl4pPr>
              <a:defRPr sz="1125"/>
            </a:lvl4pPr>
            <a:lvl5pPr>
              <a:defRPr sz="1125"/>
            </a:lvl5pPr>
            <a:lvl6pPr>
              <a:defRPr sz="1125"/>
            </a:lvl6pPr>
            <a:lvl7pPr>
              <a:defRPr sz="1125"/>
            </a:lvl7pPr>
            <a:lvl8pPr>
              <a:defRPr sz="1125"/>
            </a:lvl8pPr>
            <a:lvl9pPr>
              <a:defRPr sz="112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2739" y="1534791"/>
            <a:ext cx="5389066" cy="639589"/>
          </a:xfrm>
        </p:spPr>
        <p:txBody>
          <a:bodyPr anchor="b"/>
          <a:lstStyle>
            <a:lvl1pPr marL="0" indent="0">
              <a:buNone/>
              <a:defRPr sz="1687" b="1"/>
            </a:lvl1pPr>
            <a:lvl2pPr marL="321457" indent="0">
              <a:buNone/>
              <a:defRPr sz="1406" b="1"/>
            </a:lvl2pPr>
            <a:lvl3pPr marL="642915" indent="0">
              <a:buNone/>
              <a:defRPr sz="1266" b="1"/>
            </a:lvl3pPr>
            <a:lvl4pPr marL="964372" indent="0">
              <a:buNone/>
              <a:defRPr sz="1125" b="1"/>
            </a:lvl4pPr>
            <a:lvl5pPr marL="1285829" indent="0">
              <a:buNone/>
              <a:defRPr sz="1125" b="1"/>
            </a:lvl5pPr>
            <a:lvl6pPr marL="1607287" indent="0">
              <a:buNone/>
              <a:defRPr sz="1125" b="1"/>
            </a:lvl6pPr>
            <a:lvl7pPr marL="1928744" indent="0">
              <a:buNone/>
              <a:defRPr sz="1125" b="1"/>
            </a:lvl7pPr>
            <a:lvl8pPr marL="2250201" indent="0">
              <a:buNone/>
              <a:defRPr sz="1125" b="1"/>
            </a:lvl8pPr>
            <a:lvl9pPr marL="2571659" indent="0">
              <a:buNone/>
              <a:defRPr sz="1125" b="1"/>
            </a:lvl9pPr>
          </a:lstStyle>
          <a:p>
            <a:pPr lvl="0"/>
            <a:r>
              <a:rPr lang="en-US"/>
              <a:t>Click to edit Master text styles</a:t>
            </a:r>
          </a:p>
        </p:txBody>
      </p:sp>
      <p:sp>
        <p:nvSpPr>
          <p:cNvPr id="6" name="Content Placeholder 5"/>
          <p:cNvSpPr>
            <a:spLocks noGrp="1"/>
          </p:cNvSpPr>
          <p:nvPr>
            <p:ph sz="quarter" idx="4"/>
          </p:nvPr>
        </p:nvSpPr>
        <p:spPr>
          <a:xfrm>
            <a:off x="6192739" y="2174379"/>
            <a:ext cx="5389066" cy="3951387"/>
          </a:xfrm>
        </p:spPr>
        <p:txBody>
          <a:bodyPr/>
          <a:lstStyle>
            <a:lvl1pPr>
              <a:defRPr sz="1687"/>
            </a:lvl1pPr>
            <a:lvl2pPr>
              <a:defRPr sz="1406"/>
            </a:lvl2pPr>
            <a:lvl3pPr>
              <a:defRPr sz="1266"/>
            </a:lvl3pPr>
            <a:lvl4pPr>
              <a:defRPr sz="1125"/>
            </a:lvl4pPr>
            <a:lvl5pPr>
              <a:defRPr sz="1125"/>
            </a:lvl5pPr>
            <a:lvl6pPr>
              <a:defRPr sz="1125"/>
            </a:lvl6pPr>
            <a:lvl7pPr>
              <a:defRPr sz="1125"/>
            </a:lvl7pPr>
            <a:lvl8pPr>
              <a:defRPr sz="1125"/>
            </a:lvl8pPr>
            <a:lvl9pPr>
              <a:defRPr sz="112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09858781"/>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957199202"/>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165207567"/>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10196" y="273473"/>
            <a:ext cx="4010918" cy="1161975"/>
          </a:xfrm>
        </p:spPr>
        <p:txBody>
          <a:bodyPr anchor="b"/>
          <a:lstStyle>
            <a:lvl1pPr algn="l">
              <a:defRPr sz="1406" b="1"/>
            </a:lvl1pPr>
          </a:lstStyle>
          <a:p>
            <a:r>
              <a:rPr lang="en-US"/>
              <a:t>Click to edit Master title style</a:t>
            </a:r>
          </a:p>
        </p:txBody>
      </p:sp>
      <p:sp>
        <p:nvSpPr>
          <p:cNvPr id="3" name="Content Placeholder 2"/>
          <p:cNvSpPr>
            <a:spLocks noGrp="1"/>
          </p:cNvSpPr>
          <p:nvPr>
            <p:ph idx="1"/>
          </p:nvPr>
        </p:nvSpPr>
        <p:spPr>
          <a:xfrm>
            <a:off x="4766965" y="273472"/>
            <a:ext cx="6814839" cy="5852294"/>
          </a:xfrm>
        </p:spPr>
        <p:txBody>
          <a:bodyPr/>
          <a:lstStyle>
            <a:lvl1pPr>
              <a:defRPr sz="2250"/>
            </a:lvl1pPr>
            <a:lvl2pPr>
              <a:defRPr sz="1969"/>
            </a:lvl2pPr>
            <a:lvl3pPr>
              <a:defRPr sz="1687"/>
            </a:lvl3pPr>
            <a:lvl4pPr>
              <a:defRPr sz="1406"/>
            </a:lvl4pPr>
            <a:lvl5pPr>
              <a:defRPr sz="1406"/>
            </a:lvl5pPr>
            <a:lvl6pPr>
              <a:defRPr sz="1406"/>
            </a:lvl6pPr>
            <a:lvl7pPr>
              <a:defRPr sz="1406"/>
            </a:lvl7pPr>
            <a:lvl8pPr>
              <a:defRPr sz="1406"/>
            </a:lvl8pPr>
            <a:lvl9pPr>
              <a:defRPr sz="1406"/>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10196" y="1435448"/>
            <a:ext cx="4010918" cy="4690318"/>
          </a:xfrm>
        </p:spPr>
        <p:txBody>
          <a:bodyPr/>
          <a:lstStyle>
            <a:lvl1pPr marL="0" indent="0">
              <a:buNone/>
              <a:defRPr sz="984"/>
            </a:lvl1pPr>
            <a:lvl2pPr marL="321457" indent="0">
              <a:buNone/>
              <a:defRPr sz="844"/>
            </a:lvl2pPr>
            <a:lvl3pPr marL="642915" indent="0">
              <a:buNone/>
              <a:defRPr sz="703"/>
            </a:lvl3pPr>
            <a:lvl4pPr marL="964372" indent="0">
              <a:buNone/>
              <a:defRPr sz="633"/>
            </a:lvl4pPr>
            <a:lvl5pPr marL="1285829" indent="0">
              <a:buNone/>
              <a:defRPr sz="633"/>
            </a:lvl5pPr>
            <a:lvl6pPr marL="1607287" indent="0">
              <a:buNone/>
              <a:defRPr sz="633"/>
            </a:lvl6pPr>
            <a:lvl7pPr marL="1928744" indent="0">
              <a:buNone/>
              <a:defRPr sz="633"/>
            </a:lvl7pPr>
            <a:lvl8pPr marL="2250201" indent="0">
              <a:buNone/>
              <a:defRPr sz="633"/>
            </a:lvl8pPr>
            <a:lvl9pPr marL="2571659" indent="0">
              <a:buNone/>
              <a:defRPr sz="633"/>
            </a:lvl9pPr>
          </a:lstStyle>
          <a:p>
            <a:pPr lvl="0"/>
            <a:r>
              <a:rPr lang="en-US"/>
              <a:t>Click to edit Master text styles</a:t>
            </a:r>
          </a:p>
        </p:txBody>
      </p:sp>
    </p:spTree>
    <p:extLst>
      <p:ext uri="{BB962C8B-B14F-4D97-AF65-F5344CB8AC3E}">
        <p14:creationId xmlns:p14="http://schemas.microsoft.com/office/powerpoint/2010/main" val="2400915708"/>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90180" y="4800824"/>
            <a:ext cx="7314903" cy="567035"/>
          </a:xfrm>
        </p:spPr>
        <p:txBody>
          <a:bodyPr anchor="b"/>
          <a:lstStyle>
            <a:lvl1pPr algn="l">
              <a:defRPr sz="1406" b="1"/>
            </a:lvl1pPr>
          </a:lstStyle>
          <a:p>
            <a:r>
              <a:rPr lang="en-US"/>
              <a:t>Click to edit Master title style</a:t>
            </a:r>
          </a:p>
        </p:txBody>
      </p:sp>
      <p:sp>
        <p:nvSpPr>
          <p:cNvPr id="3" name="Picture Placeholder 2"/>
          <p:cNvSpPr>
            <a:spLocks noGrp="1"/>
          </p:cNvSpPr>
          <p:nvPr>
            <p:ph type="pic" idx="1"/>
          </p:nvPr>
        </p:nvSpPr>
        <p:spPr>
          <a:xfrm>
            <a:off x="2390180" y="612800"/>
            <a:ext cx="7314903" cy="4114354"/>
          </a:xfrm>
        </p:spPr>
        <p:txBody>
          <a:bodyPr/>
          <a:lstStyle>
            <a:lvl1pPr marL="0" indent="0">
              <a:buNone/>
              <a:defRPr sz="2250"/>
            </a:lvl1pPr>
            <a:lvl2pPr marL="321457" indent="0">
              <a:buNone/>
              <a:defRPr sz="1969"/>
            </a:lvl2pPr>
            <a:lvl3pPr marL="642915" indent="0">
              <a:buNone/>
              <a:defRPr sz="1687"/>
            </a:lvl3pPr>
            <a:lvl4pPr marL="964372" indent="0">
              <a:buNone/>
              <a:defRPr sz="1406"/>
            </a:lvl4pPr>
            <a:lvl5pPr marL="1285829" indent="0">
              <a:buNone/>
              <a:defRPr sz="1406"/>
            </a:lvl5pPr>
            <a:lvl6pPr marL="1607287" indent="0">
              <a:buNone/>
              <a:defRPr sz="1406"/>
            </a:lvl6pPr>
            <a:lvl7pPr marL="1928744" indent="0">
              <a:buNone/>
              <a:defRPr sz="1406"/>
            </a:lvl7pPr>
            <a:lvl8pPr marL="2250201" indent="0">
              <a:buNone/>
              <a:defRPr sz="1406"/>
            </a:lvl8pPr>
            <a:lvl9pPr marL="2571659" indent="0">
              <a:buNone/>
              <a:defRPr sz="1406"/>
            </a:lvl9pPr>
          </a:lstStyle>
          <a:p>
            <a:pPr lvl="0"/>
            <a:endParaRPr lang="en-US" noProof="0">
              <a:sym typeface="Bradley Hand ITC TT-Bold" charset="0"/>
            </a:endParaRPr>
          </a:p>
        </p:txBody>
      </p:sp>
      <p:sp>
        <p:nvSpPr>
          <p:cNvPr id="4" name="Text Placeholder 3"/>
          <p:cNvSpPr>
            <a:spLocks noGrp="1"/>
          </p:cNvSpPr>
          <p:nvPr>
            <p:ph type="body" sz="half" idx="2"/>
          </p:nvPr>
        </p:nvSpPr>
        <p:spPr>
          <a:xfrm>
            <a:off x="2390180" y="5367859"/>
            <a:ext cx="7314903" cy="804788"/>
          </a:xfrm>
        </p:spPr>
        <p:txBody>
          <a:bodyPr/>
          <a:lstStyle>
            <a:lvl1pPr marL="0" indent="0">
              <a:buNone/>
              <a:defRPr sz="984"/>
            </a:lvl1pPr>
            <a:lvl2pPr marL="321457" indent="0">
              <a:buNone/>
              <a:defRPr sz="844"/>
            </a:lvl2pPr>
            <a:lvl3pPr marL="642915" indent="0">
              <a:buNone/>
              <a:defRPr sz="703"/>
            </a:lvl3pPr>
            <a:lvl4pPr marL="964372" indent="0">
              <a:buNone/>
              <a:defRPr sz="633"/>
            </a:lvl4pPr>
            <a:lvl5pPr marL="1285829" indent="0">
              <a:buNone/>
              <a:defRPr sz="633"/>
            </a:lvl5pPr>
            <a:lvl6pPr marL="1607287" indent="0">
              <a:buNone/>
              <a:defRPr sz="633"/>
            </a:lvl6pPr>
            <a:lvl7pPr marL="1928744" indent="0">
              <a:buNone/>
              <a:defRPr sz="633"/>
            </a:lvl7pPr>
            <a:lvl8pPr marL="2250201" indent="0">
              <a:buNone/>
              <a:defRPr sz="633"/>
            </a:lvl8pPr>
            <a:lvl9pPr marL="2571659" indent="0">
              <a:buNone/>
              <a:defRPr sz="633"/>
            </a:lvl9pPr>
          </a:lstStyle>
          <a:p>
            <a:pPr lvl="0"/>
            <a:r>
              <a:rPr lang="en-US"/>
              <a:t>Click to edit Master text styles</a:t>
            </a:r>
          </a:p>
        </p:txBody>
      </p:sp>
    </p:spTree>
    <p:extLst>
      <p:ext uri="{BB962C8B-B14F-4D97-AF65-F5344CB8AC3E}">
        <p14:creationId xmlns:p14="http://schemas.microsoft.com/office/powerpoint/2010/main" val="2893471017"/>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91628722"/>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548687" y="991196"/>
            <a:ext cx="2452688" cy="518814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190625" y="991196"/>
            <a:ext cx="7215188" cy="518814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72126706"/>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1026" name="Rectangle 1"/>
          <p:cNvSpPr>
            <a:spLocks noGrp="1" noChangeArrowheads="1"/>
          </p:cNvSpPr>
          <p:nvPr>
            <p:ph type="title"/>
          </p:nvPr>
        </p:nvSpPr>
        <p:spPr bwMode="auto">
          <a:xfrm>
            <a:off x="1750219" y="991195"/>
            <a:ext cx="8691563" cy="12055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50800" tIns="50800" rIns="50800" bIns="50800" numCol="1" anchor="ctr" anchorCtr="0" compatLnSpc="1">
            <a:prstTxWarp prst="textNoShape">
              <a:avLst/>
            </a:prstTxWarp>
          </a:bodyPr>
          <a:lstStyle/>
          <a:p>
            <a:pPr lvl="0"/>
            <a:r>
              <a:rPr lang="en-US">
                <a:sym typeface="Stone Sans ITC TT-Semi" charset="0"/>
              </a:rPr>
              <a:t>Click to edit Master title style</a:t>
            </a:r>
          </a:p>
        </p:txBody>
      </p:sp>
      <p:sp>
        <p:nvSpPr>
          <p:cNvPr id="1027" name="Rectangle 2"/>
          <p:cNvSpPr>
            <a:spLocks noGrp="1" noChangeArrowheads="1"/>
          </p:cNvSpPr>
          <p:nvPr>
            <p:ph type="body" idx="1"/>
          </p:nvPr>
        </p:nvSpPr>
        <p:spPr bwMode="auto">
          <a:xfrm>
            <a:off x="1190625" y="2196703"/>
            <a:ext cx="9810750" cy="39826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50800" tIns="50800" rIns="50800" bIns="50800" numCol="1" anchor="ctr" anchorCtr="0" compatLnSpc="1">
            <a:prstTxWarp prst="textNoShape">
              <a:avLst/>
            </a:prstTxWarp>
          </a:bodyPr>
          <a:lstStyle/>
          <a:p>
            <a:pPr lvl="0"/>
            <a:r>
              <a:rPr lang="en-US">
                <a:sym typeface="Bradley Hand ITC TT-Bold" charset="0"/>
              </a:rPr>
              <a:t>Click to edit Master text styles</a:t>
            </a:r>
          </a:p>
          <a:p>
            <a:pPr lvl="1"/>
            <a:r>
              <a:rPr lang="en-US">
                <a:sym typeface="Bradley Hand ITC TT-Bold" charset="0"/>
              </a:rPr>
              <a:t>Second level</a:t>
            </a:r>
          </a:p>
          <a:p>
            <a:pPr lvl="2"/>
            <a:r>
              <a:rPr lang="en-US">
                <a:sym typeface="Bradley Hand ITC TT-Bold" charset="0"/>
              </a:rPr>
              <a:t>Third level</a:t>
            </a:r>
          </a:p>
          <a:p>
            <a:pPr lvl="3"/>
            <a:r>
              <a:rPr lang="en-US">
                <a:sym typeface="Bradley Hand ITC TT-Bold" charset="0"/>
              </a:rPr>
              <a:t>Fourth level</a:t>
            </a:r>
          </a:p>
          <a:p>
            <a:pPr lvl="4"/>
            <a:r>
              <a:rPr lang="en-US">
                <a:sym typeface="Bradley Hand ITC TT-Bold" charset="0"/>
              </a:rPr>
              <a:t>Fifth level</a:t>
            </a:r>
          </a:p>
        </p:txBody>
      </p:sp>
    </p:spTree>
    <p:extLst>
      <p:ext uri="{BB962C8B-B14F-4D97-AF65-F5344CB8AC3E}">
        <p14:creationId xmlns:p14="http://schemas.microsoft.com/office/powerpoint/2010/main" val="21179604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p:hf hdr="0"/>
  <p:txStyles>
    <p:titleStyle>
      <a:lvl1pPr algn="l" rtl="0" eaLnBrk="0" fontAlgn="base" hangingPunct="0">
        <a:spcBef>
          <a:spcPct val="0"/>
        </a:spcBef>
        <a:spcAft>
          <a:spcPct val="0"/>
        </a:spcAft>
        <a:defRPr sz="4500">
          <a:solidFill>
            <a:srgbClr val="3B3B3E"/>
          </a:solidFill>
          <a:latin typeface="+mj-lt"/>
          <a:ea typeface="+mj-ea"/>
          <a:cs typeface="+mj-cs"/>
          <a:sym typeface="Stone Sans ITC TT-Semi" charset="0"/>
        </a:defRPr>
      </a:lvl1pPr>
      <a:lvl2pPr algn="l" rtl="0" eaLnBrk="0" fontAlgn="base" hangingPunct="0">
        <a:spcBef>
          <a:spcPct val="0"/>
        </a:spcBef>
        <a:spcAft>
          <a:spcPct val="0"/>
        </a:spcAft>
        <a:defRPr sz="4500">
          <a:solidFill>
            <a:srgbClr val="3B3B3E"/>
          </a:solidFill>
          <a:latin typeface="Stone Sans ITC TT-Semi" charset="0"/>
          <a:ea typeface="ヒラギノ角ゴ ProN W6" charset="-128"/>
          <a:cs typeface="ヒラギノ角ゴ ProN W6" charset="-128"/>
          <a:sym typeface="Stone Sans ITC TT-Semi" charset="0"/>
        </a:defRPr>
      </a:lvl2pPr>
      <a:lvl3pPr algn="l" rtl="0" eaLnBrk="0" fontAlgn="base" hangingPunct="0">
        <a:spcBef>
          <a:spcPct val="0"/>
        </a:spcBef>
        <a:spcAft>
          <a:spcPct val="0"/>
        </a:spcAft>
        <a:defRPr sz="4500">
          <a:solidFill>
            <a:srgbClr val="3B3B3E"/>
          </a:solidFill>
          <a:latin typeface="Stone Sans ITC TT-Semi" charset="0"/>
          <a:ea typeface="ヒラギノ角ゴ ProN W6" charset="-128"/>
          <a:cs typeface="ヒラギノ角ゴ ProN W6" charset="-128"/>
          <a:sym typeface="Stone Sans ITC TT-Semi" charset="0"/>
        </a:defRPr>
      </a:lvl3pPr>
      <a:lvl4pPr algn="l" rtl="0" eaLnBrk="0" fontAlgn="base" hangingPunct="0">
        <a:spcBef>
          <a:spcPct val="0"/>
        </a:spcBef>
        <a:spcAft>
          <a:spcPct val="0"/>
        </a:spcAft>
        <a:defRPr sz="4500">
          <a:solidFill>
            <a:srgbClr val="3B3B3E"/>
          </a:solidFill>
          <a:latin typeface="Stone Sans ITC TT-Semi" charset="0"/>
          <a:ea typeface="ヒラギノ角ゴ ProN W6" charset="-128"/>
          <a:cs typeface="ヒラギノ角ゴ ProN W6" charset="-128"/>
          <a:sym typeface="Stone Sans ITC TT-Semi" charset="0"/>
        </a:defRPr>
      </a:lvl4pPr>
      <a:lvl5pPr algn="l" rtl="0" eaLnBrk="0" fontAlgn="base" hangingPunct="0">
        <a:spcBef>
          <a:spcPct val="0"/>
        </a:spcBef>
        <a:spcAft>
          <a:spcPct val="0"/>
        </a:spcAft>
        <a:defRPr sz="4500">
          <a:solidFill>
            <a:srgbClr val="3B3B3E"/>
          </a:solidFill>
          <a:latin typeface="Stone Sans ITC TT-Semi" charset="0"/>
          <a:ea typeface="ヒラギノ角ゴ ProN W6" charset="-128"/>
          <a:cs typeface="ヒラギノ角ゴ ProN W6" charset="-128"/>
          <a:sym typeface="Stone Sans ITC TT-Semi" charset="0"/>
        </a:defRPr>
      </a:lvl5pPr>
      <a:lvl6pPr marL="321457" algn="l" rtl="0" fontAlgn="base">
        <a:spcBef>
          <a:spcPct val="0"/>
        </a:spcBef>
        <a:spcAft>
          <a:spcPct val="0"/>
        </a:spcAft>
        <a:defRPr sz="4500">
          <a:solidFill>
            <a:srgbClr val="3B3B3E"/>
          </a:solidFill>
          <a:latin typeface="Stone Sans ITC TT-Semi" charset="0"/>
          <a:ea typeface="ヒラギノ角ゴ ProN W6" charset="-128"/>
          <a:cs typeface="ヒラギノ角ゴ ProN W6" charset="-128"/>
          <a:sym typeface="Stone Sans ITC TT-Semi" charset="0"/>
        </a:defRPr>
      </a:lvl6pPr>
      <a:lvl7pPr marL="642915" algn="l" rtl="0" fontAlgn="base">
        <a:spcBef>
          <a:spcPct val="0"/>
        </a:spcBef>
        <a:spcAft>
          <a:spcPct val="0"/>
        </a:spcAft>
        <a:defRPr sz="4500">
          <a:solidFill>
            <a:srgbClr val="3B3B3E"/>
          </a:solidFill>
          <a:latin typeface="Stone Sans ITC TT-Semi" charset="0"/>
          <a:ea typeface="ヒラギノ角ゴ ProN W6" charset="-128"/>
          <a:cs typeface="ヒラギノ角ゴ ProN W6" charset="-128"/>
          <a:sym typeface="Stone Sans ITC TT-Semi" charset="0"/>
        </a:defRPr>
      </a:lvl7pPr>
      <a:lvl8pPr marL="964372" algn="l" rtl="0" fontAlgn="base">
        <a:spcBef>
          <a:spcPct val="0"/>
        </a:spcBef>
        <a:spcAft>
          <a:spcPct val="0"/>
        </a:spcAft>
        <a:defRPr sz="4500">
          <a:solidFill>
            <a:srgbClr val="3B3B3E"/>
          </a:solidFill>
          <a:latin typeface="Stone Sans ITC TT-Semi" charset="0"/>
          <a:ea typeface="ヒラギノ角ゴ ProN W6" charset="-128"/>
          <a:cs typeface="ヒラギノ角ゴ ProN W6" charset="-128"/>
          <a:sym typeface="Stone Sans ITC TT-Semi" charset="0"/>
        </a:defRPr>
      </a:lvl8pPr>
      <a:lvl9pPr marL="1285829" algn="l" rtl="0" fontAlgn="base">
        <a:spcBef>
          <a:spcPct val="0"/>
        </a:spcBef>
        <a:spcAft>
          <a:spcPct val="0"/>
        </a:spcAft>
        <a:defRPr sz="4500">
          <a:solidFill>
            <a:srgbClr val="3B3B3E"/>
          </a:solidFill>
          <a:latin typeface="Stone Sans ITC TT-Semi" charset="0"/>
          <a:ea typeface="ヒラギノ角ゴ ProN W6" charset="-128"/>
          <a:cs typeface="ヒラギノ角ゴ ProN W6" charset="-128"/>
          <a:sym typeface="Stone Sans ITC TT-Semi" charset="0"/>
        </a:defRPr>
      </a:lvl9pPr>
    </p:titleStyle>
    <p:bodyStyle>
      <a:lvl1pPr marL="571480" indent="-455398" algn="l" rtl="0" eaLnBrk="0" fontAlgn="base" hangingPunct="0">
        <a:spcBef>
          <a:spcPts val="1406"/>
        </a:spcBef>
        <a:spcAft>
          <a:spcPct val="0"/>
        </a:spcAft>
        <a:buSzPct val="77000"/>
        <a:buChar char="•"/>
        <a:defRPr sz="2953">
          <a:solidFill>
            <a:schemeClr val="tx1"/>
          </a:solidFill>
          <a:latin typeface="+mn-lt"/>
          <a:ea typeface="+mn-ea"/>
          <a:cs typeface="+mn-cs"/>
          <a:sym typeface="Bradley Hand ITC TT-Bold" charset="0"/>
        </a:defRPr>
      </a:lvl1pPr>
      <a:lvl2pPr marL="1014600" indent="-455398" algn="l" rtl="0" eaLnBrk="0" fontAlgn="base" hangingPunct="0">
        <a:spcBef>
          <a:spcPts val="1406"/>
        </a:spcBef>
        <a:spcAft>
          <a:spcPct val="0"/>
        </a:spcAft>
        <a:buSzPct val="77000"/>
        <a:buChar char="•"/>
        <a:defRPr sz="2953">
          <a:solidFill>
            <a:schemeClr val="tx1"/>
          </a:solidFill>
          <a:latin typeface="+mn-lt"/>
          <a:ea typeface="+mn-ea"/>
          <a:cs typeface="+mn-cs"/>
          <a:sym typeface="Bradley Hand ITC TT-Bold" charset="0"/>
        </a:defRPr>
      </a:lvl2pPr>
      <a:lvl3pPr marL="1443210" indent="-455398" algn="l" rtl="0" eaLnBrk="0" fontAlgn="base" hangingPunct="0">
        <a:spcBef>
          <a:spcPts val="1406"/>
        </a:spcBef>
        <a:spcAft>
          <a:spcPct val="0"/>
        </a:spcAft>
        <a:buSzPct val="77000"/>
        <a:buChar char="•"/>
        <a:defRPr sz="2953">
          <a:solidFill>
            <a:schemeClr val="tx1"/>
          </a:solidFill>
          <a:latin typeface="+mn-lt"/>
          <a:ea typeface="+mn-ea"/>
          <a:cs typeface="+mn-cs"/>
          <a:sym typeface="Bradley Hand ITC TT-Bold" charset="0"/>
        </a:defRPr>
      </a:lvl3pPr>
      <a:lvl4pPr marL="1884097" indent="-455398" algn="l" rtl="0" eaLnBrk="0" fontAlgn="base" hangingPunct="0">
        <a:spcBef>
          <a:spcPts val="1406"/>
        </a:spcBef>
        <a:spcAft>
          <a:spcPct val="0"/>
        </a:spcAft>
        <a:buSzPct val="77000"/>
        <a:buChar char="•"/>
        <a:defRPr sz="2953">
          <a:solidFill>
            <a:schemeClr val="tx1"/>
          </a:solidFill>
          <a:latin typeface="+mn-lt"/>
          <a:ea typeface="+mn-ea"/>
          <a:cs typeface="+mn-cs"/>
          <a:sym typeface="Bradley Hand ITC TT-Bold" charset="0"/>
        </a:defRPr>
      </a:lvl4pPr>
      <a:lvl5pPr marL="2312707" indent="-455398" algn="l" rtl="0" eaLnBrk="0" fontAlgn="base" hangingPunct="0">
        <a:spcBef>
          <a:spcPts val="1406"/>
        </a:spcBef>
        <a:spcAft>
          <a:spcPct val="0"/>
        </a:spcAft>
        <a:buSzPct val="77000"/>
        <a:buChar char="•"/>
        <a:defRPr sz="2953">
          <a:solidFill>
            <a:schemeClr val="tx1"/>
          </a:solidFill>
          <a:latin typeface="+mn-lt"/>
          <a:ea typeface="+mn-ea"/>
          <a:cs typeface="+mn-cs"/>
          <a:sym typeface="Bradley Hand ITC TT-Bold" charset="0"/>
        </a:defRPr>
      </a:lvl5pPr>
      <a:lvl6pPr marL="2634164" indent="-455398" algn="l" rtl="0" fontAlgn="base">
        <a:spcBef>
          <a:spcPts val="1406"/>
        </a:spcBef>
        <a:spcAft>
          <a:spcPct val="0"/>
        </a:spcAft>
        <a:buSzPct val="77000"/>
        <a:buChar char="•"/>
        <a:defRPr sz="2953">
          <a:solidFill>
            <a:schemeClr val="tx1"/>
          </a:solidFill>
          <a:latin typeface="+mn-lt"/>
          <a:ea typeface="+mn-ea"/>
          <a:cs typeface="+mn-cs"/>
          <a:sym typeface="Bradley Hand ITC TT-Bold" charset="0"/>
        </a:defRPr>
      </a:lvl6pPr>
      <a:lvl7pPr marL="2955621" indent="-455398" algn="l" rtl="0" fontAlgn="base">
        <a:spcBef>
          <a:spcPts val="1406"/>
        </a:spcBef>
        <a:spcAft>
          <a:spcPct val="0"/>
        </a:spcAft>
        <a:buSzPct val="77000"/>
        <a:buChar char="•"/>
        <a:defRPr sz="2953">
          <a:solidFill>
            <a:schemeClr val="tx1"/>
          </a:solidFill>
          <a:latin typeface="+mn-lt"/>
          <a:ea typeface="+mn-ea"/>
          <a:cs typeface="+mn-cs"/>
          <a:sym typeface="Bradley Hand ITC TT-Bold" charset="0"/>
        </a:defRPr>
      </a:lvl7pPr>
      <a:lvl8pPr marL="3277079" indent="-455398" algn="l" rtl="0" fontAlgn="base">
        <a:spcBef>
          <a:spcPts val="1406"/>
        </a:spcBef>
        <a:spcAft>
          <a:spcPct val="0"/>
        </a:spcAft>
        <a:buSzPct val="77000"/>
        <a:buChar char="•"/>
        <a:defRPr sz="2953">
          <a:solidFill>
            <a:schemeClr val="tx1"/>
          </a:solidFill>
          <a:latin typeface="+mn-lt"/>
          <a:ea typeface="+mn-ea"/>
          <a:cs typeface="+mn-cs"/>
          <a:sym typeface="Bradley Hand ITC TT-Bold" charset="0"/>
        </a:defRPr>
      </a:lvl8pPr>
      <a:lvl9pPr marL="3598536" indent="-455398" algn="l" rtl="0" fontAlgn="base">
        <a:spcBef>
          <a:spcPts val="1406"/>
        </a:spcBef>
        <a:spcAft>
          <a:spcPct val="0"/>
        </a:spcAft>
        <a:buSzPct val="77000"/>
        <a:buChar char="•"/>
        <a:defRPr sz="2953">
          <a:solidFill>
            <a:schemeClr val="tx1"/>
          </a:solidFill>
          <a:latin typeface="+mn-lt"/>
          <a:ea typeface="+mn-ea"/>
          <a:cs typeface="+mn-cs"/>
          <a:sym typeface="Bradley Hand ITC TT-Bold" charset="0"/>
        </a:defRPr>
      </a:lvl9pPr>
    </p:bodyStyle>
    <p:otherStyle>
      <a:defPPr>
        <a:defRPr lang="en-US"/>
      </a:defPPr>
      <a:lvl1pPr marL="0" algn="l" defTabSz="321457" rtl="0" eaLnBrk="1" latinLnBrk="0" hangingPunct="1">
        <a:defRPr sz="1266" kern="1200">
          <a:solidFill>
            <a:schemeClr val="tx1"/>
          </a:solidFill>
          <a:latin typeface="+mn-lt"/>
          <a:ea typeface="+mn-ea"/>
          <a:cs typeface="+mn-cs"/>
        </a:defRPr>
      </a:lvl1pPr>
      <a:lvl2pPr marL="321457" algn="l" defTabSz="321457" rtl="0" eaLnBrk="1" latinLnBrk="0" hangingPunct="1">
        <a:defRPr sz="1266" kern="1200">
          <a:solidFill>
            <a:schemeClr val="tx1"/>
          </a:solidFill>
          <a:latin typeface="+mn-lt"/>
          <a:ea typeface="+mn-ea"/>
          <a:cs typeface="+mn-cs"/>
        </a:defRPr>
      </a:lvl2pPr>
      <a:lvl3pPr marL="642915" algn="l" defTabSz="321457" rtl="0" eaLnBrk="1" latinLnBrk="0" hangingPunct="1">
        <a:defRPr sz="1266" kern="1200">
          <a:solidFill>
            <a:schemeClr val="tx1"/>
          </a:solidFill>
          <a:latin typeface="+mn-lt"/>
          <a:ea typeface="+mn-ea"/>
          <a:cs typeface="+mn-cs"/>
        </a:defRPr>
      </a:lvl3pPr>
      <a:lvl4pPr marL="964372" algn="l" defTabSz="321457" rtl="0" eaLnBrk="1" latinLnBrk="0" hangingPunct="1">
        <a:defRPr sz="1266" kern="1200">
          <a:solidFill>
            <a:schemeClr val="tx1"/>
          </a:solidFill>
          <a:latin typeface="+mn-lt"/>
          <a:ea typeface="+mn-ea"/>
          <a:cs typeface="+mn-cs"/>
        </a:defRPr>
      </a:lvl4pPr>
      <a:lvl5pPr marL="1285829" algn="l" defTabSz="321457" rtl="0" eaLnBrk="1" latinLnBrk="0" hangingPunct="1">
        <a:defRPr sz="1266" kern="1200">
          <a:solidFill>
            <a:schemeClr val="tx1"/>
          </a:solidFill>
          <a:latin typeface="+mn-lt"/>
          <a:ea typeface="+mn-ea"/>
          <a:cs typeface="+mn-cs"/>
        </a:defRPr>
      </a:lvl5pPr>
      <a:lvl6pPr marL="1607287" algn="l" defTabSz="321457" rtl="0" eaLnBrk="1" latinLnBrk="0" hangingPunct="1">
        <a:defRPr sz="1266" kern="1200">
          <a:solidFill>
            <a:schemeClr val="tx1"/>
          </a:solidFill>
          <a:latin typeface="+mn-lt"/>
          <a:ea typeface="+mn-ea"/>
          <a:cs typeface="+mn-cs"/>
        </a:defRPr>
      </a:lvl6pPr>
      <a:lvl7pPr marL="1928744" algn="l" defTabSz="321457" rtl="0" eaLnBrk="1" latinLnBrk="0" hangingPunct="1">
        <a:defRPr sz="1266" kern="1200">
          <a:solidFill>
            <a:schemeClr val="tx1"/>
          </a:solidFill>
          <a:latin typeface="+mn-lt"/>
          <a:ea typeface="+mn-ea"/>
          <a:cs typeface="+mn-cs"/>
        </a:defRPr>
      </a:lvl7pPr>
      <a:lvl8pPr marL="2250201" algn="l" defTabSz="321457" rtl="0" eaLnBrk="1" latinLnBrk="0" hangingPunct="1">
        <a:defRPr sz="1266" kern="1200">
          <a:solidFill>
            <a:schemeClr val="tx1"/>
          </a:solidFill>
          <a:latin typeface="+mn-lt"/>
          <a:ea typeface="+mn-ea"/>
          <a:cs typeface="+mn-cs"/>
        </a:defRPr>
      </a:lvl8pPr>
      <a:lvl9pPr marL="2571659" algn="l" defTabSz="321457" rtl="0" eaLnBrk="1" latinLnBrk="0" hangingPunct="1">
        <a:defRPr sz="1266"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1.xml"/><Relationship Id="rId4" Type="http://schemas.openxmlformats.org/officeDocument/2006/relationships/hyperlink" Target="https://www.tutorialspoint.com/cplusplus/cpp_increment_decrement_operators.htm"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 Box 1"/>
          <p:cNvSpPr txBox="1">
            <a:spLocks noChangeArrowheads="1"/>
          </p:cNvSpPr>
          <p:nvPr/>
        </p:nvSpPr>
        <p:spPr bwMode="auto">
          <a:xfrm>
            <a:off x="10159008" y="6286500"/>
            <a:ext cx="309191" cy="339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lstStyle>
            <a:lvl1pPr eaLnBrk="0" hangingPunct="0">
              <a:defRPr sz="4200">
                <a:solidFill>
                  <a:srgbClr val="000000"/>
                </a:solidFill>
                <a:latin typeface="Bradley Hand ITC TT-Bold" charset="0"/>
                <a:ea typeface="ヒラギノ明朝 ProN W6" charset="-128"/>
                <a:sym typeface="Bradley Hand ITC TT-Bold" charset="0"/>
              </a:defRPr>
            </a:lvl1pPr>
            <a:lvl2pPr marL="742950" indent="-285750" eaLnBrk="0" hangingPunct="0">
              <a:defRPr sz="4200">
                <a:solidFill>
                  <a:srgbClr val="000000"/>
                </a:solidFill>
                <a:latin typeface="Bradley Hand ITC TT-Bold" charset="0"/>
                <a:ea typeface="ヒラギノ明朝 ProN W6" charset="-128"/>
                <a:sym typeface="Bradley Hand ITC TT-Bold" charset="0"/>
              </a:defRPr>
            </a:lvl2pPr>
            <a:lvl3pPr marL="1143000" indent="-228600" eaLnBrk="0" hangingPunct="0">
              <a:defRPr sz="4200">
                <a:solidFill>
                  <a:srgbClr val="000000"/>
                </a:solidFill>
                <a:latin typeface="Bradley Hand ITC TT-Bold" charset="0"/>
                <a:ea typeface="ヒラギノ明朝 ProN W6" charset="-128"/>
                <a:sym typeface="Bradley Hand ITC TT-Bold" charset="0"/>
              </a:defRPr>
            </a:lvl3pPr>
            <a:lvl4pPr marL="1600200" indent="-228600" eaLnBrk="0" hangingPunct="0">
              <a:defRPr sz="4200">
                <a:solidFill>
                  <a:srgbClr val="000000"/>
                </a:solidFill>
                <a:latin typeface="Bradley Hand ITC TT-Bold" charset="0"/>
                <a:ea typeface="ヒラギノ明朝 ProN W6" charset="-128"/>
                <a:sym typeface="Bradley Hand ITC TT-Bold" charset="0"/>
              </a:defRPr>
            </a:lvl4pPr>
            <a:lvl5pPr marL="2057400" indent="-228600" eaLnBrk="0" hangingPunct="0">
              <a:defRPr sz="4200">
                <a:solidFill>
                  <a:srgbClr val="000000"/>
                </a:solidFill>
                <a:latin typeface="Bradley Hand ITC TT-Bold" charset="0"/>
                <a:ea typeface="ヒラギノ明朝 ProN W6" charset="-128"/>
                <a:sym typeface="Bradley Hand ITC TT-Bold" charset="0"/>
              </a:defRPr>
            </a:lvl5pPr>
            <a:lvl6pPr marL="2514600" indent="-228600" algn="ctr" eaLnBrk="0" fontAlgn="base" hangingPunct="0">
              <a:spcBef>
                <a:spcPct val="0"/>
              </a:spcBef>
              <a:spcAft>
                <a:spcPct val="0"/>
              </a:spcAft>
              <a:defRPr sz="4200">
                <a:solidFill>
                  <a:srgbClr val="000000"/>
                </a:solidFill>
                <a:latin typeface="Bradley Hand ITC TT-Bold" charset="0"/>
                <a:ea typeface="ヒラギノ明朝 ProN W6" charset="-128"/>
                <a:sym typeface="Bradley Hand ITC TT-Bold" charset="0"/>
              </a:defRPr>
            </a:lvl6pPr>
            <a:lvl7pPr marL="2971800" indent="-228600" algn="ctr" eaLnBrk="0" fontAlgn="base" hangingPunct="0">
              <a:spcBef>
                <a:spcPct val="0"/>
              </a:spcBef>
              <a:spcAft>
                <a:spcPct val="0"/>
              </a:spcAft>
              <a:defRPr sz="4200">
                <a:solidFill>
                  <a:srgbClr val="000000"/>
                </a:solidFill>
                <a:latin typeface="Bradley Hand ITC TT-Bold" charset="0"/>
                <a:ea typeface="ヒラギノ明朝 ProN W6" charset="-128"/>
                <a:sym typeface="Bradley Hand ITC TT-Bold" charset="0"/>
              </a:defRPr>
            </a:lvl7pPr>
            <a:lvl8pPr marL="3429000" indent="-228600" algn="ctr" eaLnBrk="0" fontAlgn="base" hangingPunct="0">
              <a:spcBef>
                <a:spcPct val="0"/>
              </a:spcBef>
              <a:spcAft>
                <a:spcPct val="0"/>
              </a:spcAft>
              <a:defRPr sz="4200">
                <a:solidFill>
                  <a:srgbClr val="000000"/>
                </a:solidFill>
                <a:latin typeface="Bradley Hand ITC TT-Bold" charset="0"/>
                <a:ea typeface="ヒラギノ明朝 ProN W6" charset="-128"/>
                <a:sym typeface="Bradley Hand ITC TT-Bold" charset="0"/>
              </a:defRPr>
            </a:lvl8pPr>
            <a:lvl9pPr marL="3886200" indent="-228600" algn="ctr" eaLnBrk="0" fontAlgn="base" hangingPunct="0">
              <a:spcBef>
                <a:spcPct val="0"/>
              </a:spcBef>
              <a:spcAft>
                <a:spcPct val="0"/>
              </a:spcAft>
              <a:defRPr sz="4200">
                <a:solidFill>
                  <a:srgbClr val="000000"/>
                </a:solidFill>
                <a:latin typeface="Bradley Hand ITC TT-Bold" charset="0"/>
                <a:ea typeface="ヒラギノ明朝 ProN W6" charset="-128"/>
                <a:sym typeface="Bradley Hand ITC TT-Bold" charset="0"/>
              </a:defRPr>
            </a:lvl9pPr>
          </a:lstStyle>
          <a:p>
            <a:pPr algn="r" eaLnBrk="1" fontAlgn="base" hangingPunct="1">
              <a:spcBef>
                <a:spcPct val="0"/>
              </a:spcBef>
              <a:spcAft>
                <a:spcPct val="0"/>
              </a:spcAft>
            </a:pPr>
            <a:endParaRPr lang="en-US" sz="1687"/>
          </a:p>
        </p:txBody>
      </p:sp>
      <p:sp>
        <p:nvSpPr>
          <p:cNvPr id="13314" name="Rectangle 2"/>
          <p:cNvSpPr>
            <a:spLocks noGrp="1" noChangeArrowheads="1"/>
          </p:cNvSpPr>
          <p:nvPr>
            <p:ph type="title"/>
          </p:nvPr>
        </p:nvSpPr>
        <p:spPr>
          <a:xfrm>
            <a:off x="177421" y="3068095"/>
            <a:ext cx="9677780" cy="1708621"/>
          </a:xfrm>
          <a:effectLst>
            <a:outerShdw dist="12699" dir="5400000" algn="ctr" rotWithShape="0">
              <a:schemeClr val="bg2">
                <a:alpha val="50000"/>
              </a:schemeClr>
            </a:outerShdw>
          </a:effectLst>
        </p:spPr>
        <p:txBody>
          <a:bodyPr anchor="t"/>
          <a:lstStyle/>
          <a:p>
            <a:pPr algn="ctr" eaLnBrk="1" hangingPunct="1">
              <a:defRPr/>
            </a:pPr>
            <a:r>
              <a:rPr lang="en-US" sz="2800" b="1" dirty="0">
                <a:solidFill>
                  <a:srgbClr val="002060"/>
                </a:solidFill>
              </a:rPr>
              <a:t>OBJECT ORIENTED PROGRAMMING</a:t>
            </a:r>
            <a:endParaRPr lang="en-US" sz="3600" dirty="0"/>
          </a:p>
        </p:txBody>
      </p:sp>
      <p:sp>
        <p:nvSpPr>
          <p:cNvPr id="7" name="Rectangle 2"/>
          <p:cNvSpPr txBox="1">
            <a:spLocks noChangeArrowheads="1"/>
          </p:cNvSpPr>
          <p:nvPr/>
        </p:nvSpPr>
        <p:spPr bwMode="auto">
          <a:xfrm>
            <a:off x="2365829" y="954370"/>
            <a:ext cx="8177155" cy="482203"/>
          </a:xfrm>
          <a:prstGeom prst="rect">
            <a:avLst/>
          </a:prstGeom>
          <a:noFill/>
          <a:ln w="12700">
            <a:noFill/>
            <a:miter lim="800000"/>
            <a:headEnd/>
            <a:tailEnd/>
          </a:ln>
          <a:effectLst>
            <a:outerShdw dist="12699" dir="5400000" algn="ctr" rotWithShape="0">
              <a:schemeClr val="bg2">
                <a:alpha val="50000"/>
              </a:schemeClr>
            </a:outerShdw>
          </a:effectLst>
        </p:spPr>
        <p:txBody>
          <a:bodyPr lIns="35719" tIns="35719" rIns="35719" bIns="35719" anchor="ctr"/>
          <a:lstStyle/>
          <a:p>
            <a:pPr algn="ctr" fontAlgn="base">
              <a:spcBef>
                <a:spcPct val="0"/>
              </a:spcBef>
              <a:spcAft>
                <a:spcPct val="0"/>
              </a:spcAft>
              <a:defRPr/>
            </a:pPr>
            <a:endParaRPr lang="en-US" sz="2800" b="1" dirty="0">
              <a:solidFill>
                <a:srgbClr val="000000"/>
              </a:solidFill>
              <a:sym typeface="Bradley Hand ITC TT-Bold" charset="0"/>
            </a:endParaRPr>
          </a:p>
          <a:p>
            <a:pPr algn="ctr" fontAlgn="base">
              <a:spcBef>
                <a:spcPct val="0"/>
              </a:spcBef>
              <a:spcAft>
                <a:spcPct val="0"/>
              </a:spcAft>
              <a:defRPr/>
            </a:pPr>
            <a:r>
              <a:rPr lang="en-US" sz="2800" b="1" dirty="0">
                <a:solidFill>
                  <a:srgbClr val="000000"/>
                </a:solidFill>
                <a:sym typeface="Bradley Hand ITC TT-Bold" charset="0"/>
              </a:rPr>
              <a:t>MBEYA UNIVERSITY OF SCIENCE AND TECHNOLOGY</a:t>
            </a:r>
            <a:endParaRPr lang="en-US" sz="2800" dirty="0">
              <a:solidFill>
                <a:srgbClr val="000000"/>
              </a:solidFill>
              <a:sym typeface="Bradley Hand ITC TT-Bold" charset="0"/>
            </a:endParaRPr>
          </a:p>
        </p:txBody>
      </p:sp>
      <p:sp>
        <p:nvSpPr>
          <p:cNvPr id="8" name="Rectangle 2"/>
          <p:cNvSpPr txBox="1">
            <a:spLocks noChangeArrowheads="1"/>
          </p:cNvSpPr>
          <p:nvPr/>
        </p:nvSpPr>
        <p:spPr bwMode="auto">
          <a:xfrm>
            <a:off x="4113609" y="1500188"/>
            <a:ext cx="6429375" cy="482203"/>
          </a:xfrm>
          <a:prstGeom prst="rect">
            <a:avLst/>
          </a:prstGeom>
          <a:noFill/>
          <a:ln w="12700">
            <a:noFill/>
            <a:miter lim="800000"/>
            <a:headEnd/>
            <a:tailEnd/>
          </a:ln>
          <a:effectLst>
            <a:outerShdw dist="12699" dir="5400000" algn="ctr" rotWithShape="0">
              <a:schemeClr val="bg2">
                <a:alpha val="50000"/>
              </a:schemeClr>
            </a:outerShdw>
          </a:effectLst>
        </p:spPr>
        <p:txBody>
          <a:bodyPr lIns="35719" tIns="35719" rIns="35719" bIns="35719" anchor="ctr"/>
          <a:lstStyle/>
          <a:p>
            <a:pPr algn="ctr" fontAlgn="base">
              <a:spcBef>
                <a:spcPct val="0"/>
              </a:spcBef>
              <a:spcAft>
                <a:spcPct val="0"/>
              </a:spcAft>
              <a:defRPr/>
            </a:pPr>
            <a:r>
              <a:rPr lang="en-US" sz="2531" kern="0" dirty="0">
                <a:solidFill>
                  <a:srgbClr val="3B3B3E"/>
                </a:solidFill>
                <a:sym typeface="Stone Sans ITC TT-Semi" charset="0"/>
              </a:rPr>
              <a:t> </a:t>
            </a:r>
            <a:endParaRPr lang="en-US" sz="2531" dirty="0">
              <a:solidFill>
                <a:srgbClr val="000000"/>
              </a:solidFill>
              <a:sym typeface="Bradley Hand ITC TT-Bold" charset="0"/>
            </a:endParaRPr>
          </a:p>
          <a:p>
            <a:pPr algn="ctr" fontAlgn="base">
              <a:spcBef>
                <a:spcPct val="0"/>
              </a:spcBef>
              <a:spcAft>
                <a:spcPct val="0"/>
              </a:spcAft>
              <a:defRPr/>
            </a:pPr>
            <a:endParaRPr lang="en-US" sz="2250" dirty="0">
              <a:solidFill>
                <a:srgbClr val="000000"/>
              </a:solidFill>
              <a:sym typeface="Bradley Hand ITC TT-Bold" charset="0"/>
            </a:endParaRPr>
          </a:p>
          <a:p>
            <a:pPr algn="ctr" fontAlgn="base">
              <a:spcBef>
                <a:spcPct val="0"/>
              </a:spcBef>
              <a:spcAft>
                <a:spcPct val="0"/>
              </a:spcAft>
              <a:defRPr/>
            </a:pPr>
            <a:endParaRPr lang="en-US" sz="2531" kern="0" dirty="0">
              <a:solidFill>
                <a:srgbClr val="3B3B3E"/>
              </a:solidFill>
              <a:sym typeface="Stone Sans ITC TT-Semi" charset="0"/>
            </a:endParaRPr>
          </a:p>
        </p:txBody>
      </p:sp>
      <p:sp>
        <p:nvSpPr>
          <p:cNvPr id="10" name="Rectangle 2"/>
          <p:cNvSpPr txBox="1">
            <a:spLocks noChangeArrowheads="1"/>
          </p:cNvSpPr>
          <p:nvPr/>
        </p:nvSpPr>
        <p:spPr bwMode="auto">
          <a:xfrm>
            <a:off x="3042047" y="1858559"/>
            <a:ext cx="6429375" cy="428625"/>
          </a:xfrm>
          <a:prstGeom prst="rect">
            <a:avLst/>
          </a:prstGeom>
          <a:noFill/>
          <a:ln w="12700">
            <a:noFill/>
            <a:miter lim="800000"/>
            <a:headEnd/>
            <a:tailEnd/>
          </a:ln>
          <a:effectLst>
            <a:outerShdw dist="12699" dir="5400000" algn="ctr" rotWithShape="0">
              <a:schemeClr val="bg2">
                <a:alpha val="50000"/>
              </a:schemeClr>
            </a:outerShdw>
          </a:effectLst>
        </p:spPr>
        <p:txBody>
          <a:bodyPr lIns="35719" tIns="35719" rIns="35719" bIns="35719" anchor="ctr"/>
          <a:lstStyle/>
          <a:p>
            <a:pPr algn="ctr" fontAlgn="base">
              <a:spcBef>
                <a:spcPct val="0"/>
              </a:spcBef>
              <a:spcAft>
                <a:spcPct val="0"/>
              </a:spcAft>
              <a:defRPr/>
            </a:pPr>
            <a:r>
              <a:rPr lang="en-US" sz="2531" kern="0" dirty="0">
                <a:solidFill>
                  <a:srgbClr val="FFFFFF">
                    <a:lumMod val="50000"/>
                  </a:srgbClr>
                </a:solidFill>
                <a:sym typeface="Stone Sans ITC TT-Semi" charset="0"/>
              </a:rPr>
              <a:t> </a:t>
            </a:r>
            <a:endParaRPr lang="en-US" sz="2531" dirty="0">
              <a:solidFill>
                <a:srgbClr val="FFFFFF">
                  <a:lumMod val="50000"/>
                </a:srgbClr>
              </a:solidFill>
              <a:sym typeface="Bradley Hand ITC TT-Bold" charset="0"/>
            </a:endParaRPr>
          </a:p>
          <a:p>
            <a:pPr algn="ctr" fontAlgn="base">
              <a:spcBef>
                <a:spcPct val="0"/>
              </a:spcBef>
              <a:spcAft>
                <a:spcPct val="0"/>
              </a:spcAft>
              <a:defRPr/>
            </a:pPr>
            <a:r>
              <a:rPr lang="en-US" sz="2250" i="1" dirty="0" err="1">
                <a:solidFill>
                  <a:srgbClr val="FFFFFF">
                    <a:lumMod val="50000"/>
                  </a:srgbClr>
                </a:solidFill>
                <a:sym typeface="Bradley Hand ITC TT-Bold" charset="0"/>
              </a:rPr>
              <a:t>CoICT</a:t>
            </a:r>
            <a:endParaRPr lang="en-US" sz="2250" i="1" dirty="0">
              <a:solidFill>
                <a:srgbClr val="FFFFFF">
                  <a:lumMod val="50000"/>
                </a:srgbClr>
              </a:solidFill>
              <a:sym typeface="Bradley Hand ITC TT-Bold" charset="0"/>
            </a:endParaRPr>
          </a:p>
          <a:p>
            <a:pPr algn="ctr" fontAlgn="base">
              <a:spcBef>
                <a:spcPct val="0"/>
              </a:spcBef>
              <a:spcAft>
                <a:spcPct val="0"/>
              </a:spcAft>
              <a:defRPr/>
            </a:pPr>
            <a:endParaRPr lang="en-US" sz="2531" kern="0" dirty="0">
              <a:solidFill>
                <a:srgbClr val="FFFFFF">
                  <a:lumMod val="50000"/>
                </a:srgbClr>
              </a:solidFill>
              <a:sym typeface="Stone Sans ITC TT-Semi" charset="0"/>
            </a:endParaRPr>
          </a:p>
        </p:txBody>
      </p:sp>
      <p:sp>
        <p:nvSpPr>
          <p:cNvPr id="11" name="Rectangle 2"/>
          <p:cNvSpPr txBox="1">
            <a:spLocks noChangeArrowheads="1"/>
          </p:cNvSpPr>
          <p:nvPr/>
        </p:nvSpPr>
        <p:spPr bwMode="auto">
          <a:xfrm>
            <a:off x="2656115" y="2310654"/>
            <a:ext cx="7199086" cy="535782"/>
          </a:xfrm>
          <a:prstGeom prst="rect">
            <a:avLst/>
          </a:prstGeom>
          <a:noFill/>
          <a:ln w="12700">
            <a:noFill/>
            <a:miter lim="800000"/>
            <a:headEnd/>
            <a:tailEnd/>
          </a:ln>
          <a:effectLst>
            <a:outerShdw dist="12699" dir="5400000" algn="ctr" rotWithShape="0">
              <a:schemeClr val="bg2">
                <a:alpha val="50000"/>
              </a:schemeClr>
            </a:outerShdw>
          </a:effectLst>
        </p:spPr>
        <p:txBody>
          <a:bodyPr lIns="35719" tIns="35719" rIns="35719" bIns="35719" anchor="ctr"/>
          <a:lstStyle/>
          <a:p>
            <a:pPr algn="ctr" fontAlgn="base">
              <a:spcBef>
                <a:spcPct val="0"/>
              </a:spcBef>
              <a:spcAft>
                <a:spcPct val="0"/>
              </a:spcAft>
              <a:defRPr/>
            </a:pPr>
            <a:r>
              <a:rPr lang="en-US" sz="2531" kern="0" dirty="0">
                <a:solidFill>
                  <a:srgbClr val="3B3B3E"/>
                </a:solidFill>
                <a:sym typeface="Stone Sans ITC TT-Semi" charset="0"/>
              </a:rPr>
              <a:t>DEPARTMENT OF INFORMATICS</a:t>
            </a:r>
          </a:p>
        </p:txBody>
      </p:sp>
      <p:pic>
        <p:nvPicPr>
          <p:cNvPr id="12" name="Picture 11" descr="MUST_LOGO.png"/>
          <p:cNvPicPr/>
          <p:nvPr/>
        </p:nvPicPr>
        <p:blipFill>
          <a:blip r:embed="rId2" cstate="print"/>
          <a:stretch>
            <a:fillRect/>
          </a:stretch>
        </p:blipFill>
        <p:spPr>
          <a:xfrm>
            <a:off x="10091595" y="1276825"/>
            <a:ext cx="1872343" cy="1428749"/>
          </a:xfrm>
          <a:prstGeom prst="rect">
            <a:avLst/>
          </a:prstGeom>
        </p:spPr>
      </p:pic>
    </p:spTree>
    <p:extLst>
      <p:ext uri="{BB962C8B-B14F-4D97-AF65-F5344CB8AC3E}">
        <p14:creationId xmlns:p14="http://schemas.microsoft.com/office/powerpoint/2010/main" val="1813271578"/>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0612" y="1156448"/>
            <a:ext cx="10972800" cy="3751728"/>
          </a:xfrm>
        </p:spPr>
        <p:txBody>
          <a:bodyPr/>
          <a:lstStyle/>
          <a:p>
            <a:r>
              <a:rPr lang="en-US" sz="6000" b="1" dirty="0">
                <a:solidFill>
                  <a:srgbClr val="002060"/>
                </a:solidFill>
              </a:rPr>
              <a:t>Fundamental Data Types and Operators</a:t>
            </a:r>
            <a:r>
              <a:rPr lang="en-US" sz="6000" dirty="0">
                <a:solidFill>
                  <a:srgbClr val="002060"/>
                </a:solidFill>
              </a:rPr>
              <a:t> </a:t>
            </a:r>
            <a:br>
              <a:rPr lang="en-US" sz="6000" dirty="0">
                <a:solidFill>
                  <a:srgbClr val="002060"/>
                </a:solidFill>
              </a:rPr>
            </a:br>
            <a:endParaRPr lang="en-US" sz="5400" dirty="0"/>
          </a:p>
        </p:txBody>
      </p:sp>
    </p:spTree>
    <p:extLst>
      <p:ext uri="{BB962C8B-B14F-4D97-AF65-F5344CB8AC3E}">
        <p14:creationId xmlns:p14="http://schemas.microsoft.com/office/powerpoint/2010/main" val="703511122"/>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3"/>
          <p:cNvSpPr>
            <a:spLocks noGrp="1" noChangeArrowheads="1"/>
          </p:cNvSpPr>
          <p:nvPr>
            <p:ph type="body" idx="1"/>
          </p:nvPr>
        </p:nvSpPr>
        <p:spPr>
          <a:xfrm>
            <a:off x="436097" y="900953"/>
            <a:ext cx="11464549" cy="5688106"/>
          </a:xfrm>
        </p:spPr>
        <p:txBody>
          <a:bodyPr anchor="t" anchorCtr="0"/>
          <a:lstStyle/>
          <a:p>
            <a:pPr eaLnBrk="1" hangingPunct="1"/>
            <a:r>
              <a:rPr lang="en-US" sz="3200" dirty="0"/>
              <a:t>C++ supports the most common basic storage units with the following. </a:t>
            </a:r>
          </a:p>
          <a:p>
            <a:pPr marL="457200" lvl="1" indent="-457200" eaLnBrk="1" hangingPunct="1">
              <a:buFont typeface="Wingdings" pitchFamily="2" charset="2"/>
              <a:buChar char="Ø"/>
            </a:pPr>
            <a:r>
              <a:rPr lang="en-US" sz="3000" b="1" dirty="0">
                <a:solidFill>
                  <a:srgbClr val="002060"/>
                </a:solidFill>
              </a:rPr>
              <a:t>bool</a:t>
            </a:r>
            <a:r>
              <a:rPr lang="en-US" sz="3000" dirty="0"/>
              <a:t>—This is used to represent Boolean values.  It can be True or False </a:t>
            </a:r>
          </a:p>
          <a:p>
            <a:pPr marL="457200" lvl="1" indent="-457200" eaLnBrk="1" hangingPunct="1">
              <a:buFont typeface="Wingdings" pitchFamily="2" charset="2"/>
              <a:buChar char="Ø"/>
            </a:pPr>
            <a:r>
              <a:rPr lang="en-US" sz="3000" b="1" dirty="0">
                <a:solidFill>
                  <a:srgbClr val="002060"/>
                </a:solidFill>
              </a:rPr>
              <a:t>char</a:t>
            </a:r>
            <a:r>
              <a:rPr lang="en-US" sz="3000" dirty="0"/>
              <a:t>—It is used to represent a single character. </a:t>
            </a:r>
          </a:p>
          <a:p>
            <a:pPr marL="457200" lvl="1" indent="-457200" eaLnBrk="1" hangingPunct="1">
              <a:buFont typeface="Wingdings" pitchFamily="2" charset="2"/>
              <a:buChar char="Ø"/>
            </a:pPr>
            <a:r>
              <a:rPr lang="en-US" sz="3000" b="1" dirty="0">
                <a:solidFill>
                  <a:srgbClr val="002060"/>
                </a:solidFill>
              </a:rPr>
              <a:t>int</a:t>
            </a:r>
            <a:r>
              <a:rPr lang="en-US" sz="3000" dirty="0"/>
              <a:t>—This is used to represent integers </a:t>
            </a:r>
          </a:p>
          <a:p>
            <a:pPr marL="457200" lvl="1" indent="-457200" eaLnBrk="1" hangingPunct="1">
              <a:buFont typeface="Wingdings" pitchFamily="2" charset="2"/>
              <a:buChar char="Ø"/>
            </a:pPr>
            <a:r>
              <a:rPr lang="en-US" sz="3000" b="1" dirty="0">
                <a:solidFill>
                  <a:srgbClr val="002060"/>
                </a:solidFill>
              </a:rPr>
              <a:t>float</a:t>
            </a:r>
            <a:r>
              <a:rPr lang="en-US" sz="3000" dirty="0"/>
              <a:t>, </a:t>
            </a:r>
            <a:r>
              <a:rPr lang="en-US" sz="3000" b="1" dirty="0">
                <a:solidFill>
                  <a:srgbClr val="002060"/>
                </a:solidFill>
              </a:rPr>
              <a:t>double</a:t>
            </a:r>
            <a:r>
              <a:rPr lang="en-US" sz="3000" dirty="0"/>
              <a:t>—floating-point numbers </a:t>
            </a:r>
          </a:p>
          <a:p>
            <a:pPr eaLnBrk="1" hangingPunct="1"/>
            <a:r>
              <a:rPr lang="en-US" dirty="0"/>
              <a:t>The </a:t>
            </a:r>
            <a:r>
              <a:rPr lang="en-US" b="1" dirty="0"/>
              <a:t>void type </a:t>
            </a:r>
            <a:r>
              <a:rPr lang="en-US" dirty="0"/>
              <a:t>is a special type that is used to specify functions that return no value. </a:t>
            </a:r>
          </a:p>
          <a:p>
            <a:pPr eaLnBrk="1" hangingPunct="1"/>
            <a:endParaRPr lang="en-US" sz="3200" dirty="0"/>
          </a:p>
        </p:txBody>
      </p:sp>
    </p:spTree>
    <p:extLst>
      <p:ext uri="{BB962C8B-B14F-4D97-AF65-F5344CB8AC3E}">
        <p14:creationId xmlns:p14="http://schemas.microsoft.com/office/powerpoint/2010/main" val="3123213580"/>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3"/>
          <p:cNvSpPr>
            <a:spLocks noGrp="1" noChangeArrowheads="1"/>
          </p:cNvSpPr>
          <p:nvPr>
            <p:ph type="body" idx="1"/>
          </p:nvPr>
        </p:nvSpPr>
        <p:spPr>
          <a:xfrm>
            <a:off x="215153" y="968189"/>
            <a:ext cx="11833412" cy="1062317"/>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50800" tIns="50800" rIns="50800" bIns="50800" numCol="1" anchor="t" anchorCtr="0" compatLnSpc="1">
            <a:prstTxWarp prst="textNoShape">
              <a:avLst/>
            </a:prstTxWarp>
          </a:bodyPr>
          <a:lstStyle/>
          <a:p>
            <a:pPr eaLnBrk="1" hangingPunct="1"/>
            <a:r>
              <a:rPr lang="en-US" sz="3200" dirty="0"/>
              <a:t>Summary of the basic fundamental data types in C++, as well as the range of values that can be represented with each one:</a:t>
            </a:r>
          </a:p>
        </p:txBody>
      </p:sp>
      <p:pic>
        <p:nvPicPr>
          <p:cNvPr id="1638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8436" y="2191871"/>
            <a:ext cx="11286846" cy="3832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35939536"/>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1190625" y="856725"/>
            <a:ext cx="8691563" cy="756922"/>
          </a:xfrm>
        </p:spPr>
        <p:txBody>
          <a:bodyPr/>
          <a:lstStyle/>
          <a:p>
            <a:pPr algn="ctr" eaLnBrk="1" hangingPunct="1"/>
            <a:r>
              <a:rPr lang="en-US" sz="6000" b="1" dirty="0"/>
              <a:t>Operation</a:t>
            </a:r>
          </a:p>
        </p:txBody>
      </p:sp>
      <p:sp>
        <p:nvSpPr>
          <p:cNvPr id="17411" name="Rectangle 3"/>
          <p:cNvSpPr>
            <a:spLocks noGrp="1" noChangeArrowheads="1"/>
          </p:cNvSpPr>
          <p:nvPr>
            <p:ph type="body" idx="1"/>
          </p:nvPr>
        </p:nvSpPr>
        <p:spPr>
          <a:xfrm>
            <a:off x="1190625" y="1869141"/>
            <a:ext cx="9810750" cy="4686404"/>
          </a:xfrm>
        </p:spPr>
        <p:txBody>
          <a:bodyPr anchor="t" anchorCtr="0"/>
          <a:lstStyle/>
          <a:p>
            <a:pPr eaLnBrk="1" hangingPunct="1">
              <a:buFont typeface="Wingdings" panose="05000000000000000000" pitchFamily="2" charset="2"/>
              <a:buChar char="Ø"/>
            </a:pPr>
            <a:r>
              <a:rPr lang="en-US" sz="3600" dirty="0"/>
              <a:t>Operations can be grouped as follows: </a:t>
            </a:r>
          </a:p>
          <a:p>
            <a:pPr marL="1377950" lvl="1" indent="-454025" eaLnBrk="1" hangingPunct="1"/>
            <a:r>
              <a:rPr lang="en-US" sz="3600" dirty="0"/>
              <a:t>arithmetic operations </a:t>
            </a:r>
          </a:p>
          <a:p>
            <a:pPr marL="1377950" lvl="1" indent="-454025" eaLnBrk="1" hangingPunct="1"/>
            <a:r>
              <a:rPr lang="en-US" sz="3600" dirty="0"/>
              <a:t>logical operations </a:t>
            </a:r>
          </a:p>
          <a:p>
            <a:pPr marL="1377950" lvl="1" indent="-454025" eaLnBrk="1" hangingPunct="1"/>
            <a:r>
              <a:rPr lang="en-US" sz="3600" dirty="0"/>
              <a:t>relational operations </a:t>
            </a:r>
          </a:p>
          <a:p>
            <a:pPr marL="1377950" lvl="1" indent="-454025" eaLnBrk="1" hangingPunct="1"/>
            <a:r>
              <a:rPr lang="en-US" sz="3600" dirty="0"/>
              <a:t>bitwise operations </a:t>
            </a:r>
          </a:p>
          <a:p>
            <a:pPr marL="1377950" lvl="1" indent="-454025" eaLnBrk="1" hangingPunct="1"/>
            <a:r>
              <a:rPr lang="en-US" sz="3600" dirty="0"/>
              <a:t>equality operations </a:t>
            </a:r>
          </a:p>
          <a:p>
            <a:pPr eaLnBrk="1" hangingPunct="1">
              <a:buFont typeface="Wingdings" pitchFamily="2" charset="2"/>
              <a:buNone/>
            </a:pPr>
            <a:endParaRPr lang="en-US" sz="3600" dirty="0"/>
          </a:p>
        </p:txBody>
      </p:sp>
    </p:spTree>
    <p:extLst>
      <p:ext uri="{BB962C8B-B14F-4D97-AF65-F5344CB8AC3E}">
        <p14:creationId xmlns:p14="http://schemas.microsoft.com/office/powerpoint/2010/main" val="3499166763"/>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3"/>
          <p:cNvSpPr>
            <a:spLocks noGrp="1" noChangeArrowheads="1"/>
          </p:cNvSpPr>
          <p:nvPr>
            <p:ph type="body" idx="1"/>
          </p:nvPr>
        </p:nvSpPr>
        <p:spPr>
          <a:xfrm>
            <a:off x="661182" y="942535"/>
            <a:ext cx="10958732" cy="5500468"/>
          </a:xfrm>
        </p:spPr>
        <p:txBody>
          <a:bodyPr/>
          <a:lstStyle/>
          <a:p>
            <a:pPr eaLnBrk="1" hangingPunct="1"/>
            <a:r>
              <a:rPr lang="en-US" sz="3600" dirty="0"/>
              <a:t>By using the operators and functions associated with these types, in conjunction with variables and constants, one can build </a:t>
            </a:r>
            <a:r>
              <a:rPr lang="en-US" sz="3600" i="1" dirty="0"/>
              <a:t>expressions</a:t>
            </a:r>
            <a:r>
              <a:rPr lang="en-US" sz="3600" dirty="0"/>
              <a:t>. </a:t>
            </a:r>
          </a:p>
          <a:p>
            <a:pPr eaLnBrk="1" hangingPunct="1">
              <a:buFont typeface="Wingdings" pitchFamily="2" charset="2"/>
              <a:buNone/>
            </a:pPr>
            <a:endParaRPr lang="en-US" sz="3600" dirty="0"/>
          </a:p>
          <a:p>
            <a:pPr eaLnBrk="1" hangingPunct="1">
              <a:buFont typeface="Wingdings" pitchFamily="2" charset="2"/>
              <a:buNone/>
            </a:pPr>
            <a:r>
              <a:rPr lang="en-US" sz="3600" dirty="0"/>
              <a:t>     //  assume </a:t>
            </a:r>
            <a:r>
              <a:rPr lang="en-US" sz="3600" b="1" dirty="0"/>
              <a:t>n</a:t>
            </a:r>
            <a:r>
              <a:rPr lang="en-US" sz="3600" dirty="0"/>
              <a:t> and </a:t>
            </a:r>
            <a:r>
              <a:rPr lang="en-US" sz="3600" b="1" dirty="0"/>
              <a:t>m</a:t>
            </a:r>
            <a:r>
              <a:rPr lang="en-US" sz="3600" dirty="0"/>
              <a:t> are type int</a:t>
            </a:r>
          </a:p>
          <a:p>
            <a:pPr eaLnBrk="1" hangingPunct="1">
              <a:buFont typeface="Wingdings" pitchFamily="2" charset="2"/>
              <a:buNone/>
            </a:pPr>
            <a:r>
              <a:rPr lang="en-US" sz="3600" dirty="0"/>
              <a:t>     n * (m + 123)  // type int</a:t>
            </a:r>
          </a:p>
          <a:p>
            <a:pPr eaLnBrk="1" hangingPunct="1">
              <a:buFont typeface="Wingdings" pitchFamily="2" charset="2"/>
              <a:buNone/>
            </a:pPr>
            <a:r>
              <a:rPr lang="en-US" sz="3600" dirty="0"/>
              <a:t>     n &lt;= m           // type bool </a:t>
            </a:r>
          </a:p>
        </p:txBody>
      </p:sp>
    </p:spTree>
    <p:extLst>
      <p:ext uri="{BB962C8B-B14F-4D97-AF65-F5344CB8AC3E}">
        <p14:creationId xmlns:p14="http://schemas.microsoft.com/office/powerpoint/2010/main" val="4111064149"/>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95535" y="928126"/>
            <a:ext cx="11887200" cy="627719"/>
          </a:xfrm>
        </p:spPr>
        <p:txBody>
          <a:bodyPr/>
          <a:lstStyle/>
          <a:p>
            <a:pPr algn="ctr" eaLnBrk="1" hangingPunct="1"/>
            <a:r>
              <a:rPr lang="en-US" sz="3600" b="1" dirty="0"/>
              <a:t>Variables, Identifiers,</a:t>
            </a:r>
            <a:r>
              <a:rPr lang="en-US" sz="3600" dirty="0"/>
              <a:t> </a:t>
            </a:r>
            <a:r>
              <a:rPr lang="en-US" sz="3600" b="1" dirty="0"/>
              <a:t>Declarations, and Initialization</a:t>
            </a:r>
          </a:p>
        </p:txBody>
      </p:sp>
      <p:sp>
        <p:nvSpPr>
          <p:cNvPr id="19459" name="Rectangle 3"/>
          <p:cNvSpPr>
            <a:spLocks noGrp="1" noChangeArrowheads="1"/>
          </p:cNvSpPr>
          <p:nvPr>
            <p:ph type="body" idx="1"/>
          </p:nvPr>
        </p:nvSpPr>
        <p:spPr>
          <a:xfrm>
            <a:off x="232012" y="1733267"/>
            <a:ext cx="11750722" cy="4850414"/>
          </a:xfrm>
        </p:spPr>
        <p:txBody>
          <a:bodyPr anchor="t"/>
          <a:lstStyle/>
          <a:p>
            <a:pPr eaLnBrk="1" hangingPunct="1">
              <a:lnSpc>
                <a:spcPct val="90000"/>
              </a:lnSpc>
              <a:buFont typeface="Wingdings" panose="05000000000000000000" pitchFamily="2" charset="2"/>
              <a:buChar char="Ø"/>
            </a:pPr>
            <a:r>
              <a:rPr lang="en-US" sz="2700" dirty="0"/>
              <a:t>In order to use a variable in C++, we must first declare it specifying which data type we want it to be. Every variable has a fixed type and is comprised of an </a:t>
            </a:r>
            <a:r>
              <a:rPr lang="en-US" sz="2700" i="1" dirty="0"/>
              <a:t>identifier</a:t>
            </a:r>
            <a:r>
              <a:rPr lang="en-US" sz="2700" dirty="0"/>
              <a:t> and a </a:t>
            </a:r>
            <a:r>
              <a:rPr lang="en-US" sz="2700" i="1" dirty="0"/>
              <a:t>value</a:t>
            </a:r>
            <a:r>
              <a:rPr lang="en-US" sz="2700" dirty="0"/>
              <a:t>. </a:t>
            </a:r>
          </a:p>
          <a:p>
            <a:pPr lvl="1" eaLnBrk="1" hangingPunct="1">
              <a:lnSpc>
                <a:spcPct val="90000"/>
              </a:lnSpc>
            </a:pPr>
            <a:r>
              <a:rPr lang="en-US" sz="2700" dirty="0"/>
              <a:t>The values are constrained to range only over the type of the variable. </a:t>
            </a:r>
          </a:p>
          <a:p>
            <a:pPr lvl="1" eaLnBrk="1" hangingPunct="1">
              <a:lnSpc>
                <a:spcPct val="90000"/>
              </a:lnSpc>
            </a:pPr>
            <a:r>
              <a:rPr lang="en-US" sz="2700" dirty="0"/>
              <a:t>The syntax to declare a new variable is to write the specifier of the desired </a:t>
            </a:r>
            <a:r>
              <a:rPr lang="en-US" sz="2700" b="1" i="1" dirty="0"/>
              <a:t>data type </a:t>
            </a:r>
            <a:r>
              <a:rPr lang="en-US" sz="2700" dirty="0"/>
              <a:t>(like int, bool, float...) followed by a </a:t>
            </a:r>
            <a:r>
              <a:rPr lang="en-US" sz="2700" b="1" i="1" dirty="0"/>
              <a:t>valid variable </a:t>
            </a:r>
            <a:r>
              <a:rPr lang="en-US" sz="2700" dirty="0"/>
              <a:t>identifier. </a:t>
            </a:r>
          </a:p>
          <a:p>
            <a:pPr marL="457200" lvl="1" indent="-457200" eaLnBrk="1" hangingPunct="1">
              <a:lnSpc>
                <a:spcPct val="90000"/>
              </a:lnSpc>
              <a:buFont typeface="Wingdings" panose="05000000000000000000" pitchFamily="2" charset="2"/>
              <a:buChar char="Ø"/>
            </a:pPr>
            <a:r>
              <a:rPr lang="en-US" sz="2700" dirty="0"/>
              <a:t>A variable definition tells the compiler where and how much storage to create for the variable. </a:t>
            </a:r>
          </a:p>
          <a:p>
            <a:pPr marL="457200" lvl="1" indent="-457200" eaLnBrk="1" hangingPunct="1">
              <a:lnSpc>
                <a:spcPct val="90000"/>
              </a:lnSpc>
              <a:buFont typeface="Wingdings" panose="05000000000000000000" pitchFamily="2" charset="2"/>
              <a:buChar char="Ø"/>
            </a:pPr>
            <a:r>
              <a:rPr lang="en-US" sz="2700" dirty="0"/>
              <a:t>Variables are containers for storing data values.</a:t>
            </a:r>
          </a:p>
        </p:txBody>
      </p:sp>
    </p:spTree>
    <p:extLst>
      <p:ext uri="{BB962C8B-B14F-4D97-AF65-F5344CB8AC3E}">
        <p14:creationId xmlns:p14="http://schemas.microsoft.com/office/powerpoint/2010/main" val="516115567"/>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32012" y="846161"/>
            <a:ext cx="11696131" cy="5718412"/>
          </a:xfrm>
        </p:spPr>
        <p:txBody>
          <a:bodyPr anchor="t"/>
          <a:lstStyle/>
          <a:p>
            <a:pPr marL="116082" indent="0">
              <a:buNone/>
            </a:pPr>
            <a:r>
              <a:rPr lang="en-US" sz="2800" dirty="0"/>
              <a:t>In C++, there are different types of variables (defined with different keywords), for example:</a:t>
            </a:r>
          </a:p>
          <a:p>
            <a:pPr lvl="1">
              <a:buFont typeface="Wingdings" panose="05000000000000000000" pitchFamily="2" charset="2"/>
              <a:buChar char="Ø"/>
            </a:pPr>
            <a:r>
              <a:rPr lang="en-US" sz="2800" b="1" i="1" dirty="0"/>
              <a:t>int </a:t>
            </a:r>
            <a:r>
              <a:rPr lang="en-US" sz="2800" dirty="0"/>
              <a:t>- stores integers (whole numbers), without decimals, such as      123 or -123</a:t>
            </a:r>
          </a:p>
          <a:p>
            <a:pPr lvl="1">
              <a:buFont typeface="Wingdings" panose="05000000000000000000" pitchFamily="2" charset="2"/>
              <a:buChar char="Ø"/>
            </a:pPr>
            <a:r>
              <a:rPr lang="en-US" sz="2800" b="1" i="1" dirty="0"/>
              <a:t>float / double</a:t>
            </a:r>
            <a:r>
              <a:rPr lang="en-US" sz="2800" dirty="0"/>
              <a:t> - stores floating point numbers, with decimals, such as 19.99 or -19.99</a:t>
            </a:r>
          </a:p>
          <a:p>
            <a:pPr lvl="1">
              <a:buFont typeface="Wingdings" panose="05000000000000000000" pitchFamily="2" charset="2"/>
              <a:buChar char="Ø"/>
            </a:pPr>
            <a:r>
              <a:rPr lang="en-US" sz="2800" b="1" i="1" dirty="0"/>
              <a:t>char</a:t>
            </a:r>
            <a:r>
              <a:rPr lang="en-US" sz="2800" dirty="0"/>
              <a:t> - stores single characters, such as 'a' or 'B'. Char values are surrounded by single quotes</a:t>
            </a:r>
          </a:p>
          <a:p>
            <a:pPr lvl="1">
              <a:buFont typeface="Wingdings" panose="05000000000000000000" pitchFamily="2" charset="2"/>
              <a:buChar char="Ø"/>
            </a:pPr>
            <a:r>
              <a:rPr lang="en-US" sz="2800" b="1" i="1" dirty="0"/>
              <a:t>string</a:t>
            </a:r>
            <a:r>
              <a:rPr lang="en-US" sz="2800" dirty="0"/>
              <a:t> - stores text, such as "Hello World". String values are surrounded by double quotes</a:t>
            </a:r>
          </a:p>
          <a:p>
            <a:pPr lvl="1">
              <a:buFont typeface="Wingdings" panose="05000000000000000000" pitchFamily="2" charset="2"/>
              <a:buChar char="Ø"/>
            </a:pPr>
            <a:r>
              <a:rPr lang="en-US" sz="2800" b="1" i="1" dirty="0"/>
              <a:t>bool</a:t>
            </a:r>
            <a:r>
              <a:rPr lang="en-US" sz="2800" dirty="0"/>
              <a:t> - stores values with two states: true or false</a:t>
            </a:r>
          </a:p>
        </p:txBody>
      </p:sp>
    </p:spTree>
    <p:extLst>
      <p:ext uri="{BB962C8B-B14F-4D97-AF65-F5344CB8AC3E}">
        <p14:creationId xmlns:p14="http://schemas.microsoft.com/office/powerpoint/2010/main" val="4154193539"/>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3218" y="886264"/>
            <a:ext cx="11535508" cy="5202458"/>
          </a:xfrm>
        </p:spPr>
        <p:txBody>
          <a:bodyPr/>
          <a:lstStyle/>
          <a:p>
            <a:pPr lvl="1" eaLnBrk="1" hangingPunct="1">
              <a:lnSpc>
                <a:spcPct val="90000"/>
              </a:lnSpc>
              <a:buFont typeface="Wingdings" panose="05000000000000000000" pitchFamily="2" charset="2"/>
              <a:buChar char="Ø"/>
            </a:pPr>
            <a:r>
              <a:rPr lang="en-US" sz="3600" dirty="0"/>
              <a:t>The type and identifier of a variable are established in its </a:t>
            </a:r>
            <a:r>
              <a:rPr lang="en-US" sz="3600" i="1" dirty="0"/>
              <a:t>declaration</a:t>
            </a:r>
            <a:r>
              <a:rPr lang="en-US" sz="3600" dirty="0"/>
              <a:t> in the following way: </a:t>
            </a:r>
          </a:p>
          <a:p>
            <a:pPr lvl="1" eaLnBrk="1" hangingPunct="1">
              <a:lnSpc>
                <a:spcPct val="90000"/>
              </a:lnSpc>
              <a:buNone/>
            </a:pPr>
            <a:r>
              <a:rPr lang="en-US" sz="3600" dirty="0"/>
              <a:t>			bool   flag;</a:t>
            </a:r>
          </a:p>
          <a:p>
            <a:pPr lvl="1" eaLnBrk="1" hangingPunct="1">
              <a:lnSpc>
                <a:spcPct val="90000"/>
              </a:lnSpc>
              <a:buNone/>
            </a:pPr>
            <a:r>
              <a:rPr lang="en-US" sz="3600" dirty="0"/>
              <a:t>			char   c;</a:t>
            </a:r>
          </a:p>
          <a:p>
            <a:pPr lvl="1" eaLnBrk="1" hangingPunct="1">
              <a:lnSpc>
                <a:spcPct val="90000"/>
              </a:lnSpc>
              <a:buNone/>
            </a:pPr>
            <a:r>
              <a:rPr lang="en-US" sz="3600" dirty="0"/>
              <a:t>			int    i;</a:t>
            </a:r>
          </a:p>
          <a:p>
            <a:pPr lvl="1" eaLnBrk="1" hangingPunct="1">
              <a:lnSpc>
                <a:spcPct val="90000"/>
              </a:lnSpc>
              <a:buNone/>
            </a:pPr>
            <a:r>
              <a:rPr lang="en-US" sz="3600" dirty="0"/>
              <a:t>			float  pi; </a:t>
            </a:r>
          </a:p>
          <a:p>
            <a:pPr marL="0" indent="0">
              <a:buNone/>
            </a:pPr>
            <a:endParaRPr lang="en-US" sz="4000" dirty="0"/>
          </a:p>
        </p:txBody>
      </p:sp>
    </p:spTree>
    <p:extLst>
      <p:ext uri="{BB962C8B-B14F-4D97-AF65-F5344CB8AC3E}">
        <p14:creationId xmlns:p14="http://schemas.microsoft.com/office/powerpoint/2010/main" val="1018131147"/>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647114" y="747917"/>
            <a:ext cx="10156874" cy="1322387"/>
          </a:xfrm>
        </p:spPr>
        <p:txBody>
          <a:bodyPr/>
          <a:lstStyle/>
          <a:p>
            <a:pPr algn="ctr" eaLnBrk="1" hangingPunct="1"/>
            <a:r>
              <a:rPr lang="en-US" sz="4000" b="1" dirty="0">
                <a:solidFill>
                  <a:srgbClr val="0070C0"/>
                </a:solidFill>
              </a:rPr>
              <a:t>Variables, Identifiers,</a:t>
            </a:r>
            <a:r>
              <a:rPr lang="en-US" sz="4000" dirty="0">
                <a:solidFill>
                  <a:srgbClr val="0070C0"/>
                </a:solidFill>
              </a:rPr>
              <a:t> </a:t>
            </a:r>
            <a:r>
              <a:rPr lang="en-US" sz="4000" b="1" dirty="0">
                <a:solidFill>
                  <a:srgbClr val="0070C0"/>
                </a:solidFill>
              </a:rPr>
              <a:t>Declarations, and Initialization</a:t>
            </a:r>
          </a:p>
        </p:txBody>
      </p:sp>
      <p:sp>
        <p:nvSpPr>
          <p:cNvPr id="20483" name="Rectangle 3"/>
          <p:cNvSpPr>
            <a:spLocks noGrp="1" noChangeArrowheads="1"/>
          </p:cNvSpPr>
          <p:nvPr>
            <p:ph type="body" idx="1"/>
          </p:nvPr>
        </p:nvSpPr>
        <p:spPr>
          <a:xfrm>
            <a:off x="379828" y="2070304"/>
            <a:ext cx="11507372" cy="4495800"/>
          </a:xfrm>
        </p:spPr>
        <p:txBody>
          <a:bodyPr anchor="t" anchorCtr="0"/>
          <a:lstStyle/>
          <a:p>
            <a:pPr lvl="1" eaLnBrk="1" hangingPunct="1">
              <a:lnSpc>
                <a:spcPct val="80000"/>
              </a:lnSpc>
            </a:pPr>
            <a:r>
              <a:rPr lang="en-US" sz="3200" b="1" i="1" dirty="0"/>
              <a:t>Initialization of variables </a:t>
            </a:r>
            <a:r>
              <a:rPr lang="en-US" sz="3200" b="1" dirty="0">
                <a:sym typeface="Wingdings" panose="05000000000000000000" pitchFamily="2" charset="2"/>
              </a:rPr>
              <a:t></a:t>
            </a:r>
            <a:r>
              <a:rPr lang="en-US" sz="3200" b="1" dirty="0"/>
              <a:t> </a:t>
            </a:r>
            <a:r>
              <a:rPr lang="en-US" sz="3200" dirty="0"/>
              <a:t>appending an equal sign followed by the value to which the variable will be initialized </a:t>
            </a:r>
          </a:p>
          <a:p>
            <a:pPr lvl="1" eaLnBrk="1" hangingPunct="1">
              <a:lnSpc>
                <a:spcPct val="80000"/>
              </a:lnSpc>
              <a:buFont typeface="Wingdings" pitchFamily="2" charset="2"/>
              <a:buNone/>
            </a:pPr>
            <a:r>
              <a:rPr lang="en-US" sz="3200" dirty="0"/>
              <a:t>	</a:t>
            </a:r>
            <a:r>
              <a:rPr lang="en-US" sz="3200" b="1" dirty="0"/>
              <a:t>Syntax:</a:t>
            </a:r>
          </a:p>
          <a:p>
            <a:pPr lvl="1" eaLnBrk="1" hangingPunct="1">
              <a:lnSpc>
                <a:spcPct val="80000"/>
              </a:lnSpc>
              <a:buFont typeface="Wingdings" pitchFamily="2" charset="2"/>
              <a:buNone/>
            </a:pPr>
            <a:r>
              <a:rPr lang="en-US" sz="3200" dirty="0"/>
              <a:t>			type identifier = initial_value ;</a:t>
            </a:r>
          </a:p>
          <a:p>
            <a:pPr lvl="1" eaLnBrk="1" hangingPunct="1">
              <a:lnSpc>
                <a:spcPct val="80000"/>
              </a:lnSpc>
            </a:pPr>
            <a:r>
              <a:rPr lang="en-US" sz="3200" b="1" dirty="0"/>
              <a:t>Constructor initialization </a:t>
            </a:r>
          </a:p>
          <a:p>
            <a:pPr lvl="1" eaLnBrk="1" hangingPunct="1">
              <a:lnSpc>
                <a:spcPct val="80000"/>
              </a:lnSpc>
              <a:buFont typeface="Wingdings" pitchFamily="2" charset="2"/>
              <a:buNone/>
            </a:pPr>
            <a:r>
              <a:rPr lang="en-US" sz="3200" b="1" dirty="0"/>
              <a:t>	Syntax:</a:t>
            </a:r>
          </a:p>
          <a:p>
            <a:pPr lvl="1" eaLnBrk="1" hangingPunct="1">
              <a:lnSpc>
                <a:spcPct val="80000"/>
              </a:lnSpc>
              <a:buFont typeface="Wingdings" pitchFamily="2" charset="2"/>
              <a:buNone/>
            </a:pPr>
            <a:r>
              <a:rPr lang="en-US" sz="3200" dirty="0"/>
              <a:t>			type identifier (initial_value) ;</a:t>
            </a:r>
          </a:p>
          <a:p>
            <a:pPr lvl="1" eaLnBrk="1" hangingPunct="1">
              <a:lnSpc>
                <a:spcPct val="80000"/>
              </a:lnSpc>
              <a:buFont typeface="Wingdings" pitchFamily="2" charset="2"/>
              <a:buNone/>
            </a:pPr>
            <a:r>
              <a:rPr lang="en-US" sz="3200" dirty="0"/>
              <a:t>	</a:t>
            </a:r>
          </a:p>
        </p:txBody>
      </p:sp>
    </p:spTree>
    <p:extLst>
      <p:ext uri="{BB962C8B-B14F-4D97-AF65-F5344CB8AC3E}">
        <p14:creationId xmlns:p14="http://schemas.microsoft.com/office/powerpoint/2010/main" val="407901519"/>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65759" y="887437"/>
            <a:ext cx="11029071" cy="5638800"/>
          </a:xfrm>
        </p:spPr>
        <p:txBody>
          <a:bodyPr/>
          <a:lstStyle/>
          <a:p>
            <a:pPr lvl="1" eaLnBrk="1" hangingPunct="1">
              <a:lnSpc>
                <a:spcPct val="80000"/>
              </a:lnSpc>
              <a:buNone/>
            </a:pPr>
            <a:r>
              <a:rPr lang="en-US" sz="3200" dirty="0"/>
              <a:t>Example:</a:t>
            </a:r>
          </a:p>
          <a:p>
            <a:pPr lvl="1" eaLnBrk="1" hangingPunct="1">
              <a:lnSpc>
                <a:spcPct val="80000"/>
              </a:lnSpc>
              <a:buNone/>
            </a:pPr>
            <a:r>
              <a:rPr lang="en-US" sz="3200" dirty="0"/>
              <a:t>		c  = 'A';</a:t>
            </a:r>
          </a:p>
          <a:p>
            <a:pPr lvl="1" eaLnBrk="1" hangingPunct="1">
              <a:lnSpc>
                <a:spcPct val="80000"/>
              </a:lnSpc>
              <a:buNone/>
            </a:pPr>
            <a:r>
              <a:rPr lang="en-US" sz="3200" dirty="0"/>
              <a:t>		i  = 12;</a:t>
            </a:r>
          </a:p>
          <a:p>
            <a:pPr lvl="1" eaLnBrk="1" hangingPunct="1">
              <a:lnSpc>
                <a:spcPct val="80000"/>
              </a:lnSpc>
              <a:buNone/>
            </a:pPr>
            <a:r>
              <a:rPr lang="en-US" sz="3200" dirty="0"/>
              <a:t>		pi = 3.14159; </a:t>
            </a:r>
          </a:p>
          <a:p>
            <a:pPr lvl="1" eaLnBrk="1" hangingPunct="1">
              <a:lnSpc>
                <a:spcPct val="80000"/>
              </a:lnSpc>
              <a:buNone/>
            </a:pPr>
            <a:r>
              <a:rPr lang="en-US" sz="3200" dirty="0"/>
              <a:t>		unsigned long int  num = 1234567890; </a:t>
            </a:r>
          </a:p>
          <a:p>
            <a:pPr lvl="1" eaLnBrk="1" hangingPunct="1">
              <a:lnSpc>
                <a:spcPct val="80000"/>
              </a:lnSpc>
              <a:buNone/>
            </a:pPr>
            <a:r>
              <a:rPr lang="en-US" sz="3200" dirty="0"/>
              <a:t>		float  x1(5.3678);  // initialize x1 to 5.3678; </a:t>
            </a:r>
          </a:p>
          <a:p>
            <a:pPr marL="0" indent="0">
              <a:buNone/>
            </a:pPr>
            <a:endParaRPr lang="en-US" sz="4000" dirty="0"/>
          </a:p>
        </p:txBody>
      </p:sp>
    </p:spTree>
    <p:extLst>
      <p:ext uri="{BB962C8B-B14F-4D97-AF65-F5344CB8AC3E}">
        <p14:creationId xmlns:p14="http://schemas.microsoft.com/office/powerpoint/2010/main" val="2057699483"/>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3"/>
          <p:cNvSpPr>
            <a:spLocks noGrp="1" noChangeArrowheads="1"/>
          </p:cNvSpPr>
          <p:nvPr>
            <p:ph type="body" idx="1"/>
          </p:nvPr>
        </p:nvSpPr>
        <p:spPr>
          <a:xfrm>
            <a:off x="281355" y="872198"/>
            <a:ext cx="11633980" cy="499402"/>
          </a:xfrm>
        </p:spPr>
        <p:txBody>
          <a:bodyPr/>
          <a:lstStyle/>
          <a:p>
            <a:pPr marL="457200" indent="-457200" eaLnBrk="1" hangingPunct="1">
              <a:lnSpc>
                <a:spcPct val="80000"/>
              </a:lnSpc>
              <a:buFont typeface="Wingdings" panose="05000000000000000000" pitchFamily="2" charset="2"/>
              <a:buChar char="Ø"/>
            </a:pPr>
            <a:r>
              <a:rPr lang="en-US" sz="2800" b="1" dirty="0"/>
              <a:t>The example of the C++ code</a:t>
            </a:r>
          </a:p>
        </p:txBody>
      </p:sp>
      <p:pic>
        <p:nvPicPr>
          <p:cNvPr id="2150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5057" y="1371600"/>
            <a:ext cx="7151471" cy="5226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15241553"/>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3"/>
          <p:cNvSpPr>
            <a:spLocks noGrp="1" noChangeArrowheads="1"/>
          </p:cNvSpPr>
          <p:nvPr>
            <p:ph type="body" idx="1"/>
          </p:nvPr>
        </p:nvSpPr>
        <p:spPr>
          <a:xfrm>
            <a:off x="874197" y="833924"/>
            <a:ext cx="8229600" cy="762000"/>
          </a:xfrm>
        </p:spPr>
        <p:txBody>
          <a:bodyPr/>
          <a:lstStyle/>
          <a:p>
            <a:pPr eaLnBrk="1" hangingPunct="1">
              <a:buFont typeface="Wingdings" panose="05000000000000000000" pitchFamily="2" charset="2"/>
              <a:buChar char="Ø"/>
            </a:pPr>
            <a:r>
              <a:rPr lang="en-US" b="1" dirty="0"/>
              <a:t>Another Example:</a:t>
            </a:r>
          </a:p>
        </p:txBody>
      </p:sp>
      <p:pic>
        <p:nvPicPr>
          <p:cNvPr id="22532"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071" y="1421112"/>
            <a:ext cx="11770531" cy="49618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68063758"/>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3"/>
          <p:cNvSpPr>
            <a:spLocks noGrp="1" noChangeArrowheads="1"/>
          </p:cNvSpPr>
          <p:nvPr>
            <p:ph type="body" idx="1"/>
          </p:nvPr>
        </p:nvSpPr>
        <p:spPr>
          <a:xfrm>
            <a:off x="327547" y="955343"/>
            <a:ext cx="11409528" cy="5636526"/>
          </a:xfrm>
        </p:spPr>
        <p:txBody>
          <a:bodyPr anchor="t"/>
          <a:lstStyle/>
          <a:p>
            <a:pPr marL="116082" indent="0" algn="ctr" eaLnBrk="1" hangingPunct="1">
              <a:lnSpc>
                <a:spcPct val="90000"/>
              </a:lnSpc>
              <a:buNone/>
            </a:pPr>
            <a:r>
              <a:rPr lang="en-US" sz="3600" b="1" dirty="0"/>
              <a:t>Scope of variables</a:t>
            </a:r>
          </a:p>
          <a:p>
            <a:pPr marL="116082" indent="0">
              <a:buNone/>
            </a:pPr>
            <a:r>
              <a:rPr lang="en-US" dirty="0"/>
              <a:t>A scope is a region of the program and broadly speaking there are three places, where variables can be declared:</a:t>
            </a:r>
          </a:p>
          <a:p>
            <a:pPr lvl="1">
              <a:buFont typeface="Wingdings" panose="05000000000000000000" pitchFamily="2" charset="2"/>
              <a:buChar char="Ø"/>
            </a:pPr>
            <a:r>
              <a:rPr lang="en-US" dirty="0"/>
              <a:t>Inside a function or a block which is called local variables,</a:t>
            </a:r>
          </a:p>
          <a:p>
            <a:pPr lvl="1">
              <a:buFont typeface="Wingdings" panose="05000000000000000000" pitchFamily="2" charset="2"/>
              <a:buChar char="Ø"/>
            </a:pPr>
            <a:r>
              <a:rPr lang="en-US" dirty="0"/>
              <a:t>In the definition of function parameters which is called formal parameters.</a:t>
            </a:r>
          </a:p>
          <a:p>
            <a:pPr lvl="1">
              <a:buFont typeface="Wingdings" panose="05000000000000000000" pitchFamily="2" charset="2"/>
              <a:buChar char="Ø"/>
            </a:pPr>
            <a:r>
              <a:rPr lang="en-US" dirty="0"/>
              <a:t>Outside of all functions which is called global variables.</a:t>
            </a:r>
          </a:p>
          <a:p>
            <a:pPr eaLnBrk="1" hangingPunct="1">
              <a:lnSpc>
                <a:spcPct val="90000"/>
              </a:lnSpc>
            </a:pPr>
            <a:r>
              <a:rPr lang="en-US" dirty="0"/>
              <a:t>We will learn what is a function and it's parameter in subsequent chapters. Here let us explain what are local and global variables.</a:t>
            </a:r>
            <a:endParaRPr lang="en-US" sz="3600" dirty="0"/>
          </a:p>
        </p:txBody>
      </p:sp>
    </p:spTree>
    <p:extLst>
      <p:ext uri="{BB962C8B-B14F-4D97-AF65-F5344CB8AC3E}">
        <p14:creationId xmlns:p14="http://schemas.microsoft.com/office/powerpoint/2010/main" val="394055078"/>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18207" y="900751"/>
            <a:ext cx="8691563" cy="572619"/>
          </a:xfrm>
        </p:spPr>
        <p:txBody>
          <a:bodyPr/>
          <a:lstStyle/>
          <a:p>
            <a:pPr algn="ctr"/>
            <a:r>
              <a:rPr lang="en-US"/>
              <a:t>Local Variables</a:t>
            </a:r>
            <a:endParaRPr lang="en-US" dirty="0"/>
          </a:p>
        </p:txBody>
      </p:sp>
      <p:sp>
        <p:nvSpPr>
          <p:cNvPr id="3" name="Content Placeholder 2"/>
          <p:cNvSpPr>
            <a:spLocks noGrp="1"/>
          </p:cNvSpPr>
          <p:nvPr>
            <p:ph idx="1"/>
          </p:nvPr>
        </p:nvSpPr>
        <p:spPr>
          <a:xfrm>
            <a:off x="232012" y="2033517"/>
            <a:ext cx="11627892" cy="4145828"/>
          </a:xfrm>
        </p:spPr>
        <p:txBody>
          <a:bodyPr anchor="t"/>
          <a:lstStyle/>
          <a:p>
            <a:r>
              <a:rPr lang="en-US" sz="3200" b="1" dirty="0"/>
              <a:t>Variables</a:t>
            </a:r>
            <a:r>
              <a:rPr lang="en-US" sz="3200" dirty="0"/>
              <a:t> that are declared inside a function or block are local variables. They can be used only by statements that are inside that function or block of code. </a:t>
            </a:r>
          </a:p>
          <a:p>
            <a:r>
              <a:rPr lang="en-US" sz="3200" dirty="0"/>
              <a:t>Local variables are not known to functions outside their own. Following is the example using local variables</a:t>
            </a:r>
          </a:p>
          <a:p>
            <a:endParaRPr lang="en-US" sz="3200" dirty="0"/>
          </a:p>
        </p:txBody>
      </p:sp>
    </p:spTree>
    <p:extLst>
      <p:ext uri="{BB962C8B-B14F-4D97-AF65-F5344CB8AC3E}">
        <p14:creationId xmlns:p14="http://schemas.microsoft.com/office/powerpoint/2010/main" val="181552574"/>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90625" y="955343"/>
            <a:ext cx="9810750" cy="5704764"/>
          </a:xfrm>
        </p:spPr>
        <p:txBody>
          <a:bodyPr anchor="t"/>
          <a:lstStyle/>
          <a:p>
            <a:pPr marL="116082" indent="0">
              <a:spcBef>
                <a:spcPts val="0"/>
              </a:spcBef>
              <a:buNone/>
            </a:pPr>
            <a:r>
              <a:rPr lang="en-US" sz="2800" dirty="0"/>
              <a:t>#include &lt;iostream&gt;</a:t>
            </a:r>
          </a:p>
          <a:p>
            <a:pPr marL="116082" indent="0">
              <a:spcBef>
                <a:spcPts val="0"/>
              </a:spcBef>
              <a:buNone/>
            </a:pPr>
            <a:r>
              <a:rPr lang="en-US" sz="2800" dirty="0"/>
              <a:t>using namespace std;</a:t>
            </a:r>
          </a:p>
          <a:p>
            <a:pPr marL="116082" indent="0">
              <a:spcBef>
                <a:spcPts val="0"/>
              </a:spcBef>
              <a:buNone/>
            </a:pPr>
            <a:r>
              <a:rPr lang="en-US" sz="2800" dirty="0"/>
              <a:t> int main ( ) {</a:t>
            </a:r>
          </a:p>
          <a:p>
            <a:pPr marL="804863" indent="0">
              <a:spcBef>
                <a:spcPts val="0"/>
              </a:spcBef>
              <a:buNone/>
            </a:pPr>
            <a:r>
              <a:rPr lang="en-US" sz="2800" dirty="0"/>
              <a:t>   // Local variable declaration:</a:t>
            </a:r>
          </a:p>
          <a:p>
            <a:pPr marL="804863" indent="0">
              <a:spcBef>
                <a:spcPts val="0"/>
              </a:spcBef>
              <a:buNone/>
            </a:pPr>
            <a:r>
              <a:rPr lang="en-US" sz="2800" dirty="0"/>
              <a:t>   int a, b;</a:t>
            </a:r>
          </a:p>
          <a:p>
            <a:pPr marL="804863" indent="0">
              <a:spcBef>
                <a:spcPts val="0"/>
              </a:spcBef>
              <a:buNone/>
            </a:pPr>
            <a:r>
              <a:rPr lang="en-US" sz="2800" dirty="0"/>
              <a:t>   int c;</a:t>
            </a:r>
          </a:p>
          <a:p>
            <a:pPr marL="804863" indent="0">
              <a:spcBef>
                <a:spcPts val="0"/>
              </a:spcBef>
              <a:buNone/>
            </a:pPr>
            <a:r>
              <a:rPr lang="en-US" sz="2800" dirty="0"/>
              <a:t>    // actual initialization</a:t>
            </a:r>
          </a:p>
          <a:p>
            <a:pPr marL="804863" indent="0">
              <a:spcBef>
                <a:spcPts val="0"/>
              </a:spcBef>
              <a:buNone/>
            </a:pPr>
            <a:r>
              <a:rPr lang="en-US" sz="2800" dirty="0"/>
              <a:t>   a = 10;</a:t>
            </a:r>
          </a:p>
          <a:p>
            <a:pPr marL="804863" indent="0">
              <a:spcBef>
                <a:spcPts val="0"/>
              </a:spcBef>
              <a:buNone/>
            </a:pPr>
            <a:r>
              <a:rPr lang="en-US" sz="2800" dirty="0"/>
              <a:t>   b = 20;</a:t>
            </a:r>
          </a:p>
          <a:p>
            <a:pPr marL="804863" indent="0">
              <a:spcBef>
                <a:spcPts val="0"/>
              </a:spcBef>
              <a:buNone/>
            </a:pPr>
            <a:r>
              <a:rPr lang="en-US" sz="2800" dirty="0"/>
              <a:t>   c = a + b;</a:t>
            </a:r>
          </a:p>
          <a:p>
            <a:pPr marL="804863" indent="0">
              <a:spcBef>
                <a:spcPts val="0"/>
              </a:spcBef>
              <a:buNone/>
            </a:pPr>
            <a:r>
              <a:rPr lang="en-US" sz="2800" dirty="0"/>
              <a:t>    cout &lt;&lt; c;</a:t>
            </a:r>
          </a:p>
          <a:p>
            <a:pPr marL="804863" indent="0">
              <a:spcBef>
                <a:spcPts val="0"/>
              </a:spcBef>
              <a:buNone/>
            </a:pPr>
            <a:r>
              <a:rPr lang="en-US" sz="2800" dirty="0"/>
              <a:t>    return 0;</a:t>
            </a:r>
          </a:p>
          <a:p>
            <a:pPr marL="116082" indent="0">
              <a:spcBef>
                <a:spcPts val="0"/>
              </a:spcBef>
              <a:buNone/>
            </a:pPr>
            <a:r>
              <a:rPr lang="en-US" sz="2800" dirty="0"/>
              <a:t>            }</a:t>
            </a:r>
          </a:p>
        </p:txBody>
      </p:sp>
    </p:spTree>
    <p:extLst>
      <p:ext uri="{BB962C8B-B14F-4D97-AF65-F5344CB8AC3E}">
        <p14:creationId xmlns:p14="http://schemas.microsoft.com/office/powerpoint/2010/main" val="296703335"/>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0218" y="868365"/>
            <a:ext cx="8691563" cy="728423"/>
          </a:xfrm>
        </p:spPr>
        <p:txBody>
          <a:bodyPr/>
          <a:lstStyle/>
          <a:p>
            <a:pPr algn="ctr"/>
            <a:r>
              <a:rPr lang="en-US"/>
              <a:t>Global Variables</a:t>
            </a:r>
            <a:endParaRPr lang="en-US" dirty="0"/>
          </a:p>
        </p:txBody>
      </p:sp>
      <p:sp>
        <p:nvSpPr>
          <p:cNvPr id="3" name="Content Placeholder 2"/>
          <p:cNvSpPr>
            <a:spLocks noGrp="1"/>
          </p:cNvSpPr>
          <p:nvPr>
            <p:ph idx="1"/>
          </p:nvPr>
        </p:nvSpPr>
        <p:spPr>
          <a:xfrm>
            <a:off x="354842" y="1869743"/>
            <a:ext cx="11614245" cy="4667535"/>
          </a:xfrm>
        </p:spPr>
        <p:txBody>
          <a:bodyPr anchor="t"/>
          <a:lstStyle/>
          <a:p>
            <a:r>
              <a:rPr lang="en-US" sz="3200" dirty="0"/>
              <a:t>Global variables are defined outside of all the functions, usually on top of the program. The global variables will hold their value throughout the life-time of your program.</a:t>
            </a:r>
          </a:p>
          <a:p>
            <a:r>
              <a:rPr lang="en-US" sz="3200" dirty="0"/>
              <a:t>A global variable can be accessed by any function. That is, a global variable is available for use throughout your entire program after its declaration. </a:t>
            </a:r>
          </a:p>
          <a:p>
            <a:r>
              <a:rPr lang="en-US" sz="3200" dirty="0"/>
              <a:t>Following is the example using global and local variables</a:t>
            </a:r>
          </a:p>
          <a:p>
            <a:endParaRPr lang="en-US" sz="3200" dirty="0"/>
          </a:p>
        </p:txBody>
      </p:sp>
    </p:spTree>
    <p:extLst>
      <p:ext uri="{BB962C8B-B14F-4D97-AF65-F5344CB8AC3E}">
        <p14:creationId xmlns:p14="http://schemas.microsoft.com/office/powerpoint/2010/main" val="2222268020"/>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60060" y="805218"/>
            <a:ext cx="9841315" cy="5868537"/>
          </a:xfrm>
        </p:spPr>
        <p:txBody>
          <a:bodyPr anchor="t"/>
          <a:lstStyle/>
          <a:p>
            <a:pPr marL="116082" indent="0">
              <a:spcBef>
                <a:spcPts val="0"/>
              </a:spcBef>
              <a:buNone/>
            </a:pPr>
            <a:r>
              <a:rPr lang="en-US" sz="2700" dirty="0"/>
              <a:t>#include &lt;iostream&gt;</a:t>
            </a:r>
          </a:p>
          <a:p>
            <a:pPr marL="116082" indent="0">
              <a:spcBef>
                <a:spcPts val="0"/>
              </a:spcBef>
              <a:buNone/>
            </a:pPr>
            <a:r>
              <a:rPr lang="en-US" sz="2700" dirty="0"/>
              <a:t>using namespace std;</a:t>
            </a:r>
          </a:p>
          <a:p>
            <a:pPr marL="116082" indent="0">
              <a:spcBef>
                <a:spcPts val="0"/>
              </a:spcBef>
              <a:buNone/>
            </a:pPr>
            <a:r>
              <a:rPr lang="en-US" sz="2700" dirty="0"/>
              <a:t>// Global variable declaration:</a:t>
            </a:r>
          </a:p>
          <a:p>
            <a:pPr marL="116082" indent="0">
              <a:spcBef>
                <a:spcPts val="0"/>
              </a:spcBef>
              <a:buNone/>
            </a:pPr>
            <a:r>
              <a:rPr lang="en-US" sz="2700" dirty="0"/>
              <a:t>int g;</a:t>
            </a:r>
          </a:p>
          <a:p>
            <a:pPr marL="116082" indent="0">
              <a:spcBef>
                <a:spcPts val="0"/>
              </a:spcBef>
              <a:buNone/>
            </a:pPr>
            <a:r>
              <a:rPr lang="en-US" sz="2700" dirty="0"/>
              <a:t> int main ( ) {</a:t>
            </a:r>
          </a:p>
          <a:p>
            <a:pPr marL="804863" indent="0">
              <a:spcBef>
                <a:spcPts val="0"/>
              </a:spcBef>
              <a:buNone/>
            </a:pPr>
            <a:r>
              <a:rPr lang="en-US" sz="2700" dirty="0"/>
              <a:t>   // Local variable declaration:</a:t>
            </a:r>
          </a:p>
          <a:p>
            <a:pPr marL="804863" indent="0">
              <a:spcBef>
                <a:spcPts val="0"/>
              </a:spcBef>
              <a:buNone/>
            </a:pPr>
            <a:r>
              <a:rPr lang="en-US" sz="2700" dirty="0"/>
              <a:t>   int a, b;</a:t>
            </a:r>
          </a:p>
          <a:p>
            <a:pPr marL="804863" indent="0">
              <a:spcBef>
                <a:spcPts val="0"/>
              </a:spcBef>
              <a:buNone/>
            </a:pPr>
            <a:r>
              <a:rPr lang="en-US" sz="2700" dirty="0"/>
              <a:t>    // actual initialization</a:t>
            </a:r>
          </a:p>
          <a:p>
            <a:pPr marL="804863" indent="0">
              <a:spcBef>
                <a:spcPts val="0"/>
              </a:spcBef>
              <a:buNone/>
            </a:pPr>
            <a:r>
              <a:rPr lang="en-US" sz="2700" dirty="0"/>
              <a:t>     a = 10;</a:t>
            </a:r>
          </a:p>
          <a:p>
            <a:pPr marL="804863" indent="0">
              <a:spcBef>
                <a:spcPts val="0"/>
              </a:spcBef>
              <a:buNone/>
            </a:pPr>
            <a:r>
              <a:rPr lang="en-US" sz="2700" dirty="0"/>
              <a:t>     b = 20;</a:t>
            </a:r>
          </a:p>
          <a:p>
            <a:pPr marL="804863" indent="0">
              <a:spcBef>
                <a:spcPts val="0"/>
              </a:spcBef>
              <a:buNone/>
            </a:pPr>
            <a:r>
              <a:rPr lang="en-US" sz="2700" dirty="0"/>
              <a:t>     g = a + b;</a:t>
            </a:r>
          </a:p>
          <a:p>
            <a:pPr marL="804863" indent="0">
              <a:spcBef>
                <a:spcPts val="0"/>
              </a:spcBef>
              <a:buNone/>
            </a:pPr>
            <a:r>
              <a:rPr lang="en-US" sz="2700" dirty="0"/>
              <a:t>     cout &lt;&lt; g;</a:t>
            </a:r>
          </a:p>
          <a:p>
            <a:pPr marL="804863" indent="0">
              <a:spcBef>
                <a:spcPts val="0"/>
              </a:spcBef>
              <a:buNone/>
            </a:pPr>
            <a:r>
              <a:rPr lang="en-US" sz="2700" dirty="0"/>
              <a:t>    return 0;</a:t>
            </a:r>
          </a:p>
          <a:p>
            <a:pPr marL="116082" indent="0">
              <a:spcBef>
                <a:spcPts val="0"/>
              </a:spcBef>
              <a:buNone/>
            </a:pPr>
            <a:r>
              <a:rPr lang="en-US" sz="2700" dirty="0"/>
              <a:t>          }</a:t>
            </a:r>
          </a:p>
        </p:txBody>
      </p:sp>
    </p:spTree>
    <p:extLst>
      <p:ext uri="{BB962C8B-B14F-4D97-AF65-F5344CB8AC3E}">
        <p14:creationId xmlns:p14="http://schemas.microsoft.com/office/powerpoint/2010/main" val="4108832607"/>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1659988" y="904998"/>
            <a:ext cx="8229600" cy="712787"/>
          </a:xfrm>
        </p:spPr>
        <p:txBody>
          <a:bodyPr/>
          <a:lstStyle/>
          <a:p>
            <a:pPr eaLnBrk="1" hangingPunct="1"/>
            <a:r>
              <a:rPr lang="en-US" b="1" dirty="0">
                <a:solidFill>
                  <a:srgbClr val="0070C0"/>
                </a:solidFill>
                <a:latin typeface="Times New Roman" panose="02020603050405020304" pitchFamily="18" charset="0"/>
                <a:cs typeface="Times New Roman" panose="02020603050405020304" pitchFamily="18" charset="0"/>
              </a:rPr>
              <a:t>Constants</a:t>
            </a:r>
            <a:r>
              <a:rPr lang="en-US" dirty="0">
                <a:solidFill>
                  <a:srgbClr val="0070C0"/>
                </a:solidFill>
                <a:latin typeface="Times New Roman" panose="02020603050405020304" pitchFamily="18" charset="0"/>
                <a:cs typeface="Times New Roman" panose="02020603050405020304" pitchFamily="18" charset="0"/>
              </a:rPr>
              <a:t> </a:t>
            </a:r>
          </a:p>
        </p:txBody>
      </p:sp>
      <p:sp>
        <p:nvSpPr>
          <p:cNvPr id="25603" name="Rectangle 3"/>
          <p:cNvSpPr>
            <a:spLocks noGrp="1" noChangeArrowheads="1"/>
          </p:cNvSpPr>
          <p:nvPr>
            <p:ph type="body" idx="1"/>
          </p:nvPr>
        </p:nvSpPr>
        <p:spPr>
          <a:xfrm>
            <a:off x="239151" y="1505243"/>
            <a:ext cx="11662117" cy="5089917"/>
          </a:xfrm>
        </p:spPr>
        <p:txBody>
          <a:bodyPr anchor="t" anchorCtr="0"/>
          <a:lstStyle/>
          <a:p>
            <a:pPr eaLnBrk="1" hangingPunct="1">
              <a:buFont typeface="Wingdings" panose="05000000000000000000" pitchFamily="2" charset="2"/>
              <a:buChar char="Ø"/>
            </a:pPr>
            <a:r>
              <a:rPr lang="en-US" sz="3200" dirty="0">
                <a:latin typeface="Times New Roman" panose="02020603050405020304" pitchFamily="18" charset="0"/>
                <a:cs typeface="Times New Roman" panose="02020603050405020304" pitchFamily="18" charset="0"/>
              </a:rPr>
              <a:t>Constants are expressions with a fixed value </a:t>
            </a:r>
          </a:p>
          <a:p>
            <a:pPr lvl="2" eaLnBrk="1" hangingPunct="1"/>
            <a:r>
              <a:rPr lang="en-US" sz="3200" b="1" i="1" dirty="0">
                <a:latin typeface="Times New Roman" panose="02020603050405020304" pitchFamily="18" charset="0"/>
                <a:cs typeface="Times New Roman" panose="02020603050405020304" pitchFamily="18" charset="0"/>
              </a:rPr>
              <a:t>Literals</a:t>
            </a:r>
            <a:r>
              <a:rPr lang="en-US" sz="3200" dirty="0">
                <a:latin typeface="Times New Roman" panose="02020603050405020304" pitchFamily="18" charset="0"/>
                <a:cs typeface="Times New Roman" panose="02020603050405020304" pitchFamily="18" charset="0"/>
              </a:rPr>
              <a:t> - are used to express particular values within the source code of a program. </a:t>
            </a:r>
          </a:p>
          <a:p>
            <a:pPr lvl="2" eaLnBrk="1" hangingPunct="1">
              <a:buFont typeface="Wingdings" pitchFamily="2" charset="2"/>
              <a:buNone/>
            </a:pPr>
            <a:r>
              <a:rPr lang="en-US" sz="3200" dirty="0">
                <a:latin typeface="Times New Roman" panose="02020603050405020304" pitchFamily="18" charset="0"/>
                <a:cs typeface="Times New Roman" panose="02020603050405020304" pitchFamily="18" charset="0"/>
              </a:rPr>
              <a:t>	Literal constants can be divided: </a:t>
            </a:r>
          </a:p>
          <a:p>
            <a:pPr lvl="3" eaLnBrk="1" hangingPunct="1"/>
            <a:r>
              <a:rPr lang="en-US" sz="3200" dirty="0">
                <a:latin typeface="Times New Roman" panose="02020603050405020304" pitchFamily="18" charset="0"/>
                <a:cs typeface="Times New Roman" panose="02020603050405020304" pitchFamily="18" charset="0"/>
              </a:rPr>
              <a:t>Integer Numerals</a:t>
            </a:r>
          </a:p>
          <a:p>
            <a:pPr lvl="3" eaLnBrk="1" hangingPunct="1"/>
            <a:r>
              <a:rPr lang="en-US" sz="3200" dirty="0">
                <a:latin typeface="Times New Roman" panose="02020603050405020304" pitchFamily="18" charset="0"/>
                <a:cs typeface="Times New Roman" panose="02020603050405020304" pitchFamily="18" charset="0"/>
              </a:rPr>
              <a:t>Floating Point Numbers </a:t>
            </a:r>
          </a:p>
          <a:p>
            <a:pPr lvl="3" eaLnBrk="1" hangingPunct="1"/>
            <a:r>
              <a:rPr lang="en-US" sz="3200" dirty="0">
                <a:latin typeface="Times New Roman" panose="02020603050405020304" pitchFamily="18" charset="0"/>
                <a:cs typeface="Times New Roman" panose="02020603050405020304" pitchFamily="18" charset="0"/>
              </a:rPr>
              <a:t>Character and string literals</a:t>
            </a:r>
          </a:p>
          <a:p>
            <a:pPr lvl="3" eaLnBrk="1" hangingPunct="1"/>
            <a:r>
              <a:rPr lang="en-US" sz="3200" dirty="0">
                <a:latin typeface="Times New Roman" panose="02020603050405020304" pitchFamily="18" charset="0"/>
                <a:cs typeface="Times New Roman" panose="02020603050405020304" pitchFamily="18" charset="0"/>
              </a:rPr>
              <a:t>Boolean literals </a:t>
            </a:r>
          </a:p>
          <a:p>
            <a:pPr lvl="2" eaLnBrk="1" hangingPunct="1"/>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60726902"/>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3"/>
          <p:cNvSpPr>
            <a:spLocks noGrp="1" noChangeArrowheads="1"/>
          </p:cNvSpPr>
          <p:nvPr>
            <p:ph type="body" idx="1"/>
          </p:nvPr>
        </p:nvSpPr>
        <p:spPr>
          <a:xfrm>
            <a:off x="351691" y="914401"/>
            <a:ext cx="11479237" cy="5655212"/>
          </a:xfrm>
        </p:spPr>
        <p:txBody>
          <a:bodyPr anchor="t" anchorCtr="0"/>
          <a:lstStyle/>
          <a:p>
            <a:pPr marL="338138" indent="-338138" eaLnBrk="1" hangingPunct="1">
              <a:buFont typeface="Wingdings" panose="05000000000000000000" pitchFamily="2" charset="2"/>
              <a:buChar char="Ø"/>
            </a:pPr>
            <a:r>
              <a:rPr lang="en-US" sz="3200" b="1" dirty="0"/>
              <a:t>Integer Numerals </a:t>
            </a:r>
            <a:r>
              <a:rPr lang="en-US" sz="3200" dirty="0"/>
              <a:t>– are numerical constants that identify integer decimal values. </a:t>
            </a:r>
          </a:p>
          <a:p>
            <a:pPr lvl="1" eaLnBrk="1" hangingPunct="1"/>
            <a:r>
              <a:rPr lang="en-US" sz="3200" dirty="0"/>
              <a:t>We can force them to either be unsigned by appending the u character to it, or long by appending l:</a:t>
            </a:r>
          </a:p>
          <a:p>
            <a:pPr lvl="1" eaLnBrk="1" hangingPunct="1">
              <a:buFont typeface="Wingdings" pitchFamily="2" charset="2"/>
              <a:buNone/>
            </a:pPr>
            <a:r>
              <a:rPr lang="en-US" sz="3200" dirty="0"/>
              <a:t>	Ex.</a:t>
            </a:r>
          </a:p>
          <a:p>
            <a:pPr lvl="1" eaLnBrk="1" hangingPunct="1">
              <a:buFont typeface="Wingdings" pitchFamily="2" charset="2"/>
              <a:buNone/>
            </a:pPr>
            <a:r>
              <a:rPr lang="en-US" sz="3200" dirty="0"/>
              <a:t>	 		75 	// int </a:t>
            </a:r>
          </a:p>
          <a:p>
            <a:pPr lvl="1" eaLnBrk="1" hangingPunct="1">
              <a:buFont typeface="Wingdings" pitchFamily="2" charset="2"/>
              <a:buNone/>
            </a:pPr>
            <a:r>
              <a:rPr lang="en-US" sz="3200" dirty="0"/>
              <a:t>			75u 	// unsigned int </a:t>
            </a:r>
          </a:p>
          <a:p>
            <a:pPr lvl="1" eaLnBrk="1" hangingPunct="1">
              <a:buFont typeface="Wingdings" pitchFamily="2" charset="2"/>
              <a:buNone/>
            </a:pPr>
            <a:r>
              <a:rPr lang="en-US" sz="3200" dirty="0"/>
              <a:t>			75l 	// long </a:t>
            </a:r>
          </a:p>
          <a:p>
            <a:pPr lvl="1" eaLnBrk="1" hangingPunct="1">
              <a:buFont typeface="Wingdings" pitchFamily="2" charset="2"/>
              <a:buNone/>
            </a:pPr>
            <a:r>
              <a:rPr lang="en-US" sz="3200" dirty="0"/>
              <a:t>			75ul 	// unsigned long </a:t>
            </a:r>
          </a:p>
          <a:p>
            <a:pPr eaLnBrk="1" hangingPunct="1"/>
            <a:endParaRPr lang="en-US" sz="3200" dirty="0"/>
          </a:p>
          <a:p>
            <a:pPr eaLnBrk="1" hangingPunct="1"/>
            <a:endParaRPr lang="en-US" sz="3200" dirty="0"/>
          </a:p>
          <a:p>
            <a:pPr lvl="3" eaLnBrk="1" hangingPunct="1"/>
            <a:endParaRPr lang="en-US" sz="3200" dirty="0"/>
          </a:p>
          <a:p>
            <a:pPr lvl="2" eaLnBrk="1" hangingPunct="1"/>
            <a:endParaRPr lang="en-US" sz="3200" dirty="0"/>
          </a:p>
        </p:txBody>
      </p:sp>
    </p:spTree>
    <p:extLst>
      <p:ext uri="{BB962C8B-B14F-4D97-AF65-F5344CB8AC3E}">
        <p14:creationId xmlns:p14="http://schemas.microsoft.com/office/powerpoint/2010/main" val="2109196163"/>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3"/>
          <p:cNvSpPr>
            <a:spLocks noGrp="1" noChangeArrowheads="1"/>
          </p:cNvSpPr>
          <p:nvPr>
            <p:ph type="body" idx="1"/>
          </p:nvPr>
        </p:nvSpPr>
        <p:spPr>
          <a:xfrm>
            <a:off x="365760" y="1066801"/>
            <a:ext cx="11605846" cy="5064125"/>
          </a:xfrm>
        </p:spPr>
        <p:txBody>
          <a:bodyPr/>
          <a:lstStyle/>
          <a:p>
            <a:pPr marL="280988" indent="-280988" eaLnBrk="1" hangingPunct="1">
              <a:buFont typeface="Wingdings" panose="05000000000000000000" pitchFamily="2" charset="2"/>
              <a:buChar char="Ø"/>
            </a:pPr>
            <a:r>
              <a:rPr lang="en-US" sz="3200" b="1" dirty="0"/>
              <a:t>Floating Point Numbers </a:t>
            </a:r>
          </a:p>
          <a:p>
            <a:pPr lvl="1" eaLnBrk="1" hangingPunct="1"/>
            <a:r>
              <a:rPr lang="en-US" sz="3200" b="1" dirty="0"/>
              <a:t>They express numbers with decimals and/or exponents. </a:t>
            </a:r>
          </a:p>
          <a:p>
            <a:pPr eaLnBrk="1" hangingPunct="1">
              <a:buFont typeface="Wingdings" pitchFamily="2" charset="2"/>
              <a:buNone/>
            </a:pPr>
            <a:r>
              <a:rPr lang="en-US" sz="3200" dirty="0"/>
              <a:t>		Examples:</a:t>
            </a:r>
          </a:p>
          <a:p>
            <a:pPr eaLnBrk="1" hangingPunct="1">
              <a:buFont typeface="Wingdings" pitchFamily="2" charset="2"/>
              <a:buNone/>
            </a:pPr>
            <a:r>
              <a:rPr lang="en-US" sz="3200" b="1" dirty="0"/>
              <a:t>		3.14159 	// 3.14159 </a:t>
            </a:r>
          </a:p>
          <a:p>
            <a:pPr eaLnBrk="1" hangingPunct="1">
              <a:buFont typeface="Wingdings" pitchFamily="2" charset="2"/>
              <a:buNone/>
            </a:pPr>
            <a:r>
              <a:rPr lang="en-US" sz="3200" b="1" dirty="0"/>
              <a:t>		6.02e23 	// 6.02 x 10^23 </a:t>
            </a:r>
          </a:p>
          <a:p>
            <a:pPr eaLnBrk="1" hangingPunct="1">
              <a:buFont typeface="Wingdings" pitchFamily="2" charset="2"/>
              <a:buNone/>
            </a:pPr>
            <a:r>
              <a:rPr lang="en-US" sz="3200" b="1" dirty="0"/>
              <a:t>		1.6e-19 	// 1.6 x 10^-19 </a:t>
            </a:r>
          </a:p>
          <a:p>
            <a:pPr eaLnBrk="1" hangingPunct="1">
              <a:buFont typeface="Wingdings" pitchFamily="2" charset="2"/>
              <a:buNone/>
            </a:pPr>
            <a:r>
              <a:rPr lang="en-US" sz="3200" b="1" dirty="0"/>
              <a:t>		3.0 		// 3.0 </a:t>
            </a:r>
          </a:p>
        </p:txBody>
      </p:sp>
    </p:spTree>
    <p:extLst>
      <p:ext uri="{BB962C8B-B14F-4D97-AF65-F5344CB8AC3E}">
        <p14:creationId xmlns:p14="http://schemas.microsoft.com/office/powerpoint/2010/main" val="1013596533"/>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3"/>
          <p:cNvSpPr>
            <a:spLocks noGrp="1" noChangeArrowheads="1"/>
          </p:cNvSpPr>
          <p:nvPr>
            <p:ph type="body" idx="1"/>
          </p:nvPr>
        </p:nvSpPr>
        <p:spPr>
          <a:xfrm>
            <a:off x="436099" y="886265"/>
            <a:ext cx="11352628" cy="5683347"/>
          </a:xfrm>
        </p:spPr>
        <p:txBody>
          <a:bodyPr anchor="t" anchorCtr="0"/>
          <a:lstStyle/>
          <a:p>
            <a:pPr marL="338138" indent="-338138" eaLnBrk="1" hangingPunct="1">
              <a:buFont typeface="Wingdings" panose="05000000000000000000" pitchFamily="2" charset="2"/>
              <a:buChar char="Ø"/>
            </a:pPr>
            <a:r>
              <a:rPr lang="en-US" sz="3200" b="1" dirty="0">
                <a:latin typeface="Times New Roman" panose="02020603050405020304" pitchFamily="18" charset="0"/>
                <a:cs typeface="Times New Roman" panose="02020603050405020304" pitchFamily="18" charset="0"/>
              </a:rPr>
              <a:t>Character and string literals</a:t>
            </a:r>
            <a:r>
              <a:rPr lang="en-US" sz="3200" dirty="0">
                <a:latin typeface="Times New Roman" panose="02020603050405020304" pitchFamily="18" charset="0"/>
                <a:cs typeface="Times New Roman" panose="02020603050405020304" pitchFamily="18" charset="0"/>
              </a:rPr>
              <a:t> - non-numerical constants </a:t>
            </a:r>
          </a:p>
          <a:p>
            <a:pPr eaLnBrk="1" hangingPunct="1">
              <a:buFont typeface="Wingdings" pitchFamily="2" charset="2"/>
              <a:buNone/>
            </a:pPr>
            <a:r>
              <a:rPr lang="en-US" sz="3200" b="1" dirty="0">
                <a:latin typeface="Times New Roman" panose="02020603050405020304" pitchFamily="18" charset="0"/>
                <a:cs typeface="Times New Roman" panose="02020603050405020304" pitchFamily="18" charset="0"/>
              </a:rPr>
              <a:t>	Examples:</a:t>
            </a:r>
          </a:p>
          <a:p>
            <a:pPr eaLnBrk="1" hangingPunct="1">
              <a:buFont typeface="Wingdings" pitchFamily="2" charset="2"/>
              <a:buNone/>
            </a:pPr>
            <a:r>
              <a:rPr lang="en-US" sz="3200" dirty="0">
                <a:latin typeface="Times New Roman" panose="02020603050405020304" pitchFamily="18" charset="0"/>
                <a:cs typeface="Times New Roman" panose="02020603050405020304" pitchFamily="18" charset="0"/>
              </a:rPr>
              <a:t>		'z' </a:t>
            </a:r>
          </a:p>
          <a:p>
            <a:pPr eaLnBrk="1" hangingPunct="1">
              <a:buFont typeface="Wingdings" pitchFamily="2" charset="2"/>
              <a:buNone/>
            </a:pPr>
            <a:r>
              <a:rPr lang="en-US" sz="3200" dirty="0">
                <a:latin typeface="Times New Roman" panose="02020603050405020304" pitchFamily="18" charset="0"/>
                <a:cs typeface="Times New Roman" panose="02020603050405020304" pitchFamily="18" charset="0"/>
              </a:rPr>
              <a:t>		'p' </a:t>
            </a:r>
          </a:p>
          <a:p>
            <a:pPr eaLnBrk="1" hangingPunct="1">
              <a:buFont typeface="Wingdings" pitchFamily="2" charset="2"/>
              <a:buNone/>
            </a:pPr>
            <a:r>
              <a:rPr lang="en-US" sz="3200" dirty="0">
                <a:latin typeface="Times New Roman" panose="02020603050405020304" pitchFamily="18" charset="0"/>
                <a:cs typeface="Times New Roman" panose="02020603050405020304" pitchFamily="18" charset="0"/>
              </a:rPr>
              <a:t>		"Hello world" </a:t>
            </a:r>
          </a:p>
          <a:p>
            <a:pPr eaLnBrk="1" hangingPunct="1">
              <a:buFont typeface="Wingdings" pitchFamily="2" charset="2"/>
              <a:buNone/>
            </a:pPr>
            <a:r>
              <a:rPr lang="en-US" sz="3200" dirty="0">
                <a:latin typeface="Times New Roman" panose="02020603050405020304" pitchFamily="18" charset="0"/>
                <a:cs typeface="Times New Roman" panose="02020603050405020304" pitchFamily="18" charset="0"/>
              </a:rPr>
              <a:t>		"How do you do?" </a:t>
            </a:r>
          </a:p>
          <a:p>
            <a:pPr eaLnBrk="1" hangingPunct="1">
              <a:buFont typeface="Wingdings" panose="05000000000000000000" pitchFamily="2" charset="2"/>
              <a:buChar char="Ø"/>
            </a:pPr>
            <a:r>
              <a:rPr lang="en-US" sz="3200" b="1" dirty="0">
                <a:latin typeface="Times New Roman" panose="02020603050405020304" pitchFamily="18" charset="0"/>
                <a:cs typeface="Times New Roman" panose="02020603050405020304" pitchFamily="18" charset="0"/>
              </a:rPr>
              <a:t>Boolean literals</a:t>
            </a:r>
          </a:p>
          <a:p>
            <a:pPr eaLnBrk="1" hangingPunct="1"/>
            <a:r>
              <a:rPr lang="en-US" sz="3200" dirty="0">
                <a:latin typeface="Times New Roman" panose="02020603050405020304" pitchFamily="18" charset="0"/>
                <a:cs typeface="Times New Roman" panose="02020603050405020304" pitchFamily="18" charset="0"/>
              </a:rPr>
              <a:t> There are only two valid Boolean values: true and false. </a:t>
            </a:r>
          </a:p>
          <a:p>
            <a:pPr eaLnBrk="1" hangingPunct="1">
              <a:buFont typeface="Wingdings" pitchFamily="2" charset="2"/>
              <a:buNone/>
            </a:pPr>
            <a:endParaRPr lang="en-US" sz="3200" dirty="0">
              <a:latin typeface="Times New Roman" panose="02020603050405020304" pitchFamily="18" charset="0"/>
              <a:cs typeface="Times New Roman" panose="02020603050405020304" pitchFamily="18" charset="0"/>
            </a:endParaRPr>
          </a:p>
          <a:p>
            <a:pPr eaLnBrk="1" hangingPunct="1">
              <a:buFont typeface="Wingdings" pitchFamily="2" charset="2"/>
              <a:buNone/>
            </a:pP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34233835"/>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1334086" y="900907"/>
            <a:ext cx="8229600" cy="788987"/>
          </a:xfrm>
        </p:spPr>
        <p:txBody>
          <a:bodyPr/>
          <a:lstStyle/>
          <a:p>
            <a:pPr eaLnBrk="1" hangingPunct="1"/>
            <a:r>
              <a:rPr lang="en-US" b="1" dirty="0"/>
              <a:t>Defined constants (#define)</a:t>
            </a:r>
            <a:r>
              <a:rPr lang="en-US" dirty="0"/>
              <a:t> </a:t>
            </a:r>
          </a:p>
        </p:txBody>
      </p:sp>
      <p:sp>
        <p:nvSpPr>
          <p:cNvPr id="32771" name="Rectangle 3"/>
          <p:cNvSpPr>
            <a:spLocks noGrp="1" noChangeArrowheads="1"/>
          </p:cNvSpPr>
          <p:nvPr>
            <p:ph type="body" idx="1"/>
          </p:nvPr>
        </p:nvSpPr>
        <p:spPr>
          <a:xfrm>
            <a:off x="1334086" y="1871003"/>
            <a:ext cx="8458200" cy="4203652"/>
          </a:xfrm>
        </p:spPr>
        <p:txBody>
          <a:bodyPr/>
          <a:lstStyle/>
          <a:p>
            <a:pPr eaLnBrk="1" hangingPunct="1">
              <a:buFont typeface="Wingdings" pitchFamily="2" charset="2"/>
              <a:buNone/>
            </a:pPr>
            <a:r>
              <a:rPr lang="en-US" sz="3200" dirty="0"/>
              <a:t>Its format is: </a:t>
            </a:r>
          </a:p>
          <a:p>
            <a:pPr eaLnBrk="1" hangingPunct="1">
              <a:buFont typeface="Wingdings" pitchFamily="2" charset="2"/>
              <a:buNone/>
            </a:pPr>
            <a:r>
              <a:rPr lang="en-US" sz="3200" b="1" dirty="0"/>
              <a:t>		#define identifier value </a:t>
            </a:r>
          </a:p>
          <a:p>
            <a:pPr eaLnBrk="1" hangingPunct="1">
              <a:buFont typeface="Wingdings" pitchFamily="2" charset="2"/>
              <a:buNone/>
            </a:pPr>
            <a:r>
              <a:rPr lang="en-US" sz="3200" dirty="0"/>
              <a:t>For example: </a:t>
            </a:r>
            <a:endParaRPr lang="en-US" sz="3200" b="1" dirty="0"/>
          </a:p>
          <a:p>
            <a:pPr eaLnBrk="1" hangingPunct="1">
              <a:buFont typeface="Wingdings" pitchFamily="2" charset="2"/>
              <a:buNone/>
            </a:pPr>
            <a:r>
              <a:rPr lang="en-US" sz="3200" b="1" dirty="0"/>
              <a:t>		#define PI 3.14159265 </a:t>
            </a:r>
          </a:p>
          <a:p>
            <a:pPr eaLnBrk="1" hangingPunct="1">
              <a:buFont typeface="Wingdings" pitchFamily="2" charset="2"/>
              <a:buNone/>
            </a:pPr>
            <a:r>
              <a:rPr lang="en-US" sz="3200" b="1" dirty="0"/>
              <a:t>		#define NEWLINE '\n'</a:t>
            </a:r>
            <a:r>
              <a:rPr lang="en-US" sz="3200" dirty="0"/>
              <a:t> </a:t>
            </a:r>
          </a:p>
        </p:txBody>
      </p:sp>
    </p:spTree>
    <p:extLst>
      <p:ext uri="{BB962C8B-B14F-4D97-AF65-F5344CB8AC3E}">
        <p14:creationId xmlns:p14="http://schemas.microsoft.com/office/powerpoint/2010/main" val="3285323570"/>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Rectangle 3"/>
          <p:cNvSpPr>
            <a:spLocks noGrp="1" noChangeArrowheads="1"/>
          </p:cNvSpPr>
          <p:nvPr>
            <p:ph type="body" idx="1"/>
          </p:nvPr>
        </p:nvSpPr>
        <p:spPr>
          <a:xfrm>
            <a:off x="1828800" y="990600"/>
            <a:ext cx="8229600" cy="609600"/>
          </a:xfrm>
        </p:spPr>
        <p:txBody>
          <a:bodyPr/>
          <a:lstStyle/>
          <a:p>
            <a:pPr eaLnBrk="1" hangingPunct="1"/>
            <a:r>
              <a:rPr lang="en-US" dirty="0"/>
              <a:t>For example:</a:t>
            </a:r>
          </a:p>
        </p:txBody>
      </p:sp>
      <p:pic>
        <p:nvPicPr>
          <p:cNvPr id="3379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7399" y="1600200"/>
            <a:ext cx="8259385" cy="449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53145982"/>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1727981" y="924928"/>
            <a:ext cx="8229600" cy="865187"/>
          </a:xfrm>
        </p:spPr>
        <p:txBody>
          <a:bodyPr/>
          <a:lstStyle/>
          <a:p>
            <a:pPr eaLnBrk="1" hangingPunct="1"/>
            <a:r>
              <a:rPr lang="en-US" b="1" dirty="0"/>
              <a:t>Declared constants (const)</a:t>
            </a:r>
          </a:p>
        </p:txBody>
      </p:sp>
      <p:sp>
        <p:nvSpPr>
          <p:cNvPr id="34819" name="Rectangle 3"/>
          <p:cNvSpPr>
            <a:spLocks noGrp="1" noChangeArrowheads="1"/>
          </p:cNvSpPr>
          <p:nvPr>
            <p:ph type="body" idx="1"/>
          </p:nvPr>
        </p:nvSpPr>
        <p:spPr>
          <a:xfrm>
            <a:off x="379829" y="1790115"/>
            <a:ext cx="11479236" cy="4779497"/>
          </a:xfrm>
        </p:spPr>
        <p:txBody>
          <a:bodyPr/>
          <a:lstStyle/>
          <a:p>
            <a:pPr eaLnBrk="1" hangingPunct="1"/>
            <a:r>
              <a:rPr lang="en-US" sz="3200" dirty="0">
                <a:latin typeface="Times New Roman" panose="02020603050405020304" pitchFamily="18" charset="0"/>
                <a:cs typeface="Times New Roman" panose="02020603050405020304" pitchFamily="18" charset="0"/>
              </a:rPr>
              <a:t>With the </a:t>
            </a:r>
            <a:r>
              <a:rPr lang="en-US" sz="3200" b="1" dirty="0">
                <a:latin typeface="Times New Roman" panose="02020603050405020304" pitchFamily="18" charset="0"/>
                <a:cs typeface="Times New Roman" panose="02020603050405020304" pitchFamily="18" charset="0"/>
              </a:rPr>
              <a:t>const</a:t>
            </a:r>
            <a:r>
              <a:rPr lang="en-US" sz="3200" dirty="0">
                <a:latin typeface="Times New Roman" panose="02020603050405020304" pitchFamily="18" charset="0"/>
                <a:cs typeface="Times New Roman" panose="02020603050405020304" pitchFamily="18" charset="0"/>
              </a:rPr>
              <a:t> prefix you can declare constants with a specific type in the same way as you would do with a variable: </a:t>
            </a:r>
          </a:p>
          <a:p>
            <a:pPr eaLnBrk="1" hangingPunct="1">
              <a:buFont typeface="Wingdings" pitchFamily="2" charset="2"/>
              <a:buNone/>
            </a:pPr>
            <a:r>
              <a:rPr lang="en-US" sz="3200" b="1" dirty="0">
                <a:latin typeface="Times New Roman" panose="02020603050405020304" pitchFamily="18" charset="0"/>
                <a:cs typeface="Times New Roman" panose="02020603050405020304" pitchFamily="18" charset="0"/>
              </a:rPr>
              <a:t>		const int pathwidth = 100; </a:t>
            </a:r>
          </a:p>
          <a:p>
            <a:pPr eaLnBrk="1" hangingPunct="1">
              <a:buFont typeface="Wingdings" pitchFamily="2" charset="2"/>
              <a:buNone/>
            </a:pPr>
            <a:r>
              <a:rPr lang="en-US" sz="3200" b="1" dirty="0">
                <a:latin typeface="Times New Roman" panose="02020603050405020304" pitchFamily="18" charset="0"/>
                <a:cs typeface="Times New Roman" panose="02020603050405020304" pitchFamily="18" charset="0"/>
              </a:rPr>
              <a:t>		const char tabulator = '\t'; </a:t>
            </a:r>
            <a:endParaRPr lang="en-US" sz="3200" dirty="0">
              <a:latin typeface="Times New Roman" panose="02020603050405020304" pitchFamily="18" charset="0"/>
              <a:cs typeface="Times New Roman" panose="02020603050405020304" pitchFamily="18" charset="0"/>
            </a:endParaRPr>
          </a:p>
          <a:p>
            <a:pPr eaLnBrk="1" hangingPunct="1"/>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8324793"/>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313900" y="786352"/>
            <a:ext cx="11546004" cy="712787"/>
          </a:xfrm>
        </p:spPr>
        <p:txBody>
          <a:bodyPr/>
          <a:lstStyle/>
          <a:p>
            <a:pPr eaLnBrk="1" hangingPunct="1"/>
            <a:r>
              <a:rPr lang="en-US" b="1" dirty="0">
                <a:solidFill>
                  <a:srgbClr val="0070C0"/>
                </a:solidFill>
              </a:rPr>
              <a:t>Operators --- </a:t>
            </a:r>
            <a:r>
              <a:rPr lang="en-US" b="1" dirty="0"/>
              <a:t>Assignment Operators</a:t>
            </a:r>
            <a:endParaRPr lang="en-US" b="1" dirty="0">
              <a:solidFill>
                <a:srgbClr val="0070C0"/>
              </a:solidFill>
            </a:endParaRPr>
          </a:p>
        </p:txBody>
      </p:sp>
      <p:sp>
        <p:nvSpPr>
          <p:cNvPr id="35843" name="Rectangle 3"/>
          <p:cNvSpPr>
            <a:spLocks noGrp="1" noChangeArrowheads="1"/>
          </p:cNvSpPr>
          <p:nvPr>
            <p:ph type="body" idx="1"/>
          </p:nvPr>
        </p:nvSpPr>
        <p:spPr>
          <a:xfrm>
            <a:off x="204716" y="1633501"/>
            <a:ext cx="11778018" cy="1314416"/>
          </a:xfrm>
        </p:spPr>
        <p:txBody>
          <a:bodyPr anchor="t" anchorCtr="0"/>
          <a:lstStyle/>
          <a:p>
            <a:pPr eaLnBrk="1" hangingPunct="1">
              <a:buFont typeface="Wingdings" panose="05000000000000000000" pitchFamily="2" charset="2"/>
              <a:buChar char="Ø"/>
            </a:pPr>
            <a:r>
              <a:rPr lang="en-US" dirty="0"/>
              <a:t>There are following assignment operators supported by C++ language. The Assignment</a:t>
            </a:r>
            <a:r>
              <a:rPr lang="en-US" sz="3600" b="1" dirty="0"/>
              <a:t> </a:t>
            </a:r>
            <a:r>
              <a:rPr lang="en-US" sz="3600" dirty="0"/>
              <a:t>assigns a value to a variable </a:t>
            </a:r>
            <a:r>
              <a:rPr lang="en-US" sz="3600" b="1" dirty="0"/>
              <a:t>	</a:t>
            </a:r>
            <a:endParaRPr lang="en-US" sz="3600" dirty="0"/>
          </a:p>
          <a:p>
            <a:pPr eaLnBrk="1" hangingPunct="1">
              <a:buFont typeface="Wingdings" pitchFamily="2" charset="2"/>
              <a:buNone/>
            </a:pPr>
            <a:endParaRPr lang="en-US" sz="3600" b="1" dirty="0"/>
          </a:p>
          <a:p>
            <a:pPr eaLnBrk="1" hangingPunct="1"/>
            <a:endParaRPr lang="en-US" sz="3600" b="1" dirty="0"/>
          </a:p>
        </p:txBody>
      </p:sp>
      <p:graphicFrame>
        <p:nvGraphicFramePr>
          <p:cNvPr id="2" name="Table 1"/>
          <p:cNvGraphicFramePr>
            <a:graphicFrameLocks noGrp="1"/>
          </p:cNvGraphicFramePr>
          <p:nvPr>
            <p:extLst>
              <p:ext uri="{D42A27DB-BD31-4B8C-83A1-F6EECF244321}">
                <p14:modId xmlns:p14="http://schemas.microsoft.com/office/powerpoint/2010/main" val="949594781"/>
              </p:ext>
            </p:extLst>
          </p:nvPr>
        </p:nvGraphicFramePr>
        <p:xfrm>
          <a:off x="204716" y="2838733"/>
          <a:ext cx="11778018" cy="3847141"/>
        </p:xfrm>
        <a:graphic>
          <a:graphicData uri="http://schemas.openxmlformats.org/drawingml/2006/table">
            <a:tbl>
              <a:tblPr/>
              <a:tblGrid>
                <a:gridCol w="1177801">
                  <a:extLst>
                    <a:ext uri="{9D8B030D-6E8A-4147-A177-3AD203B41FA5}">
                      <a16:colId xmlns:a16="http://schemas.microsoft.com/office/drawing/2014/main" val="1601322427"/>
                    </a:ext>
                  </a:extLst>
                </a:gridCol>
                <a:gridCol w="7500739">
                  <a:extLst>
                    <a:ext uri="{9D8B030D-6E8A-4147-A177-3AD203B41FA5}">
                      <a16:colId xmlns:a16="http://schemas.microsoft.com/office/drawing/2014/main" val="1873554229"/>
                    </a:ext>
                  </a:extLst>
                </a:gridCol>
                <a:gridCol w="3099478">
                  <a:extLst>
                    <a:ext uri="{9D8B030D-6E8A-4147-A177-3AD203B41FA5}">
                      <a16:colId xmlns:a16="http://schemas.microsoft.com/office/drawing/2014/main" val="25293392"/>
                    </a:ext>
                  </a:extLst>
                </a:gridCol>
              </a:tblGrid>
              <a:tr h="614895">
                <a:tc>
                  <a:txBody>
                    <a:bodyPr/>
                    <a:lstStyle/>
                    <a:p>
                      <a:pPr algn="ctr" fontAlgn="t"/>
                      <a:r>
                        <a:rPr lang="en-US" sz="2000" dirty="0">
                          <a:effectLst/>
                        </a:rPr>
                        <a:t>Operator</a:t>
                      </a:r>
                    </a:p>
                  </a:txBody>
                  <a:tcPr marL="39850" marR="39850" marT="39850" marB="3985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tc>
                  <a:txBody>
                    <a:bodyPr/>
                    <a:lstStyle/>
                    <a:p>
                      <a:pPr algn="ctr" fontAlgn="t"/>
                      <a:r>
                        <a:rPr lang="en-US" sz="2400">
                          <a:effectLst/>
                        </a:rPr>
                        <a:t>Description</a:t>
                      </a:r>
                    </a:p>
                  </a:txBody>
                  <a:tcPr marL="39850" marR="39850" marT="39850" marB="3985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tc>
                  <a:txBody>
                    <a:bodyPr/>
                    <a:lstStyle/>
                    <a:p>
                      <a:pPr algn="ctr" fontAlgn="t"/>
                      <a:r>
                        <a:rPr lang="en-US" sz="2400">
                          <a:effectLst/>
                        </a:rPr>
                        <a:t>Example</a:t>
                      </a:r>
                    </a:p>
                  </a:txBody>
                  <a:tcPr marL="39850" marR="39850" marT="39850" marB="3985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extLst>
                  <a:ext uri="{0D108BD9-81ED-4DB2-BD59-A6C34878D82A}">
                    <a16:rowId xmlns:a16="http://schemas.microsoft.com/office/drawing/2014/main" val="1402944189"/>
                  </a:ext>
                </a:extLst>
              </a:tr>
              <a:tr h="1027633">
                <a:tc>
                  <a:txBody>
                    <a:bodyPr/>
                    <a:lstStyle/>
                    <a:p>
                      <a:pPr algn="ctr" fontAlgn="t"/>
                      <a:r>
                        <a:rPr lang="en-US" sz="2400" b="1" dirty="0">
                          <a:effectLst/>
                        </a:rPr>
                        <a:t>=</a:t>
                      </a:r>
                    </a:p>
                  </a:txBody>
                  <a:tcPr marL="39850" marR="39850" marT="39850" marB="3985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sz="2400" dirty="0">
                          <a:effectLst/>
                        </a:rPr>
                        <a:t>Simple assignment operator, Assigns values from right side operands to left side operand.</a:t>
                      </a:r>
                    </a:p>
                  </a:txBody>
                  <a:tcPr marL="39850" marR="39850" marT="39850" marB="3985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ctr"/>
                      <a:r>
                        <a:rPr lang="en-US" sz="2400">
                          <a:effectLst/>
                        </a:rPr>
                        <a:t>C = A + B will assign value of A + B into C</a:t>
                      </a:r>
                    </a:p>
                  </a:txBody>
                  <a:tcPr marL="39850" marR="39850" marT="39850" marB="3985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691596411"/>
                  </a:ext>
                </a:extLst>
              </a:tr>
              <a:tr h="1027633">
                <a:tc>
                  <a:txBody>
                    <a:bodyPr/>
                    <a:lstStyle/>
                    <a:p>
                      <a:pPr algn="ctr" fontAlgn="t"/>
                      <a:r>
                        <a:rPr lang="en-US" sz="2400" b="1" dirty="0">
                          <a:effectLst/>
                        </a:rPr>
                        <a:t>+=</a:t>
                      </a:r>
                    </a:p>
                  </a:txBody>
                  <a:tcPr marL="39850" marR="39850" marT="39850" marB="3985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sz="2400" dirty="0">
                          <a:effectLst/>
                        </a:rPr>
                        <a:t>Add AND assignment operator, It adds right operand to the left operand and assign the result to left operand.</a:t>
                      </a:r>
                    </a:p>
                  </a:txBody>
                  <a:tcPr marL="39850" marR="39850" marT="39850" marB="3985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ctr"/>
                      <a:r>
                        <a:rPr lang="en-US" sz="2400">
                          <a:effectLst/>
                        </a:rPr>
                        <a:t>C += A is equivalent to C = C + A</a:t>
                      </a:r>
                    </a:p>
                  </a:txBody>
                  <a:tcPr marL="39850" marR="39850" marT="39850" marB="3985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3589289153"/>
                  </a:ext>
                </a:extLst>
              </a:tr>
              <a:tr h="1055678">
                <a:tc>
                  <a:txBody>
                    <a:bodyPr/>
                    <a:lstStyle/>
                    <a:p>
                      <a:pPr algn="ctr" fontAlgn="t"/>
                      <a:r>
                        <a:rPr lang="en-US" sz="2400" b="1" dirty="0">
                          <a:effectLst/>
                        </a:rPr>
                        <a:t>-=</a:t>
                      </a:r>
                    </a:p>
                  </a:txBody>
                  <a:tcPr marL="39850" marR="39850" marT="39850" marB="3985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sz="2400" dirty="0">
                          <a:effectLst/>
                        </a:rPr>
                        <a:t>Subtract AND assignment operator, It subtracts right operand from the left operand and assign the result to left operand.</a:t>
                      </a:r>
                    </a:p>
                  </a:txBody>
                  <a:tcPr marL="39850" marR="39850" marT="39850" marB="3985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ctr"/>
                      <a:r>
                        <a:rPr lang="en-US" sz="2400" dirty="0">
                          <a:effectLst/>
                        </a:rPr>
                        <a:t>C -= A is equivalent to C = C - A</a:t>
                      </a:r>
                    </a:p>
                  </a:txBody>
                  <a:tcPr marL="39850" marR="39850" marT="39850" marB="3985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2440033377"/>
                  </a:ext>
                </a:extLst>
              </a:tr>
            </a:tbl>
          </a:graphicData>
        </a:graphic>
      </p:graphicFrame>
    </p:spTree>
    <p:extLst>
      <p:ext uri="{BB962C8B-B14F-4D97-AF65-F5344CB8AC3E}">
        <p14:creationId xmlns:p14="http://schemas.microsoft.com/office/powerpoint/2010/main" val="3828065712"/>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3157449498"/>
              </p:ext>
            </p:extLst>
          </p:nvPr>
        </p:nvGraphicFramePr>
        <p:xfrm>
          <a:off x="163772" y="791566"/>
          <a:ext cx="11873554" cy="5908335"/>
        </p:xfrm>
        <a:graphic>
          <a:graphicData uri="http://schemas.openxmlformats.org/drawingml/2006/table">
            <a:tbl>
              <a:tblPr/>
              <a:tblGrid>
                <a:gridCol w="1187355">
                  <a:extLst>
                    <a:ext uri="{9D8B030D-6E8A-4147-A177-3AD203B41FA5}">
                      <a16:colId xmlns:a16="http://schemas.microsoft.com/office/drawing/2014/main" val="3319027408"/>
                    </a:ext>
                  </a:extLst>
                </a:gridCol>
                <a:gridCol w="6512548">
                  <a:extLst>
                    <a:ext uri="{9D8B030D-6E8A-4147-A177-3AD203B41FA5}">
                      <a16:colId xmlns:a16="http://schemas.microsoft.com/office/drawing/2014/main" val="2656951490"/>
                    </a:ext>
                  </a:extLst>
                </a:gridCol>
                <a:gridCol w="925483">
                  <a:extLst>
                    <a:ext uri="{9D8B030D-6E8A-4147-A177-3AD203B41FA5}">
                      <a16:colId xmlns:a16="http://schemas.microsoft.com/office/drawing/2014/main" val="1507315410"/>
                    </a:ext>
                  </a:extLst>
                </a:gridCol>
                <a:gridCol w="3248168">
                  <a:extLst>
                    <a:ext uri="{9D8B030D-6E8A-4147-A177-3AD203B41FA5}">
                      <a16:colId xmlns:a16="http://schemas.microsoft.com/office/drawing/2014/main" val="732068474"/>
                    </a:ext>
                  </a:extLst>
                </a:gridCol>
              </a:tblGrid>
              <a:tr h="493284">
                <a:tc>
                  <a:txBody>
                    <a:bodyPr/>
                    <a:lstStyle/>
                    <a:p>
                      <a:pPr algn="ctr" fontAlgn="t"/>
                      <a:r>
                        <a:rPr lang="en-US" sz="1800" dirty="0">
                          <a:effectLst/>
                        </a:rPr>
                        <a:t>Operator</a:t>
                      </a:r>
                    </a:p>
                  </a:txBody>
                  <a:tcPr marL="39850" marR="39850" marT="39850" marB="3985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tc>
                  <a:txBody>
                    <a:bodyPr/>
                    <a:lstStyle/>
                    <a:p>
                      <a:pPr algn="ctr" fontAlgn="t"/>
                      <a:r>
                        <a:rPr lang="en-US" sz="2000" dirty="0">
                          <a:effectLst/>
                        </a:rPr>
                        <a:t>Description</a:t>
                      </a:r>
                    </a:p>
                  </a:txBody>
                  <a:tcPr marL="39850" marR="39850" marT="39850" marB="3985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tc gridSpan="2">
                  <a:txBody>
                    <a:bodyPr/>
                    <a:lstStyle/>
                    <a:p>
                      <a:pPr algn="ctr" fontAlgn="t"/>
                      <a:r>
                        <a:rPr lang="en-US" sz="2000">
                          <a:effectLst/>
                        </a:rPr>
                        <a:t>Example</a:t>
                      </a:r>
                    </a:p>
                  </a:txBody>
                  <a:tcPr marL="39850" marR="39850" marT="39850" marB="3985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tc hMerge="1">
                  <a:txBody>
                    <a:bodyPr/>
                    <a:lstStyle/>
                    <a:p>
                      <a:endParaRPr lang="en-US"/>
                    </a:p>
                  </a:txBody>
                  <a:tcPr/>
                </a:tc>
                <a:extLst>
                  <a:ext uri="{0D108BD9-81ED-4DB2-BD59-A6C34878D82A}">
                    <a16:rowId xmlns:a16="http://schemas.microsoft.com/office/drawing/2014/main" val="2951532787"/>
                  </a:ext>
                </a:extLst>
              </a:tr>
              <a:tr h="0">
                <a:tc>
                  <a:txBody>
                    <a:bodyPr/>
                    <a:lstStyle/>
                    <a:p>
                      <a:pPr algn="ctr" fontAlgn="t"/>
                      <a:r>
                        <a:rPr lang="en-US" sz="2000" b="1" dirty="0">
                          <a:effectLst/>
                        </a:rPr>
                        <a:t>*=</a:t>
                      </a:r>
                    </a:p>
                  </a:txBody>
                  <a:tcPr marL="39850" marR="39850" marT="39850" marB="3985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gridSpan="2">
                  <a:txBody>
                    <a:bodyPr/>
                    <a:lstStyle/>
                    <a:p>
                      <a:pPr fontAlgn="t"/>
                      <a:r>
                        <a:rPr lang="en-US" sz="2000" dirty="0">
                          <a:effectLst/>
                        </a:rPr>
                        <a:t>Multiply AND assignment operator, It multiplies right operand with the left operand and assign the result to left operand.</a:t>
                      </a:r>
                    </a:p>
                  </a:txBody>
                  <a:tcPr marL="39850" marR="39850" marT="39850" marB="3985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hMerge="1">
                  <a:txBody>
                    <a:bodyPr/>
                    <a:lstStyle/>
                    <a:p>
                      <a:pPr fontAlgn="ctr"/>
                      <a:endParaRPr lang="en-US" sz="2000" dirty="0">
                        <a:effectLst/>
                      </a:endParaRPr>
                    </a:p>
                  </a:txBody>
                  <a:tcPr marL="39850" marR="39850" marT="39850" marB="3985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ctr"/>
                      <a:r>
                        <a:rPr lang="en-US" sz="2000" dirty="0">
                          <a:effectLst/>
                        </a:rPr>
                        <a:t>C *= A is equivalent to        C = C * A</a:t>
                      </a:r>
                    </a:p>
                  </a:txBody>
                  <a:tcPr marL="39850" marR="39850" marT="39850" marB="3985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3952058026"/>
                  </a:ext>
                </a:extLst>
              </a:tr>
              <a:tr h="846891">
                <a:tc>
                  <a:txBody>
                    <a:bodyPr/>
                    <a:lstStyle/>
                    <a:p>
                      <a:pPr algn="ctr" fontAlgn="t"/>
                      <a:r>
                        <a:rPr lang="en-US" sz="2000" b="1" dirty="0">
                          <a:effectLst/>
                        </a:rPr>
                        <a:t>/=</a:t>
                      </a:r>
                    </a:p>
                  </a:txBody>
                  <a:tcPr marL="39850" marR="39850" marT="39850" marB="3985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gridSpan="2">
                  <a:txBody>
                    <a:bodyPr/>
                    <a:lstStyle/>
                    <a:p>
                      <a:pPr fontAlgn="t"/>
                      <a:r>
                        <a:rPr lang="en-US" sz="2000" dirty="0">
                          <a:effectLst/>
                        </a:rPr>
                        <a:t>Divide AND assignment operator, It divides left operand with the right operand and assign the result to left operand.</a:t>
                      </a:r>
                    </a:p>
                  </a:txBody>
                  <a:tcPr marL="39850" marR="39850" marT="39850" marB="3985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hMerge="1">
                  <a:txBody>
                    <a:bodyPr/>
                    <a:lstStyle/>
                    <a:p>
                      <a:pPr fontAlgn="ctr"/>
                      <a:endParaRPr lang="en-US" sz="2000" dirty="0">
                        <a:effectLst/>
                      </a:endParaRPr>
                    </a:p>
                  </a:txBody>
                  <a:tcPr marL="39850" marR="39850" marT="39850" marB="3985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ctr"/>
                      <a:r>
                        <a:rPr lang="en-US" sz="2000" dirty="0">
                          <a:effectLst/>
                        </a:rPr>
                        <a:t>C /= A is equivalent to        C = C / A</a:t>
                      </a:r>
                    </a:p>
                  </a:txBody>
                  <a:tcPr marL="39850" marR="39850" marT="39850" marB="3985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607286641"/>
                  </a:ext>
                </a:extLst>
              </a:tr>
              <a:tr h="824392">
                <a:tc>
                  <a:txBody>
                    <a:bodyPr/>
                    <a:lstStyle/>
                    <a:p>
                      <a:pPr algn="ctr" fontAlgn="t"/>
                      <a:r>
                        <a:rPr lang="en-US" sz="2000" b="1" dirty="0">
                          <a:effectLst/>
                        </a:rPr>
                        <a:t>%=</a:t>
                      </a:r>
                    </a:p>
                  </a:txBody>
                  <a:tcPr marL="39850" marR="39850" marT="39850" marB="3985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gridSpan="2">
                  <a:txBody>
                    <a:bodyPr/>
                    <a:lstStyle/>
                    <a:p>
                      <a:pPr fontAlgn="t"/>
                      <a:r>
                        <a:rPr lang="en-US" sz="2000" dirty="0">
                          <a:effectLst/>
                        </a:rPr>
                        <a:t>Modulus AND assignment operator, It takes modulus using two operands and assign the result to left operand.</a:t>
                      </a:r>
                    </a:p>
                  </a:txBody>
                  <a:tcPr marL="39850" marR="39850" marT="39850" marB="3985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hMerge="1">
                  <a:txBody>
                    <a:bodyPr/>
                    <a:lstStyle/>
                    <a:p>
                      <a:pPr fontAlgn="ctr"/>
                      <a:endParaRPr lang="en-US" sz="2000">
                        <a:effectLst/>
                      </a:endParaRPr>
                    </a:p>
                  </a:txBody>
                  <a:tcPr marL="39850" marR="39850" marT="39850" marB="3985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ctr"/>
                      <a:r>
                        <a:rPr lang="en-US" sz="2000" dirty="0">
                          <a:effectLst/>
                        </a:rPr>
                        <a:t>C %= A is equivalent to      C = C % A</a:t>
                      </a:r>
                    </a:p>
                  </a:txBody>
                  <a:tcPr marL="39850" marR="39850" marT="39850" marB="3985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15076734"/>
                  </a:ext>
                </a:extLst>
              </a:tr>
              <a:tr h="464480">
                <a:tc>
                  <a:txBody>
                    <a:bodyPr/>
                    <a:lstStyle/>
                    <a:p>
                      <a:pPr algn="ctr" fontAlgn="t"/>
                      <a:r>
                        <a:rPr lang="en-US" sz="2000" b="1" dirty="0">
                          <a:effectLst/>
                        </a:rPr>
                        <a:t>&lt;&lt;=</a:t>
                      </a:r>
                    </a:p>
                  </a:txBody>
                  <a:tcPr marL="39850" marR="39850" marT="39850" marB="3985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gridSpan="2">
                  <a:txBody>
                    <a:bodyPr/>
                    <a:lstStyle/>
                    <a:p>
                      <a:pPr fontAlgn="t"/>
                      <a:r>
                        <a:rPr lang="en-US" sz="2000">
                          <a:effectLst/>
                        </a:rPr>
                        <a:t>Left shift AND assignment operator.</a:t>
                      </a:r>
                    </a:p>
                  </a:txBody>
                  <a:tcPr marL="39850" marR="39850" marT="39850" marB="3985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hMerge="1">
                  <a:txBody>
                    <a:bodyPr/>
                    <a:lstStyle/>
                    <a:p>
                      <a:pPr fontAlgn="ctr"/>
                      <a:endParaRPr lang="en-US" sz="2000">
                        <a:effectLst/>
                      </a:endParaRPr>
                    </a:p>
                  </a:txBody>
                  <a:tcPr marL="39850" marR="39850" marT="39850" marB="3985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ctr"/>
                      <a:r>
                        <a:rPr lang="en-US" sz="2000" dirty="0">
                          <a:effectLst/>
                        </a:rPr>
                        <a:t>C &lt;&lt;= 2 is same as            C = C &lt;&lt; 2</a:t>
                      </a:r>
                    </a:p>
                  </a:txBody>
                  <a:tcPr marL="39850" marR="39850" marT="39850" marB="3985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335583810"/>
                  </a:ext>
                </a:extLst>
              </a:tr>
              <a:tr h="464480">
                <a:tc>
                  <a:txBody>
                    <a:bodyPr/>
                    <a:lstStyle/>
                    <a:p>
                      <a:pPr algn="ctr" fontAlgn="t"/>
                      <a:r>
                        <a:rPr lang="en-US" sz="2000" b="1" dirty="0">
                          <a:effectLst/>
                        </a:rPr>
                        <a:t>&gt;&gt;=</a:t>
                      </a:r>
                    </a:p>
                  </a:txBody>
                  <a:tcPr marL="39850" marR="39850" marT="39850" marB="3985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gridSpan="2">
                  <a:txBody>
                    <a:bodyPr/>
                    <a:lstStyle/>
                    <a:p>
                      <a:pPr fontAlgn="t"/>
                      <a:r>
                        <a:rPr lang="en-US" sz="2000" dirty="0">
                          <a:effectLst/>
                        </a:rPr>
                        <a:t>Right shift AND assignment operator.</a:t>
                      </a:r>
                    </a:p>
                  </a:txBody>
                  <a:tcPr marL="39850" marR="39850" marT="39850" marB="3985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hMerge="1">
                  <a:txBody>
                    <a:bodyPr/>
                    <a:lstStyle/>
                    <a:p>
                      <a:pPr fontAlgn="ctr"/>
                      <a:endParaRPr lang="en-US" sz="2000">
                        <a:effectLst/>
                      </a:endParaRPr>
                    </a:p>
                  </a:txBody>
                  <a:tcPr marL="39850" marR="39850" marT="39850" marB="3985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ctr"/>
                      <a:r>
                        <a:rPr lang="en-US" sz="2000" dirty="0">
                          <a:effectLst/>
                        </a:rPr>
                        <a:t>C &gt;&gt;= 2 is same as            C = C &gt;&gt; 2</a:t>
                      </a:r>
                    </a:p>
                  </a:txBody>
                  <a:tcPr marL="39850" marR="39850" marT="39850" marB="3985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3701607787"/>
                  </a:ext>
                </a:extLst>
              </a:tr>
              <a:tr h="464480">
                <a:tc>
                  <a:txBody>
                    <a:bodyPr/>
                    <a:lstStyle/>
                    <a:p>
                      <a:pPr algn="ctr" fontAlgn="t"/>
                      <a:r>
                        <a:rPr lang="en-US" sz="2000" b="1" dirty="0">
                          <a:effectLst/>
                        </a:rPr>
                        <a:t>&amp;=</a:t>
                      </a:r>
                    </a:p>
                  </a:txBody>
                  <a:tcPr marL="39850" marR="39850" marT="39850" marB="3985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gridSpan="2">
                  <a:txBody>
                    <a:bodyPr/>
                    <a:lstStyle/>
                    <a:p>
                      <a:pPr fontAlgn="t"/>
                      <a:r>
                        <a:rPr lang="en-US" sz="2000">
                          <a:effectLst/>
                        </a:rPr>
                        <a:t>Bitwise AND assignment operator.</a:t>
                      </a:r>
                    </a:p>
                  </a:txBody>
                  <a:tcPr marL="39850" marR="39850" marT="39850" marB="3985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hMerge="1">
                  <a:txBody>
                    <a:bodyPr/>
                    <a:lstStyle/>
                    <a:p>
                      <a:pPr fontAlgn="ctr"/>
                      <a:endParaRPr lang="en-US" sz="2000">
                        <a:effectLst/>
                      </a:endParaRPr>
                    </a:p>
                  </a:txBody>
                  <a:tcPr marL="39850" marR="39850" marT="39850" marB="3985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ctr"/>
                      <a:r>
                        <a:rPr lang="en-US" sz="2000" dirty="0">
                          <a:effectLst/>
                        </a:rPr>
                        <a:t>C &amp;= 2 is same as              C = C &amp; 2</a:t>
                      </a:r>
                    </a:p>
                  </a:txBody>
                  <a:tcPr marL="39850" marR="39850" marT="39850" marB="3985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505750752"/>
                  </a:ext>
                </a:extLst>
              </a:tr>
              <a:tr h="493284">
                <a:tc>
                  <a:txBody>
                    <a:bodyPr/>
                    <a:lstStyle/>
                    <a:p>
                      <a:pPr algn="ctr" fontAlgn="t"/>
                      <a:r>
                        <a:rPr lang="en-US" sz="2000" b="1" dirty="0">
                          <a:effectLst/>
                        </a:rPr>
                        <a:t>^=</a:t>
                      </a:r>
                    </a:p>
                  </a:txBody>
                  <a:tcPr marL="39850" marR="39850" marT="39850" marB="3985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gridSpan="2">
                  <a:txBody>
                    <a:bodyPr/>
                    <a:lstStyle/>
                    <a:p>
                      <a:pPr fontAlgn="t"/>
                      <a:r>
                        <a:rPr lang="en-US" sz="2000">
                          <a:effectLst/>
                        </a:rPr>
                        <a:t>Bitwise exclusive OR and assignment operator.</a:t>
                      </a:r>
                    </a:p>
                  </a:txBody>
                  <a:tcPr marL="39850" marR="39850" marT="39850" marB="3985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hMerge="1">
                  <a:txBody>
                    <a:bodyPr/>
                    <a:lstStyle/>
                    <a:p>
                      <a:pPr fontAlgn="ctr"/>
                      <a:endParaRPr lang="en-US" sz="2000">
                        <a:effectLst/>
                      </a:endParaRPr>
                    </a:p>
                  </a:txBody>
                  <a:tcPr marL="39850" marR="39850" marT="39850" marB="3985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ctr"/>
                      <a:r>
                        <a:rPr lang="en-US" sz="2000">
                          <a:effectLst/>
                        </a:rPr>
                        <a:t>C ^= 2 is same as C = C ^ 2</a:t>
                      </a:r>
                    </a:p>
                  </a:txBody>
                  <a:tcPr marL="39850" marR="39850" marT="39850" marB="3985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479696860"/>
                  </a:ext>
                </a:extLst>
              </a:tr>
              <a:tr h="493284">
                <a:tc>
                  <a:txBody>
                    <a:bodyPr/>
                    <a:lstStyle/>
                    <a:p>
                      <a:pPr algn="ctr" fontAlgn="t"/>
                      <a:r>
                        <a:rPr lang="en-US" sz="2000" b="1" dirty="0">
                          <a:effectLst/>
                        </a:rPr>
                        <a:t>|=</a:t>
                      </a:r>
                    </a:p>
                  </a:txBody>
                  <a:tcPr marL="39850" marR="39850" marT="39850" marB="3985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gridSpan="2">
                  <a:txBody>
                    <a:bodyPr/>
                    <a:lstStyle/>
                    <a:p>
                      <a:pPr fontAlgn="t"/>
                      <a:r>
                        <a:rPr lang="en-US" sz="2000">
                          <a:effectLst/>
                        </a:rPr>
                        <a:t>Bitwise inclusive OR and assignment operator.</a:t>
                      </a:r>
                    </a:p>
                  </a:txBody>
                  <a:tcPr marL="39850" marR="39850" marT="39850" marB="3985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hMerge="1">
                  <a:txBody>
                    <a:bodyPr/>
                    <a:lstStyle/>
                    <a:p>
                      <a:pPr fontAlgn="ctr"/>
                      <a:endParaRPr lang="en-US" sz="2000" dirty="0">
                        <a:effectLst/>
                      </a:endParaRPr>
                    </a:p>
                  </a:txBody>
                  <a:tcPr marL="39850" marR="39850" marT="39850" marB="3985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ctr"/>
                      <a:r>
                        <a:rPr lang="en-US" sz="2000" dirty="0">
                          <a:effectLst/>
                        </a:rPr>
                        <a:t>C |= 2 is same as C = C | 2</a:t>
                      </a:r>
                    </a:p>
                  </a:txBody>
                  <a:tcPr marL="39850" marR="39850" marT="39850" marB="3985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4106228577"/>
                  </a:ext>
                </a:extLst>
              </a:tr>
            </a:tbl>
          </a:graphicData>
        </a:graphic>
      </p:graphicFrame>
    </p:spTree>
    <p:extLst>
      <p:ext uri="{BB962C8B-B14F-4D97-AF65-F5344CB8AC3E}">
        <p14:creationId xmlns:p14="http://schemas.microsoft.com/office/powerpoint/2010/main" val="2131191216"/>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3"/>
          <p:cNvSpPr>
            <a:spLocks noGrp="1" noChangeArrowheads="1"/>
          </p:cNvSpPr>
          <p:nvPr>
            <p:ph type="body" idx="1"/>
          </p:nvPr>
        </p:nvSpPr>
        <p:spPr>
          <a:xfrm>
            <a:off x="1685778" y="1036320"/>
            <a:ext cx="8229600" cy="533400"/>
          </a:xfrm>
        </p:spPr>
        <p:txBody>
          <a:bodyPr/>
          <a:lstStyle/>
          <a:p>
            <a:pPr marL="116082" indent="0" eaLnBrk="1" hangingPunct="1">
              <a:lnSpc>
                <a:spcPct val="90000"/>
              </a:lnSpc>
              <a:buNone/>
            </a:pPr>
            <a:r>
              <a:rPr lang="en-US" dirty="0"/>
              <a:t>For example:</a:t>
            </a:r>
          </a:p>
        </p:txBody>
      </p:sp>
      <p:pic>
        <p:nvPicPr>
          <p:cNvPr id="3789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4911" y="1688683"/>
            <a:ext cx="11420714" cy="4725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97608092"/>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36867" name="Rectangle 3"/>
          <p:cNvSpPr>
            <a:spLocks noGrp="1" noChangeArrowheads="1"/>
          </p:cNvSpPr>
          <p:nvPr>
            <p:ph idx="1"/>
          </p:nvPr>
        </p:nvSpPr>
        <p:spPr>
          <a:xfrm>
            <a:off x="126609" y="832934"/>
            <a:ext cx="11844997" cy="1145989"/>
          </a:xfrm>
        </p:spPr>
        <p:txBody>
          <a:bodyPr anchor="t" anchorCtr="0"/>
          <a:lstStyle/>
          <a:p>
            <a:pPr marL="116082" indent="0">
              <a:buNone/>
            </a:pPr>
            <a:r>
              <a:rPr lang="en-US" sz="2800" b="1" dirty="0">
                <a:latin typeface="Times New Roman" panose="02020603050405020304" pitchFamily="18" charset="0"/>
                <a:cs typeface="Times New Roman" panose="02020603050405020304" pitchFamily="18" charset="0"/>
              </a:rPr>
              <a:t>Arithmetic operators: </a:t>
            </a:r>
            <a:r>
              <a:rPr lang="en-US" sz="2800" dirty="0"/>
              <a:t>There are following arithmetic operators supported by C++ language. Assume variable A holds 10 and variable B holds 20</a:t>
            </a:r>
          </a:p>
          <a:p>
            <a:pPr marL="116082" indent="0" eaLnBrk="1" hangingPunct="1">
              <a:buNone/>
            </a:pPr>
            <a:endParaRPr lang="en-US" sz="2800" b="1" dirty="0">
              <a:latin typeface="Times New Roman" panose="02020603050405020304" pitchFamily="18" charset="0"/>
              <a:cs typeface="Times New Roman" panose="02020603050405020304" pitchFamily="18" charset="0"/>
            </a:endParaRPr>
          </a:p>
          <a:p>
            <a:pPr marL="116082" indent="0" eaLnBrk="1" hangingPunct="1">
              <a:buNone/>
            </a:pPr>
            <a:endParaRPr lang="en-US" sz="2800" b="1" dirty="0">
              <a:latin typeface="Times New Roman" panose="02020603050405020304" pitchFamily="18" charset="0"/>
              <a:cs typeface="Times New Roman" panose="02020603050405020304" pitchFamily="18" charset="0"/>
            </a:endParaRPr>
          </a:p>
          <a:p>
            <a:pPr marL="116082" indent="0" eaLnBrk="1" hangingPunct="1">
              <a:buNone/>
            </a:pPr>
            <a:endParaRPr lang="en-US" sz="2800" b="1" dirty="0">
              <a:latin typeface="Times New Roman" panose="02020603050405020304" pitchFamily="18" charset="0"/>
              <a:cs typeface="Times New Roman" panose="02020603050405020304" pitchFamily="18" charset="0"/>
            </a:endParaRPr>
          </a:p>
          <a:p>
            <a:pPr marL="116082" indent="0" eaLnBrk="1" hangingPunct="1">
              <a:buNone/>
            </a:pPr>
            <a:endParaRPr lang="en-US" sz="2800" b="1" dirty="0">
              <a:latin typeface="Times New Roman" panose="02020603050405020304" pitchFamily="18" charset="0"/>
              <a:cs typeface="Times New Roman" panose="02020603050405020304" pitchFamily="18" charset="0"/>
            </a:endParaRPr>
          </a:p>
          <a:p>
            <a:pPr marL="116082" indent="0" eaLnBrk="1" hangingPunct="1">
              <a:buNone/>
            </a:pPr>
            <a:endParaRPr lang="en-US" sz="2800" dirty="0">
              <a:latin typeface="Times New Roman" panose="02020603050405020304" pitchFamily="18" charset="0"/>
              <a:cs typeface="Times New Roman" panose="02020603050405020304" pitchFamily="18" charset="0"/>
            </a:endParaRPr>
          </a:p>
        </p:txBody>
      </p:sp>
      <p:graphicFrame>
        <p:nvGraphicFramePr>
          <p:cNvPr id="3" name="Table 2"/>
          <p:cNvGraphicFramePr>
            <a:graphicFrameLocks noGrp="1"/>
          </p:cNvGraphicFramePr>
          <p:nvPr>
            <p:extLst>
              <p:ext uri="{D42A27DB-BD31-4B8C-83A1-F6EECF244321}">
                <p14:modId xmlns:p14="http://schemas.microsoft.com/office/powerpoint/2010/main" val="437922561"/>
              </p:ext>
            </p:extLst>
          </p:nvPr>
        </p:nvGraphicFramePr>
        <p:xfrm>
          <a:off x="126609" y="1978924"/>
          <a:ext cx="11844997" cy="4866223"/>
        </p:xfrm>
        <a:graphic>
          <a:graphicData uri="http://schemas.openxmlformats.org/drawingml/2006/table">
            <a:tbl>
              <a:tblPr/>
              <a:tblGrid>
                <a:gridCol w="1574346">
                  <a:extLst>
                    <a:ext uri="{9D8B030D-6E8A-4147-A177-3AD203B41FA5}">
                      <a16:colId xmlns:a16="http://schemas.microsoft.com/office/drawing/2014/main" val="4129780885"/>
                    </a:ext>
                  </a:extLst>
                </a:gridCol>
                <a:gridCol w="7481626">
                  <a:extLst>
                    <a:ext uri="{9D8B030D-6E8A-4147-A177-3AD203B41FA5}">
                      <a16:colId xmlns:a16="http://schemas.microsoft.com/office/drawing/2014/main" val="856672445"/>
                    </a:ext>
                  </a:extLst>
                </a:gridCol>
                <a:gridCol w="2789025">
                  <a:extLst>
                    <a:ext uri="{9D8B030D-6E8A-4147-A177-3AD203B41FA5}">
                      <a16:colId xmlns:a16="http://schemas.microsoft.com/office/drawing/2014/main" val="4001852330"/>
                    </a:ext>
                  </a:extLst>
                </a:gridCol>
              </a:tblGrid>
              <a:tr h="544102">
                <a:tc>
                  <a:txBody>
                    <a:bodyPr/>
                    <a:lstStyle/>
                    <a:p>
                      <a:pPr algn="l" fontAlgn="t"/>
                      <a:r>
                        <a:rPr lang="en-US" sz="2400" dirty="0">
                          <a:effectLst/>
                        </a:rPr>
                        <a:t>Operator</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tc>
                  <a:txBody>
                    <a:bodyPr/>
                    <a:lstStyle/>
                    <a:p>
                      <a:pPr algn="l" fontAlgn="t"/>
                      <a:r>
                        <a:rPr lang="en-US" sz="2400" dirty="0">
                          <a:effectLst/>
                        </a:rPr>
                        <a:t>Description</a:t>
                      </a:r>
                      <a:endParaRPr lang="en-US" sz="2800" dirty="0">
                        <a:effectLst/>
                      </a:endParaRP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tc>
                  <a:txBody>
                    <a:bodyPr/>
                    <a:lstStyle/>
                    <a:p>
                      <a:pPr algn="l" fontAlgn="t"/>
                      <a:r>
                        <a:rPr lang="en-US" sz="2400">
                          <a:effectLst/>
                        </a:rPr>
                        <a:t>Example</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extLst>
                  <a:ext uri="{0D108BD9-81ED-4DB2-BD59-A6C34878D82A}">
                    <a16:rowId xmlns:a16="http://schemas.microsoft.com/office/drawing/2014/main" val="1284217893"/>
                  </a:ext>
                </a:extLst>
              </a:tr>
              <a:tr h="544102">
                <a:tc>
                  <a:txBody>
                    <a:bodyPr/>
                    <a:lstStyle/>
                    <a:p>
                      <a:pPr algn="ctr" fontAlgn="t"/>
                      <a:r>
                        <a:rPr lang="en-US" sz="2400" b="1" dirty="0">
                          <a:effectLst/>
                        </a:rPr>
                        <a:t>+</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l" fontAlgn="t"/>
                      <a:r>
                        <a:rPr lang="en-US" sz="2400" dirty="0">
                          <a:effectLst/>
                        </a:rPr>
                        <a:t>Adds two operands</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l" fontAlgn="t"/>
                      <a:r>
                        <a:rPr lang="en-US" sz="2400">
                          <a:effectLst/>
                        </a:rPr>
                        <a:t>A + B will give 30</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250730169"/>
                  </a:ext>
                </a:extLst>
              </a:tr>
              <a:tr h="544102">
                <a:tc>
                  <a:txBody>
                    <a:bodyPr/>
                    <a:lstStyle/>
                    <a:p>
                      <a:pPr algn="ctr" fontAlgn="t"/>
                      <a:r>
                        <a:rPr lang="en-US" sz="2400" b="1" dirty="0">
                          <a:effectLst/>
                        </a:rPr>
                        <a:t>-</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l" fontAlgn="t"/>
                      <a:r>
                        <a:rPr lang="en-US" sz="2400">
                          <a:effectLst/>
                        </a:rPr>
                        <a:t>Subtracts second operand from the first</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l" fontAlgn="t"/>
                      <a:r>
                        <a:rPr lang="en-US" sz="2400">
                          <a:effectLst/>
                        </a:rPr>
                        <a:t>A - B will give -10</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74563455"/>
                  </a:ext>
                </a:extLst>
              </a:tr>
              <a:tr h="544102">
                <a:tc>
                  <a:txBody>
                    <a:bodyPr/>
                    <a:lstStyle/>
                    <a:p>
                      <a:pPr algn="ctr" fontAlgn="t"/>
                      <a:r>
                        <a:rPr lang="en-US" sz="2400" b="1" dirty="0">
                          <a:effectLst/>
                        </a:rPr>
                        <a:t>*</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l" fontAlgn="t"/>
                      <a:r>
                        <a:rPr lang="en-US" sz="2400">
                          <a:effectLst/>
                        </a:rPr>
                        <a:t>Multiplies both operands</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l" fontAlgn="t"/>
                      <a:r>
                        <a:rPr lang="en-US" sz="2400">
                          <a:effectLst/>
                        </a:rPr>
                        <a:t>A * B will give 200</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543958766"/>
                  </a:ext>
                </a:extLst>
              </a:tr>
              <a:tr h="544102">
                <a:tc>
                  <a:txBody>
                    <a:bodyPr/>
                    <a:lstStyle/>
                    <a:p>
                      <a:pPr algn="ctr" fontAlgn="t"/>
                      <a:r>
                        <a:rPr lang="en-US" sz="2400" b="1" dirty="0">
                          <a:effectLst/>
                        </a:rPr>
                        <a:t>/</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l" fontAlgn="t"/>
                      <a:r>
                        <a:rPr lang="en-US" sz="2400" dirty="0">
                          <a:effectLst/>
                        </a:rPr>
                        <a:t>Divides numerator by de-numerator</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l" fontAlgn="t"/>
                      <a:r>
                        <a:rPr lang="en-US" sz="2400">
                          <a:effectLst/>
                        </a:rPr>
                        <a:t>B / A will give 2</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657856688"/>
                  </a:ext>
                </a:extLst>
              </a:tr>
              <a:tr h="928173">
                <a:tc>
                  <a:txBody>
                    <a:bodyPr/>
                    <a:lstStyle/>
                    <a:p>
                      <a:pPr algn="ctr" fontAlgn="t"/>
                      <a:r>
                        <a:rPr lang="en-US" sz="2400" b="1" dirty="0">
                          <a:effectLst/>
                        </a:rPr>
                        <a:t>%</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l" fontAlgn="t"/>
                      <a:r>
                        <a:rPr lang="en-US" sz="2400" dirty="0">
                          <a:effectLst/>
                        </a:rPr>
                        <a:t>Modulus Operator and remainder of after an integer division</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l" fontAlgn="t"/>
                      <a:r>
                        <a:rPr lang="en-US" sz="2400">
                          <a:effectLst/>
                        </a:rPr>
                        <a:t>B % A will give 0</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474519192"/>
                  </a:ext>
                </a:extLst>
              </a:tr>
              <a:tr h="563576">
                <a:tc>
                  <a:txBody>
                    <a:bodyPr/>
                    <a:lstStyle/>
                    <a:p>
                      <a:pPr algn="ctr" fontAlgn="t"/>
                      <a:r>
                        <a:rPr lang="en-US" sz="2400" b="1" dirty="0">
                          <a:effectLst/>
                        </a:rPr>
                        <a:t>++</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l" fontAlgn="t"/>
                      <a:r>
                        <a:rPr lang="en-US" sz="2400" b="0" u="none" strike="noStrike">
                          <a:solidFill>
                            <a:srgbClr val="313131"/>
                          </a:solidFill>
                          <a:effectLst/>
                          <a:hlinkClick r:id="rId4" tooltip="Increment operator in C++"/>
                        </a:rPr>
                        <a:t>Increment operator</a:t>
                      </a:r>
                      <a:r>
                        <a:rPr lang="en-US" sz="2400">
                          <a:effectLst/>
                        </a:rPr>
                        <a:t>, increases integer value by one</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l" fontAlgn="t"/>
                      <a:r>
                        <a:rPr lang="en-US" sz="2400">
                          <a:effectLst/>
                        </a:rPr>
                        <a:t>A++ will give 11</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2829569145"/>
                  </a:ext>
                </a:extLst>
              </a:tr>
              <a:tr h="653964">
                <a:tc>
                  <a:txBody>
                    <a:bodyPr/>
                    <a:lstStyle/>
                    <a:p>
                      <a:pPr algn="ctr" fontAlgn="t"/>
                      <a:r>
                        <a:rPr lang="en-US" sz="2400" b="1" dirty="0">
                          <a:effectLst/>
                        </a:rPr>
                        <a:t>--</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l" fontAlgn="t"/>
                      <a:r>
                        <a:rPr lang="en-US" sz="2400" b="0" u="none" strike="noStrike" dirty="0">
                          <a:solidFill>
                            <a:srgbClr val="313131"/>
                          </a:solidFill>
                          <a:effectLst/>
                          <a:hlinkClick r:id="rId4" tooltip="Decrement operator in C++"/>
                        </a:rPr>
                        <a:t>Decrement operator</a:t>
                      </a:r>
                      <a:r>
                        <a:rPr lang="en-US" sz="2400" dirty="0">
                          <a:effectLst/>
                        </a:rPr>
                        <a:t>, decreases integer value by one</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l" fontAlgn="t"/>
                      <a:r>
                        <a:rPr lang="en-US" sz="2400" dirty="0">
                          <a:effectLst/>
                        </a:rPr>
                        <a:t>A-- will give 9</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553522746"/>
                  </a:ext>
                </a:extLst>
              </a:tr>
            </a:tbl>
          </a:graphicData>
        </a:graphic>
      </p:graphicFrame>
    </p:spTree>
    <p:extLst>
      <p:ext uri="{BB962C8B-B14F-4D97-AF65-F5344CB8AC3E}">
        <p14:creationId xmlns:p14="http://schemas.microsoft.com/office/powerpoint/2010/main" val="1368829924"/>
      </p:ext>
    </p:extLst>
  </p:cSld>
  <p:clrMapOvr>
    <a:overrideClrMapping bg1="lt1" tx1="dk1" bg2="lt2" tx2="dk2" accent1="accent1" accent2="accent2" accent3="accent3" accent4="accent4" accent5="accent5" accent6="accent6" hlink="hlink" folHlink="folHlink"/>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2081732412"/>
              </p:ext>
            </p:extLst>
          </p:nvPr>
        </p:nvGraphicFramePr>
        <p:xfrm>
          <a:off x="232011" y="1569494"/>
          <a:ext cx="11723427" cy="5130670"/>
        </p:xfrm>
        <a:graphic>
          <a:graphicData uri="http://schemas.openxmlformats.org/drawingml/2006/table">
            <a:tbl>
              <a:tblPr/>
              <a:tblGrid>
                <a:gridCol w="1323834">
                  <a:extLst>
                    <a:ext uri="{9D8B030D-6E8A-4147-A177-3AD203B41FA5}">
                      <a16:colId xmlns:a16="http://schemas.microsoft.com/office/drawing/2014/main" val="3281639695"/>
                    </a:ext>
                  </a:extLst>
                </a:gridCol>
                <a:gridCol w="7874758">
                  <a:extLst>
                    <a:ext uri="{9D8B030D-6E8A-4147-A177-3AD203B41FA5}">
                      <a16:colId xmlns:a16="http://schemas.microsoft.com/office/drawing/2014/main" val="3742876765"/>
                    </a:ext>
                  </a:extLst>
                </a:gridCol>
                <a:gridCol w="2524835">
                  <a:extLst>
                    <a:ext uri="{9D8B030D-6E8A-4147-A177-3AD203B41FA5}">
                      <a16:colId xmlns:a16="http://schemas.microsoft.com/office/drawing/2014/main" val="3482814710"/>
                    </a:ext>
                  </a:extLst>
                </a:gridCol>
              </a:tblGrid>
              <a:tr h="445416">
                <a:tc>
                  <a:txBody>
                    <a:bodyPr/>
                    <a:lstStyle/>
                    <a:p>
                      <a:pPr algn="ctr" fontAlgn="t"/>
                      <a:r>
                        <a:rPr lang="en-US" sz="2200">
                          <a:effectLst/>
                        </a:rPr>
                        <a:t>Operator</a:t>
                      </a:r>
                    </a:p>
                  </a:txBody>
                  <a:tcPr marL="55145" marR="55145" marT="55145" marB="55145">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tc>
                  <a:txBody>
                    <a:bodyPr/>
                    <a:lstStyle/>
                    <a:p>
                      <a:pPr algn="ctr" fontAlgn="t"/>
                      <a:r>
                        <a:rPr lang="en-US" sz="2200" dirty="0">
                          <a:effectLst/>
                        </a:rPr>
                        <a:t>Description</a:t>
                      </a:r>
                    </a:p>
                  </a:txBody>
                  <a:tcPr marL="55145" marR="55145" marT="55145" marB="55145">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tc>
                  <a:txBody>
                    <a:bodyPr/>
                    <a:lstStyle/>
                    <a:p>
                      <a:pPr algn="ctr" fontAlgn="t"/>
                      <a:r>
                        <a:rPr lang="en-US" sz="2200">
                          <a:effectLst/>
                        </a:rPr>
                        <a:t>Example</a:t>
                      </a:r>
                    </a:p>
                  </a:txBody>
                  <a:tcPr marL="55145" marR="55145" marT="55145" marB="55145">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extLst>
                  <a:ext uri="{0D108BD9-81ED-4DB2-BD59-A6C34878D82A}">
                    <a16:rowId xmlns:a16="http://schemas.microsoft.com/office/drawing/2014/main" val="3784085703"/>
                  </a:ext>
                </a:extLst>
              </a:tr>
              <a:tr h="753510">
                <a:tc>
                  <a:txBody>
                    <a:bodyPr/>
                    <a:lstStyle/>
                    <a:p>
                      <a:pPr fontAlgn="t"/>
                      <a:r>
                        <a:rPr lang="en-US" sz="2200">
                          <a:effectLst/>
                        </a:rPr>
                        <a:t>==</a:t>
                      </a:r>
                    </a:p>
                  </a:txBody>
                  <a:tcPr marL="55145" marR="55145" marT="55145" marB="55145">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sz="2200">
                          <a:effectLst/>
                        </a:rPr>
                        <a:t>Checks if the values of two operands are equal or not, if yes then condition becomes true.</a:t>
                      </a:r>
                    </a:p>
                  </a:txBody>
                  <a:tcPr marL="55145" marR="55145" marT="55145" marB="55145">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sz="2200">
                          <a:effectLst/>
                        </a:rPr>
                        <a:t>(A == B) is not true.</a:t>
                      </a:r>
                    </a:p>
                  </a:txBody>
                  <a:tcPr marL="55145" marR="55145" marT="55145" marB="55145">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745644723"/>
                  </a:ext>
                </a:extLst>
              </a:tr>
              <a:tr h="753510">
                <a:tc>
                  <a:txBody>
                    <a:bodyPr/>
                    <a:lstStyle/>
                    <a:p>
                      <a:pPr fontAlgn="t"/>
                      <a:r>
                        <a:rPr lang="en-US" sz="2200">
                          <a:effectLst/>
                        </a:rPr>
                        <a:t>!=</a:t>
                      </a:r>
                    </a:p>
                  </a:txBody>
                  <a:tcPr marL="55145" marR="55145" marT="55145" marB="55145">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sz="2200">
                          <a:effectLst/>
                        </a:rPr>
                        <a:t>Checks if the values of two operands are equal or not, if values are not equal then condition becomes true.</a:t>
                      </a:r>
                    </a:p>
                  </a:txBody>
                  <a:tcPr marL="55145" marR="55145" marT="55145" marB="55145">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sz="2200">
                          <a:effectLst/>
                        </a:rPr>
                        <a:t>(A != B) is true.</a:t>
                      </a:r>
                    </a:p>
                  </a:txBody>
                  <a:tcPr marL="55145" marR="55145" marT="55145" marB="55145">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3214707782"/>
                  </a:ext>
                </a:extLst>
              </a:tr>
              <a:tr h="764712">
                <a:tc>
                  <a:txBody>
                    <a:bodyPr/>
                    <a:lstStyle/>
                    <a:p>
                      <a:pPr fontAlgn="t"/>
                      <a:r>
                        <a:rPr lang="en-US" sz="2200">
                          <a:effectLst/>
                        </a:rPr>
                        <a:t>&gt;</a:t>
                      </a:r>
                    </a:p>
                  </a:txBody>
                  <a:tcPr marL="55145" marR="55145" marT="55145" marB="55145">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sz="2200">
                          <a:effectLst/>
                        </a:rPr>
                        <a:t>Checks if the value of left operand is greater than the value of right operand, if yes then condition becomes true.</a:t>
                      </a:r>
                    </a:p>
                  </a:txBody>
                  <a:tcPr marL="55145" marR="55145" marT="55145" marB="55145">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sz="2200">
                          <a:effectLst/>
                        </a:rPr>
                        <a:t>(A &gt; B) is not true.</a:t>
                      </a:r>
                    </a:p>
                  </a:txBody>
                  <a:tcPr marL="55145" marR="55145" marT="55145" marB="55145">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2407632220"/>
                  </a:ext>
                </a:extLst>
              </a:tr>
              <a:tr h="753510">
                <a:tc>
                  <a:txBody>
                    <a:bodyPr/>
                    <a:lstStyle/>
                    <a:p>
                      <a:pPr fontAlgn="t"/>
                      <a:r>
                        <a:rPr lang="en-US" sz="2200">
                          <a:effectLst/>
                        </a:rPr>
                        <a:t>&lt;</a:t>
                      </a:r>
                    </a:p>
                  </a:txBody>
                  <a:tcPr marL="55145" marR="55145" marT="55145" marB="55145">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sz="2200">
                          <a:effectLst/>
                        </a:rPr>
                        <a:t>Checks if the value of left operand is less than the value of right operand, if yes then condition becomes true.</a:t>
                      </a:r>
                    </a:p>
                  </a:txBody>
                  <a:tcPr marL="55145" marR="55145" marT="55145" marB="55145">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sz="2200">
                          <a:effectLst/>
                        </a:rPr>
                        <a:t>(A &lt; B) is true.</a:t>
                      </a:r>
                    </a:p>
                  </a:txBody>
                  <a:tcPr marL="55145" marR="55145" marT="55145" marB="55145">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2874055215"/>
                  </a:ext>
                </a:extLst>
              </a:tr>
              <a:tr h="764712">
                <a:tc>
                  <a:txBody>
                    <a:bodyPr/>
                    <a:lstStyle/>
                    <a:p>
                      <a:pPr fontAlgn="t"/>
                      <a:r>
                        <a:rPr lang="en-US" sz="2200">
                          <a:effectLst/>
                        </a:rPr>
                        <a:t>&gt;=</a:t>
                      </a:r>
                    </a:p>
                  </a:txBody>
                  <a:tcPr marL="55145" marR="55145" marT="55145" marB="55145">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sz="2200">
                          <a:effectLst/>
                        </a:rPr>
                        <a:t>Checks if the value of left operand is greater than or equal to the value of right operand, if yes then condition becomes true.</a:t>
                      </a:r>
                    </a:p>
                  </a:txBody>
                  <a:tcPr marL="55145" marR="55145" marT="55145" marB="55145">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sz="2200">
                          <a:effectLst/>
                        </a:rPr>
                        <a:t>(A &gt;= B) is not true.</a:t>
                      </a:r>
                    </a:p>
                  </a:txBody>
                  <a:tcPr marL="55145" marR="55145" marT="55145" marB="55145">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3731421960"/>
                  </a:ext>
                </a:extLst>
              </a:tr>
              <a:tr h="764712">
                <a:tc>
                  <a:txBody>
                    <a:bodyPr/>
                    <a:lstStyle/>
                    <a:p>
                      <a:pPr fontAlgn="t"/>
                      <a:r>
                        <a:rPr lang="en-US" sz="2200">
                          <a:effectLst/>
                        </a:rPr>
                        <a:t>&lt;=</a:t>
                      </a:r>
                    </a:p>
                  </a:txBody>
                  <a:tcPr marL="55145" marR="55145" marT="55145" marB="55145">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sz="2200">
                          <a:effectLst/>
                        </a:rPr>
                        <a:t>Checks if the value of left operand is less than or equal to the value of right operand, if yes then condition becomes true.</a:t>
                      </a:r>
                    </a:p>
                  </a:txBody>
                  <a:tcPr marL="55145" marR="55145" marT="55145" marB="55145">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sz="2200" dirty="0">
                          <a:effectLst/>
                        </a:rPr>
                        <a:t>(A &lt;= B) is true.</a:t>
                      </a:r>
                    </a:p>
                  </a:txBody>
                  <a:tcPr marL="55145" marR="55145" marT="55145" marB="55145">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271922363"/>
                  </a:ext>
                </a:extLst>
              </a:tr>
            </a:tbl>
          </a:graphicData>
        </a:graphic>
      </p:graphicFrame>
      <p:sp>
        <p:nvSpPr>
          <p:cNvPr id="5" name="TextBox 4"/>
          <p:cNvSpPr txBox="1"/>
          <p:nvPr/>
        </p:nvSpPr>
        <p:spPr>
          <a:xfrm>
            <a:off x="232011" y="805217"/>
            <a:ext cx="11723427" cy="707886"/>
          </a:xfrm>
          <a:prstGeom prst="rect">
            <a:avLst/>
          </a:prstGeom>
          <a:noFill/>
        </p:spPr>
        <p:txBody>
          <a:bodyPr wrap="square" rtlCol="0">
            <a:spAutoFit/>
          </a:bodyPr>
          <a:lstStyle/>
          <a:p>
            <a:r>
              <a:rPr lang="en-US" sz="2000" b="1" dirty="0"/>
              <a:t>Relational Operators: </a:t>
            </a:r>
            <a:r>
              <a:rPr lang="en-US" sz="2000" dirty="0"/>
              <a:t>There are following relational operators supported by C++ language. Assume variable A holds 10 and variable B holds 20</a:t>
            </a:r>
          </a:p>
        </p:txBody>
      </p:sp>
    </p:spTree>
    <p:extLst>
      <p:ext uri="{BB962C8B-B14F-4D97-AF65-F5344CB8AC3E}">
        <p14:creationId xmlns:p14="http://schemas.microsoft.com/office/powerpoint/2010/main" val="3154622891"/>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Rectangle 3"/>
          <p:cNvSpPr>
            <a:spLocks noGrp="1" noChangeArrowheads="1"/>
          </p:cNvSpPr>
          <p:nvPr>
            <p:ph type="body" idx="1"/>
          </p:nvPr>
        </p:nvSpPr>
        <p:spPr>
          <a:xfrm>
            <a:off x="815926" y="1143001"/>
            <a:ext cx="10086536" cy="5004581"/>
          </a:xfrm>
        </p:spPr>
        <p:txBody>
          <a:bodyPr anchor="t" anchorCtr="0"/>
          <a:lstStyle/>
          <a:p>
            <a:pPr eaLnBrk="1" hangingPunct="1"/>
            <a:r>
              <a:rPr lang="en-US" dirty="0"/>
              <a:t>Examples:</a:t>
            </a:r>
          </a:p>
        </p:txBody>
      </p:sp>
      <p:pic>
        <p:nvPicPr>
          <p:cNvPr id="39940"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5283" y="1923270"/>
            <a:ext cx="5518052" cy="18614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941"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5283" y="4052234"/>
            <a:ext cx="9329168" cy="13356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59786114"/>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3"/>
          <p:cNvSpPr>
            <a:spLocks noGrp="1" noChangeArrowheads="1"/>
          </p:cNvSpPr>
          <p:nvPr>
            <p:ph type="body" idx="1"/>
          </p:nvPr>
        </p:nvSpPr>
        <p:spPr>
          <a:xfrm>
            <a:off x="182880" y="990601"/>
            <a:ext cx="11816862" cy="1629769"/>
          </a:xfrm>
        </p:spPr>
        <p:txBody>
          <a:bodyPr anchor="t" anchorCtr="0"/>
          <a:lstStyle/>
          <a:p>
            <a:pPr marL="116082" indent="0" algn="ctr" eaLnBrk="1" hangingPunct="1">
              <a:buNone/>
            </a:pPr>
            <a:r>
              <a:rPr lang="en-US" b="1" dirty="0">
                <a:latin typeface="Times New Roman" panose="02020603050405020304" pitchFamily="18" charset="0"/>
                <a:cs typeface="Times New Roman" panose="02020603050405020304" pitchFamily="18" charset="0"/>
              </a:rPr>
              <a:t>Logical operators ( !, &amp;&amp;, || )</a:t>
            </a:r>
          </a:p>
          <a:p>
            <a:pPr>
              <a:buFont typeface="Wingdings" panose="05000000000000000000" pitchFamily="2" charset="2"/>
              <a:buChar char="Ø"/>
            </a:pPr>
            <a:r>
              <a:rPr lang="en-US" dirty="0"/>
              <a:t>There are following logical operators supported by C++ language. Assume variable A holds 1 and variable B holds 0</a:t>
            </a:r>
          </a:p>
          <a:p>
            <a:pPr eaLnBrk="1" hangingPunct="1"/>
            <a:endParaRPr lang="en-US" b="1" dirty="0">
              <a:latin typeface="Times New Roman" panose="02020603050405020304" pitchFamily="18" charset="0"/>
              <a:cs typeface="Times New Roman" panose="02020603050405020304" pitchFamily="18" charset="0"/>
            </a:endParaRPr>
          </a:p>
        </p:txBody>
      </p:sp>
      <p:graphicFrame>
        <p:nvGraphicFramePr>
          <p:cNvPr id="2" name="Table 1"/>
          <p:cNvGraphicFramePr>
            <a:graphicFrameLocks noGrp="1"/>
          </p:cNvGraphicFramePr>
          <p:nvPr>
            <p:extLst>
              <p:ext uri="{D42A27DB-BD31-4B8C-83A1-F6EECF244321}">
                <p14:modId xmlns:p14="http://schemas.microsoft.com/office/powerpoint/2010/main" val="4269069667"/>
              </p:ext>
            </p:extLst>
          </p:nvPr>
        </p:nvGraphicFramePr>
        <p:xfrm>
          <a:off x="395786" y="2903762"/>
          <a:ext cx="11603956" cy="3709970"/>
        </p:xfrm>
        <a:graphic>
          <a:graphicData uri="http://schemas.openxmlformats.org/drawingml/2006/table">
            <a:tbl>
              <a:tblPr/>
              <a:tblGrid>
                <a:gridCol w="1446662">
                  <a:extLst>
                    <a:ext uri="{9D8B030D-6E8A-4147-A177-3AD203B41FA5}">
                      <a16:colId xmlns:a16="http://schemas.microsoft.com/office/drawing/2014/main" val="2922365489"/>
                    </a:ext>
                  </a:extLst>
                </a:gridCol>
                <a:gridCol w="7533564">
                  <a:extLst>
                    <a:ext uri="{9D8B030D-6E8A-4147-A177-3AD203B41FA5}">
                      <a16:colId xmlns:a16="http://schemas.microsoft.com/office/drawing/2014/main" val="3911603821"/>
                    </a:ext>
                  </a:extLst>
                </a:gridCol>
                <a:gridCol w="2623730">
                  <a:extLst>
                    <a:ext uri="{9D8B030D-6E8A-4147-A177-3AD203B41FA5}">
                      <a16:colId xmlns:a16="http://schemas.microsoft.com/office/drawing/2014/main" val="1563191308"/>
                    </a:ext>
                  </a:extLst>
                </a:gridCol>
              </a:tblGrid>
              <a:tr h="398996">
                <a:tc>
                  <a:txBody>
                    <a:bodyPr/>
                    <a:lstStyle/>
                    <a:p>
                      <a:pPr algn="ctr" fontAlgn="t"/>
                      <a:r>
                        <a:rPr lang="en-US" sz="2400">
                          <a:effectLst/>
                        </a:rPr>
                        <a:t>Operator</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tc>
                  <a:txBody>
                    <a:bodyPr/>
                    <a:lstStyle/>
                    <a:p>
                      <a:pPr algn="l" fontAlgn="t"/>
                      <a:r>
                        <a:rPr lang="en-US" sz="2400" dirty="0">
                          <a:effectLst/>
                        </a:rPr>
                        <a:t>Description</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tc>
                  <a:txBody>
                    <a:bodyPr/>
                    <a:lstStyle/>
                    <a:p>
                      <a:pPr algn="l" fontAlgn="t"/>
                      <a:r>
                        <a:rPr lang="en-US" sz="2400" dirty="0">
                          <a:effectLst/>
                        </a:rPr>
                        <a:t>Example</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extLst>
                  <a:ext uri="{0D108BD9-81ED-4DB2-BD59-A6C34878D82A}">
                    <a16:rowId xmlns:a16="http://schemas.microsoft.com/office/drawing/2014/main" val="3793500710"/>
                  </a:ext>
                </a:extLst>
              </a:tr>
              <a:tr h="951731">
                <a:tc>
                  <a:txBody>
                    <a:bodyPr/>
                    <a:lstStyle/>
                    <a:p>
                      <a:pPr fontAlgn="t"/>
                      <a:r>
                        <a:rPr lang="en-US" sz="2400">
                          <a:effectLst/>
                        </a:rPr>
                        <a:t>&amp;&amp;</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sz="2400">
                          <a:effectLst/>
                        </a:rPr>
                        <a:t>Called Logical AND operator. If both the operands are non-zero, then condition becomes true.</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sz="2400">
                          <a:effectLst/>
                        </a:rPr>
                        <a:t>(A &amp;&amp; B) is false.</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2317111333"/>
                  </a:ext>
                </a:extLst>
              </a:tr>
              <a:tr h="990399">
                <a:tc>
                  <a:txBody>
                    <a:bodyPr/>
                    <a:lstStyle/>
                    <a:p>
                      <a:pPr fontAlgn="t"/>
                      <a:r>
                        <a:rPr lang="en-US" sz="2400">
                          <a:effectLst/>
                        </a:rPr>
                        <a:t>||</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sz="2400">
                          <a:effectLst/>
                        </a:rPr>
                        <a:t>Called Logical OR Operator. If any of the two operands is non-zero, then condition becomes true.</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sz="2400">
                          <a:effectLst/>
                        </a:rPr>
                        <a:t>(A || B) is true.</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370848656"/>
                  </a:ext>
                </a:extLst>
              </a:tr>
              <a:tr h="1224694">
                <a:tc>
                  <a:txBody>
                    <a:bodyPr/>
                    <a:lstStyle/>
                    <a:p>
                      <a:pPr fontAlgn="t"/>
                      <a:r>
                        <a:rPr lang="en-US" sz="2400">
                          <a:effectLst/>
                        </a:rPr>
                        <a:t>!</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sz="2400">
                          <a:effectLst/>
                        </a:rPr>
                        <a:t>Called Logical NOT Operator. Use to reverses the logical state of its operand. If a condition is true, then Logical NOT operator will make false.</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sz="2400" dirty="0">
                          <a:effectLst/>
                        </a:rPr>
                        <a:t>!(A &amp;&amp; B) is true.</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81398304"/>
                  </a:ext>
                </a:extLst>
              </a:tr>
            </a:tbl>
          </a:graphicData>
        </a:graphic>
      </p:graphicFrame>
    </p:spTree>
    <p:extLst>
      <p:ext uri="{BB962C8B-B14F-4D97-AF65-F5344CB8AC3E}">
        <p14:creationId xmlns:p14="http://schemas.microsoft.com/office/powerpoint/2010/main" val="3808932837"/>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Rectangle 3"/>
          <p:cNvSpPr>
            <a:spLocks noGrp="1" noChangeArrowheads="1"/>
          </p:cNvSpPr>
          <p:nvPr>
            <p:ph type="body" idx="1"/>
          </p:nvPr>
        </p:nvSpPr>
        <p:spPr>
          <a:xfrm>
            <a:off x="281354" y="844062"/>
            <a:ext cx="11676184" cy="5669279"/>
          </a:xfrm>
        </p:spPr>
        <p:txBody>
          <a:bodyPr anchor="t" anchorCtr="0"/>
          <a:lstStyle/>
          <a:p>
            <a:pPr eaLnBrk="1" hangingPunct="1"/>
            <a:r>
              <a:rPr lang="en-US" b="1" dirty="0"/>
              <a:t>Examples:</a:t>
            </a:r>
          </a:p>
        </p:txBody>
      </p:sp>
      <p:pic>
        <p:nvPicPr>
          <p:cNvPr id="41988"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8034" y="1719813"/>
            <a:ext cx="11250846" cy="1178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989"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8034" y="3135521"/>
            <a:ext cx="11250846" cy="8973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31500308"/>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Rectangle 3"/>
          <p:cNvSpPr>
            <a:spLocks noGrp="1" noChangeArrowheads="1"/>
          </p:cNvSpPr>
          <p:nvPr>
            <p:ph type="body" idx="1"/>
          </p:nvPr>
        </p:nvSpPr>
        <p:spPr>
          <a:xfrm>
            <a:off x="323557" y="937847"/>
            <a:ext cx="11619913" cy="5659901"/>
          </a:xfrm>
        </p:spPr>
        <p:txBody>
          <a:bodyPr anchor="t"/>
          <a:lstStyle/>
          <a:p>
            <a:pPr eaLnBrk="1" hangingPunct="1"/>
            <a:r>
              <a:rPr lang="en-US" b="1" dirty="0">
                <a:latin typeface="Times New Roman" panose="02020603050405020304" pitchFamily="18" charset="0"/>
                <a:cs typeface="Times New Roman" panose="02020603050405020304" pitchFamily="18" charset="0"/>
              </a:rPr>
              <a:t>Conditional operator ( ? ) </a:t>
            </a:r>
          </a:p>
          <a:p>
            <a:pPr eaLnBrk="1" hangingPunct="1">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evaluates an expression returning a value if that expression is true and a different one if the expression is evaluated as false. </a:t>
            </a:r>
          </a:p>
          <a:p>
            <a:pPr eaLnBrk="1" hangingPunct="1">
              <a:buFont typeface="Wingdings" pitchFamily="2" charset="2"/>
              <a:buNone/>
            </a:pPr>
            <a:r>
              <a:rPr lang="en-US" b="1" dirty="0">
                <a:latin typeface="Times New Roman" panose="02020603050405020304" pitchFamily="18" charset="0"/>
                <a:cs typeface="Times New Roman" panose="02020603050405020304" pitchFamily="18" charset="0"/>
              </a:rPr>
              <a:t>	Its format is: </a:t>
            </a:r>
          </a:p>
          <a:p>
            <a:pPr eaLnBrk="1" hangingPunct="1">
              <a:buFont typeface="Wingdings" pitchFamily="2" charset="2"/>
              <a:buNone/>
            </a:pPr>
            <a:r>
              <a:rPr lang="en-US" b="1" dirty="0">
                <a:latin typeface="Times New Roman" panose="02020603050405020304" pitchFamily="18" charset="0"/>
                <a:cs typeface="Times New Roman" panose="02020603050405020304" pitchFamily="18" charset="0"/>
              </a:rPr>
              <a:t>			condition ? result1 : result2</a:t>
            </a:r>
            <a:br>
              <a:rPr lang="en-US" b="1" dirty="0">
                <a:latin typeface="Times New Roman" panose="02020603050405020304" pitchFamily="18" charset="0"/>
                <a:cs typeface="Times New Roman" panose="02020603050405020304" pitchFamily="18" charset="0"/>
              </a:rPr>
            </a:br>
            <a:endParaRPr lang="en-US" b="1" dirty="0">
              <a:latin typeface="Times New Roman" panose="02020603050405020304" pitchFamily="18" charset="0"/>
              <a:cs typeface="Times New Roman" panose="02020603050405020304" pitchFamily="18" charset="0"/>
            </a:endParaRPr>
          </a:p>
          <a:p>
            <a:pPr eaLnBrk="1" hangingPunct="1">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If condition is true the expression will return result1, if it is not it will return result2. </a:t>
            </a:r>
          </a:p>
        </p:txBody>
      </p:sp>
    </p:spTree>
    <p:extLst>
      <p:ext uri="{BB962C8B-B14F-4D97-AF65-F5344CB8AC3E}">
        <p14:creationId xmlns:p14="http://schemas.microsoft.com/office/powerpoint/2010/main" val="1271261070"/>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Rectangle 3"/>
          <p:cNvSpPr>
            <a:spLocks noGrp="1" noChangeArrowheads="1"/>
          </p:cNvSpPr>
          <p:nvPr>
            <p:ph type="body" idx="1"/>
          </p:nvPr>
        </p:nvSpPr>
        <p:spPr>
          <a:xfrm>
            <a:off x="1651781" y="917918"/>
            <a:ext cx="8251874" cy="609599"/>
          </a:xfrm>
        </p:spPr>
        <p:txBody>
          <a:bodyPr anchor="t"/>
          <a:lstStyle/>
          <a:p>
            <a:pPr eaLnBrk="1" hangingPunct="1"/>
            <a:r>
              <a:rPr lang="en-US" dirty="0"/>
              <a:t>Example:</a:t>
            </a:r>
          </a:p>
        </p:txBody>
      </p:sp>
      <p:pic>
        <p:nvPicPr>
          <p:cNvPr id="4403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54701" y="1527517"/>
            <a:ext cx="6986545" cy="50280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19323986"/>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Rectangle 3"/>
          <p:cNvSpPr>
            <a:spLocks noGrp="1" noChangeArrowheads="1"/>
          </p:cNvSpPr>
          <p:nvPr>
            <p:ph type="body" idx="1"/>
          </p:nvPr>
        </p:nvSpPr>
        <p:spPr>
          <a:xfrm>
            <a:off x="393895" y="984739"/>
            <a:ext cx="11352627" cy="5472332"/>
          </a:xfrm>
        </p:spPr>
        <p:txBody>
          <a:bodyPr anchor="t"/>
          <a:lstStyle/>
          <a:p>
            <a:pPr eaLnBrk="1" hangingPunct="1"/>
            <a:r>
              <a:rPr lang="en-US" sz="3200" b="1" dirty="0">
                <a:latin typeface="Times New Roman" panose="02020603050405020304" pitchFamily="18" charset="0"/>
                <a:cs typeface="Times New Roman" panose="02020603050405020304" pitchFamily="18" charset="0"/>
              </a:rPr>
              <a:t>Comma operator ( , )</a:t>
            </a:r>
            <a:r>
              <a:rPr lang="en-US" sz="3200" dirty="0">
                <a:latin typeface="Times New Roman" panose="02020603050405020304" pitchFamily="18" charset="0"/>
                <a:cs typeface="Times New Roman" panose="02020603050405020304" pitchFamily="18" charset="0"/>
              </a:rPr>
              <a:t> </a:t>
            </a:r>
          </a:p>
          <a:p>
            <a:pPr eaLnBrk="1" hangingPunct="1">
              <a:buFont typeface="Wingdings" panose="05000000000000000000" pitchFamily="2" charset="2"/>
              <a:buChar char="Ø"/>
            </a:pPr>
            <a:r>
              <a:rPr lang="en-US" sz="3200" dirty="0">
                <a:latin typeface="Times New Roman" panose="02020603050405020304" pitchFamily="18" charset="0"/>
                <a:cs typeface="Times New Roman" panose="02020603050405020304" pitchFamily="18" charset="0"/>
              </a:rPr>
              <a:t>used to separate two or more expressions that are included where only one expression is expected. When the set of expressions has to be evaluated for a value, only the rightmost expression is considered. </a:t>
            </a:r>
          </a:p>
          <a:p>
            <a:pPr eaLnBrk="1" hangingPunct="1">
              <a:buFont typeface="Wingdings" pitchFamily="2" charset="2"/>
              <a:buNone/>
            </a:pPr>
            <a:r>
              <a:rPr lang="en-US" sz="3200" dirty="0">
                <a:latin typeface="Times New Roman" panose="02020603050405020304" pitchFamily="18" charset="0"/>
                <a:cs typeface="Times New Roman" panose="02020603050405020304" pitchFamily="18" charset="0"/>
              </a:rPr>
              <a:t>	For example, the following code: </a:t>
            </a:r>
          </a:p>
          <a:p>
            <a:pPr eaLnBrk="1" hangingPunct="1">
              <a:buFont typeface="Wingdings" pitchFamily="2" charset="2"/>
              <a:buNone/>
            </a:pPr>
            <a:r>
              <a:rPr lang="en-US" sz="3200" b="1" dirty="0">
                <a:latin typeface="Times New Roman" panose="02020603050405020304" pitchFamily="18" charset="0"/>
                <a:cs typeface="Times New Roman" panose="02020603050405020304" pitchFamily="18" charset="0"/>
              </a:rPr>
              <a:t>				a = (b=3, b+2);</a:t>
            </a:r>
            <a:r>
              <a:rPr lang="en-US" sz="3200"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2129557220"/>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Rectangle 3"/>
          <p:cNvSpPr>
            <a:spLocks noGrp="1" noChangeArrowheads="1"/>
          </p:cNvSpPr>
          <p:nvPr>
            <p:ph type="body" idx="1"/>
          </p:nvPr>
        </p:nvSpPr>
        <p:spPr>
          <a:xfrm>
            <a:off x="351693" y="1143002"/>
            <a:ext cx="11619914" cy="1095232"/>
          </a:xfrm>
        </p:spPr>
        <p:txBody>
          <a:bodyPr anchor="t"/>
          <a:lstStyle/>
          <a:p>
            <a:pPr eaLnBrk="1" hangingPunct="1"/>
            <a:r>
              <a:rPr lang="en-US" sz="3200" b="1" dirty="0">
                <a:latin typeface="Times New Roman" panose="02020603050405020304" pitchFamily="18" charset="0"/>
                <a:cs typeface="Times New Roman" panose="02020603050405020304" pitchFamily="18" charset="0"/>
              </a:rPr>
              <a:t>Bitwise Operators - </a:t>
            </a:r>
            <a:r>
              <a:rPr lang="en-US" dirty="0"/>
              <a:t>Bitwise operator works on bits and perform bit-by-bit operation. The truth tables for &amp;, |, and ^ are as follows: </a:t>
            </a:r>
            <a:endParaRPr lang="en-US" sz="3200" dirty="0">
              <a:latin typeface="Times New Roman" panose="02020603050405020304" pitchFamily="18" charset="0"/>
              <a:cs typeface="Times New Roman" panose="02020603050405020304" pitchFamily="18" charset="0"/>
            </a:endParaRPr>
          </a:p>
        </p:txBody>
      </p:sp>
      <p:graphicFrame>
        <p:nvGraphicFramePr>
          <p:cNvPr id="2" name="Table 1"/>
          <p:cNvGraphicFramePr>
            <a:graphicFrameLocks noGrp="1"/>
          </p:cNvGraphicFramePr>
          <p:nvPr>
            <p:extLst>
              <p:ext uri="{D42A27DB-BD31-4B8C-83A1-F6EECF244321}">
                <p14:modId xmlns:p14="http://schemas.microsoft.com/office/powerpoint/2010/main" val="4184300913"/>
              </p:ext>
            </p:extLst>
          </p:nvPr>
        </p:nvGraphicFramePr>
        <p:xfrm>
          <a:off x="1117178" y="2356345"/>
          <a:ext cx="7098772" cy="2895600"/>
        </p:xfrm>
        <a:graphic>
          <a:graphicData uri="http://schemas.openxmlformats.org/drawingml/2006/table">
            <a:tbl>
              <a:tblPr/>
              <a:tblGrid>
                <a:gridCol w="1419678">
                  <a:extLst>
                    <a:ext uri="{9D8B030D-6E8A-4147-A177-3AD203B41FA5}">
                      <a16:colId xmlns:a16="http://schemas.microsoft.com/office/drawing/2014/main" val="362133794"/>
                    </a:ext>
                  </a:extLst>
                </a:gridCol>
                <a:gridCol w="1419678">
                  <a:extLst>
                    <a:ext uri="{9D8B030D-6E8A-4147-A177-3AD203B41FA5}">
                      <a16:colId xmlns:a16="http://schemas.microsoft.com/office/drawing/2014/main" val="1487757960"/>
                    </a:ext>
                  </a:extLst>
                </a:gridCol>
                <a:gridCol w="1419678">
                  <a:extLst>
                    <a:ext uri="{9D8B030D-6E8A-4147-A177-3AD203B41FA5}">
                      <a16:colId xmlns:a16="http://schemas.microsoft.com/office/drawing/2014/main" val="2213613431"/>
                    </a:ext>
                  </a:extLst>
                </a:gridCol>
                <a:gridCol w="1419678">
                  <a:extLst>
                    <a:ext uri="{9D8B030D-6E8A-4147-A177-3AD203B41FA5}">
                      <a16:colId xmlns:a16="http://schemas.microsoft.com/office/drawing/2014/main" val="1634172551"/>
                    </a:ext>
                  </a:extLst>
                </a:gridCol>
                <a:gridCol w="1420060">
                  <a:extLst>
                    <a:ext uri="{9D8B030D-6E8A-4147-A177-3AD203B41FA5}">
                      <a16:colId xmlns:a16="http://schemas.microsoft.com/office/drawing/2014/main" val="3725354717"/>
                    </a:ext>
                  </a:extLst>
                </a:gridCol>
              </a:tblGrid>
              <a:tr h="366704">
                <a:tc>
                  <a:txBody>
                    <a:bodyPr/>
                    <a:lstStyle/>
                    <a:p>
                      <a:pPr algn="ctr" fontAlgn="t"/>
                      <a:r>
                        <a:rPr lang="en-US" sz="2800">
                          <a:effectLst/>
                        </a:rPr>
                        <a:t>p</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tc>
                  <a:txBody>
                    <a:bodyPr/>
                    <a:lstStyle/>
                    <a:p>
                      <a:pPr algn="ctr" fontAlgn="t"/>
                      <a:r>
                        <a:rPr lang="en-US" sz="2800">
                          <a:effectLst/>
                        </a:rPr>
                        <a:t>q</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tc>
                  <a:txBody>
                    <a:bodyPr/>
                    <a:lstStyle/>
                    <a:p>
                      <a:pPr algn="ctr" fontAlgn="t"/>
                      <a:r>
                        <a:rPr lang="en-US" sz="2800">
                          <a:effectLst/>
                        </a:rPr>
                        <a:t>p &amp; q</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tc>
                  <a:txBody>
                    <a:bodyPr/>
                    <a:lstStyle/>
                    <a:p>
                      <a:pPr algn="ctr" fontAlgn="t"/>
                      <a:r>
                        <a:rPr lang="en-US" sz="2800">
                          <a:effectLst/>
                        </a:rPr>
                        <a:t>p | q</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tc>
                  <a:txBody>
                    <a:bodyPr/>
                    <a:lstStyle/>
                    <a:p>
                      <a:pPr algn="ctr" fontAlgn="t"/>
                      <a:r>
                        <a:rPr lang="en-US" sz="2800">
                          <a:effectLst/>
                        </a:rPr>
                        <a:t>p ^ q</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extLst>
                  <a:ext uri="{0D108BD9-81ED-4DB2-BD59-A6C34878D82A}">
                    <a16:rowId xmlns:a16="http://schemas.microsoft.com/office/drawing/2014/main" val="414017624"/>
                  </a:ext>
                </a:extLst>
              </a:tr>
              <a:tr h="366704">
                <a:tc>
                  <a:txBody>
                    <a:bodyPr/>
                    <a:lstStyle/>
                    <a:p>
                      <a:pPr algn="ctr" fontAlgn="t"/>
                      <a:r>
                        <a:rPr lang="en-US" sz="2800">
                          <a:effectLst/>
                        </a:rPr>
                        <a:t>0</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fontAlgn="t"/>
                      <a:r>
                        <a:rPr lang="en-US" sz="2800">
                          <a:effectLst/>
                        </a:rPr>
                        <a:t>0</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fontAlgn="t"/>
                      <a:r>
                        <a:rPr lang="en-US" sz="2800">
                          <a:effectLst/>
                        </a:rPr>
                        <a:t>0</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fontAlgn="t"/>
                      <a:r>
                        <a:rPr lang="en-US" sz="2800">
                          <a:effectLst/>
                        </a:rPr>
                        <a:t>0</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fontAlgn="t"/>
                      <a:r>
                        <a:rPr lang="en-US" sz="2800">
                          <a:effectLst/>
                        </a:rPr>
                        <a:t>0</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3850464824"/>
                  </a:ext>
                </a:extLst>
              </a:tr>
              <a:tr h="366704">
                <a:tc>
                  <a:txBody>
                    <a:bodyPr/>
                    <a:lstStyle/>
                    <a:p>
                      <a:pPr algn="ctr" fontAlgn="t"/>
                      <a:r>
                        <a:rPr lang="en-US" sz="2800">
                          <a:effectLst/>
                        </a:rPr>
                        <a:t>0</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fontAlgn="t"/>
                      <a:r>
                        <a:rPr lang="en-US" sz="2800">
                          <a:effectLst/>
                        </a:rPr>
                        <a:t>1</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fontAlgn="t"/>
                      <a:r>
                        <a:rPr lang="en-US" sz="2800">
                          <a:effectLst/>
                        </a:rPr>
                        <a:t>0</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fontAlgn="t"/>
                      <a:r>
                        <a:rPr lang="en-US" sz="2800">
                          <a:effectLst/>
                        </a:rPr>
                        <a:t>1</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fontAlgn="t"/>
                      <a:r>
                        <a:rPr lang="en-US" sz="2800">
                          <a:effectLst/>
                        </a:rPr>
                        <a:t>1</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3645644560"/>
                  </a:ext>
                </a:extLst>
              </a:tr>
              <a:tr h="366704">
                <a:tc>
                  <a:txBody>
                    <a:bodyPr/>
                    <a:lstStyle/>
                    <a:p>
                      <a:pPr algn="ctr" fontAlgn="t"/>
                      <a:r>
                        <a:rPr lang="en-US" sz="2800">
                          <a:effectLst/>
                        </a:rPr>
                        <a:t>1</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fontAlgn="t"/>
                      <a:r>
                        <a:rPr lang="en-US" sz="2800">
                          <a:effectLst/>
                        </a:rPr>
                        <a:t>1</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fontAlgn="t"/>
                      <a:r>
                        <a:rPr lang="en-US" sz="2800">
                          <a:effectLst/>
                        </a:rPr>
                        <a:t>1</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fontAlgn="t"/>
                      <a:r>
                        <a:rPr lang="en-US" sz="2800">
                          <a:effectLst/>
                        </a:rPr>
                        <a:t>1</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fontAlgn="t"/>
                      <a:r>
                        <a:rPr lang="en-US" sz="2800">
                          <a:effectLst/>
                        </a:rPr>
                        <a:t>0</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535374894"/>
                  </a:ext>
                </a:extLst>
              </a:tr>
              <a:tr h="366704">
                <a:tc>
                  <a:txBody>
                    <a:bodyPr/>
                    <a:lstStyle/>
                    <a:p>
                      <a:pPr algn="ctr" fontAlgn="t"/>
                      <a:r>
                        <a:rPr lang="en-US" sz="2800">
                          <a:effectLst/>
                        </a:rPr>
                        <a:t>1</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fontAlgn="t"/>
                      <a:r>
                        <a:rPr lang="en-US" sz="2800">
                          <a:effectLst/>
                        </a:rPr>
                        <a:t>0</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fontAlgn="t"/>
                      <a:r>
                        <a:rPr lang="en-US" sz="2800">
                          <a:effectLst/>
                        </a:rPr>
                        <a:t>0</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fontAlgn="t"/>
                      <a:r>
                        <a:rPr lang="en-US" sz="2800">
                          <a:effectLst/>
                        </a:rPr>
                        <a:t>1</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fontAlgn="t"/>
                      <a:r>
                        <a:rPr lang="en-US" sz="2800" dirty="0">
                          <a:effectLst/>
                        </a:rPr>
                        <a:t>1</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344840067"/>
                  </a:ext>
                </a:extLst>
              </a:tr>
            </a:tbl>
          </a:graphicData>
        </a:graphic>
      </p:graphicFrame>
    </p:spTree>
    <p:extLst>
      <p:ext uri="{BB962C8B-B14F-4D97-AF65-F5344CB8AC3E}">
        <p14:creationId xmlns:p14="http://schemas.microsoft.com/office/powerpoint/2010/main" val="3106095962"/>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68490" y="928048"/>
            <a:ext cx="11491414" cy="5704764"/>
          </a:xfrm>
        </p:spPr>
        <p:txBody>
          <a:bodyPr anchor="t"/>
          <a:lstStyle/>
          <a:p>
            <a:pPr marL="116082" indent="0" algn="just">
              <a:buNone/>
            </a:pPr>
            <a:r>
              <a:rPr lang="en-US" sz="2600" dirty="0">
                <a:solidFill>
                  <a:srgbClr val="000000"/>
                </a:solidFill>
                <a:latin typeface="Arial" panose="020B0604020202020204" pitchFamily="34" charset="0"/>
              </a:rPr>
              <a:t>Assume if A = 60; and B = 13; now in binary format they will be as follows −</a:t>
            </a:r>
          </a:p>
          <a:p>
            <a:pPr marL="116082" indent="0" algn="just">
              <a:buNone/>
            </a:pPr>
            <a:r>
              <a:rPr lang="en-US" sz="2600" dirty="0">
                <a:solidFill>
                  <a:srgbClr val="000000"/>
                </a:solidFill>
                <a:latin typeface="Arial" panose="020B0604020202020204" pitchFamily="34" charset="0"/>
              </a:rPr>
              <a:t>A = 0011 1100</a:t>
            </a:r>
          </a:p>
          <a:p>
            <a:pPr marL="116082" indent="0" algn="just">
              <a:buNone/>
            </a:pPr>
            <a:r>
              <a:rPr lang="en-US" sz="2600" dirty="0">
                <a:solidFill>
                  <a:srgbClr val="000000"/>
                </a:solidFill>
                <a:latin typeface="Arial" panose="020B0604020202020204" pitchFamily="34" charset="0"/>
              </a:rPr>
              <a:t>B = 0000 1101</a:t>
            </a:r>
          </a:p>
          <a:p>
            <a:pPr marL="116082" indent="0" algn="just">
              <a:buNone/>
            </a:pPr>
            <a:r>
              <a:rPr lang="en-US" sz="2600" dirty="0">
                <a:solidFill>
                  <a:srgbClr val="000000"/>
                </a:solidFill>
                <a:latin typeface="Arial" panose="020B0604020202020204" pitchFamily="34" charset="0"/>
              </a:rPr>
              <a:t>-----------------</a:t>
            </a:r>
          </a:p>
          <a:p>
            <a:pPr marL="116082" indent="0" algn="just">
              <a:buNone/>
            </a:pPr>
            <a:r>
              <a:rPr lang="en-US" sz="2600" dirty="0">
                <a:solidFill>
                  <a:srgbClr val="000000"/>
                </a:solidFill>
                <a:latin typeface="Arial" panose="020B0604020202020204" pitchFamily="34" charset="0"/>
              </a:rPr>
              <a:t>A&amp;B = 0000 1100</a:t>
            </a:r>
          </a:p>
          <a:p>
            <a:pPr marL="116082" indent="0" algn="just">
              <a:buNone/>
            </a:pPr>
            <a:r>
              <a:rPr lang="en-US" sz="2600" dirty="0">
                <a:solidFill>
                  <a:srgbClr val="000000"/>
                </a:solidFill>
                <a:latin typeface="Arial" panose="020B0604020202020204" pitchFamily="34" charset="0"/>
              </a:rPr>
              <a:t>A|B = 0011 1101</a:t>
            </a:r>
          </a:p>
          <a:p>
            <a:pPr marL="116082" indent="0" algn="just">
              <a:buNone/>
            </a:pPr>
            <a:r>
              <a:rPr lang="en-US" sz="2600" dirty="0">
                <a:solidFill>
                  <a:srgbClr val="000000"/>
                </a:solidFill>
                <a:latin typeface="Arial" panose="020B0604020202020204" pitchFamily="34" charset="0"/>
              </a:rPr>
              <a:t>A^B = 0011 0001</a:t>
            </a:r>
          </a:p>
          <a:p>
            <a:pPr marL="116082" indent="0" algn="just">
              <a:buNone/>
            </a:pPr>
            <a:r>
              <a:rPr lang="en-US" sz="2600" dirty="0">
                <a:solidFill>
                  <a:srgbClr val="000000"/>
                </a:solidFill>
                <a:latin typeface="Arial" panose="020B0604020202020204" pitchFamily="34" charset="0"/>
              </a:rPr>
              <a:t>~A  = 1100 0011</a:t>
            </a:r>
          </a:p>
          <a:p>
            <a:pPr marL="116082" indent="0" algn="just">
              <a:buNone/>
            </a:pPr>
            <a:r>
              <a:rPr lang="en-US" sz="2600" dirty="0">
                <a:solidFill>
                  <a:srgbClr val="000000"/>
                </a:solidFill>
                <a:latin typeface="Arial" panose="020B0604020202020204" pitchFamily="34" charset="0"/>
              </a:rPr>
              <a:t>The Bitwise operators supported by C++ language are listed in the following table. </a:t>
            </a:r>
            <a:r>
              <a:rPr lang="en-US" dirty="0"/>
              <a:t>Assume variable A holds 60 and variable B holds 13.</a:t>
            </a:r>
            <a:endParaRPr lang="en-US" sz="2600" dirty="0">
              <a:solidFill>
                <a:srgbClr val="000000"/>
              </a:solidFill>
              <a:latin typeface="Arial" panose="020B0604020202020204" pitchFamily="34" charset="0"/>
            </a:endParaRPr>
          </a:p>
        </p:txBody>
      </p:sp>
    </p:spTree>
    <p:extLst>
      <p:ext uri="{BB962C8B-B14F-4D97-AF65-F5344CB8AC3E}">
        <p14:creationId xmlns:p14="http://schemas.microsoft.com/office/powerpoint/2010/main" val="3473647725"/>
      </p:ext>
    </p:extLst>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2275079397"/>
              </p:ext>
            </p:extLst>
          </p:nvPr>
        </p:nvGraphicFramePr>
        <p:xfrm>
          <a:off x="163772" y="818865"/>
          <a:ext cx="11832609" cy="5638352"/>
        </p:xfrm>
        <a:graphic>
          <a:graphicData uri="http://schemas.openxmlformats.org/drawingml/2006/table">
            <a:tbl>
              <a:tblPr/>
              <a:tblGrid>
                <a:gridCol w="1132765">
                  <a:extLst>
                    <a:ext uri="{9D8B030D-6E8A-4147-A177-3AD203B41FA5}">
                      <a16:colId xmlns:a16="http://schemas.microsoft.com/office/drawing/2014/main" val="4237695684"/>
                    </a:ext>
                  </a:extLst>
                </a:gridCol>
                <a:gridCol w="5375170">
                  <a:extLst>
                    <a:ext uri="{9D8B030D-6E8A-4147-A177-3AD203B41FA5}">
                      <a16:colId xmlns:a16="http://schemas.microsoft.com/office/drawing/2014/main" val="2308700926"/>
                    </a:ext>
                  </a:extLst>
                </a:gridCol>
                <a:gridCol w="5324674">
                  <a:extLst>
                    <a:ext uri="{9D8B030D-6E8A-4147-A177-3AD203B41FA5}">
                      <a16:colId xmlns:a16="http://schemas.microsoft.com/office/drawing/2014/main" val="1191252297"/>
                    </a:ext>
                  </a:extLst>
                </a:gridCol>
              </a:tblGrid>
              <a:tr h="368490">
                <a:tc>
                  <a:txBody>
                    <a:bodyPr/>
                    <a:lstStyle/>
                    <a:p>
                      <a:pPr algn="ctr" fontAlgn="t"/>
                      <a:r>
                        <a:rPr lang="en-US" sz="2000">
                          <a:effectLst/>
                        </a:rPr>
                        <a:t>Operator</a:t>
                      </a:r>
                    </a:p>
                  </a:txBody>
                  <a:tcPr marL="64137" marR="64137" marT="64137" marB="64137">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tc>
                  <a:txBody>
                    <a:bodyPr/>
                    <a:lstStyle/>
                    <a:p>
                      <a:pPr algn="ctr" fontAlgn="t"/>
                      <a:r>
                        <a:rPr lang="en-US" sz="2000" dirty="0">
                          <a:effectLst/>
                        </a:rPr>
                        <a:t>Description</a:t>
                      </a:r>
                    </a:p>
                  </a:txBody>
                  <a:tcPr marL="64137" marR="64137" marT="64137" marB="64137">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tc>
                  <a:txBody>
                    <a:bodyPr/>
                    <a:lstStyle/>
                    <a:p>
                      <a:pPr algn="ctr" fontAlgn="t"/>
                      <a:r>
                        <a:rPr lang="en-US" sz="2000">
                          <a:effectLst/>
                        </a:rPr>
                        <a:t>Example</a:t>
                      </a:r>
                    </a:p>
                  </a:txBody>
                  <a:tcPr marL="64137" marR="64137" marT="64137" marB="64137">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extLst>
                  <a:ext uri="{0D108BD9-81ED-4DB2-BD59-A6C34878D82A}">
                    <a16:rowId xmlns:a16="http://schemas.microsoft.com/office/drawing/2014/main" val="2823872734"/>
                  </a:ext>
                </a:extLst>
              </a:tr>
              <a:tr h="672395">
                <a:tc>
                  <a:txBody>
                    <a:bodyPr/>
                    <a:lstStyle/>
                    <a:p>
                      <a:pPr fontAlgn="t"/>
                      <a:r>
                        <a:rPr lang="en-US" sz="2000">
                          <a:effectLst/>
                        </a:rPr>
                        <a:t>&amp;</a:t>
                      </a:r>
                    </a:p>
                  </a:txBody>
                  <a:tcPr marL="64137" marR="64137" marT="64137" marB="64137">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sz="2000">
                          <a:effectLst/>
                        </a:rPr>
                        <a:t>Binary AND Operator copies a bit to the result if it exists in both operands.</a:t>
                      </a:r>
                    </a:p>
                  </a:txBody>
                  <a:tcPr marL="64137" marR="64137" marT="64137" marB="64137">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ctr"/>
                      <a:r>
                        <a:rPr lang="en-US" sz="2000">
                          <a:effectLst/>
                        </a:rPr>
                        <a:t>(A &amp; B) will give 12 which is 0000 1100</a:t>
                      </a:r>
                    </a:p>
                  </a:txBody>
                  <a:tcPr marL="64137" marR="64137" marT="64137" marB="64137"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589965241"/>
                  </a:ext>
                </a:extLst>
              </a:tr>
              <a:tr h="616909">
                <a:tc>
                  <a:txBody>
                    <a:bodyPr/>
                    <a:lstStyle/>
                    <a:p>
                      <a:pPr fontAlgn="t"/>
                      <a:r>
                        <a:rPr lang="en-US" sz="2000">
                          <a:effectLst/>
                        </a:rPr>
                        <a:t>|</a:t>
                      </a:r>
                    </a:p>
                  </a:txBody>
                  <a:tcPr marL="64137" marR="64137" marT="64137" marB="64137">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sz="2000">
                          <a:effectLst/>
                        </a:rPr>
                        <a:t>Binary OR Operator copies a bit if it exists in either operand.</a:t>
                      </a:r>
                    </a:p>
                  </a:txBody>
                  <a:tcPr marL="64137" marR="64137" marT="64137" marB="64137">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sz="2000">
                          <a:effectLst/>
                        </a:rPr>
                        <a:t>(A | B) will give 61 which is 0011 1101</a:t>
                      </a:r>
                    </a:p>
                  </a:txBody>
                  <a:tcPr marL="64137" marR="64137" marT="64137" marB="64137">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267651463"/>
                  </a:ext>
                </a:extLst>
              </a:tr>
              <a:tr h="697901">
                <a:tc>
                  <a:txBody>
                    <a:bodyPr/>
                    <a:lstStyle/>
                    <a:p>
                      <a:pPr fontAlgn="t"/>
                      <a:r>
                        <a:rPr lang="en-US" sz="2000">
                          <a:effectLst/>
                        </a:rPr>
                        <a:t>^</a:t>
                      </a:r>
                    </a:p>
                  </a:txBody>
                  <a:tcPr marL="64137" marR="64137" marT="64137" marB="64137">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sz="2000">
                          <a:effectLst/>
                        </a:rPr>
                        <a:t>Binary XOR Operator copies the bit if it is set in one operand but not both.</a:t>
                      </a:r>
                    </a:p>
                  </a:txBody>
                  <a:tcPr marL="64137" marR="64137" marT="64137" marB="64137">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ctr"/>
                      <a:r>
                        <a:rPr lang="en-US" sz="2000">
                          <a:effectLst/>
                        </a:rPr>
                        <a:t>(A ^ B) will give 49 which is 0011 0001</a:t>
                      </a:r>
                    </a:p>
                  </a:txBody>
                  <a:tcPr marL="64137" marR="64137" marT="64137" marB="64137"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493517221"/>
                  </a:ext>
                </a:extLst>
              </a:tr>
              <a:tr h="847210">
                <a:tc>
                  <a:txBody>
                    <a:bodyPr/>
                    <a:lstStyle/>
                    <a:p>
                      <a:pPr fontAlgn="t"/>
                      <a:r>
                        <a:rPr lang="en-US" sz="2000">
                          <a:effectLst/>
                        </a:rPr>
                        <a:t>~</a:t>
                      </a:r>
                    </a:p>
                  </a:txBody>
                  <a:tcPr marL="64137" marR="64137" marT="64137" marB="64137">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sz="2000" dirty="0">
                          <a:effectLst/>
                        </a:rPr>
                        <a:t>Binary Ones Complement Operator is unary and has the effect of 'flipping' bits.</a:t>
                      </a:r>
                    </a:p>
                  </a:txBody>
                  <a:tcPr marL="64137" marR="64137" marT="64137" marB="64137">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sz="2000">
                          <a:effectLst/>
                        </a:rPr>
                        <a:t>(~A ) will give -61 which is 1100 0011 in 2's complement form due to a signed binary number.</a:t>
                      </a:r>
                    </a:p>
                  </a:txBody>
                  <a:tcPr marL="64137" marR="64137" marT="64137" marB="64137">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2579786050"/>
                  </a:ext>
                </a:extLst>
              </a:tr>
              <a:tr h="1072223">
                <a:tc>
                  <a:txBody>
                    <a:bodyPr/>
                    <a:lstStyle/>
                    <a:p>
                      <a:pPr fontAlgn="t"/>
                      <a:r>
                        <a:rPr lang="en-US" sz="2000">
                          <a:effectLst/>
                        </a:rPr>
                        <a:t>&lt;&lt;</a:t>
                      </a:r>
                    </a:p>
                  </a:txBody>
                  <a:tcPr marL="64137" marR="64137" marT="64137" marB="64137">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sz="2000">
                          <a:effectLst/>
                        </a:rPr>
                        <a:t>Binary Left Shift Operator. The left operands value is moved left by the number of bits specified by the right operand.</a:t>
                      </a:r>
                    </a:p>
                  </a:txBody>
                  <a:tcPr marL="64137" marR="64137" marT="64137" marB="64137">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ctr"/>
                      <a:r>
                        <a:rPr lang="en-US" sz="2000">
                          <a:effectLst/>
                        </a:rPr>
                        <a:t>A &lt;&lt; 2 will give 240 which is 1111 0000</a:t>
                      </a:r>
                    </a:p>
                  </a:txBody>
                  <a:tcPr marL="64137" marR="64137" marT="64137" marB="64137"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18533484"/>
                  </a:ext>
                </a:extLst>
              </a:tr>
              <a:tr h="1072223">
                <a:tc>
                  <a:txBody>
                    <a:bodyPr/>
                    <a:lstStyle/>
                    <a:p>
                      <a:pPr fontAlgn="t"/>
                      <a:r>
                        <a:rPr lang="en-US" sz="2000">
                          <a:effectLst/>
                        </a:rPr>
                        <a:t>&gt;&gt;</a:t>
                      </a:r>
                    </a:p>
                  </a:txBody>
                  <a:tcPr marL="64137" marR="64137" marT="64137" marB="64137">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sz="2000">
                          <a:effectLst/>
                        </a:rPr>
                        <a:t>Binary Right Shift Operator. The left operands value is moved right by the number of bits specified by the right operand.</a:t>
                      </a:r>
                    </a:p>
                  </a:txBody>
                  <a:tcPr marL="64137" marR="64137" marT="64137" marB="64137">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ctr"/>
                      <a:r>
                        <a:rPr lang="en-US" sz="2000" dirty="0">
                          <a:effectLst/>
                        </a:rPr>
                        <a:t>A &gt;&gt; 2 will give 15 which is 0000 1111</a:t>
                      </a:r>
                    </a:p>
                  </a:txBody>
                  <a:tcPr marL="64137" marR="64137" marT="64137" marB="64137"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3718927843"/>
                  </a:ext>
                </a:extLst>
              </a:tr>
            </a:tbl>
          </a:graphicData>
        </a:graphic>
      </p:graphicFrame>
    </p:spTree>
    <p:extLst>
      <p:ext uri="{BB962C8B-B14F-4D97-AF65-F5344CB8AC3E}">
        <p14:creationId xmlns:p14="http://schemas.microsoft.com/office/powerpoint/2010/main" val="1807688501"/>
      </p:ext>
    </p:extLst>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3"/>
          <p:cNvSpPr>
            <a:spLocks noGrp="1" noChangeArrowheads="1"/>
          </p:cNvSpPr>
          <p:nvPr>
            <p:ph type="body" idx="1"/>
          </p:nvPr>
        </p:nvSpPr>
        <p:spPr>
          <a:xfrm>
            <a:off x="337625" y="900332"/>
            <a:ext cx="11605845" cy="5683347"/>
          </a:xfrm>
        </p:spPr>
        <p:txBody>
          <a:bodyPr anchor="t"/>
          <a:lstStyle/>
          <a:p>
            <a:pPr eaLnBrk="1" hangingPunct="1"/>
            <a:r>
              <a:rPr lang="en-US" sz="2800" b="1" dirty="0"/>
              <a:t>Explicit type casting operator:</a:t>
            </a:r>
          </a:p>
          <a:p>
            <a:pPr eaLnBrk="1" hangingPunct="1">
              <a:buFont typeface="Wingdings" pitchFamily="2" charset="2"/>
              <a:buNone/>
            </a:pPr>
            <a:r>
              <a:rPr lang="en-US" sz="2800" dirty="0"/>
              <a:t>    </a:t>
            </a:r>
            <a:r>
              <a:rPr lang="en-US" sz="2800" b="1" dirty="0"/>
              <a:t>Type casting operators - </a:t>
            </a:r>
            <a:r>
              <a:rPr lang="en-US" sz="2800" dirty="0"/>
              <a:t>allow you to convert a datum of a given type to another.  For Example:</a:t>
            </a:r>
          </a:p>
          <a:p>
            <a:pPr eaLnBrk="1" hangingPunct="1">
              <a:buFont typeface="Wingdings" pitchFamily="2" charset="2"/>
              <a:buNone/>
            </a:pPr>
            <a:r>
              <a:rPr lang="en-US" sz="2800" b="1" dirty="0"/>
              <a:t>		int i; </a:t>
            </a:r>
          </a:p>
          <a:p>
            <a:pPr eaLnBrk="1" hangingPunct="1">
              <a:buFont typeface="Wingdings" pitchFamily="2" charset="2"/>
              <a:buNone/>
            </a:pPr>
            <a:r>
              <a:rPr lang="en-US" sz="2800" b="1" dirty="0"/>
              <a:t>		float f = 3.14; </a:t>
            </a:r>
          </a:p>
          <a:p>
            <a:pPr eaLnBrk="1" hangingPunct="1">
              <a:buFont typeface="Wingdings" pitchFamily="2" charset="2"/>
              <a:buNone/>
            </a:pPr>
            <a:r>
              <a:rPr lang="en-US" sz="2800" b="1" dirty="0"/>
              <a:t>		i = (int) f;    //convert the value of </a:t>
            </a:r>
            <a:r>
              <a:rPr lang="en-US" sz="2800" b="1" i="1" dirty="0"/>
              <a:t>f </a:t>
            </a:r>
            <a:r>
              <a:rPr lang="en-US" sz="2800" b="1" dirty="0"/>
              <a:t>(which is float) into integer </a:t>
            </a:r>
            <a:endParaRPr lang="en-US" sz="2800" dirty="0"/>
          </a:p>
          <a:p>
            <a:pPr lvl="1" eaLnBrk="1" hangingPunct="1"/>
            <a:r>
              <a:rPr lang="en-US" sz="2800" dirty="0"/>
              <a:t>Here, the typecasting operator was (int). </a:t>
            </a:r>
          </a:p>
          <a:p>
            <a:pPr lvl="1" eaLnBrk="1" hangingPunct="1"/>
            <a:r>
              <a:rPr lang="en-US" sz="2800" dirty="0"/>
              <a:t>Another way to do the same thing in C++ is:</a:t>
            </a:r>
            <a:endParaRPr lang="en-US" sz="2800" b="1" dirty="0"/>
          </a:p>
          <a:p>
            <a:pPr lvl="1" eaLnBrk="1" hangingPunct="1">
              <a:buFont typeface="Wingdings" pitchFamily="2" charset="2"/>
              <a:buNone/>
            </a:pPr>
            <a:r>
              <a:rPr lang="en-US" sz="2800" b="1" dirty="0"/>
              <a:t>		i = int ( f );</a:t>
            </a:r>
            <a:r>
              <a:rPr lang="en-US" sz="2800" dirty="0"/>
              <a:t> </a:t>
            </a:r>
          </a:p>
        </p:txBody>
      </p:sp>
    </p:spTree>
    <p:extLst>
      <p:ext uri="{BB962C8B-B14F-4D97-AF65-F5344CB8AC3E}">
        <p14:creationId xmlns:p14="http://schemas.microsoft.com/office/powerpoint/2010/main" val="4024726131"/>
      </p:ext>
    </p:extLst>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Rectangle 3"/>
          <p:cNvSpPr>
            <a:spLocks noGrp="1" noChangeArrowheads="1"/>
          </p:cNvSpPr>
          <p:nvPr>
            <p:ph type="body" idx="1"/>
          </p:nvPr>
        </p:nvSpPr>
        <p:spPr>
          <a:xfrm>
            <a:off x="253218" y="928468"/>
            <a:ext cx="11690253" cy="5641143"/>
          </a:xfrm>
        </p:spPr>
        <p:txBody>
          <a:bodyPr anchor="t"/>
          <a:lstStyle/>
          <a:p>
            <a:pPr eaLnBrk="1" hangingPunct="1"/>
            <a:r>
              <a:rPr lang="en-US" sz="3200" b="1" dirty="0" err="1">
                <a:latin typeface="Times New Roman" panose="02020603050405020304" pitchFamily="18" charset="0"/>
                <a:cs typeface="Times New Roman" panose="02020603050405020304" pitchFamily="18" charset="0"/>
              </a:rPr>
              <a:t>sizeof</a:t>
            </a:r>
            <a:r>
              <a:rPr lang="en-US" sz="3200" b="1" dirty="0">
                <a:latin typeface="Times New Roman" panose="02020603050405020304" pitchFamily="18" charset="0"/>
                <a:cs typeface="Times New Roman" panose="02020603050405020304" pitchFamily="18" charset="0"/>
              </a:rPr>
              <a:t>( )</a:t>
            </a:r>
          </a:p>
          <a:p>
            <a:pPr eaLnBrk="1" hangingPunct="1">
              <a:buFont typeface="Wingdings" pitchFamily="2" charset="2"/>
              <a:buNone/>
            </a:pPr>
            <a:r>
              <a:rPr lang="en-US" sz="3200" dirty="0">
                <a:latin typeface="Times New Roman" panose="02020603050405020304" pitchFamily="18" charset="0"/>
                <a:cs typeface="Times New Roman" panose="02020603050405020304" pitchFamily="18" charset="0"/>
              </a:rPr>
              <a:t>	This operator accepts one parameter, which can be either a type or a variable itself and returns the size in bytes of that type or object: 		</a:t>
            </a:r>
            <a:r>
              <a:rPr lang="en-US" sz="3200" b="1" dirty="0">
                <a:latin typeface="Times New Roman" panose="02020603050405020304" pitchFamily="18" charset="0"/>
                <a:cs typeface="Times New Roman" panose="02020603050405020304" pitchFamily="18" charset="0"/>
              </a:rPr>
              <a:t>a = </a:t>
            </a:r>
            <a:r>
              <a:rPr lang="en-US" sz="3200" b="1" dirty="0" err="1">
                <a:latin typeface="Times New Roman" panose="02020603050405020304" pitchFamily="18" charset="0"/>
                <a:cs typeface="Times New Roman" panose="02020603050405020304" pitchFamily="18" charset="0"/>
              </a:rPr>
              <a:t>sizeof</a:t>
            </a:r>
            <a:r>
              <a:rPr lang="en-US" sz="3200" b="1" dirty="0">
                <a:latin typeface="Times New Roman" panose="02020603050405020304" pitchFamily="18" charset="0"/>
                <a:cs typeface="Times New Roman" panose="02020603050405020304" pitchFamily="18" charset="0"/>
              </a:rPr>
              <a:t> (char); </a:t>
            </a:r>
            <a:endParaRPr lang="en-US" sz="3200" dirty="0">
              <a:latin typeface="Times New Roman" panose="02020603050405020304" pitchFamily="18" charset="0"/>
              <a:cs typeface="Times New Roman" panose="02020603050405020304" pitchFamily="18" charset="0"/>
            </a:endParaRPr>
          </a:p>
          <a:p>
            <a:pPr lvl="1" eaLnBrk="1" hangingPunct="1">
              <a:buFont typeface="Wingdings" panose="05000000000000000000" pitchFamily="2" charset="2"/>
              <a:buChar char="ü"/>
            </a:pPr>
            <a:r>
              <a:rPr lang="en-US" sz="3200" dirty="0">
                <a:latin typeface="Times New Roman" panose="02020603050405020304" pitchFamily="18" charset="0"/>
                <a:cs typeface="Times New Roman" panose="02020603050405020304" pitchFamily="18" charset="0"/>
              </a:rPr>
              <a:t>This will assign the value 1 to </a:t>
            </a:r>
            <a:r>
              <a:rPr lang="en-US" sz="3200" b="1" dirty="0">
                <a:latin typeface="Times New Roman" panose="02020603050405020304" pitchFamily="18" charset="0"/>
                <a:cs typeface="Times New Roman" panose="02020603050405020304" pitchFamily="18" charset="0"/>
              </a:rPr>
              <a:t>a</a:t>
            </a:r>
            <a:r>
              <a:rPr lang="en-US" sz="3200" dirty="0">
                <a:latin typeface="Times New Roman" panose="02020603050405020304" pitchFamily="18" charset="0"/>
                <a:cs typeface="Times New Roman" panose="02020603050405020304" pitchFamily="18" charset="0"/>
              </a:rPr>
              <a:t> because </a:t>
            </a:r>
            <a:r>
              <a:rPr lang="en-US" sz="3200" b="1" dirty="0">
                <a:latin typeface="Times New Roman" panose="02020603050405020304" pitchFamily="18" charset="0"/>
                <a:cs typeface="Times New Roman" panose="02020603050405020304" pitchFamily="18" charset="0"/>
              </a:rPr>
              <a:t>char</a:t>
            </a:r>
            <a:r>
              <a:rPr lang="en-US" sz="3200" dirty="0">
                <a:latin typeface="Times New Roman" panose="02020603050405020304" pitchFamily="18" charset="0"/>
                <a:cs typeface="Times New Roman" panose="02020603050405020304" pitchFamily="18" charset="0"/>
              </a:rPr>
              <a:t> is a one-byte long type.</a:t>
            </a:r>
          </a:p>
          <a:p>
            <a:pPr lvl="1" eaLnBrk="1" hangingPunct="1">
              <a:buFont typeface="Wingdings" panose="05000000000000000000" pitchFamily="2" charset="2"/>
              <a:buChar char="ü"/>
            </a:pPr>
            <a:r>
              <a:rPr lang="en-US" sz="3200" dirty="0">
                <a:latin typeface="Times New Roman" panose="02020603050405020304" pitchFamily="18" charset="0"/>
                <a:cs typeface="Times New Roman" panose="02020603050405020304" pitchFamily="18" charset="0"/>
              </a:rPr>
              <a:t>The value returned by </a:t>
            </a:r>
            <a:r>
              <a:rPr lang="en-US" sz="3200" dirty="0" err="1">
                <a:latin typeface="Times New Roman" panose="02020603050405020304" pitchFamily="18" charset="0"/>
                <a:cs typeface="Times New Roman" panose="02020603050405020304" pitchFamily="18" charset="0"/>
              </a:rPr>
              <a:t>sizeof</a:t>
            </a:r>
            <a:r>
              <a:rPr lang="en-US" sz="3200" dirty="0">
                <a:latin typeface="Times New Roman" panose="02020603050405020304" pitchFamily="18" charset="0"/>
                <a:cs typeface="Times New Roman" panose="02020603050405020304" pitchFamily="18" charset="0"/>
              </a:rPr>
              <a:t> is a constant, so it is always determined before program execution. </a:t>
            </a:r>
          </a:p>
        </p:txBody>
      </p:sp>
    </p:spTree>
    <p:extLst>
      <p:ext uri="{BB962C8B-B14F-4D97-AF65-F5344CB8AC3E}">
        <p14:creationId xmlns:p14="http://schemas.microsoft.com/office/powerpoint/2010/main" val="3699892793"/>
      </p:ext>
    </p:extLst>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a:xfrm>
            <a:off x="1770184" y="890930"/>
            <a:ext cx="8229600" cy="712787"/>
          </a:xfrm>
        </p:spPr>
        <p:txBody>
          <a:bodyPr/>
          <a:lstStyle/>
          <a:p>
            <a:pPr algn="ctr" eaLnBrk="1" hangingPunct="1"/>
            <a:r>
              <a:rPr lang="en-US" b="1" dirty="0">
                <a:solidFill>
                  <a:srgbClr val="0070C0"/>
                </a:solidFill>
                <a:latin typeface="Times New Roman" panose="02020603050405020304" pitchFamily="18" charset="0"/>
                <a:cs typeface="Times New Roman" panose="02020603050405020304" pitchFamily="18" charset="0"/>
              </a:rPr>
              <a:t>Basic Input/Output</a:t>
            </a:r>
            <a:r>
              <a:rPr lang="en-US" dirty="0">
                <a:solidFill>
                  <a:srgbClr val="0070C0"/>
                </a:solidFill>
                <a:latin typeface="Times New Roman" panose="02020603050405020304" pitchFamily="18" charset="0"/>
                <a:cs typeface="Times New Roman" panose="02020603050405020304" pitchFamily="18" charset="0"/>
              </a:rPr>
              <a:t> </a:t>
            </a:r>
          </a:p>
        </p:txBody>
      </p:sp>
      <p:sp>
        <p:nvSpPr>
          <p:cNvPr id="51203" name="Rectangle 3"/>
          <p:cNvSpPr>
            <a:spLocks noGrp="1" noChangeArrowheads="1"/>
          </p:cNvSpPr>
          <p:nvPr>
            <p:ph type="body" idx="1"/>
          </p:nvPr>
        </p:nvSpPr>
        <p:spPr>
          <a:xfrm>
            <a:off x="196948" y="1603717"/>
            <a:ext cx="11788726" cy="4963317"/>
          </a:xfrm>
        </p:spPr>
        <p:txBody>
          <a:bodyPr/>
          <a:lstStyle/>
          <a:p>
            <a:pPr eaLnBrk="1" hangingPunct="1">
              <a:lnSpc>
                <a:spcPct val="90000"/>
              </a:lnSpc>
            </a:pPr>
            <a:r>
              <a:rPr lang="en-US" sz="3200" dirty="0">
                <a:latin typeface="Times New Roman" panose="02020603050405020304" pitchFamily="18" charset="0"/>
                <a:cs typeface="Times New Roman" panose="02020603050405020304" pitchFamily="18" charset="0"/>
              </a:rPr>
              <a:t>The standard C++ library includes the header file </a:t>
            </a:r>
            <a:r>
              <a:rPr lang="en-US" sz="3200" b="1" dirty="0">
                <a:latin typeface="Times New Roman" panose="02020603050405020304" pitchFamily="18" charset="0"/>
                <a:cs typeface="Times New Roman" panose="02020603050405020304" pitchFamily="18" charset="0"/>
              </a:rPr>
              <a:t>iostream</a:t>
            </a:r>
            <a:r>
              <a:rPr lang="en-US" sz="3200" dirty="0">
                <a:latin typeface="Times New Roman" panose="02020603050405020304" pitchFamily="18" charset="0"/>
                <a:cs typeface="Times New Roman" panose="02020603050405020304" pitchFamily="18" charset="0"/>
              </a:rPr>
              <a:t>, where the standard input and output stream objects are declared. </a:t>
            </a:r>
          </a:p>
          <a:p>
            <a:pPr lvl="1" eaLnBrk="1" hangingPunct="1">
              <a:lnSpc>
                <a:spcPct val="90000"/>
              </a:lnSpc>
            </a:pPr>
            <a:r>
              <a:rPr lang="en-US" sz="3200" b="1" dirty="0">
                <a:latin typeface="Times New Roman" panose="02020603050405020304" pitchFamily="18" charset="0"/>
                <a:cs typeface="Times New Roman" panose="02020603050405020304" pitchFamily="18" charset="0"/>
              </a:rPr>
              <a:t>Standard Output (cout) </a:t>
            </a:r>
          </a:p>
          <a:p>
            <a:pPr lvl="2" eaLnBrk="1" hangingPunct="1">
              <a:lnSpc>
                <a:spcPct val="90000"/>
              </a:lnSpc>
            </a:pPr>
            <a:r>
              <a:rPr lang="en-US" sz="3200" dirty="0">
                <a:latin typeface="Times New Roman" panose="02020603050405020304" pitchFamily="18" charset="0"/>
                <a:cs typeface="Times New Roman" panose="02020603050405020304" pitchFamily="18" charset="0"/>
              </a:rPr>
              <a:t>By default, the standard output of a program is the screen, and the C++ stream object defined to access it is </a:t>
            </a:r>
            <a:r>
              <a:rPr lang="en-US" sz="3200" b="1" dirty="0">
                <a:latin typeface="Times New Roman" panose="02020603050405020304" pitchFamily="18" charset="0"/>
                <a:cs typeface="Times New Roman" panose="02020603050405020304" pitchFamily="18" charset="0"/>
              </a:rPr>
              <a:t>cout. </a:t>
            </a:r>
          </a:p>
          <a:p>
            <a:pPr lvl="2" eaLnBrk="1" hangingPunct="1">
              <a:lnSpc>
                <a:spcPct val="90000"/>
              </a:lnSpc>
            </a:pPr>
            <a:r>
              <a:rPr lang="en-US" sz="3200" dirty="0">
                <a:latin typeface="Times New Roman" panose="02020603050405020304" pitchFamily="18" charset="0"/>
                <a:cs typeface="Times New Roman" panose="02020603050405020304" pitchFamily="18" charset="0"/>
              </a:rPr>
              <a:t>cout is used in conjunction with the </a:t>
            </a:r>
            <a:r>
              <a:rPr lang="en-US" sz="3200" b="1" i="1" dirty="0">
                <a:latin typeface="Times New Roman" panose="02020603050405020304" pitchFamily="18" charset="0"/>
                <a:cs typeface="Times New Roman" panose="02020603050405020304" pitchFamily="18" charset="0"/>
              </a:rPr>
              <a:t>insertion operator</a:t>
            </a:r>
            <a:r>
              <a:rPr lang="en-US" sz="3200" b="1" dirty="0">
                <a:latin typeface="Times New Roman" panose="02020603050405020304" pitchFamily="18" charset="0"/>
                <a:cs typeface="Times New Roman" panose="02020603050405020304" pitchFamily="18" charset="0"/>
              </a:rPr>
              <a:t>, </a:t>
            </a:r>
            <a:r>
              <a:rPr lang="en-US" sz="3200" dirty="0">
                <a:latin typeface="Times New Roman" panose="02020603050405020304" pitchFamily="18" charset="0"/>
                <a:cs typeface="Times New Roman" panose="02020603050405020304" pitchFamily="18" charset="0"/>
              </a:rPr>
              <a:t>which is written as </a:t>
            </a:r>
            <a:r>
              <a:rPr lang="en-US" sz="3200" b="1" dirty="0">
                <a:latin typeface="Times New Roman" panose="02020603050405020304" pitchFamily="18" charset="0"/>
                <a:cs typeface="Times New Roman" panose="02020603050405020304" pitchFamily="18" charset="0"/>
              </a:rPr>
              <a:t>&lt;&lt;</a:t>
            </a:r>
            <a:r>
              <a:rPr lang="en-US" sz="3200" dirty="0">
                <a:latin typeface="Times New Roman" panose="02020603050405020304" pitchFamily="18" charset="0"/>
                <a:cs typeface="Times New Roman" panose="02020603050405020304" pitchFamily="18" charset="0"/>
              </a:rPr>
              <a:t> (two "less than" signs) which inserts the data that follows it into the stream preceding it. </a:t>
            </a:r>
          </a:p>
          <a:p>
            <a:pPr lvl="2" eaLnBrk="1" hangingPunct="1">
              <a:lnSpc>
                <a:spcPct val="90000"/>
              </a:lnSpc>
              <a:buFont typeface="Wingdings" pitchFamily="2" charset="2"/>
              <a:buNone/>
            </a:pP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4535557"/>
      </p:ext>
    </p:extLst>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0251" y="900331"/>
            <a:ext cx="11629151" cy="5627077"/>
          </a:xfrm>
        </p:spPr>
        <p:txBody>
          <a:bodyPr anchor="t"/>
          <a:lstStyle/>
          <a:p>
            <a:pPr lvl="2" eaLnBrk="1" hangingPunct="1">
              <a:lnSpc>
                <a:spcPct val="90000"/>
              </a:lnSpc>
              <a:buNone/>
            </a:pPr>
            <a:r>
              <a:rPr lang="en-US" sz="2600" dirty="0">
                <a:latin typeface="Times New Roman" panose="02020603050405020304" pitchFamily="18" charset="0"/>
                <a:cs typeface="Times New Roman" panose="02020603050405020304" pitchFamily="18" charset="0"/>
              </a:rPr>
              <a:t>Example:</a:t>
            </a:r>
          </a:p>
          <a:p>
            <a:pPr marL="1481138" lvl="2" indent="-1481138" eaLnBrk="1" hangingPunct="1">
              <a:lnSpc>
                <a:spcPct val="90000"/>
              </a:lnSpc>
              <a:buNone/>
            </a:pPr>
            <a:r>
              <a:rPr lang="en-US" sz="2600" dirty="0">
                <a:latin typeface="Times New Roman" panose="02020603050405020304" pitchFamily="18" charset="0"/>
                <a:cs typeface="Times New Roman" panose="02020603050405020304" pitchFamily="18" charset="0"/>
              </a:rPr>
              <a:t>cout &lt;&lt; "Output sentence"; // prints Output sentence on screen</a:t>
            </a:r>
          </a:p>
          <a:p>
            <a:pPr marL="0" lvl="2" indent="0" eaLnBrk="1" hangingPunct="1">
              <a:lnSpc>
                <a:spcPct val="90000"/>
              </a:lnSpc>
              <a:buNone/>
            </a:pPr>
            <a:endParaRPr lang="en-US" sz="2600" dirty="0">
              <a:latin typeface="Times New Roman" panose="02020603050405020304" pitchFamily="18" charset="0"/>
              <a:cs typeface="Times New Roman" panose="02020603050405020304" pitchFamily="18" charset="0"/>
            </a:endParaRPr>
          </a:p>
          <a:p>
            <a:pPr marL="0" lvl="2" indent="0" eaLnBrk="1" hangingPunct="1">
              <a:lnSpc>
                <a:spcPct val="90000"/>
              </a:lnSpc>
              <a:buNone/>
            </a:pPr>
            <a:r>
              <a:rPr lang="en-US" sz="2600" dirty="0">
                <a:latin typeface="Times New Roman" panose="02020603050405020304" pitchFamily="18" charset="0"/>
                <a:cs typeface="Times New Roman" panose="02020603050405020304" pitchFamily="18" charset="0"/>
              </a:rPr>
              <a:t>cout &lt;&lt; 120;  // prints number 120 on screen </a:t>
            </a:r>
          </a:p>
          <a:p>
            <a:pPr marL="0" lvl="2" indent="0" eaLnBrk="1" hangingPunct="1">
              <a:lnSpc>
                <a:spcPct val="90000"/>
              </a:lnSpc>
              <a:buNone/>
            </a:pPr>
            <a:endParaRPr lang="en-US" sz="2600" dirty="0">
              <a:latin typeface="Times New Roman" panose="02020603050405020304" pitchFamily="18" charset="0"/>
              <a:cs typeface="Times New Roman" panose="02020603050405020304" pitchFamily="18" charset="0"/>
            </a:endParaRPr>
          </a:p>
          <a:p>
            <a:pPr marL="0" lvl="2" indent="0" eaLnBrk="1" hangingPunct="1">
              <a:lnSpc>
                <a:spcPct val="90000"/>
              </a:lnSpc>
              <a:buNone/>
            </a:pPr>
            <a:r>
              <a:rPr lang="en-US" sz="2600" dirty="0">
                <a:latin typeface="Times New Roman" panose="02020603050405020304" pitchFamily="18" charset="0"/>
                <a:cs typeface="Times New Roman" panose="02020603050405020304" pitchFamily="18" charset="0"/>
              </a:rPr>
              <a:t>cout &lt;&lt; x; // prints the content of x on screen</a:t>
            </a:r>
          </a:p>
          <a:p>
            <a:pPr marL="0" lvl="2" indent="0" eaLnBrk="1" hangingPunct="1">
              <a:lnSpc>
                <a:spcPct val="90000"/>
              </a:lnSpc>
              <a:buNone/>
            </a:pPr>
            <a:endParaRPr lang="en-US" sz="2600" dirty="0">
              <a:latin typeface="Times New Roman" panose="02020603050405020304" pitchFamily="18" charset="0"/>
              <a:cs typeface="Times New Roman" panose="02020603050405020304" pitchFamily="18" charset="0"/>
            </a:endParaRPr>
          </a:p>
          <a:p>
            <a:pPr marL="1379538" lvl="2" indent="-1379538" eaLnBrk="1" hangingPunct="1">
              <a:lnSpc>
                <a:spcPct val="90000"/>
              </a:lnSpc>
              <a:buNone/>
            </a:pPr>
            <a:r>
              <a:rPr lang="en-US" sz="2600" dirty="0">
                <a:latin typeface="Times New Roman" panose="02020603050405020304" pitchFamily="18" charset="0"/>
                <a:cs typeface="Times New Roman" panose="02020603050405020304" pitchFamily="18" charset="0"/>
              </a:rPr>
              <a:t>cout &lt;&lt; "Hello, I am " &lt;&lt; " age " &lt;&lt; " years old and my zipcode is " &lt;&lt; " </a:t>
            </a:r>
            <a:r>
              <a:rPr lang="en-US" sz="2600" dirty="0" err="1">
                <a:latin typeface="Times New Roman" panose="02020603050405020304" pitchFamily="18" charset="0"/>
                <a:cs typeface="Times New Roman" panose="02020603050405020304" pitchFamily="18" charset="0"/>
              </a:rPr>
              <a:t>zipcode</a:t>
            </a:r>
            <a:r>
              <a:rPr lang="en-US" sz="2600" dirty="0">
                <a:latin typeface="Times New Roman" panose="02020603050405020304" pitchFamily="18" charset="0"/>
                <a:cs typeface="Times New Roman" panose="02020603050405020304" pitchFamily="18" charset="0"/>
              </a:rPr>
              <a:t> "; </a:t>
            </a:r>
          </a:p>
          <a:p>
            <a:endParaRPr lang="en-US" sz="2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82165935"/>
      </p:ext>
    </p:extLst>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295331" y="1201004"/>
            <a:ext cx="6660108" cy="3757793"/>
          </a:xfrm>
          <a:ln>
            <a:solidFill>
              <a:srgbClr val="00B050"/>
            </a:solidFill>
          </a:ln>
        </p:spPr>
        <p:txBody>
          <a:bodyPr anchor="t"/>
          <a:lstStyle/>
          <a:p>
            <a:pPr marL="116082" indent="0">
              <a:buNone/>
            </a:pPr>
            <a:r>
              <a:rPr lang="en-US" sz="2800" dirty="0"/>
              <a:t>#include &lt;iostream&gt;</a:t>
            </a:r>
            <a:br>
              <a:rPr lang="en-US" sz="2800" dirty="0"/>
            </a:br>
            <a:r>
              <a:rPr lang="en-US" sz="2800" dirty="0"/>
              <a:t>using namespace std;</a:t>
            </a:r>
            <a:br>
              <a:rPr lang="en-US" sz="2800" dirty="0"/>
            </a:br>
            <a:r>
              <a:rPr lang="en-US" sz="2800" dirty="0"/>
              <a:t>int main( ) </a:t>
            </a:r>
          </a:p>
          <a:p>
            <a:pPr marL="116082" indent="0">
              <a:buNone/>
            </a:pPr>
            <a:r>
              <a:rPr lang="en-US" sz="2800" dirty="0"/>
              <a:t>{</a:t>
            </a:r>
            <a:br>
              <a:rPr lang="en-US" sz="2800" dirty="0"/>
            </a:br>
            <a:r>
              <a:rPr lang="en-US" sz="2800" dirty="0"/>
              <a:t>  </a:t>
            </a:r>
            <a:r>
              <a:rPr lang="en-US" sz="2800" b="1" dirty="0"/>
              <a:t>cout</a:t>
            </a:r>
            <a:r>
              <a:rPr lang="en-US" sz="2800" dirty="0"/>
              <a:t> &lt;&lt; "Hello World! " &lt;&lt;endl;</a:t>
            </a:r>
            <a:br>
              <a:rPr lang="en-US" sz="2800" dirty="0"/>
            </a:br>
            <a:r>
              <a:rPr lang="en-US" sz="2800" dirty="0"/>
              <a:t>  </a:t>
            </a:r>
            <a:r>
              <a:rPr lang="en-US" sz="2800" b="1" dirty="0"/>
              <a:t>cout</a:t>
            </a:r>
            <a:r>
              <a:rPr lang="en-US" sz="2800" dirty="0"/>
              <a:t> &lt;&lt; "I am learning C++ " &lt;&lt;endl;</a:t>
            </a:r>
            <a:br>
              <a:rPr lang="en-US" sz="2800" dirty="0"/>
            </a:br>
            <a:r>
              <a:rPr lang="en-US" sz="2800" dirty="0"/>
              <a:t>  return 0;</a:t>
            </a:r>
            <a:br>
              <a:rPr lang="en-US" sz="2800" dirty="0"/>
            </a:br>
            <a:r>
              <a:rPr lang="en-US" sz="2800" dirty="0"/>
              <a:t>}</a:t>
            </a:r>
          </a:p>
        </p:txBody>
      </p:sp>
      <p:sp>
        <p:nvSpPr>
          <p:cNvPr id="4" name="TextBox 3"/>
          <p:cNvSpPr txBox="1"/>
          <p:nvPr/>
        </p:nvSpPr>
        <p:spPr>
          <a:xfrm>
            <a:off x="477671" y="1419367"/>
            <a:ext cx="4070281" cy="3539430"/>
          </a:xfrm>
          <a:prstGeom prst="rect">
            <a:avLst/>
          </a:prstGeom>
          <a:noFill/>
          <a:ln>
            <a:solidFill>
              <a:srgbClr val="0070C0"/>
            </a:solidFill>
          </a:ln>
        </p:spPr>
        <p:txBody>
          <a:bodyPr wrap="none" rtlCol="0">
            <a:spAutoFit/>
          </a:bodyPr>
          <a:lstStyle/>
          <a:p>
            <a:r>
              <a:rPr lang="en-US" sz="2800" dirty="0"/>
              <a:t>#include &lt;iostream&gt;</a:t>
            </a:r>
            <a:br>
              <a:rPr lang="en-US" sz="2800" dirty="0"/>
            </a:br>
            <a:r>
              <a:rPr lang="en-US" sz="2800" dirty="0"/>
              <a:t>using namespace std;</a:t>
            </a:r>
            <a:br>
              <a:rPr lang="en-US" sz="2800" dirty="0"/>
            </a:br>
            <a:endParaRPr lang="en-US" sz="2800" dirty="0"/>
          </a:p>
          <a:p>
            <a:r>
              <a:rPr lang="en-US" sz="2800" dirty="0"/>
              <a:t>int main( ) </a:t>
            </a:r>
          </a:p>
          <a:p>
            <a:r>
              <a:rPr lang="en-US" sz="2800" dirty="0"/>
              <a:t>{</a:t>
            </a:r>
            <a:br>
              <a:rPr lang="en-US" sz="2800" dirty="0"/>
            </a:br>
            <a:r>
              <a:rPr lang="en-US" sz="2800" dirty="0"/>
              <a:t>  </a:t>
            </a:r>
            <a:r>
              <a:rPr lang="en-US" sz="2800" b="1" dirty="0"/>
              <a:t>cout</a:t>
            </a:r>
            <a:r>
              <a:rPr lang="en-US" sz="2800" dirty="0"/>
              <a:t> &lt;&lt; "Hello World!";</a:t>
            </a:r>
            <a:br>
              <a:rPr lang="en-US" sz="2800" dirty="0"/>
            </a:br>
            <a:r>
              <a:rPr lang="en-US" sz="2800" dirty="0"/>
              <a:t>  return 0;</a:t>
            </a:r>
            <a:br>
              <a:rPr lang="en-US" sz="2800" dirty="0"/>
            </a:br>
            <a:r>
              <a:rPr lang="en-US" sz="2800" dirty="0"/>
              <a:t>}</a:t>
            </a:r>
          </a:p>
        </p:txBody>
      </p:sp>
    </p:spTree>
    <p:extLst>
      <p:ext uri="{BB962C8B-B14F-4D97-AF65-F5344CB8AC3E}">
        <p14:creationId xmlns:p14="http://schemas.microsoft.com/office/powerpoint/2010/main" val="3647984094"/>
      </p:ext>
    </p:extLst>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9873" y="1419367"/>
            <a:ext cx="5305709" cy="4524315"/>
          </a:xfrm>
          <a:ln>
            <a:solidFill>
              <a:srgbClr val="0070C0"/>
            </a:solidFill>
          </a:ln>
        </p:spPr>
        <p:txBody>
          <a:bodyPr anchor="t"/>
          <a:lstStyle/>
          <a:p>
            <a:pPr marL="116082" indent="0">
              <a:buNone/>
            </a:pPr>
            <a:r>
              <a:rPr lang="en-US" dirty="0"/>
              <a:t>#include &lt;iostream&gt;</a:t>
            </a:r>
            <a:br>
              <a:rPr lang="en-US" dirty="0"/>
            </a:br>
            <a:r>
              <a:rPr lang="en-US" dirty="0"/>
              <a:t>using namespace std;</a:t>
            </a:r>
            <a:br>
              <a:rPr lang="en-US" dirty="0"/>
            </a:br>
            <a:br>
              <a:rPr lang="en-US" dirty="0"/>
            </a:br>
            <a:r>
              <a:rPr lang="en-US" dirty="0"/>
              <a:t>int main( ) </a:t>
            </a:r>
          </a:p>
          <a:p>
            <a:pPr marL="116082" indent="0">
              <a:buNone/>
            </a:pPr>
            <a:r>
              <a:rPr lang="en-US" dirty="0"/>
              <a:t>{</a:t>
            </a:r>
            <a:br>
              <a:rPr lang="en-US" dirty="0"/>
            </a:br>
            <a:r>
              <a:rPr lang="en-US" dirty="0"/>
              <a:t>  cout &lt;&lt; "Hello World! </a:t>
            </a:r>
            <a:r>
              <a:rPr lang="en-US" b="1" dirty="0"/>
              <a:t>\n</a:t>
            </a:r>
            <a:r>
              <a:rPr lang="en-US" dirty="0"/>
              <a:t>";</a:t>
            </a:r>
            <a:br>
              <a:rPr lang="en-US" dirty="0"/>
            </a:br>
            <a:r>
              <a:rPr lang="en-US" dirty="0"/>
              <a:t>  cout &lt;&lt; "I am learning C++";</a:t>
            </a:r>
            <a:br>
              <a:rPr lang="en-US" dirty="0"/>
            </a:br>
            <a:r>
              <a:rPr lang="en-US" dirty="0"/>
              <a:t>  return 0;</a:t>
            </a:r>
            <a:br>
              <a:rPr lang="en-US" dirty="0"/>
            </a:br>
            <a:r>
              <a:rPr lang="en-US" dirty="0"/>
              <a:t>}</a:t>
            </a:r>
          </a:p>
        </p:txBody>
      </p:sp>
      <p:sp>
        <p:nvSpPr>
          <p:cNvPr id="4" name="TextBox 3"/>
          <p:cNvSpPr txBox="1"/>
          <p:nvPr/>
        </p:nvSpPr>
        <p:spPr>
          <a:xfrm>
            <a:off x="6100549" y="1419367"/>
            <a:ext cx="5841242" cy="4524315"/>
          </a:xfrm>
          <a:prstGeom prst="rect">
            <a:avLst/>
          </a:prstGeom>
          <a:noFill/>
          <a:ln>
            <a:solidFill>
              <a:srgbClr val="00B050"/>
            </a:solidFill>
          </a:ln>
        </p:spPr>
        <p:txBody>
          <a:bodyPr wrap="square" rtlCol="0">
            <a:spAutoFit/>
          </a:bodyPr>
          <a:lstStyle/>
          <a:p>
            <a:r>
              <a:rPr lang="en-US" sz="3200" dirty="0"/>
              <a:t>#include &lt;iostream&gt;</a:t>
            </a:r>
            <a:br>
              <a:rPr lang="en-US" sz="3200" dirty="0"/>
            </a:br>
            <a:r>
              <a:rPr lang="en-US" sz="3200" dirty="0"/>
              <a:t>using namespace std;</a:t>
            </a:r>
            <a:br>
              <a:rPr lang="en-US" sz="3200" dirty="0"/>
            </a:br>
            <a:br>
              <a:rPr lang="en-US" sz="3200" dirty="0"/>
            </a:br>
            <a:r>
              <a:rPr lang="en-US" sz="3200" dirty="0"/>
              <a:t>int main( ) </a:t>
            </a:r>
          </a:p>
          <a:p>
            <a:r>
              <a:rPr lang="en-US" sz="3200" dirty="0"/>
              <a:t>{</a:t>
            </a:r>
            <a:br>
              <a:rPr lang="en-US" sz="3200" dirty="0"/>
            </a:br>
            <a:r>
              <a:rPr lang="en-US" sz="3200" dirty="0"/>
              <a:t>  cout &lt;&lt; "Hello World! </a:t>
            </a:r>
            <a:r>
              <a:rPr lang="en-US" sz="3200" b="1" dirty="0"/>
              <a:t>\n\n</a:t>
            </a:r>
            <a:r>
              <a:rPr lang="en-US" sz="3200" dirty="0"/>
              <a:t>";</a:t>
            </a:r>
            <a:br>
              <a:rPr lang="en-US" sz="3200" dirty="0"/>
            </a:br>
            <a:r>
              <a:rPr lang="en-US" sz="3200" dirty="0"/>
              <a:t>  cout &lt;&lt; "I am learning C++";</a:t>
            </a:r>
            <a:br>
              <a:rPr lang="en-US" sz="3200" dirty="0"/>
            </a:br>
            <a:r>
              <a:rPr lang="en-US" sz="3200" dirty="0"/>
              <a:t>  return 0;</a:t>
            </a:r>
            <a:br>
              <a:rPr lang="en-US" sz="3200" dirty="0"/>
            </a:br>
            <a:r>
              <a:rPr lang="en-US" sz="3200" dirty="0"/>
              <a:t>}</a:t>
            </a:r>
          </a:p>
        </p:txBody>
      </p:sp>
    </p:spTree>
    <p:extLst>
      <p:ext uri="{BB962C8B-B14F-4D97-AF65-F5344CB8AC3E}">
        <p14:creationId xmlns:p14="http://schemas.microsoft.com/office/powerpoint/2010/main" val="2379404741"/>
      </p:ext>
    </p:extLst>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90625" y="805219"/>
            <a:ext cx="9810750" cy="5374126"/>
          </a:xfrm>
        </p:spPr>
        <p:txBody>
          <a:bodyPr anchor="t"/>
          <a:lstStyle/>
          <a:p>
            <a:pPr marL="116082" indent="0">
              <a:buNone/>
            </a:pPr>
            <a:r>
              <a:rPr lang="en-US" dirty="0"/>
              <a:t>#include &lt;iostream&gt;  </a:t>
            </a:r>
          </a:p>
          <a:p>
            <a:pPr marL="116082" indent="0">
              <a:buNone/>
            </a:pPr>
            <a:r>
              <a:rPr lang="en-US" b="1" dirty="0"/>
              <a:t>using</a:t>
            </a:r>
            <a:r>
              <a:rPr lang="en-US" dirty="0"/>
              <a:t> </a:t>
            </a:r>
            <a:r>
              <a:rPr lang="en-US" b="1" dirty="0"/>
              <a:t>namespace</a:t>
            </a:r>
            <a:r>
              <a:rPr lang="en-US" dirty="0"/>
              <a:t> std;  </a:t>
            </a:r>
          </a:p>
          <a:p>
            <a:pPr marL="116082" indent="0">
              <a:buNone/>
            </a:pPr>
            <a:r>
              <a:rPr lang="en-US" b="1" dirty="0"/>
              <a:t>int</a:t>
            </a:r>
            <a:r>
              <a:rPr lang="en-US" dirty="0"/>
              <a:t> main( ) </a:t>
            </a:r>
          </a:p>
          <a:p>
            <a:pPr marL="116082" indent="0">
              <a:buNone/>
            </a:pPr>
            <a:r>
              <a:rPr lang="en-US" dirty="0"/>
              <a:t>{  </a:t>
            </a:r>
          </a:p>
          <a:p>
            <a:pPr marL="116082" indent="0">
              <a:buNone/>
            </a:pPr>
            <a:r>
              <a:rPr lang="en-US" dirty="0"/>
              <a:t>   </a:t>
            </a:r>
            <a:r>
              <a:rPr lang="en-US" b="1" dirty="0"/>
              <a:t>char</a:t>
            </a:r>
            <a:r>
              <a:rPr lang="en-US" dirty="0"/>
              <a:t> array[ ] = "Welcome to C++ programming";  </a:t>
            </a:r>
          </a:p>
          <a:p>
            <a:pPr marL="116082" indent="0">
              <a:buNone/>
            </a:pPr>
            <a:r>
              <a:rPr lang="en-US" dirty="0"/>
              <a:t>   cout &lt;&lt; "Value of array is: " &lt;&lt; array &lt;&lt; endl;  </a:t>
            </a:r>
          </a:p>
          <a:p>
            <a:pPr marL="116082" indent="0">
              <a:buNone/>
            </a:pPr>
            <a:r>
              <a:rPr lang="en-US" dirty="0"/>
              <a:t>   return 0;</a:t>
            </a:r>
          </a:p>
          <a:p>
            <a:pPr marL="116082" indent="0">
              <a:buNone/>
            </a:pPr>
            <a:r>
              <a:rPr lang="en-US" dirty="0"/>
              <a:t>}  </a:t>
            </a:r>
          </a:p>
          <a:p>
            <a:pPr marL="116082" indent="0">
              <a:buNone/>
            </a:pPr>
            <a:endParaRPr lang="en-US" dirty="0"/>
          </a:p>
        </p:txBody>
      </p:sp>
    </p:spTree>
    <p:extLst>
      <p:ext uri="{BB962C8B-B14F-4D97-AF65-F5344CB8AC3E}">
        <p14:creationId xmlns:p14="http://schemas.microsoft.com/office/powerpoint/2010/main" val="1005309486"/>
      </p:ext>
    </p:extLst>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90625" y="859809"/>
            <a:ext cx="9810750" cy="5319535"/>
          </a:xfrm>
        </p:spPr>
        <p:txBody>
          <a:bodyPr anchor="t"/>
          <a:lstStyle/>
          <a:p>
            <a:pPr marL="116082" indent="0">
              <a:buNone/>
            </a:pPr>
            <a:r>
              <a:rPr lang="en-US" dirty="0"/>
              <a:t>#include &lt;iostream&gt;</a:t>
            </a:r>
          </a:p>
          <a:p>
            <a:pPr marL="116082" indent="0">
              <a:buNone/>
            </a:pPr>
            <a:r>
              <a:rPr lang="en-US" dirty="0"/>
              <a:t> using namespace std;</a:t>
            </a:r>
          </a:p>
          <a:p>
            <a:pPr marL="116082" indent="0">
              <a:buNone/>
            </a:pPr>
            <a:r>
              <a:rPr lang="en-US" dirty="0"/>
              <a:t> int main() </a:t>
            </a:r>
          </a:p>
          <a:p>
            <a:pPr marL="116082" indent="0">
              <a:buNone/>
            </a:pPr>
            <a:r>
              <a:rPr lang="en-US" dirty="0"/>
              <a:t>{</a:t>
            </a:r>
          </a:p>
          <a:p>
            <a:pPr marL="116082" indent="0">
              <a:buNone/>
            </a:pPr>
            <a:r>
              <a:rPr lang="en-US" dirty="0"/>
              <a:t>   char str[ ] = "Hello C++";</a:t>
            </a:r>
          </a:p>
          <a:p>
            <a:pPr marL="116082" indent="0">
              <a:buNone/>
            </a:pPr>
            <a:r>
              <a:rPr lang="en-US" dirty="0"/>
              <a:t>    cout &lt;&lt; "Value of str is : " &lt;&lt; str &lt;&lt; endl;</a:t>
            </a:r>
          </a:p>
          <a:p>
            <a:pPr marL="116082" indent="0">
              <a:buNone/>
            </a:pPr>
            <a:r>
              <a:rPr lang="en-US" dirty="0"/>
              <a:t>}</a:t>
            </a:r>
          </a:p>
        </p:txBody>
      </p:sp>
    </p:spTree>
    <p:extLst>
      <p:ext uri="{BB962C8B-B14F-4D97-AF65-F5344CB8AC3E}">
        <p14:creationId xmlns:p14="http://schemas.microsoft.com/office/powerpoint/2010/main" val="3942174673"/>
      </p:ext>
    </p:extLst>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a:xfrm>
            <a:off x="1320019" y="882725"/>
            <a:ext cx="8229600" cy="788987"/>
          </a:xfrm>
        </p:spPr>
        <p:txBody>
          <a:bodyPr/>
          <a:lstStyle/>
          <a:p>
            <a:pPr lvl="1" algn="ctr" eaLnBrk="1" hangingPunct="1"/>
            <a:r>
              <a:rPr lang="en-US" sz="4400" b="1" dirty="0">
                <a:solidFill>
                  <a:srgbClr val="0070C0"/>
                </a:solidFill>
              </a:rPr>
              <a:t>Standard Input (cin). </a:t>
            </a:r>
            <a:endParaRPr lang="en-US" sz="5400" b="1" dirty="0">
              <a:solidFill>
                <a:srgbClr val="0070C0"/>
              </a:solidFill>
            </a:endParaRPr>
          </a:p>
        </p:txBody>
      </p:sp>
      <p:sp>
        <p:nvSpPr>
          <p:cNvPr id="52227" name="Rectangle 3"/>
          <p:cNvSpPr>
            <a:spLocks noGrp="1" noChangeArrowheads="1"/>
          </p:cNvSpPr>
          <p:nvPr>
            <p:ph type="body" idx="1"/>
          </p:nvPr>
        </p:nvSpPr>
        <p:spPr>
          <a:xfrm>
            <a:off x="267286" y="1871003"/>
            <a:ext cx="11704320" cy="4724167"/>
          </a:xfrm>
        </p:spPr>
        <p:txBody>
          <a:bodyPr anchor="t"/>
          <a:lstStyle/>
          <a:p>
            <a:pPr eaLnBrk="1" hangingPunct="1"/>
            <a:r>
              <a:rPr lang="en-US" sz="2800" dirty="0">
                <a:latin typeface="Times New Roman" panose="02020603050405020304" pitchFamily="18" charset="0"/>
                <a:cs typeface="Times New Roman" panose="02020603050405020304" pitchFamily="18" charset="0"/>
              </a:rPr>
              <a:t>The standard input device is usually the keyboard. </a:t>
            </a:r>
          </a:p>
          <a:p>
            <a:pPr eaLnBrk="1" hangingPunct="1"/>
            <a:r>
              <a:rPr lang="en-US" sz="2800" dirty="0">
                <a:latin typeface="Times New Roman" panose="02020603050405020304" pitchFamily="18" charset="0"/>
                <a:cs typeface="Times New Roman" panose="02020603050405020304" pitchFamily="18" charset="0"/>
              </a:rPr>
              <a:t>Handling the standard input in C++ is done by applying the overloaded operator of </a:t>
            </a:r>
            <a:r>
              <a:rPr lang="en-US" sz="2800" b="1" dirty="0">
                <a:latin typeface="Times New Roman" panose="02020603050405020304" pitchFamily="18" charset="0"/>
                <a:cs typeface="Times New Roman" panose="02020603050405020304" pitchFamily="18" charset="0"/>
              </a:rPr>
              <a:t>extraction (&gt;&gt;) </a:t>
            </a:r>
            <a:r>
              <a:rPr lang="en-US" sz="2800" dirty="0">
                <a:latin typeface="Times New Roman" panose="02020603050405020304" pitchFamily="18" charset="0"/>
                <a:cs typeface="Times New Roman" panose="02020603050405020304" pitchFamily="18" charset="0"/>
              </a:rPr>
              <a:t>on the </a:t>
            </a:r>
            <a:r>
              <a:rPr lang="en-US" sz="2800" b="1" dirty="0">
                <a:latin typeface="Times New Roman" panose="02020603050405020304" pitchFamily="18" charset="0"/>
                <a:cs typeface="Times New Roman" panose="02020603050405020304" pitchFamily="18" charset="0"/>
              </a:rPr>
              <a:t>cin</a:t>
            </a:r>
            <a:r>
              <a:rPr lang="en-US" sz="2800" dirty="0">
                <a:latin typeface="Times New Roman" panose="02020603050405020304" pitchFamily="18" charset="0"/>
                <a:cs typeface="Times New Roman" panose="02020603050405020304" pitchFamily="18" charset="0"/>
              </a:rPr>
              <a:t> stream. </a:t>
            </a:r>
          </a:p>
          <a:p>
            <a:pPr eaLnBrk="1" hangingPunct="1"/>
            <a:r>
              <a:rPr lang="en-US" sz="2800" dirty="0">
                <a:latin typeface="Times New Roman" panose="02020603050405020304" pitchFamily="18" charset="0"/>
                <a:cs typeface="Times New Roman" panose="02020603050405020304" pitchFamily="18" charset="0"/>
              </a:rPr>
              <a:t>The operator must be followed by the </a:t>
            </a:r>
            <a:r>
              <a:rPr lang="en-US" sz="2800" b="1" dirty="0">
                <a:latin typeface="Times New Roman" panose="02020603050405020304" pitchFamily="18" charset="0"/>
                <a:cs typeface="Times New Roman" panose="02020603050405020304" pitchFamily="18" charset="0"/>
              </a:rPr>
              <a:t>variable</a:t>
            </a:r>
            <a:r>
              <a:rPr lang="en-US" sz="2800" dirty="0">
                <a:latin typeface="Times New Roman" panose="02020603050405020304" pitchFamily="18" charset="0"/>
                <a:cs typeface="Times New Roman" panose="02020603050405020304" pitchFamily="18" charset="0"/>
              </a:rPr>
              <a:t> that will store the data that is going to be extracted from the stream. </a:t>
            </a:r>
          </a:p>
          <a:p>
            <a:pPr lvl="2" eaLnBrk="1" hangingPunct="1">
              <a:buFont typeface="Wingdings" pitchFamily="2" charset="2"/>
              <a:buNone/>
            </a:pPr>
            <a:r>
              <a:rPr lang="en-US" sz="2800" dirty="0">
                <a:latin typeface="Times New Roman" panose="02020603050405020304" pitchFamily="18" charset="0"/>
                <a:cs typeface="Times New Roman" panose="02020603050405020304" pitchFamily="18" charset="0"/>
              </a:rPr>
              <a:t>For example: </a:t>
            </a:r>
          </a:p>
          <a:p>
            <a:pPr lvl="1" eaLnBrk="1" hangingPunct="1">
              <a:buFont typeface="Wingdings" pitchFamily="2" charset="2"/>
              <a:buNone/>
            </a:pPr>
            <a:r>
              <a:rPr lang="en-US" sz="2800" dirty="0">
                <a:latin typeface="Times New Roman" panose="02020603050405020304" pitchFamily="18" charset="0"/>
                <a:cs typeface="Times New Roman" panose="02020603050405020304" pitchFamily="18" charset="0"/>
              </a:rPr>
              <a:t>			int age;</a:t>
            </a:r>
          </a:p>
          <a:p>
            <a:pPr lvl="1" eaLnBrk="1" hangingPunct="1">
              <a:buFont typeface="Wingdings" pitchFamily="2" charset="2"/>
              <a:buNone/>
            </a:pPr>
            <a:r>
              <a:rPr lang="en-US" sz="2800" dirty="0">
                <a:latin typeface="Times New Roman" panose="02020603050405020304" pitchFamily="18" charset="0"/>
                <a:cs typeface="Times New Roman" panose="02020603050405020304" pitchFamily="18" charset="0"/>
              </a:rPr>
              <a:t>			cin &gt;&gt; age; </a:t>
            </a:r>
          </a:p>
        </p:txBody>
      </p:sp>
    </p:spTree>
    <p:extLst>
      <p:ext uri="{BB962C8B-B14F-4D97-AF65-F5344CB8AC3E}">
        <p14:creationId xmlns:p14="http://schemas.microsoft.com/office/powerpoint/2010/main" val="2248099589"/>
      </p:ext>
    </p:extLst>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3431" y="841069"/>
            <a:ext cx="5319321" cy="619241"/>
          </a:xfrm>
        </p:spPr>
        <p:txBody>
          <a:bodyPr/>
          <a:lstStyle/>
          <a:p>
            <a:r>
              <a:rPr lang="en-US" sz="3200" dirty="0"/>
              <a:t>Creating a Simple Calculator</a:t>
            </a:r>
          </a:p>
        </p:txBody>
      </p:sp>
      <p:sp>
        <p:nvSpPr>
          <p:cNvPr id="3" name="Content Placeholder 2"/>
          <p:cNvSpPr>
            <a:spLocks noGrp="1"/>
          </p:cNvSpPr>
          <p:nvPr>
            <p:ph idx="1"/>
          </p:nvPr>
        </p:nvSpPr>
        <p:spPr>
          <a:xfrm>
            <a:off x="300251" y="1692325"/>
            <a:ext cx="5718412" cy="2074457"/>
          </a:xfrm>
        </p:spPr>
        <p:txBody>
          <a:bodyPr anchor="t"/>
          <a:lstStyle/>
          <a:p>
            <a:r>
              <a:rPr lang="en-US" sz="2800" dirty="0"/>
              <a:t>In this example, the user must input two numbers. Then program print the sum by calculating (adding) the two numbers:</a:t>
            </a:r>
          </a:p>
          <a:p>
            <a:endParaRPr lang="en-US" sz="2800" dirty="0"/>
          </a:p>
        </p:txBody>
      </p:sp>
      <p:sp>
        <p:nvSpPr>
          <p:cNvPr id="4" name="TextBox 3"/>
          <p:cNvSpPr txBox="1"/>
          <p:nvPr/>
        </p:nvSpPr>
        <p:spPr>
          <a:xfrm>
            <a:off x="5895833" y="928041"/>
            <a:ext cx="6073254" cy="5693866"/>
          </a:xfrm>
          <a:prstGeom prst="rect">
            <a:avLst/>
          </a:prstGeom>
          <a:noFill/>
          <a:ln>
            <a:solidFill>
              <a:srgbClr val="002060"/>
            </a:solidFill>
          </a:ln>
        </p:spPr>
        <p:txBody>
          <a:bodyPr wrap="square" rtlCol="0">
            <a:spAutoFit/>
          </a:bodyPr>
          <a:lstStyle/>
          <a:p>
            <a:r>
              <a:rPr lang="en-US" sz="2800" dirty="0"/>
              <a:t>#include&lt;</a:t>
            </a:r>
            <a:r>
              <a:rPr lang="en-US" sz="2800" dirty="0" err="1"/>
              <a:t>iostream</a:t>
            </a:r>
            <a:r>
              <a:rPr lang="en-US" sz="2800" dirty="0"/>
              <a:t>&gt;</a:t>
            </a:r>
          </a:p>
          <a:p>
            <a:r>
              <a:rPr lang="en-US" sz="2800" dirty="0"/>
              <a:t>using namespace std;</a:t>
            </a:r>
          </a:p>
          <a:p>
            <a:r>
              <a:rPr lang="en-US" sz="2800" dirty="0"/>
              <a:t>int main()</a:t>
            </a:r>
          </a:p>
          <a:p>
            <a:r>
              <a:rPr lang="en-US" sz="2800" dirty="0"/>
              <a:t>{</a:t>
            </a:r>
          </a:p>
          <a:p>
            <a:r>
              <a:rPr lang="en-US" sz="2800" dirty="0"/>
              <a:t>int x, y, sum;</a:t>
            </a:r>
          </a:p>
          <a:p>
            <a:r>
              <a:rPr lang="en-US" sz="2800" dirty="0"/>
              <a:t>cout &lt;&lt; "Enter the first number: ";</a:t>
            </a:r>
          </a:p>
          <a:p>
            <a:r>
              <a:rPr lang="en-US" sz="2800" dirty="0" err="1"/>
              <a:t>cin</a:t>
            </a:r>
            <a:r>
              <a:rPr lang="en-US" sz="2800" dirty="0"/>
              <a:t> &gt;&gt; x;</a:t>
            </a:r>
          </a:p>
          <a:p>
            <a:r>
              <a:rPr lang="en-US" sz="2800" dirty="0"/>
              <a:t>cout &lt;&lt; "Enter the second number: ";</a:t>
            </a:r>
          </a:p>
          <a:p>
            <a:r>
              <a:rPr lang="en-US" sz="2800" dirty="0" err="1"/>
              <a:t>cin</a:t>
            </a:r>
            <a:r>
              <a:rPr lang="en-US" sz="2800" dirty="0"/>
              <a:t> &gt;&gt; y;</a:t>
            </a:r>
          </a:p>
          <a:p>
            <a:r>
              <a:rPr lang="en-US" sz="2800" dirty="0"/>
              <a:t>sum = x + y;</a:t>
            </a:r>
          </a:p>
          <a:p>
            <a:r>
              <a:rPr lang="en-US" sz="2800" dirty="0"/>
              <a:t>cout &lt;&lt; "Sum is: " &lt;&lt; sum;</a:t>
            </a:r>
          </a:p>
          <a:p>
            <a:r>
              <a:rPr lang="en-US" sz="2800" dirty="0"/>
              <a:t>return 0;</a:t>
            </a:r>
          </a:p>
          <a:p>
            <a:r>
              <a:rPr lang="en-US" sz="2800" dirty="0"/>
              <a:t>}</a:t>
            </a:r>
          </a:p>
        </p:txBody>
      </p:sp>
    </p:spTree>
    <p:extLst>
      <p:ext uri="{BB962C8B-B14F-4D97-AF65-F5344CB8AC3E}">
        <p14:creationId xmlns:p14="http://schemas.microsoft.com/office/powerpoint/2010/main" val="2524790093"/>
      </p:ext>
    </p:extLst>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41945" y="859809"/>
            <a:ext cx="9759429" cy="5759355"/>
          </a:xfrm>
        </p:spPr>
        <p:txBody>
          <a:bodyPr anchor="t"/>
          <a:lstStyle/>
          <a:p>
            <a:pPr marL="116082" indent="0">
              <a:buNone/>
            </a:pPr>
            <a:r>
              <a:rPr lang="en-US" dirty="0"/>
              <a:t>#include &lt;iostream&gt;</a:t>
            </a:r>
          </a:p>
          <a:p>
            <a:pPr marL="116082" indent="0">
              <a:buNone/>
            </a:pPr>
            <a:r>
              <a:rPr lang="en-US" dirty="0"/>
              <a:t> using namespace std;</a:t>
            </a:r>
          </a:p>
          <a:p>
            <a:pPr marL="116082" indent="0">
              <a:buNone/>
            </a:pPr>
            <a:r>
              <a:rPr lang="en-US" dirty="0"/>
              <a:t> int main() </a:t>
            </a:r>
          </a:p>
          <a:p>
            <a:pPr marL="116082" indent="0">
              <a:buNone/>
            </a:pPr>
            <a:r>
              <a:rPr lang="en-US" dirty="0"/>
              <a:t>{</a:t>
            </a:r>
          </a:p>
          <a:p>
            <a:pPr marL="116082" indent="0">
              <a:buNone/>
            </a:pPr>
            <a:r>
              <a:rPr lang="en-US" dirty="0"/>
              <a:t>   char name[50];</a:t>
            </a:r>
          </a:p>
          <a:p>
            <a:pPr marL="116082" indent="0">
              <a:buNone/>
            </a:pPr>
            <a:r>
              <a:rPr lang="en-US" dirty="0"/>
              <a:t>    cout &lt;&lt; "Please enter your name: ";</a:t>
            </a:r>
          </a:p>
          <a:p>
            <a:pPr marL="116082" indent="0">
              <a:buNone/>
            </a:pPr>
            <a:r>
              <a:rPr lang="en-US" dirty="0"/>
              <a:t>   </a:t>
            </a:r>
            <a:r>
              <a:rPr lang="en-US" dirty="0" err="1"/>
              <a:t>cin</a:t>
            </a:r>
            <a:r>
              <a:rPr lang="en-US" dirty="0"/>
              <a:t> &gt;&gt; name;</a:t>
            </a:r>
          </a:p>
          <a:p>
            <a:pPr marL="116082" indent="0">
              <a:buNone/>
            </a:pPr>
            <a:r>
              <a:rPr lang="en-US" dirty="0"/>
              <a:t>   cout &lt;&lt; "Your name is: " &lt;&lt; name &lt;&lt; endl;</a:t>
            </a:r>
          </a:p>
          <a:p>
            <a:pPr marL="116082" indent="0">
              <a:buNone/>
            </a:pPr>
            <a:r>
              <a:rPr lang="en-US" dirty="0"/>
              <a:t> }</a:t>
            </a:r>
          </a:p>
        </p:txBody>
      </p:sp>
    </p:spTree>
    <p:extLst>
      <p:ext uri="{BB962C8B-B14F-4D97-AF65-F5344CB8AC3E}">
        <p14:creationId xmlns:p14="http://schemas.microsoft.com/office/powerpoint/2010/main" val="3909762191"/>
      </p:ext>
    </p:extLst>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p:cNvSpPr>
            <a:spLocks noGrp="1"/>
          </p:cNvSpPr>
          <p:nvPr>
            <p:ph idx="1"/>
          </p:nvPr>
        </p:nvSpPr>
        <p:spPr>
          <a:xfrm>
            <a:off x="1179095" y="846161"/>
            <a:ext cx="9822280" cy="5732060"/>
          </a:xfrm>
        </p:spPr>
        <p:txBody>
          <a:bodyPr anchor="t"/>
          <a:lstStyle/>
          <a:p>
            <a:pPr marL="116082" indent="0">
              <a:spcBef>
                <a:spcPts val="600"/>
              </a:spcBef>
              <a:buNone/>
            </a:pPr>
            <a:r>
              <a:rPr lang="en-US" dirty="0">
                <a:solidFill>
                  <a:schemeClr val="accent2"/>
                </a:solidFill>
              </a:rPr>
              <a:t>#include</a:t>
            </a:r>
            <a:r>
              <a:rPr lang="en-US" dirty="0"/>
              <a:t>&lt;</a:t>
            </a:r>
            <a:r>
              <a:rPr lang="en-US" dirty="0" err="1">
                <a:solidFill>
                  <a:schemeClr val="accent1">
                    <a:lumMod val="50000"/>
                  </a:schemeClr>
                </a:solidFill>
              </a:rPr>
              <a:t>iostream</a:t>
            </a:r>
            <a:r>
              <a:rPr lang="en-US" dirty="0"/>
              <a:t>&gt;</a:t>
            </a:r>
          </a:p>
          <a:p>
            <a:pPr marL="116082" indent="0">
              <a:spcBef>
                <a:spcPts val="600"/>
              </a:spcBef>
              <a:buNone/>
            </a:pPr>
            <a:r>
              <a:rPr lang="en-US" dirty="0">
                <a:solidFill>
                  <a:schemeClr val="accent2"/>
                </a:solidFill>
              </a:rPr>
              <a:t>using namespace </a:t>
            </a:r>
            <a:r>
              <a:rPr lang="en-US" dirty="0"/>
              <a:t>std;</a:t>
            </a:r>
          </a:p>
          <a:p>
            <a:pPr marL="116082" indent="0">
              <a:spcBef>
                <a:spcPts val="600"/>
              </a:spcBef>
              <a:buNone/>
            </a:pPr>
            <a:r>
              <a:rPr lang="en-US" dirty="0">
                <a:solidFill>
                  <a:schemeClr val="accent2"/>
                </a:solidFill>
              </a:rPr>
              <a:t>int</a:t>
            </a:r>
            <a:r>
              <a:rPr lang="en-US" dirty="0">
                <a:solidFill>
                  <a:schemeClr val="accent1">
                    <a:lumMod val="50000"/>
                  </a:schemeClr>
                </a:solidFill>
              </a:rPr>
              <a:t> </a:t>
            </a:r>
            <a:r>
              <a:rPr lang="en-US" dirty="0"/>
              <a:t>main( ) </a:t>
            </a:r>
          </a:p>
          <a:p>
            <a:pPr marL="116082" indent="0">
              <a:spcBef>
                <a:spcPts val="600"/>
              </a:spcBef>
              <a:buNone/>
            </a:pPr>
            <a:r>
              <a:rPr lang="en-US" dirty="0"/>
              <a:t>{</a:t>
            </a:r>
          </a:p>
          <a:p>
            <a:pPr marL="116082" indent="0">
              <a:spcBef>
                <a:spcPts val="600"/>
              </a:spcBef>
              <a:buNone/>
            </a:pPr>
            <a:r>
              <a:rPr lang="en-US" dirty="0"/>
              <a:t>int age;</a:t>
            </a:r>
          </a:p>
          <a:p>
            <a:pPr marL="116082" indent="0">
              <a:spcBef>
                <a:spcPts val="600"/>
              </a:spcBef>
              <a:buNone/>
            </a:pPr>
            <a:r>
              <a:rPr lang="en-US" dirty="0"/>
              <a:t>cout&lt;&lt;</a:t>
            </a:r>
            <a:r>
              <a:rPr lang="en-US" dirty="0">
                <a:solidFill>
                  <a:schemeClr val="accent1">
                    <a:lumMod val="50000"/>
                  </a:schemeClr>
                </a:solidFill>
              </a:rPr>
              <a:t>"Enter your age\n"</a:t>
            </a:r>
            <a:r>
              <a:rPr lang="en-US" dirty="0"/>
              <a:t>;</a:t>
            </a:r>
          </a:p>
          <a:p>
            <a:pPr marL="116082" indent="0">
              <a:spcBef>
                <a:spcPts val="600"/>
              </a:spcBef>
              <a:buNone/>
            </a:pPr>
            <a:r>
              <a:rPr lang="en-US" dirty="0" err="1"/>
              <a:t>cin</a:t>
            </a:r>
            <a:r>
              <a:rPr lang="en-US" dirty="0"/>
              <a:t>&gt;&gt;age;</a:t>
            </a:r>
          </a:p>
          <a:p>
            <a:pPr marL="116082" indent="0">
              <a:spcBef>
                <a:spcPts val="600"/>
              </a:spcBef>
              <a:buNone/>
            </a:pPr>
            <a:r>
              <a:rPr lang="en-US" dirty="0"/>
              <a:t>cout&lt;&lt;</a:t>
            </a:r>
            <a:r>
              <a:rPr lang="en-US" dirty="0">
                <a:solidFill>
                  <a:schemeClr val="accent1">
                    <a:lumMod val="50000"/>
                  </a:schemeClr>
                </a:solidFill>
              </a:rPr>
              <a:t>"Your are "</a:t>
            </a:r>
            <a:r>
              <a:rPr lang="en-US" dirty="0"/>
              <a:t>&lt;&lt;age&lt;&lt;</a:t>
            </a:r>
            <a:r>
              <a:rPr lang="en-US" dirty="0">
                <a:solidFill>
                  <a:schemeClr val="accent1">
                    <a:lumMod val="50000"/>
                  </a:schemeClr>
                </a:solidFill>
              </a:rPr>
              <a:t>" years old\n"</a:t>
            </a:r>
            <a:r>
              <a:rPr lang="en-US" dirty="0"/>
              <a:t>;</a:t>
            </a:r>
          </a:p>
          <a:p>
            <a:pPr marL="116082" indent="0">
              <a:spcBef>
                <a:spcPts val="600"/>
              </a:spcBef>
              <a:buNone/>
            </a:pPr>
            <a:r>
              <a:rPr lang="en-US" dirty="0"/>
              <a:t>return 0;</a:t>
            </a:r>
          </a:p>
          <a:p>
            <a:pPr marL="116082" indent="0">
              <a:spcBef>
                <a:spcPts val="600"/>
              </a:spcBef>
              <a:buNone/>
            </a:pPr>
            <a:r>
              <a:rPr lang="en-US" dirty="0"/>
              <a:t>}</a:t>
            </a:r>
          </a:p>
        </p:txBody>
      </p:sp>
    </p:spTree>
    <p:extLst>
      <p:ext uri="{BB962C8B-B14F-4D97-AF65-F5344CB8AC3E}">
        <p14:creationId xmlns:p14="http://schemas.microsoft.com/office/powerpoint/2010/main" val="401747903"/>
      </p:ext>
    </p:extLst>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8"/>
          <p:cNvSpPr txBox="1">
            <a:spLocks/>
          </p:cNvSpPr>
          <p:nvPr/>
        </p:nvSpPr>
        <p:spPr bwMode="auto">
          <a:xfrm>
            <a:off x="601579" y="818147"/>
            <a:ext cx="10154653" cy="58714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50800" tIns="50800" rIns="50800" bIns="50800" numCol="1" anchor="t" anchorCtr="0" compatLnSpc="1">
            <a:prstTxWarp prst="textNoShape">
              <a:avLst/>
            </a:prstTxWarp>
          </a:bodyPr>
          <a:lstStyle>
            <a:lvl1pPr marL="571480" indent="-455398" algn="l" rtl="0" eaLnBrk="0" fontAlgn="base" hangingPunct="0">
              <a:spcBef>
                <a:spcPts val="1406"/>
              </a:spcBef>
              <a:spcAft>
                <a:spcPct val="0"/>
              </a:spcAft>
              <a:buSzPct val="77000"/>
              <a:buChar char="•"/>
              <a:defRPr sz="2953">
                <a:solidFill>
                  <a:schemeClr val="tx1"/>
                </a:solidFill>
                <a:latin typeface="+mn-lt"/>
                <a:ea typeface="+mn-ea"/>
                <a:cs typeface="+mn-cs"/>
                <a:sym typeface="Bradley Hand ITC TT-Bold" charset="0"/>
              </a:defRPr>
            </a:lvl1pPr>
            <a:lvl2pPr marL="1014600" indent="-455398" algn="l" rtl="0" eaLnBrk="0" fontAlgn="base" hangingPunct="0">
              <a:spcBef>
                <a:spcPts val="1406"/>
              </a:spcBef>
              <a:spcAft>
                <a:spcPct val="0"/>
              </a:spcAft>
              <a:buSzPct val="77000"/>
              <a:buChar char="•"/>
              <a:defRPr sz="2953">
                <a:solidFill>
                  <a:schemeClr val="tx1"/>
                </a:solidFill>
                <a:latin typeface="+mn-lt"/>
                <a:ea typeface="+mn-ea"/>
                <a:cs typeface="+mn-cs"/>
                <a:sym typeface="Bradley Hand ITC TT-Bold" charset="0"/>
              </a:defRPr>
            </a:lvl2pPr>
            <a:lvl3pPr marL="1443210" indent="-455398" algn="l" rtl="0" eaLnBrk="0" fontAlgn="base" hangingPunct="0">
              <a:spcBef>
                <a:spcPts val="1406"/>
              </a:spcBef>
              <a:spcAft>
                <a:spcPct val="0"/>
              </a:spcAft>
              <a:buSzPct val="77000"/>
              <a:buChar char="•"/>
              <a:defRPr sz="2953">
                <a:solidFill>
                  <a:schemeClr val="tx1"/>
                </a:solidFill>
                <a:latin typeface="+mn-lt"/>
                <a:ea typeface="+mn-ea"/>
                <a:cs typeface="+mn-cs"/>
                <a:sym typeface="Bradley Hand ITC TT-Bold" charset="0"/>
              </a:defRPr>
            </a:lvl3pPr>
            <a:lvl4pPr marL="1884097" indent="-455398" algn="l" rtl="0" eaLnBrk="0" fontAlgn="base" hangingPunct="0">
              <a:spcBef>
                <a:spcPts val="1406"/>
              </a:spcBef>
              <a:spcAft>
                <a:spcPct val="0"/>
              </a:spcAft>
              <a:buSzPct val="77000"/>
              <a:buChar char="•"/>
              <a:defRPr sz="2953">
                <a:solidFill>
                  <a:schemeClr val="tx1"/>
                </a:solidFill>
                <a:latin typeface="+mn-lt"/>
                <a:ea typeface="+mn-ea"/>
                <a:cs typeface="+mn-cs"/>
                <a:sym typeface="Bradley Hand ITC TT-Bold" charset="0"/>
              </a:defRPr>
            </a:lvl4pPr>
            <a:lvl5pPr marL="2312707" indent="-455398" algn="l" rtl="0" eaLnBrk="0" fontAlgn="base" hangingPunct="0">
              <a:spcBef>
                <a:spcPts val="1406"/>
              </a:spcBef>
              <a:spcAft>
                <a:spcPct val="0"/>
              </a:spcAft>
              <a:buSzPct val="77000"/>
              <a:buChar char="•"/>
              <a:defRPr sz="2953">
                <a:solidFill>
                  <a:schemeClr val="tx1"/>
                </a:solidFill>
                <a:latin typeface="+mn-lt"/>
                <a:ea typeface="+mn-ea"/>
                <a:cs typeface="+mn-cs"/>
                <a:sym typeface="Bradley Hand ITC TT-Bold" charset="0"/>
              </a:defRPr>
            </a:lvl5pPr>
            <a:lvl6pPr marL="2634164" indent="-455398" algn="l" rtl="0" fontAlgn="base">
              <a:spcBef>
                <a:spcPts val="1406"/>
              </a:spcBef>
              <a:spcAft>
                <a:spcPct val="0"/>
              </a:spcAft>
              <a:buSzPct val="77000"/>
              <a:buChar char="•"/>
              <a:defRPr sz="2953">
                <a:solidFill>
                  <a:schemeClr val="tx1"/>
                </a:solidFill>
                <a:latin typeface="+mn-lt"/>
                <a:ea typeface="+mn-ea"/>
                <a:cs typeface="+mn-cs"/>
                <a:sym typeface="Bradley Hand ITC TT-Bold" charset="0"/>
              </a:defRPr>
            </a:lvl6pPr>
            <a:lvl7pPr marL="2955621" indent="-455398" algn="l" rtl="0" fontAlgn="base">
              <a:spcBef>
                <a:spcPts val="1406"/>
              </a:spcBef>
              <a:spcAft>
                <a:spcPct val="0"/>
              </a:spcAft>
              <a:buSzPct val="77000"/>
              <a:buChar char="•"/>
              <a:defRPr sz="2953">
                <a:solidFill>
                  <a:schemeClr val="tx1"/>
                </a:solidFill>
                <a:latin typeface="+mn-lt"/>
                <a:ea typeface="+mn-ea"/>
                <a:cs typeface="+mn-cs"/>
                <a:sym typeface="Bradley Hand ITC TT-Bold" charset="0"/>
              </a:defRPr>
            </a:lvl7pPr>
            <a:lvl8pPr marL="3277079" indent="-455398" algn="l" rtl="0" fontAlgn="base">
              <a:spcBef>
                <a:spcPts val="1406"/>
              </a:spcBef>
              <a:spcAft>
                <a:spcPct val="0"/>
              </a:spcAft>
              <a:buSzPct val="77000"/>
              <a:buChar char="•"/>
              <a:defRPr sz="2953">
                <a:solidFill>
                  <a:schemeClr val="tx1"/>
                </a:solidFill>
                <a:latin typeface="+mn-lt"/>
                <a:ea typeface="+mn-ea"/>
                <a:cs typeface="+mn-cs"/>
                <a:sym typeface="Bradley Hand ITC TT-Bold" charset="0"/>
              </a:defRPr>
            </a:lvl8pPr>
            <a:lvl9pPr marL="3598536" indent="-455398" algn="l" rtl="0" fontAlgn="base">
              <a:spcBef>
                <a:spcPts val="1406"/>
              </a:spcBef>
              <a:spcAft>
                <a:spcPct val="0"/>
              </a:spcAft>
              <a:buSzPct val="77000"/>
              <a:buChar char="•"/>
              <a:defRPr sz="2953">
                <a:solidFill>
                  <a:schemeClr val="tx1"/>
                </a:solidFill>
                <a:latin typeface="+mn-lt"/>
                <a:ea typeface="+mn-ea"/>
                <a:cs typeface="+mn-cs"/>
                <a:sym typeface="Bradley Hand ITC TT-Bold" charset="0"/>
              </a:defRPr>
            </a:lvl9pPr>
          </a:lstStyle>
          <a:p>
            <a:pPr marL="116082" indent="0">
              <a:spcBef>
                <a:spcPts val="0"/>
              </a:spcBef>
              <a:buFontTx/>
              <a:buNone/>
            </a:pPr>
            <a:r>
              <a:rPr lang="en-US" sz="2700" kern="0" dirty="0">
                <a:solidFill>
                  <a:schemeClr val="accent2"/>
                </a:solidFill>
              </a:rPr>
              <a:t>#include&lt;</a:t>
            </a:r>
            <a:r>
              <a:rPr lang="en-US" sz="2700" kern="0" dirty="0" err="1">
                <a:solidFill>
                  <a:schemeClr val="accent2"/>
                </a:solidFill>
              </a:rPr>
              <a:t>iosteam</a:t>
            </a:r>
            <a:r>
              <a:rPr lang="en-US" sz="2700" kern="0" dirty="0">
                <a:solidFill>
                  <a:schemeClr val="accent2"/>
                </a:solidFill>
              </a:rPr>
              <a:t>&gt;</a:t>
            </a:r>
          </a:p>
          <a:p>
            <a:pPr marL="116082" indent="0">
              <a:spcBef>
                <a:spcPts val="0"/>
              </a:spcBef>
              <a:buFontTx/>
              <a:buNone/>
            </a:pPr>
            <a:r>
              <a:rPr lang="en-US" sz="2700" kern="0" dirty="0">
                <a:solidFill>
                  <a:schemeClr val="accent2"/>
                </a:solidFill>
              </a:rPr>
              <a:t>using namespace std;</a:t>
            </a:r>
          </a:p>
          <a:p>
            <a:pPr marL="116082" indent="0">
              <a:spcBef>
                <a:spcPts val="0"/>
              </a:spcBef>
              <a:buFontTx/>
              <a:buNone/>
            </a:pPr>
            <a:r>
              <a:rPr lang="en-US" sz="2700" kern="0" dirty="0">
                <a:solidFill>
                  <a:schemeClr val="accent2"/>
                </a:solidFill>
              </a:rPr>
              <a:t>int main( ) {</a:t>
            </a:r>
          </a:p>
          <a:p>
            <a:pPr marL="559202" lvl="1" indent="0">
              <a:spcBef>
                <a:spcPts val="0"/>
              </a:spcBef>
              <a:buFontTx/>
              <a:buNone/>
            </a:pPr>
            <a:r>
              <a:rPr lang="en-US" sz="2700" kern="0" dirty="0">
                <a:solidFill>
                  <a:schemeClr val="accent2"/>
                </a:solidFill>
              </a:rPr>
              <a:t> int </a:t>
            </a:r>
            <a:r>
              <a:rPr lang="en-US" sz="2700" kern="0" dirty="0" err="1">
                <a:solidFill>
                  <a:schemeClr val="accent2"/>
                </a:solidFill>
              </a:rPr>
              <a:t>yourAge</a:t>
            </a:r>
            <a:r>
              <a:rPr lang="en-US" sz="2700" kern="0" dirty="0">
                <a:solidFill>
                  <a:schemeClr val="accent2"/>
                </a:solidFill>
              </a:rPr>
              <a:t> = 0;</a:t>
            </a:r>
          </a:p>
          <a:p>
            <a:pPr marL="559202" lvl="1" indent="0">
              <a:spcBef>
                <a:spcPts val="0"/>
              </a:spcBef>
              <a:buFontTx/>
              <a:buNone/>
            </a:pPr>
            <a:r>
              <a:rPr lang="en-US" sz="2700" kern="0" dirty="0">
                <a:solidFill>
                  <a:schemeClr val="accent2"/>
                </a:solidFill>
              </a:rPr>
              <a:t>double </a:t>
            </a:r>
            <a:r>
              <a:rPr lang="en-US" sz="2700" kern="0" dirty="0" err="1">
                <a:solidFill>
                  <a:schemeClr val="accent2"/>
                </a:solidFill>
              </a:rPr>
              <a:t>yourWeight</a:t>
            </a:r>
            <a:r>
              <a:rPr lang="en-US" sz="2700" kern="0" dirty="0">
                <a:solidFill>
                  <a:schemeClr val="accent2"/>
                </a:solidFill>
              </a:rPr>
              <a:t> = 0.0;</a:t>
            </a:r>
          </a:p>
          <a:p>
            <a:pPr marL="559202" lvl="1" indent="0">
              <a:spcBef>
                <a:spcPts val="0"/>
              </a:spcBef>
              <a:buFontTx/>
              <a:buNone/>
            </a:pPr>
            <a:r>
              <a:rPr lang="en-US" sz="2700" kern="0" dirty="0">
                <a:solidFill>
                  <a:schemeClr val="accent2"/>
                </a:solidFill>
              </a:rPr>
              <a:t>string </a:t>
            </a:r>
            <a:r>
              <a:rPr lang="en-US" sz="2700" kern="0" dirty="0" err="1">
                <a:solidFill>
                  <a:schemeClr val="accent2"/>
                </a:solidFill>
              </a:rPr>
              <a:t>yourName</a:t>
            </a:r>
            <a:r>
              <a:rPr lang="en-US" sz="2700" kern="0" dirty="0">
                <a:solidFill>
                  <a:schemeClr val="accent2"/>
                </a:solidFill>
              </a:rPr>
              <a:t> = "  ";</a:t>
            </a:r>
          </a:p>
          <a:p>
            <a:pPr marL="559202" lvl="1" indent="0">
              <a:spcBef>
                <a:spcPts val="0"/>
              </a:spcBef>
              <a:buFontTx/>
              <a:buNone/>
            </a:pPr>
            <a:r>
              <a:rPr lang="en-US" sz="2700" kern="0" dirty="0">
                <a:solidFill>
                  <a:schemeClr val="accent2"/>
                </a:solidFill>
              </a:rPr>
              <a:t>cout&lt;&lt;"Enter your name, age and weight.\n";</a:t>
            </a:r>
          </a:p>
          <a:p>
            <a:pPr marL="559202" lvl="1" indent="0">
              <a:spcBef>
                <a:spcPts val="0"/>
              </a:spcBef>
              <a:buFontTx/>
              <a:buNone/>
            </a:pPr>
            <a:r>
              <a:rPr lang="en-US" sz="2700" kern="0" dirty="0">
                <a:solidFill>
                  <a:schemeClr val="accent2"/>
                </a:solidFill>
              </a:rPr>
              <a:t>cout&lt;&lt;"After each, press enter\n";</a:t>
            </a:r>
          </a:p>
          <a:p>
            <a:pPr marL="559202" lvl="1" indent="0">
              <a:spcBef>
                <a:spcPts val="0"/>
              </a:spcBef>
              <a:buFontTx/>
              <a:buNone/>
            </a:pPr>
            <a:r>
              <a:rPr lang="en-US" sz="2700" kern="0" dirty="0" err="1">
                <a:solidFill>
                  <a:schemeClr val="accent2"/>
                </a:solidFill>
              </a:rPr>
              <a:t>cin</a:t>
            </a:r>
            <a:r>
              <a:rPr lang="en-US" sz="2700" kern="0" dirty="0">
                <a:solidFill>
                  <a:schemeClr val="accent2"/>
                </a:solidFill>
              </a:rPr>
              <a:t>&gt;&gt;</a:t>
            </a:r>
            <a:r>
              <a:rPr lang="en-US" sz="2700" kern="0" dirty="0" err="1">
                <a:solidFill>
                  <a:schemeClr val="accent2"/>
                </a:solidFill>
              </a:rPr>
              <a:t>yourName</a:t>
            </a:r>
            <a:r>
              <a:rPr lang="en-US" sz="2700" kern="0" dirty="0">
                <a:solidFill>
                  <a:schemeClr val="accent2"/>
                </a:solidFill>
              </a:rPr>
              <a:t>&gt;&gt;</a:t>
            </a:r>
            <a:r>
              <a:rPr lang="en-US" sz="2700" kern="0" dirty="0" err="1">
                <a:solidFill>
                  <a:schemeClr val="accent2"/>
                </a:solidFill>
              </a:rPr>
              <a:t>yourAge</a:t>
            </a:r>
            <a:r>
              <a:rPr lang="en-US" sz="2700" kern="0" dirty="0">
                <a:solidFill>
                  <a:schemeClr val="accent2"/>
                </a:solidFill>
              </a:rPr>
              <a:t>&gt;&gt;</a:t>
            </a:r>
            <a:r>
              <a:rPr lang="en-US" sz="2700" kern="0" dirty="0" err="1">
                <a:solidFill>
                  <a:schemeClr val="accent2"/>
                </a:solidFill>
              </a:rPr>
              <a:t>yourWeight</a:t>
            </a:r>
            <a:r>
              <a:rPr lang="en-US" sz="2700" kern="0" dirty="0">
                <a:solidFill>
                  <a:schemeClr val="accent2"/>
                </a:solidFill>
              </a:rPr>
              <a:t>;</a:t>
            </a:r>
          </a:p>
          <a:p>
            <a:pPr marL="559202" lvl="1" indent="0">
              <a:spcBef>
                <a:spcPts val="0"/>
              </a:spcBef>
              <a:buFontTx/>
              <a:buNone/>
            </a:pPr>
            <a:r>
              <a:rPr lang="en-US" sz="2700" kern="0" dirty="0">
                <a:solidFill>
                  <a:schemeClr val="accent2"/>
                </a:solidFill>
              </a:rPr>
              <a:t>cout&lt;&lt;"Hi, "&lt;&lt;</a:t>
            </a:r>
            <a:r>
              <a:rPr lang="en-US" sz="2700" kern="0" dirty="0" err="1">
                <a:solidFill>
                  <a:schemeClr val="accent2"/>
                </a:solidFill>
              </a:rPr>
              <a:t>yourName</a:t>
            </a:r>
            <a:r>
              <a:rPr lang="en-US" sz="2700" kern="0" dirty="0">
                <a:solidFill>
                  <a:schemeClr val="accent2"/>
                </a:solidFill>
              </a:rPr>
              <a:t>&lt;&lt;endl;</a:t>
            </a:r>
          </a:p>
          <a:p>
            <a:pPr marL="559202" lvl="1" indent="0">
              <a:spcBef>
                <a:spcPts val="0"/>
              </a:spcBef>
              <a:buFontTx/>
              <a:buNone/>
            </a:pPr>
            <a:r>
              <a:rPr lang="en-US" sz="2700" kern="0" dirty="0">
                <a:solidFill>
                  <a:schemeClr val="accent2"/>
                </a:solidFill>
              </a:rPr>
              <a:t>cout&lt;&lt;"Your are "&lt;&lt;</a:t>
            </a:r>
            <a:r>
              <a:rPr lang="en-US" sz="2700" kern="0" dirty="0" err="1">
                <a:solidFill>
                  <a:schemeClr val="accent2"/>
                </a:solidFill>
              </a:rPr>
              <a:t>yourAge</a:t>
            </a:r>
            <a:r>
              <a:rPr lang="en-US" sz="2700" kern="0" dirty="0">
                <a:solidFill>
                  <a:schemeClr val="accent2"/>
                </a:solidFill>
              </a:rPr>
              <a:t>&lt;&lt;" years old and “&lt;&lt;</a:t>
            </a:r>
            <a:r>
              <a:rPr lang="en-US" sz="2700" kern="0" dirty="0" err="1">
                <a:solidFill>
                  <a:schemeClr val="accent2"/>
                </a:solidFill>
              </a:rPr>
              <a:t>endl</a:t>
            </a:r>
            <a:r>
              <a:rPr lang="en-US" sz="2700" kern="0" dirty="0">
                <a:solidFill>
                  <a:schemeClr val="accent2"/>
                </a:solidFill>
              </a:rPr>
              <a:t>;</a:t>
            </a:r>
          </a:p>
          <a:p>
            <a:pPr marL="559202" lvl="1" indent="0">
              <a:spcBef>
                <a:spcPts val="0"/>
              </a:spcBef>
              <a:buFontTx/>
              <a:buNone/>
            </a:pPr>
            <a:r>
              <a:rPr lang="en-US" sz="2700" kern="0" dirty="0">
                <a:solidFill>
                  <a:schemeClr val="accent2"/>
                </a:solidFill>
              </a:rPr>
              <a:t>cout&lt;&lt;"Your are weight is "&lt;&lt;</a:t>
            </a:r>
            <a:r>
              <a:rPr lang="en-US" sz="2700" kern="0" dirty="0" err="1">
                <a:solidFill>
                  <a:schemeClr val="accent2"/>
                </a:solidFill>
              </a:rPr>
              <a:t>yourWeight</a:t>
            </a:r>
            <a:r>
              <a:rPr lang="en-US" sz="2700" kern="0" dirty="0">
                <a:solidFill>
                  <a:schemeClr val="accent2"/>
                </a:solidFill>
              </a:rPr>
              <a:t>&lt;&lt;" </a:t>
            </a:r>
            <a:r>
              <a:rPr lang="en-US" sz="2700" kern="0" dirty="0" err="1">
                <a:solidFill>
                  <a:schemeClr val="accent2"/>
                </a:solidFill>
              </a:rPr>
              <a:t>kgs</a:t>
            </a:r>
            <a:r>
              <a:rPr lang="en-US" sz="2700" kern="0" dirty="0">
                <a:solidFill>
                  <a:schemeClr val="accent2"/>
                </a:solidFill>
              </a:rPr>
              <a:t>";</a:t>
            </a:r>
          </a:p>
          <a:p>
            <a:pPr marL="559202" lvl="1" indent="0">
              <a:spcBef>
                <a:spcPts val="0"/>
              </a:spcBef>
              <a:buFontTx/>
              <a:buNone/>
            </a:pPr>
            <a:r>
              <a:rPr lang="en-US" sz="2700" kern="0" dirty="0">
                <a:solidFill>
                  <a:schemeClr val="accent2"/>
                </a:solidFill>
              </a:rPr>
              <a:t>return 0;</a:t>
            </a:r>
          </a:p>
          <a:p>
            <a:pPr marL="116082" indent="0">
              <a:spcBef>
                <a:spcPts val="0"/>
              </a:spcBef>
              <a:buFontTx/>
              <a:buNone/>
            </a:pPr>
            <a:r>
              <a:rPr lang="en-US" sz="2700" kern="0" dirty="0">
                <a:solidFill>
                  <a:schemeClr val="accent2"/>
                </a:solidFill>
              </a:rPr>
              <a:t>   }</a:t>
            </a:r>
            <a:endParaRPr lang="en-US" sz="2700" kern="0" dirty="0"/>
          </a:p>
        </p:txBody>
      </p:sp>
    </p:spTree>
    <p:extLst>
      <p:ext uri="{BB962C8B-B14F-4D97-AF65-F5344CB8AC3E}">
        <p14:creationId xmlns:p14="http://schemas.microsoft.com/office/powerpoint/2010/main" val="3540229215"/>
      </p:ext>
    </p:extLst>
  </p:cSld>
  <p:clrMapOvr>
    <a:masterClrMapping/>
  </p:clrMapOvr>
  <p:transition/>
</p:sld>
</file>

<file path=ppt/theme/theme1.xml><?xml version="1.0" encoding="utf-8"?>
<a:theme xmlns:a="http://schemas.openxmlformats.org/drawingml/2006/main" name="Title &amp; Bullets">
  <a:themeElements>
    <a:clrScheme name="">
      <a:dk1>
        <a:srgbClr val="000000"/>
      </a:dk1>
      <a:lt1>
        <a:srgbClr val="FFFFFF"/>
      </a:lt1>
      <a:dk2>
        <a:srgbClr val="000000"/>
      </a:dk2>
      <a:lt2>
        <a:srgbClr val="000000"/>
      </a:lt2>
      <a:accent1>
        <a:srgbClr val="66FFCC"/>
      </a:accent1>
      <a:accent2>
        <a:srgbClr val="333399"/>
      </a:accent2>
      <a:accent3>
        <a:srgbClr val="FFFFFF"/>
      </a:accent3>
      <a:accent4>
        <a:srgbClr val="000000"/>
      </a:accent4>
      <a:accent5>
        <a:srgbClr val="B8FFE2"/>
      </a:accent5>
      <a:accent6>
        <a:srgbClr val="2D2D8A"/>
      </a:accent6>
      <a:hlink>
        <a:srgbClr val="009999"/>
      </a:hlink>
      <a:folHlink>
        <a:srgbClr val="99CC00"/>
      </a:folHlink>
    </a:clrScheme>
    <a:fontScheme name="Title &amp; Bullets">
      <a:majorFont>
        <a:latin typeface="Stone Sans ITC TT-Semi"/>
        <a:ea typeface="ヒラギノ角ゴ ProN W6"/>
        <a:cs typeface="ヒラギノ角ゴ ProN W6"/>
      </a:majorFont>
      <a:minorFont>
        <a:latin typeface="Bradley Hand ITC TT-Bold"/>
        <a:ea typeface="ヒラギノ明朝 ProN W6"/>
        <a:cs typeface="ヒラギノ明朝 ProN W6"/>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D7E2EE"/>
        </a:solidFill>
        <a:ln w="25400" cap="flat" cmpd="sng" algn="ctr">
          <a:solidFill>
            <a:srgbClr val="000000"/>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a:ln>
              <a:noFill/>
            </a:ln>
            <a:solidFill>
              <a:srgbClr val="000000"/>
            </a:solidFill>
            <a:effectLst/>
            <a:latin typeface="Bradley Hand ITC TT-Bold" charset="0"/>
            <a:ea typeface="ヒラギノ明朝 ProN W6" charset="-128"/>
            <a:cs typeface="ヒラギノ明朝 ProN W6" charset="-128"/>
            <a:sym typeface="Bradley Hand ITC TT-Bold" charset="0"/>
          </a:defRPr>
        </a:defPPr>
      </a:lstStyle>
    </a:spDef>
    <a:lnDef>
      <a:spPr bwMode="auto">
        <a:xfrm>
          <a:off x="0" y="0"/>
          <a:ext cx="1" cy="1"/>
        </a:xfrm>
        <a:custGeom>
          <a:avLst/>
          <a:gdLst/>
          <a:ahLst/>
          <a:cxnLst/>
          <a:rect l="0" t="0" r="0" b="0"/>
          <a:pathLst/>
        </a:custGeom>
        <a:solidFill>
          <a:srgbClr val="D7E2EE"/>
        </a:solidFill>
        <a:ln w="25400" cap="flat" cmpd="sng" algn="ctr">
          <a:solidFill>
            <a:srgbClr val="000000"/>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a:ln>
              <a:noFill/>
            </a:ln>
            <a:solidFill>
              <a:srgbClr val="000000"/>
            </a:solidFill>
            <a:effectLst/>
            <a:latin typeface="Bradley Hand ITC TT-Bold" charset="0"/>
            <a:ea typeface="ヒラギノ明朝 ProN W6" charset="-128"/>
            <a:cs typeface="ヒラギノ明朝 ProN W6" charset="-128"/>
            <a:sym typeface="Bradley Hand ITC TT-Bold" charset="0"/>
          </a:defRPr>
        </a:defPPr>
      </a:lstStyle>
    </a:lnDef>
  </a:objectDefaults>
  <a:extraClrSchemeLst>
    <a:extraClrScheme>
      <a:clrScheme name="Title &amp; Bullet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
    <a:dk1>
      <a:srgbClr val="000000"/>
    </a:dk1>
    <a:lt1>
      <a:srgbClr val="FFFFFF"/>
    </a:lt1>
    <a:dk2>
      <a:srgbClr val="000000"/>
    </a:dk2>
    <a:lt2>
      <a:srgbClr val="000000"/>
    </a:lt2>
    <a:accent1>
      <a:srgbClr val="66FFCC"/>
    </a:accent1>
    <a:accent2>
      <a:srgbClr val="333399"/>
    </a:accent2>
    <a:accent3>
      <a:srgbClr val="FFFFFF"/>
    </a:accent3>
    <a:accent4>
      <a:srgbClr val="000000"/>
    </a:accent4>
    <a:accent5>
      <a:srgbClr val="B8FFE2"/>
    </a:accent5>
    <a:accent6>
      <a:srgbClr val="2D2D8A"/>
    </a:accent6>
    <a:hlink>
      <a:srgbClr val="009999"/>
    </a:hlink>
    <a:folHlink>
      <a:srgbClr val="99CC00"/>
    </a:folHlink>
  </a:clrScheme>
</a:themeOverride>
</file>

<file path=docProps/app.xml><?xml version="1.0" encoding="utf-8"?>
<Properties xmlns="http://schemas.openxmlformats.org/officeDocument/2006/extended-properties" xmlns:vt="http://schemas.openxmlformats.org/officeDocument/2006/docPropsVTypes">
  <Template/>
  <TotalTime>13989</TotalTime>
  <Words>6347</Words>
  <Application>Microsoft Office PowerPoint</Application>
  <PresentationFormat>Widescreen</PresentationFormat>
  <Paragraphs>587</Paragraphs>
  <Slides>52</Slides>
  <Notes>19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52</vt:i4>
      </vt:variant>
    </vt:vector>
  </HeadingPairs>
  <TitlesOfParts>
    <vt:vector size="59" baseType="lpstr">
      <vt:lpstr>Arial</vt:lpstr>
      <vt:lpstr>Bradley Hand ITC TT-Bold</vt:lpstr>
      <vt:lpstr>Calibri</vt:lpstr>
      <vt:lpstr>Stone Sans ITC TT-Semi</vt:lpstr>
      <vt:lpstr>Times New Roman</vt:lpstr>
      <vt:lpstr>Wingdings</vt:lpstr>
      <vt:lpstr>Title &amp; Bullets</vt:lpstr>
      <vt:lpstr>OBJECT ORIENTED PROGRAMMING</vt:lpstr>
      <vt:lpstr>Fundamental Data Types and Operators  </vt:lpstr>
      <vt:lpstr>PowerPoint Presentation</vt:lpstr>
      <vt:lpstr>PowerPoint Presentation</vt:lpstr>
      <vt:lpstr>Operation</vt:lpstr>
      <vt:lpstr>PowerPoint Presentation</vt:lpstr>
      <vt:lpstr>Variables, Identifiers, Declarations, and Initialization</vt:lpstr>
      <vt:lpstr>PowerPoint Presentation</vt:lpstr>
      <vt:lpstr>PowerPoint Presentation</vt:lpstr>
      <vt:lpstr>Variables, Identifiers, Declarations, and Initialization</vt:lpstr>
      <vt:lpstr>PowerPoint Presentation</vt:lpstr>
      <vt:lpstr>PowerPoint Presentation</vt:lpstr>
      <vt:lpstr>PowerPoint Presentation</vt:lpstr>
      <vt:lpstr>PowerPoint Presentation</vt:lpstr>
      <vt:lpstr>Local Variables</vt:lpstr>
      <vt:lpstr>PowerPoint Presentation</vt:lpstr>
      <vt:lpstr>Global Variables</vt:lpstr>
      <vt:lpstr>PowerPoint Presentation</vt:lpstr>
      <vt:lpstr>Constants </vt:lpstr>
      <vt:lpstr>PowerPoint Presentation</vt:lpstr>
      <vt:lpstr>PowerPoint Presentation</vt:lpstr>
      <vt:lpstr>PowerPoint Presentation</vt:lpstr>
      <vt:lpstr>Defined constants (#define) </vt:lpstr>
      <vt:lpstr>PowerPoint Presentation</vt:lpstr>
      <vt:lpstr>Declared constants (const)</vt:lpstr>
      <vt:lpstr>Operators --- Assignment Operators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Basic Input/Output </vt:lpstr>
      <vt:lpstr>PowerPoint Presentation</vt:lpstr>
      <vt:lpstr>PowerPoint Presentation</vt:lpstr>
      <vt:lpstr>PowerPoint Presentation</vt:lpstr>
      <vt:lpstr>PowerPoint Presentation</vt:lpstr>
      <vt:lpstr>PowerPoint Presentation</vt:lpstr>
      <vt:lpstr>Standard Input (cin). </vt:lpstr>
      <vt:lpstr>Creating a Simple Calculator</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ORDINARY DIPLOMA IN LABORATOTY TECHNOLOGY NTA 6 COT 103: COMPUTER PROGRAMMING {OBJECT-ORIENTED PROGRAMMING (OOP)}</dc:title>
  <dc:creator>HP</dc:creator>
  <cp:lastModifiedBy>SIKORO</cp:lastModifiedBy>
  <cp:revision>68</cp:revision>
  <dcterms:created xsi:type="dcterms:W3CDTF">2017-03-14T19:33:00Z</dcterms:created>
  <dcterms:modified xsi:type="dcterms:W3CDTF">2024-11-04T09:10:17Z</dcterms:modified>
</cp:coreProperties>
</file>