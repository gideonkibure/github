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8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2" r:id="rId13"/>
    <p:sldId id="28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heel spokes="8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02CF7-04BC-423E-B026-16125374E5AB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07243-A7A1-45A3-87C8-48A9F51528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heel spokes="8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46404"/>
            <a:ext cx="8077200" cy="1229995"/>
          </a:xfrm>
          <a:solidFill>
            <a:schemeClr val="accent2"/>
          </a:solidFill>
        </p:spPr>
        <p:txBody>
          <a:bodyPr/>
          <a:lstStyle/>
          <a:p>
            <a:r>
              <a:rPr lang="en-US" dirty="0" smtClean="0"/>
              <a:t>THE LOGIC GATES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445" y="1400175"/>
            <a:ext cx="8229600" cy="42672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INTRODUCTION TO LOGIC GATES</a:t>
            </a: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sym typeface="+mn-ea"/>
              </a:rPr>
              <a:t>Learning objectives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 smtClean="0">
                <a:sym typeface="+mn-ea"/>
              </a:rPr>
              <a:t>At the end of this element participants should be able to;</a:t>
            </a:r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 Define the term logic gate</a:t>
            </a:r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ym typeface="+mn-ea"/>
              </a:rPr>
              <a:t> </a:t>
            </a:r>
            <a:r>
              <a:rPr lang="en-US" dirty="0" smtClean="0">
                <a:sym typeface="+mn-ea"/>
              </a:rPr>
              <a:t>Identify types of logic gates</a:t>
            </a:r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 Illustrate the types of logic gate</a:t>
            </a:r>
            <a:endParaRPr lang="en-US" dirty="0" smtClean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 Prepare the table for each type of logic gate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 Draw logic circuits </a:t>
            </a:r>
            <a:endParaRPr lang="en-US" dirty="0" smtClean="0"/>
          </a:p>
          <a:p>
            <a:endParaRPr lang="en-US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solidFill>
            <a:schemeClr val="accent2"/>
          </a:solidFill>
        </p:spPr>
        <p:txBody>
          <a:bodyPr/>
          <a:lstStyle/>
          <a:p>
            <a:r>
              <a:rPr lang="en-US" dirty="0" smtClean="0"/>
              <a:t>1.0. Introduction to logic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Logic gate is an </a:t>
            </a:r>
            <a:r>
              <a:rPr lang="en-US" dirty="0" smtClean="0">
                <a:solidFill>
                  <a:srgbClr val="FF0000"/>
                </a:solidFill>
              </a:rPr>
              <a:t>arrangement of controlled switches </a:t>
            </a:r>
            <a:r>
              <a:rPr lang="en-US" dirty="0" smtClean="0"/>
              <a:t>used to illustrate operation using </a:t>
            </a:r>
            <a:r>
              <a:rPr lang="en-US" dirty="0" smtClean="0">
                <a:solidFill>
                  <a:srgbClr val="FF0000"/>
                </a:solidFill>
              </a:rPr>
              <a:t>Boolen logic </a:t>
            </a:r>
            <a:r>
              <a:rPr lang="en-US" dirty="0" smtClean="0"/>
              <a:t>in digital circuit.</a:t>
            </a:r>
          </a:p>
          <a:p>
            <a:pPr>
              <a:buNone/>
            </a:pPr>
            <a:r>
              <a:rPr lang="en-US" dirty="0" smtClean="0"/>
              <a:t>	In other words, it is an electronic circuit which makes logical decision based on combination of digital signals from its inputs.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They are primarily </a:t>
            </a:r>
            <a:r>
              <a:rPr lang="en-US" dirty="0" smtClean="0">
                <a:solidFill>
                  <a:srgbClr val="0070C0"/>
                </a:solidFill>
              </a:rPr>
              <a:t>controlled electronically </a:t>
            </a:r>
            <a:r>
              <a:rPr lang="en-US" dirty="0" smtClean="0"/>
              <a:t>but can also be </a:t>
            </a:r>
            <a:r>
              <a:rPr lang="en-US" dirty="0" smtClean="0">
                <a:solidFill>
                  <a:srgbClr val="0070C0"/>
                </a:solidFill>
              </a:rPr>
              <a:t>controlled by electromagnetic </a:t>
            </a:r>
            <a:r>
              <a:rPr lang="en-US" b="1" i="1" dirty="0" smtClean="0"/>
              <a:t>relays, electronic diodes, fluidics, optical or even mechanical elements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 smtClean="0"/>
              <a:t>2.0. Basic types of logic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There are three basic types of logic gates namely;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(i) </a:t>
            </a:r>
            <a:r>
              <a:rPr lang="en-US" dirty="0" smtClean="0">
                <a:solidFill>
                  <a:srgbClr val="FF0000"/>
                </a:solidFill>
              </a:rPr>
              <a:t>AND gate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(ii) OR gate and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(iii) NOT gate</a:t>
            </a:r>
          </a:p>
          <a:p>
            <a:pPr>
              <a:buNone/>
            </a:pPr>
            <a:r>
              <a:rPr lang="en-US" dirty="0" smtClean="0"/>
              <a:t>	However there are some </a:t>
            </a:r>
            <a:r>
              <a:rPr lang="en-US" b="1" i="1" dirty="0" smtClean="0"/>
              <a:t>derived logic gates </a:t>
            </a:r>
            <a:r>
              <a:rPr lang="en-US" dirty="0" smtClean="0"/>
              <a:t>including;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NAND gate, NOR gate, XOR gate and XNOR gate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 smtClean="0"/>
              <a:t>More elaboration on logic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 smtClean="0"/>
              <a:t>AND gate</a:t>
            </a:r>
            <a:r>
              <a:rPr lang="en-US" dirty="0" smtClean="0"/>
              <a:t>:  The AND gate is an electronic circuit that gives a </a:t>
            </a:r>
            <a:r>
              <a:rPr lang="en-US" b="1" i="1" dirty="0" smtClean="0"/>
              <a:t>true output </a:t>
            </a:r>
            <a:r>
              <a:rPr lang="en-US" dirty="0" smtClean="0"/>
              <a:t>i.e. (1) only if </a:t>
            </a:r>
            <a:r>
              <a:rPr lang="en-US" b="1" i="1" dirty="0" smtClean="0">
                <a:solidFill>
                  <a:srgbClr val="FF0000"/>
                </a:solidFill>
              </a:rPr>
              <a:t>all</a:t>
            </a:r>
            <a:r>
              <a:rPr lang="en-US" dirty="0" smtClean="0"/>
              <a:t> of its inputs </a:t>
            </a:r>
            <a:r>
              <a:rPr lang="en-US" dirty="0" smtClean="0">
                <a:solidFill>
                  <a:srgbClr val="FF0000"/>
                </a:solidFill>
              </a:rPr>
              <a:t>are true</a:t>
            </a:r>
            <a:r>
              <a:rPr lang="en-US" dirty="0" smtClean="0"/>
              <a:t>. A dot (.) is used to denote the AND gate operation i.e. A.B</a:t>
            </a:r>
          </a:p>
          <a:p>
            <a:pPr marL="514350" indent="-514350">
              <a:buNone/>
            </a:pPr>
            <a:r>
              <a:rPr lang="en-US" dirty="0" smtClean="0"/>
              <a:t>	</a:t>
            </a:r>
            <a:r>
              <a:rPr lang="en-US" dirty="0"/>
              <a:t>T</a:t>
            </a:r>
            <a:r>
              <a:rPr lang="en-US" dirty="0" smtClean="0"/>
              <a:t>he symbol and truth table appears as follows.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5029200"/>
            <a:ext cx="2362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4419600"/>
            <a:ext cx="3733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2.0. The OR gate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 OR gate is an electronic circuit that gives a true output only if </a:t>
            </a:r>
            <a:r>
              <a:rPr lang="en-US" b="1" i="1" dirty="0" smtClean="0"/>
              <a:t>one</a:t>
            </a:r>
            <a:r>
              <a:rPr lang="en-US" dirty="0" smtClean="0"/>
              <a:t> or </a:t>
            </a:r>
            <a:r>
              <a:rPr lang="en-US" b="1" i="1" dirty="0" smtClean="0"/>
              <a:t>more</a:t>
            </a:r>
            <a:r>
              <a:rPr lang="en-US" dirty="0" smtClean="0"/>
              <a:t> of its inputs </a:t>
            </a:r>
            <a:r>
              <a:rPr lang="en-US" dirty="0" smtClean="0">
                <a:solidFill>
                  <a:srgbClr val="FF0000"/>
                </a:solidFill>
              </a:rPr>
              <a:t>are true</a:t>
            </a:r>
            <a:r>
              <a:rPr lang="en-US" dirty="0" smtClean="0"/>
              <a:t>. A plus sign is used to show the OR operation. Its symbol and truth table are as follows.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657600"/>
            <a:ext cx="5410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3.0. The NOT gate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 NOT gate is an electronic circuit that produces an </a:t>
            </a:r>
            <a:r>
              <a:rPr lang="en-US" b="1" i="1" dirty="0" smtClean="0"/>
              <a:t>inverted version </a:t>
            </a:r>
            <a:r>
              <a:rPr lang="en-US" dirty="0" smtClean="0"/>
              <a:t>of the input at its output. </a:t>
            </a:r>
            <a:r>
              <a:rPr lang="en-US" dirty="0"/>
              <a:t>I</a:t>
            </a:r>
            <a:r>
              <a:rPr lang="en-US" dirty="0" smtClean="0"/>
              <a:t>t is also known as an inverter. If the output  variable is A, then its corresponding inverted output becomes </a:t>
            </a:r>
            <a:r>
              <a:rPr lang="en-US" b="1" dirty="0" smtClean="0"/>
              <a:t>Not A</a:t>
            </a:r>
            <a:r>
              <a:rPr lang="en-US" dirty="0" smtClean="0"/>
              <a:t> represented by Ā. 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267200"/>
            <a:ext cx="2895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4.0. The NAND gate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This is a </a:t>
            </a:r>
            <a:r>
              <a:rPr lang="en-US" dirty="0" smtClean="0">
                <a:solidFill>
                  <a:srgbClr val="FF0000"/>
                </a:solidFill>
              </a:rPr>
              <a:t>NOT-AND gate  </a:t>
            </a:r>
            <a:r>
              <a:rPr lang="en-US" dirty="0" smtClean="0"/>
              <a:t>which is equal to an AND gate followed by a NOT gate. The output of all NAND gate are true if </a:t>
            </a:r>
            <a:r>
              <a:rPr lang="en-US" b="1" i="1" dirty="0" smtClean="0"/>
              <a:t>any </a:t>
            </a:r>
            <a:r>
              <a:rPr lang="en-US" dirty="0" smtClean="0"/>
              <a:t>of the inputs are </a:t>
            </a:r>
            <a:r>
              <a:rPr lang="en-US" b="1" i="1" dirty="0" smtClean="0"/>
              <a:t>false. </a:t>
            </a:r>
            <a:r>
              <a:rPr lang="en-US" dirty="0" smtClean="0"/>
              <a:t>The notation of an NAND gate includes a circle on the output representing an inversion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343400"/>
            <a:ext cx="2743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4114800"/>
            <a:ext cx="4114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5.0. The NOR gate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This is a </a:t>
            </a:r>
            <a:r>
              <a:rPr lang="en-US" b="1" i="1" dirty="0" smtClean="0"/>
              <a:t>NOT-OR gate </a:t>
            </a:r>
            <a:r>
              <a:rPr lang="en-US" dirty="0" smtClean="0"/>
              <a:t>which is equal to an OR gate  followed by a NOT gate. The outputs of all NOR gate are </a:t>
            </a:r>
            <a:r>
              <a:rPr lang="en-US" b="1" i="1" dirty="0" smtClean="0"/>
              <a:t>false</a:t>
            </a:r>
            <a:r>
              <a:rPr lang="en-US" dirty="0" smtClean="0"/>
              <a:t> if any of the inputs are </a:t>
            </a:r>
            <a:r>
              <a:rPr lang="en-US" b="1" i="1" dirty="0" smtClean="0"/>
              <a:t>true. </a:t>
            </a:r>
            <a:r>
              <a:rPr lang="en-US" dirty="0" smtClean="0"/>
              <a:t>The NOR gate has a small circle on the output to denote an inversion.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581400"/>
            <a:ext cx="4419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6.0. The XOR gate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530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 exclusive OR gate is a circuit which will give a true output if </a:t>
            </a:r>
            <a:r>
              <a:rPr lang="en-US" b="1" i="1" dirty="0" smtClean="0"/>
              <a:t>either, but not both </a:t>
            </a:r>
            <a:r>
              <a:rPr lang="en-US" dirty="0" smtClean="0"/>
              <a:t>of its two inputs are true. 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505200"/>
            <a:ext cx="3200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2971800"/>
            <a:ext cx="3505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7.0. The XNOR gate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 exclusive –NOR gate circuit does the opposite to the XOR gate. It will give a </a:t>
            </a:r>
            <a:r>
              <a:rPr lang="en-US" b="1" i="1" dirty="0" smtClean="0"/>
              <a:t>false</a:t>
            </a:r>
            <a:r>
              <a:rPr lang="en-US" dirty="0" smtClean="0"/>
              <a:t> output if </a:t>
            </a:r>
            <a:r>
              <a:rPr lang="en-US" b="1" i="1" dirty="0" smtClean="0"/>
              <a:t>either, but not both </a:t>
            </a:r>
            <a:r>
              <a:rPr lang="en-US" dirty="0" smtClean="0"/>
              <a:t>of its two inputs are true. The small circle to its output denotes an inversion</a:t>
            </a:r>
            <a:endParaRPr lang="en-US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419600"/>
            <a:ext cx="3048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4419600"/>
            <a:ext cx="2438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3.0. Logic gates and truth tables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8305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Logic gates and truth table cont…..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Worked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1. Produce a truth table for the following logic circuit.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09800"/>
            <a:ext cx="6705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 cont……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u="sng" dirty="0" smtClean="0"/>
              <a:t>1</a:t>
            </a:r>
            <a:r>
              <a:rPr lang="en-US" u="sng" baseline="30000" dirty="0" smtClean="0"/>
              <a:t>st</a:t>
            </a:r>
            <a:r>
              <a:rPr lang="en-US" u="sng" dirty="0" smtClean="0"/>
              <a:t> step</a:t>
            </a:r>
            <a:r>
              <a:rPr lang="en-US" dirty="0" smtClean="0"/>
              <a:t>: There are three inputs A, B and C, thus we must have 2</a:t>
            </a:r>
            <a:r>
              <a:rPr lang="en-US" baseline="30000" dirty="0" smtClean="0"/>
              <a:t>3</a:t>
            </a:r>
            <a:r>
              <a:rPr lang="en-US" dirty="0" smtClean="0"/>
              <a:t> i.e. (8) possible combinations of 1’s and o’s. To find the values of output at points P and Q, it is necessary to consider the truth tables for the NOR gate (output P) and the NAD gate (output Q).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P = A NOR B and Q  = B AND C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1. cont…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4000"/>
            <a:ext cx="6400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Example 1 cont….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u="sng" dirty="0" smtClean="0"/>
              <a:t>2</a:t>
            </a:r>
            <a:r>
              <a:rPr lang="en-US" u="sng" baseline="30000" dirty="0" smtClean="0"/>
              <a:t>nd</a:t>
            </a:r>
            <a:r>
              <a:rPr lang="en-US" u="sng" dirty="0" smtClean="0"/>
              <a:t>  step</a:t>
            </a:r>
            <a:r>
              <a:rPr lang="en-US" dirty="0" smtClean="0"/>
              <a:t>. There are 8 value from P and Q which form the input to the last OR gate. Hence we get  X = P OR Q which gives the following truth table.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3429000"/>
            <a:ext cx="3962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 smtClean="0"/>
              <a:t>Example 1 cont…..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Thus the final truth table becomes;</a:t>
            </a:r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209800"/>
            <a:ext cx="5562600" cy="407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2.0.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9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A system uses 3 switches A,B and C, a combination of switches determine whether an alarm sounds. If switch A </a:t>
            </a:r>
            <a:r>
              <a:rPr lang="en-US" b="1" dirty="0" smtClean="0"/>
              <a:t>or</a:t>
            </a:r>
            <a:r>
              <a:rPr lang="en-US" dirty="0" smtClean="0"/>
              <a:t> switch B are in the ON position </a:t>
            </a:r>
            <a:r>
              <a:rPr lang="en-US" b="1" dirty="0" smtClean="0"/>
              <a:t>and</a:t>
            </a:r>
            <a:r>
              <a:rPr lang="en-US" dirty="0" smtClean="0"/>
              <a:t> if switch C is in  the OFF position then a signal will be received to sound an alarm X is produced. Prepare a truth table and the logic circuit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Example 2 cont…….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If (A=1 or B=1) AND (C = NOT 1) then X = 1.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 OR B gate  joined with NOT C and these becomes the inputs to the AND gate which gives an output X.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505200"/>
            <a:ext cx="6019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 cont…….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7391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3.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86800" cy="5486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A chemical process gives out a warning signal (W=1) when the process operate incorrectly. A logic circuit is used to monitor the process and determine whether W=1 basing on the following conditions as tabulated below.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657600"/>
            <a:ext cx="6858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 cont …….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305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 cont 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59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	Step 1. writing a problem in a logic statement.  </a:t>
            </a:r>
          </a:p>
          <a:p>
            <a:pPr>
              <a:buNone/>
            </a:pPr>
            <a:r>
              <a:rPr lang="en-US" dirty="0" smtClean="0"/>
              <a:t>	let,  C  =Chemical rate</a:t>
            </a:r>
          </a:p>
          <a:p>
            <a:pPr>
              <a:buNone/>
            </a:pPr>
            <a:r>
              <a:rPr lang="en-US" dirty="0" smtClean="0"/>
              <a:t>		   T = Temperature and </a:t>
            </a:r>
          </a:p>
          <a:p>
            <a:pPr>
              <a:buNone/>
            </a:pPr>
            <a:r>
              <a:rPr lang="en-US" dirty="0" smtClean="0"/>
              <a:t>              X = Concentration</a:t>
            </a:r>
          </a:p>
          <a:p>
            <a:pPr>
              <a:buNone/>
            </a:pPr>
            <a:r>
              <a:rPr lang="en-US" dirty="0" smtClean="0"/>
              <a:t>	Then re- writing the problem in logical statement; </a:t>
            </a:r>
          </a:p>
          <a:p>
            <a:pPr>
              <a:buNone/>
            </a:pPr>
            <a:r>
              <a:rPr lang="en-US" dirty="0" smtClean="0"/>
              <a:t>	(C = NOT 1 ) OR (T = NOT 1 AND X = 1)</a:t>
            </a:r>
          </a:p>
          <a:p>
            <a:pPr>
              <a:buNone/>
            </a:pPr>
            <a:r>
              <a:rPr lang="en-US" dirty="0" smtClean="0"/>
              <a:t>			OR</a:t>
            </a:r>
          </a:p>
          <a:p>
            <a:pPr>
              <a:buNone/>
            </a:pPr>
            <a:r>
              <a:rPr lang="en-US" dirty="0" smtClean="0"/>
              <a:t>	(C = 1 AND T NOT 1)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circuit (network)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720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Its corresponding logic circuit becomes</a:t>
            </a:r>
          </a:p>
          <a:p>
            <a:pPr>
              <a:buNone/>
            </a:pPr>
            <a:r>
              <a:rPr lang="en-US" dirty="0" smtClean="0"/>
              <a:t>   X</a:t>
            </a:r>
          </a:p>
          <a:p>
            <a:pPr>
              <a:buNone/>
            </a:pPr>
            <a:r>
              <a:rPr lang="en-US" dirty="0" smtClean="0"/>
              <a:t>  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 </a:t>
            </a:r>
          </a:p>
          <a:p>
            <a:pPr>
              <a:buNone/>
            </a:pPr>
            <a:r>
              <a:rPr lang="en-US" dirty="0" smtClean="0"/>
              <a:t>                                                                                       W                                                                                                                     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914400" y="2438400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62000" y="3048000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14600" y="2438400"/>
            <a:ext cx="53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2932906" y="2552700"/>
            <a:ext cx="22939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048000" y="2667000"/>
            <a:ext cx="685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3467100" y="2705100"/>
            <a:ext cx="53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c 19"/>
          <p:cNvSpPr/>
          <p:nvPr/>
        </p:nvSpPr>
        <p:spPr>
          <a:xfrm>
            <a:off x="3886200" y="2438400"/>
            <a:ext cx="838200" cy="533400"/>
          </a:xfrm>
          <a:prstGeom prst="arc">
            <a:avLst>
              <a:gd name="adj1" fmla="val 16200000"/>
              <a:gd name="adj2" fmla="val 521307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3733800" y="24384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20" idx="2"/>
          </p:cNvCxnSpPr>
          <p:nvPr/>
        </p:nvCxnSpPr>
        <p:spPr>
          <a:xfrm flipV="1">
            <a:off x="3733800" y="2971640"/>
            <a:ext cx="586007" cy="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1791494" y="3009900"/>
            <a:ext cx="3802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1981200" y="3048000"/>
            <a:ext cx="3810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981200" y="2819400"/>
            <a:ext cx="3810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362200" y="3048000"/>
            <a:ext cx="685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 flipH="1" flipV="1">
            <a:off x="2934494" y="2932906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048000" y="2819400"/>
            <a:ext cx="685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38200" y="4267200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1828800" y="4267200"/>
            <a:ext cx="45799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2057400" y="4267200"/>
            <a:ext cx="3810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057400" y="4038600"/>
            <a:ext cx="3810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 flipH="1">
            <a:off x="2362200" y="2895600"/>
            <a:ext cx="1524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 flipH="1">
            <a:off x="2438400" y="4191000"/>
            <a:ext cx="1524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724400" y="26670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2590800" y="4267200"/>
            <a:ext cx="29718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5106194" y="3124200"/>
            <a:ext cx="913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5400000" flipH="1" flipV="1">
            <a:off x="5334000" y="4038600"/>
            <a:ext cx="457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562600" y="35814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562600" y="38100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rot="5400000">
            <a:off x="1104900" y="4838700"/>
            <a:ext cx="1143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2895600" y="51054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rot="5400000">
            <a:off x="1867297" y="4076303"/>
            <a:ext cx="205740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1676400" y="5410200"/>
            <a:ext cx="2057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rot="5400000">
            <a:off x="3391694" y="5295900"/>
            <a:ext cx="6850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Arc 94"/>
          <p:cNvSpPr/>
          <p:nvPr/>
        </p:nvSpPr>
        <p:spPr>
          <a:xfrm>
            <a:off x="3733800" y="4953000"/>
            <a:ext cx="990600" cy="685800"/>
          </a:xfrm>
          <a:prstGeom prst="arc">
            <a:avLst>
              <a:gd name="adj1" fmla="val 14894636"/>
              <a:gd name="adj2" fmla="val 753987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Connector 96"/>
          <p:cNvCxnSpPr/>
          <p:nvPr/>
        </p:nvCxnSpPr>
        <p:spPr>
          <a:xfrm>
            <a:off x="3733800" y="49530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3733800" y="5638800"/>
            <a:ext cx="685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648200" y="5257800"/>
            <a:ext cx="2743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Arc 110"/>
          <p:cNvSpPr/>
          <p:nvPr/>
        </p:nvSpPr>
        <p:spPr>
          <a:xfrm>
            <a:off x="5562600" y="3200400"/>
            <a:ext cx="381000" cy="1066800"/>
          </a:xfrm>
          <a:prstGeom prst="arc">
            <a:avLst>
              <a:gd name="adj1" fmla="val 17020664"/>
              <a:gd name="adj2" fmla="val 39906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5867400" y="32766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11" idx="2"/>
          </p:cNvCxnSpPr>
          <p:nvPr/>
        </p:nvCxnSpPr>
        <p:spPr>
          <a:xfrm rot="10800000" flipH="1">
            <a:off x="5900278" y="4038600"/>
            <a:ext cx="576722" cy="33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5400000" flipH="1" flipV="1">
            <a:off x="6400800" y="3657600"/>
            <a:ext cx="4572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 rot="16200000" flipH="1">
            <a:off x="6477000" y="3276600"/>
            <a:ext cx="3048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6781800" y="35814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rot="5400000">
            <a:off x="7048500" y="3924300"/>
            <a:ext cx="685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rot="5400000" flipH="1" flipV="1">
            <a:off x="6971506" y="4838700"/>
            <a:ext cx="83899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7391400" y="4267200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>
            <a:off x="7391400" y="4419600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c 176"/>
          <p:cNvSpPr/>
          <p:nvPr/>
        </p:nvSpPr>
        <p:spPr>
          <a:xfrm>
            <a:off x="7315200" y="3886200"/>
            <a:ext cx="381000" cy="1066800"/>
          </a:xfrm>
          <a:prstGeom prst="arc">
            <a:avLst>
              <a:gd name="adj1" fmla="val 17291522"/>
              <a:gd name="adj2" fmla="val 37122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/>
          <p:cNvCxnSpPr/>
          <p:nvPr/>
        </p:nvCxnSpPr>
        <p:spPr>
          <a:xfrm>
            <a:off x="7620000" y="4038600"/>
            <a:ext cx="457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77" idx="2"/>
          </p:cNvCxnSpPr>
          <p:nvPr/>
        </p:nvCxnSpPr>
        <p:spPr>
          <a:xfrm rot="10800000" flipH="1" flipV="1">
            <a:off x="7664106" y="4715894"/>
            <a:ext cx="489294" cy="8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rot="5400000" flipH="1" flipV="1">
            <a:off x="8039100" y="4457700"/>
            <a:ext cx="3810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rot="16200000" flipH="1">
            <a:off x="8039100" y="4076700"/>
            <a:ext cx="3048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>
            <a:off x="8305800" y="4343400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Truth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Its corresponding truth table becomes: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81200" y="1981200"/>
          <a:ext cx="4800600" cy="41148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267</Words>
  <Application>Microsoft Office PowerPoint</Application>
  <PresentationFormat>On-screen Show (4:3)</PresentationFormat>
  <Paragraphs>115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THE LOGIC GATES</vt:lpstr>
      <vt:lpstr>Learning objectives</vt:lpstr>
      <vt:lpstr>1.0. Introduction to logic gates</vt:lpstr>
      <vt:lpstr>2.0. Basic types of logic gates</vt:lpstr>
      <vt:lpstr>More elaboration on logic gates</vt:lpstr>
      <vt:lpstr>2.0. The OR gate</vt:lpstr>
      <vt:lpstr>3.0. The NOT gate</vt:lpstr>
      <vt:lpstr>4.0. The NAND gate</vt:lpstr>
      <vt:lpstr>5.0. The NOR gate</vt:lpstr>
      <vt:lpstr>6.0. The XOR gate</vt:lpstr>
      <vt:lpstr>7.0. The XNOR gate</vt:lpstr>
      <vt:lpstr>3.0. Logic gates and truth tables</vt:lpstr>
      <vt:lpstr>Logic gates and truth table cont…..</vt:lpstr>
      <vt:lpstr>Worked examples</vt:lpstr>
      <vt:lpstr>Example 1 cont……</vt:lpstr>
      <vt:lpstr>Example 1. cont…</vt:lpstr>
      <vt:lpstr>Example 1 cont….</vt:lpstr>
      <vt:lpstr>Example 1 cont…..</vt:lpstr>
      <vt:lpstr>Example 2.0. </vt:lpstr>
      <vt:lpstr>Example 2 cont…….</vt:lpstr>
      <vt:lpstr>Example 2 cont…….</vt:lpstr>
      <vt:lpstr>Example 3.</vt:lpstr>
      <vt:lpstr>Example 3 cont …….</vt:lpstr>
      <vt:lpstr>Example 3 cont …..</vt:lpstr>
      <vt:lpstr>Logic circuit (network)</vt:lpstr>
      <vt:lpstr>Truth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LOGIC GATES</dc:title>
  <dc:creator>mdende</dc:creator>
  <cp:lastModifiedBy>User</cp:lastModifiedBy>
  <cp:revision>95</cp:revision>
  <dcterms:created xsi:type="dcterms:W3CDTF">2016-01-27T05:32:00Z</dcterms:created>
  <dcterms:modified xsi:type="dcterms:W3CDTF">2022-04-19T08:08:15Z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1033-10.2.0.7587</vt:lpwstr>
  </property>
</Properties>
</file>